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Before class, choose a short passage of electronic music with a bold synth sound, and find it yourself on a service your school allows; refer to it by title and artist only. Open with my overview: using Logic's Alchemy synthesizer, students design at least three custom patches from scratch, then compose a short original piece with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your passage twice. Take answers aloud about the feeling and the texture, then ask whether the sound changes from the start of the note to the end. This sets up my teacher notes' big idea: every sound in electronic music was designed by someone, and students can be that person. Do not name a song on the slide; say its title and artist aloud if you like.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plain-English tour using the vocabulary on the project sheet. A synthesizer generates sound electronically using oscillators, filters and modulation. The oscillator is the sound source and makes the raw waveform. The filter shapes the tone by cutting or boosting frequencies. The envelope, ADSR, controls how the sound changes over time. Modulation uses one signal, like an LFO, to control another parameter. A patch is a saved set of settings. Students add their own words on the vocabulary page.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to Alchemy and guided exploration of the interface. Class 2: sound design basics, oscillators, filters and envelopes, and begin designing Patch 1. Classes 3 to 5 are working days: design the remaining patches and compose your track. Class 6: final mix and bounce, and prepare presentations. Class 7: presentations with Padlet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Students open Alchemy and experiment with the interface, sound sources and presets, then work on understanding oscillators, filters, envelopes and modulation routing. The Explore sheet gives them small tasks so Class 1 is play with a purpose. Headphones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common struggles, as a promise for the whole project. Alchemy is overwhelming at first, so start with the Simple view before opening Advanced. Students tweak endlessly without saving, so enforce a save-as-you-go habit; a numbered name such as Tide 1, Tide 2 works well. And students struggle to compose with unfamiliar sounds, so design first and compose second.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Four classic waveforms, drawn on paper; nothing here is audio. A sine is one pure tone. A triangle has only odd harmonics and sounds soft. A saw has every harmonic and sounds bright. A square has odd harmonics and sounds hollow. Play each in Alchemy for the class. My tip: start with a simple waveform and shape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saw wave at 110 Hz has a harmonic at every multiple of 110, each one quieter: 110, 220, 330, and so on, at 1, 1/2, 1/3 of the level. A low-pass filter with its cutoff at 1000 Hz keeps the first nine and turns the rest down; the curve shows how it fades rather than stops. Lower the cutoff and the sound gets darker. Demo it live by moving the cutoff while holding a note.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ADSR is Attack, Decay, Sustain, Release. The pluck: attack 0.01 seconds, decay 0.3, sustain 20 percent, release 0.2. The pad: attack 1 second, decay 0.5, sustain 80 percent, release 1.5. Sustain is a level, not a time; the other three are times. Ask: which one would you use for a bass, a bell, a pad? Then play with the envelope in Alchemy.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LFO is a low-frequency oscillator: a slow wave that moves another knob, here the filter cutoff. At 120 BPM a bar is 2 seconds, so an LFO at 0.5 Hz makes one sweep each bar and an LFO at 4 Hz makes eight wobbles each bar. Rate is how fast, amount is how far. My advanced variation asks for advanced modulation routing; this is the gentle 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of the project sheet, shortened to fit the slide: create your first original sound from scratch, and save it. Build one patch live in about ten minutes using exactly these five moves, saving after each one. Then students begin their own Patch 1 on the Patch card. My easier variation is a guided walkthrough of one patch as a class; this demo can be that.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Step 4 of the project sheet, shortened here: build two more distinct sounds and aim for variety. A pad, a bass and a bell make a good set. Students fill in a Patch card for each. Circulate and ask each student to play you the patch alone and tell you its job.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Step 5 of the project sheet, shortened here: use your three patches to build a 45 to 60 second track. The picture is an invented 26-bar plan at 120 BPM, which is 52 seconds, with three patches coming in and out. Students fill in the Track plan first. My third struggle: custom patches can sound thin, so show layering and effects to thicken them. Class 5 is a full working 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 6 of the project sheet, shortened to fit the slide: apply effects, automation, EQ and panning, and bounce your track. Students use the Mix check. Zip the .logicx in Finder (Control-click, Compress). Students also write their three Padlet questions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in short form. Show where students upload (your class page) and where the Padlet board is. Remind students that three custom patches must be created and used, so the track should feature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Each student plays the track and shows or describes the three patches, then explains the creative choices. During classmates' presentations, every student answers at least 2 of their 3 questions on their Padlet post. My teacher notes suggest students name their patches creatively and share them as a class sound library.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introduces: sound synthesis fundamentals. Every sound in electronic music was designed by someone, and now they know how to be that person. Invite students to keep saving patches and building their own sound library.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1340967" y="896112"/>
            <a:ext cx="9509760" cy="1731777"/>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ALCHEMY ARCHITECT</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Design the sound.</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SYNTH SOUND DESIGN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WHO DESIGNED THIS SOUND?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EVERY SOUND WAS DESIGNED</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BD9E4"/>
                </a:solidFill>
                <a:latin typeface="Oswald"/>
              </a:rPr>
              <a:t>Someone built that sound, knob by knob</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a short passage you choose, one with a bold synth sound.</a:t>
            </a:r>
          </a:p>
        </p:txBody>
      </p:sp>
      <p:sp>
        <p:nvSpPr>
          <p:cNvPr id="14" name="Oval 13"/>
          <p:cNvSpPr/>
          <p:nvPr/>
        </p:nvSpPr>
        <p:spPr>
          <a:xfrm>
            <a:off x="548640" y="406908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does the sound make you think of?</a:t>
            </a:r>
          </a:p>
        </p:txBody>
      </p:sp>
      <p:sp>
        <p:nvSpPr>
          <p:cNvPr id="16" name="Oval 15"/>
          <p:cNvSpPr/>
          <p:nvPr/>
        </p:nvSpPr>
        <p:spPr>
          <a:xfrm>
            <a:off x="548640" y="467868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Is it smooth or rough, bright or dark?</a:t>
            </a:r>
          </a:p>
        </p:txBody>
      </p:sp>
      <p:sp>
        <p:nvSpPr>
          <p:cNvPr id="18" name="Oval 17"/>
          <p:cNvSpPr/>
          <p:nvPr/>
        </p:nvSpPr>
        <p:spPr>
          <a:xfrm>
            <a:off x="548640" y="528828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Does it change while the note plays?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BUILDING BLOCKS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Oscillator: makes the raw wave</a:t>
            </a:r>
          </a:p>
        </p:txBody>
      </p:sp>
      <p:sp>
        <p:nvSpPr>
          <p:cNvPr id="12" name="Oval 11"/>
          <p:cNvSpPr/>
          <p:nvPr/>
        </p:nvSpPr>
        <p:spPr>
          <a:xfrm>
            <a:off x="548640" y="311708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Filter: cuts or boosts frequencies</a:t>
            </a:r>
          </a:p>
        </p:txBody>
      </p:sp>
      <p:sp>
        <p:nvSpPr>
          <p:cNvPr id="14" name="Oval 13"/>
          <p:cNvSpPr/>
          <p:nvPr/>
        </p:nvSpPr>
        <p:spPr>
          <a:xfrm>
            <a:off x="548640" y="40670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Envelope: shapes the sound over time</a:t>
            </a:r>
          </a:p>
        </p:txBody>
      </p:sp>
      <p:sp>
        <p:nvSpPr>
          <p:cNvPr id="16" name="Oval 15"/>
          <p:cNvSpPr/>
          <p:nvPr/>
        </p:nvSpPr>
        <p:spPr>
          <a:xfrm>
            <a:off x="548640" y="501700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Modulation: makes it move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Who designed this sound? · four building blocks · explore Alchemy</a:t>
            </a:r>
          </a:p>
        </p:txBody>
      </p:sp>
      <p:sp>
        <p:nvSpPr>
          <p:cNvPr id="13" name="Rounded Rectangle 12"/>
          <p:cNvSpPr/>
          <p:nvPr/>
        </p:nvSpPr>
        <p:spPr>
          <a:xfrm>
            <a:off x="548640" y="2444060"/>
            <a:ext cx="1554480" cy="523820"/>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Oscillator · filter · envelope · LFO · build Patch 1</a:t>
            </a:r>
          </a:p>
        </p:txBody>
      </p:sp>
      <p:sp>
        <p:nvSpPr>
          <p:cNvPr id="16" name="Rounded Rectangle 15"/>
          <p:cNvSpPr/>
          <p:nvPr/>
        </p:nvSpPr>
        <p:spPr>
          <a:xfrm>
            <a:off x="548640" y="3077609"/>
            <a:ext cx="1554480" cy="523820"/>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Patches 2 and 3</a:t>
            </a:r>
          </a:p>
        </p:txBody>
      </p:sp>
      <p:sp>
        <p:nvSpPr>
          <p:cNvPr id="19" name="Rounded Rectangle 18"/>
          <p:cNvSpPr/>
          <p:nvPr/>
        </p:nvSpPr>
        <p:spPr>
          <a:xfrm>
            <a:off x="548640" y="3711157"/>
            <a:ext cx="1554480" cy="523820"/>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compose with your patches</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compose and thicken</a:t>
            </a:r>
          </a:p>
        </p:txBody>
      </p:sp>
      <p:sp>
        <p:nvSpPr>
          <p:cNvPr id="25" name="Rounded Rectangle 24"/>
          <p:cNvSpPr/>
          <p:nvPr/>
        </p:nvSpPr>
        <p:spPr>
          <a:xfrm>
            <a:off x="548640" y="4978254"/>
            <a:ext cx="1554480" cy="523820"/>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 bounce · checklist · rubric · 3 questions</a:t>
            </a:r>
          </a:p>
        </p:txBody>
      </p:sp>
      <p:sp>
        <p:nvSpPr>
          <p:cNvPr id="28" name="Rounded Rectangle 27"/>
          <p:cNvSpPr/>
          <p:nvPr/>
        </p:nvSpPr>
        <p:spPr>
          <a:xfrm>
            <a:off x="548640" y="5611803"/>
            <a:ext cx="1554480" cy="523820"/>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EXPLORE, LEARN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Open Alchemy and try the interface</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Play the sound sources and presets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Learn oscillators, filters, envelopes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Learn modulation routing</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Explore sheet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START SIMPLE, SAVE OFTEN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671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Simple view before Advanced</a:t>
            </a:r>
          </a:p>
        </p:txBody>
      </p:sp>
      <p:sp>
        <p:nvSpPr>
          <p:cNvPr id="12" name="Oval 11"/>
          <p:cNvSpPr/>
          <p:nvPr/>
        </p:nvSpPr>
        <p:spPr>
          <a:xfrm>
            <a:off x="548640" y="311708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Change one thing at a time</a:t>
            </a:r>
          </a:p>
        </p:txBody>
      </p:sp>
      <p:sp>
        <p:nvSpPr>
          <p:cNvPr id="14" name="Oval 13"/>
          <p:cNvSpPr/>
          <p:nvPr/>
        </p:nvSpPr>
        <p:spPr>
          <a:xfrm>
            <a:off x="548640" y="40670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Save your patch as you go</a:t>
            </a:r>
          </a:p>
        </p:txBody>
      </p:sp>
      <p:sp>
        <p:nvSpPr>
          <p:cNvPr id="16" name="Oval 15"/>
          <p:cNvSpPr/>
          <p:nvPr/>
        </p:nvSpPr>
        <p:spPr>
          <a:xfrm>
            <a:off x="548640" y="501700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Design first, compose second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OSCILLATOR: THE RAW SOUND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pic>
        <p:nvPicPr>
          <p:cNvPr id="10" name="Picture 9" descr="deck-waves.png"/>
          <p:cNvPicPr>
            <a:picLocks noChangeAspect="1"/>
          </p:cNvPicPr>
          <p:nvPr/>
        </p:nvPicPr>
        <p:blipFill>
          <a:blip r:embed="rId2"/>
          <a:stretch>
            <a:fillRect/>
          </a:stretch>
        </p:blipFill>
        <p:spPr>
          <a:xfrm>
            <a:off x="548640" y="1810512"/>
            <a:ext cx="11091672" cy="1952134"/>
          </a:xfrm>
          <a:prstGeom prst="rect">
            <a:avLst/>
          </a:prstGeom>
        </p:spPr>
      </p:pic>
      <p:sp>
        <p:nvSpPr>
          <p:cNvPr id="11" name="Oval 10"/>
          <p:cNvSpPr/>
          <p:nvPr/>
        </p:nvSpPr>
        <p:spPr>
          <a:xfrm>
            <a:off x="548640" y="49560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Each wave has its own sound</a:t>
            </a:r>
          </a:p>
        </p:txBody>
      </p:sp>
      <p:sp>
        <p:nvSpPr>
          <p:cNvPr id="13" name="Oval 12"/>
          <p:cNvSpPr/>
          <p:nvPr/>
        </p:nvSpPr>
        <p:spPr>
          <a:xfrm>
            <a:off x="6190488" y="49560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Saw is bright, sine is pure</a:t>
            </a:r>
          </a:p>
        </p:txBody>
      </p:sp>
      <p:sp>
        <p:nvSpPr>
          <p:cNvPr id="15" name="Oval 14"/>
          <p:cNvSpPr/>
          <p:nvPr/>
        </p:nvSpPr>
        <p:spPr>
          <a:xfrm>
            <a:off x="548640" y="56418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Square sounds hollow</a:t>
            </a:r>
          </a:p>
        </p:txBody>
      </p:sp>
      <p:sp>
        <p:nvSpPr>
          <p:cNvPr id="17" name="Oval 16"/>
          <p:cNvSpPr/>
          <p:nvPr/>
        </p:nvSpPr>
        <p:spPr>
          <a:xfrm>
            <a:off x="6190488" y="56418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Start with one and shape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FILTER: SHAPING THE TONE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filter.png"/>
          <p:cNvPicPr>
            <a:picLocks noChangeAspect="1"/>
          </p:cNvPicPr>
          <p:nvPr/>
        </p:nvPicPr>
        <p:blipFill>
          <a:blip r:embed="rId2"/>
          <a:stretch>
            <a:fillRect/>
          </a:stretch>
        </p:blipFill>
        <p:spPr>
          <a:xfrm>
            <a:off x="1179948" y="1810512"/>
            <a:ext cx="9829055" cy="3017520"/>
          </a:xfrm>
          <a:prstGeom prst="rect">
            <a:avLst/>
          </a:prstGeom>
        </p:spPr>
      </p:pic>
      <p:sp>
        <p:nvSpPr>
          <p:cNvPr id="11" name="Oval 10"/>
          <p:cNvSpPr/>
          <p:nvPr/>
        </p:nvSpPr>
        <p:spPr>
          <a:xfrm>
            <a:off x="548640" y="52120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filter turns harmonics down</a:t>
            </a:r>
          </a:p>
        </p:txBody>
      </p:sp>
      <p:sp>
        <p:nvSpPr>
          <p:cNvPr id="13" name="Oval 12"/>
          <p:cNvSpPr/>
          <p:nvPr/>
        </p:nvSpPr>
        <p:spPr>
          <a:xfrm>
            <a:off x="6190488" y="52120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Low cutoff means a darker sound</a:t>
            </a:r>
          </a:p>
        </p:txBody>
      </p:sp>
      <p:sp>
        <p:nvSpPr>
          <p:cNvPr id="15" name="Oval 14"/>
          <p:cNvSpPr/>
          <p:nvPr/>
        </p:nvSpPr>
        <p:spPr>
          <a:xfrm>
            <a:off x="548640" y="58978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Open the cutoff to brighten it</a:t>
            </a:r>
          </a:p>
        </p:txBody>
      </p:sp>
      <p:sp>
        <p:nvSpPr>
          <p:cNvPr id="17" name="Oval 16"/>
          <p:cNvSpPr/>
          <p:nvPr/>
        </p:nvSpPr>
        <p:spPr>
          <a:xfrm>
            <a:off x="6190488" y="58978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Move it while you hold a note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ENVELOPE: SHAPE OVER TIME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pic>
        <p:nvPicPr>
          <p:cNvPr id="10" name="Picture 9" descr="deck-adsr.png"/>
          <p:cNvPicPr>
            <a:picLocks noChangeAspect="1"/>
          </p:cNvPicPr>
          <p:nvPr/>
        </p:nvPicPr>
        <p:blipFill>
          <a:blip r:embed="rId2"/>
          <a:stretch>
            <a:fillRect/>
          </a:stretch>
        </p:blipFill>
        <p:spPr>
          <a:xfrm>
            <a:off x="2210923" y="1810512"/>
            <a:ext cx="7767104" cy="3017520"/>
          </a:xfrm>
          <a:prstGeom prst="rect">
            <a:avLst/>
          </a:prstGeom>
        </p:spPr>
      </p:pic>
      <p:sp>
        <p:nvSpPr>
          <p:cNvPr id="11" name="Oval 10"/>
          <p:cNvSpPr/>
          <p:nvPr/>
        </p:nvSpPr>
        <p:spPr>
          <a:xfrm>
            <a:off x="548640" y="521208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2"/>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Short attack, a pluck</a:t>
            </a:r>
          </a:p>
        </p:txBody>
      </p:sp>
      <p:sp>
        <p:nvSpPr>
          <p:cNvPr id="13" name="Oval 12"/>
          <p:cNvSpPr/>
          <p:nvPr/>
        </p:nvSpPr>
        <p:spPr>
          <a:xfrm>
            <a:off x="6190488" y="521208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2"/>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Long attack, a pad</a:t>
            </a:r>
          </a:p>
        </p:txBody>
      </p:sp>
      <p:sp>
        <p:nvSpPr>
          <p:cNvPr id="15" name="Oval 14"/>
          <p:cNvSpPr/>
          <p:nvPr/>
        </p:nvSpPr>
        <p:spPr>
          <a:xfrm>
            <a:off x="548640" y="589788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2"/>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Release is the tail after you let go</a:t>
            </a:r>
          </a:p>
        </p:txBody>
      </p:sp>
      <p:sp>
        <p:nvSpPr>
          <p:cNvPr id="17" name="Oval 16"/>
          <p:cNvSpPr/>
          <p:nvPr/>
        </p:nvSpPr>
        <p:spPr>
          <a:xfrm>
            <a:off x="6190488" y="589788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2"/>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Sustain is a level, not a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MODULATION: MAKE IT MOVE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pic>
        <p:nvPicPr>
          <p:cNvPr id="10" name="Picture 9" descr="deck-lfo.png"/>
          <p:cNvPicPr>
            <a:picLocks noChangeAspect="1"/>
          </p:cNvPicPr>
          <p:nvPr/>
        </p:nvPicPr>
        <p:blipFill>
          <a:blip r:embed="rId2"/>
          <a:stretch>
            <a:fillRect/>
          </a:stretch>
        </p:blipFill>
        <p:spPr>
          <a:xfrm>
            <a:off x="2230814" y="1810512"/>
            <a:ext cx="7727323" cy="3017520"/>
          </a:xfrm>
          <a:prstGeom prst="rect">
            <a:avLst/>
          </a:prstGeom>
        </p:spPr>
      </p:pic>
      <p:sp>
        <p:nvSpPr>
          <p:cNvPr id="11" name="Oval 10"/>
          <p:cNvSpPr/>
          <p:nvPr/>
        </p:nvSpPr>
        <p:spPr>
          <a:xfrm>
            <a:off x="548640" y="52120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LFO is a slow wave that moves a knob</a:t>
            </a:r>
          </a:p>
        </p:txBody>
      </p:sp>
      <p:sp>
        <p:nvSpPr>
          <p:cNvPr id="13" name="Oval 12"/>
          <p:cNvSpPr/>
          <p:nvPr/>
        </p:nvSpPr>
        <p:spPr>
          <a:xfrm>
            <a:off x="6190488" y="52120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Rate sets how fast it moves</a:t>
            </a:r>
          </a:p>
        </p:txBody>
      </p:sp>
      <p:sp>
        <p:nvSpPr>
          <p:cNvPr id="15" name="Oval 14"/>
          <p:cNvSpPr/>
          <p:nvPr/>
        </p:nvSpPr>
        <p:spPr>
          <a:xfrm>
            <a:off x="548640" y="58978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Amount sets how far it moves</a:t>
            </a:r>
          </a:p>
        </p:txBody>
      </p:sp>
      <p:sp>
        <p:nvSpPr>
          <p:cNvPr id="17" name="Oval 16"/>
          <p:cNvSpPr/>
          <p:nvPr/>
        </p:nvSpPr>
        <p:spPr>
          <a:xfrm>
            <a:off x="6190488" y="5897879"/>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Match the rate to the bar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BUILD PATCH 1</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Start with one simple waveform</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Open the filter: move the cutoff</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Shape it with the envelope</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Add one slow LFO to the cutoff</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Save it: give the patch a name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 PATCHES 2 AND 3</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Build two more sounds from scratch</a:t>
            </a:r>
          </a:p>
        </p:txBody>
      </p:sp>
      <p:sp>
        <p:nvSpPr>
          <p:cNvPr id="12" name="Oval 11"/>
          <p:cNvSpPr/>
          <p:nvPr/>
        </p:nvSpPr>
        <p:spPr>
          <a:xfrm>
            <a:off x="548640" y="311708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Make each one different: bass, pad, lead</a:t>
            </a:r>
          </a:p>
        </p:txBody>
      </p:sp>
      <p:sp>
        <p:nvSpPr>
          <p:cNvPr id="14" name="Oval 13"/>
          <p:cNvSpPr/>
          <p:nvPr/>
        </p:nvSpPr>
        <p:spPr>
          <a:xfrm>
            <a:off x="548640" y="40670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Change one setting at a time</a:t>
            </a:r>
          </a:p>
        </p:txBody>
      </p:sp>
      <p:sp>
        <p:nvSpPr>
          <p:cNvPr id="16" name="Oval 15"/>
          <p:cNvSpPr/>
          <p:nvPr/>
        </p:nvSpPr>
        <p:spPr>
          <a:xfrm>
            <a:off x="548640" y="501700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Save as you go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 COMPOSE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pic>
        <p:nvPicPr>
          <p:cNvPr id="10" name="Picture 9" descr="deck-lanes.png"/>
          <p:cNvPicPr>
            <a:picLocks noChangeAspect="1"/>
          </p:cNvPicPr>
          <p:nvPr/>
        </p:nvPicPr>
        <p:blipFill>
          <a:blip r:embed="rId2"/>
          <a:stretch>
            <a:fillRect/>
          </a:stretch>
        </p:blipFill>
        <p:spPr>
          <a:xfrm>
            <a:off x="548640" y="1810512"/>
            <a:ext cx="11091672" cy="2839468"/>
          </a:xfrm>
          <a:prstGeom prst="rect">
            <a:avLst/>
          </a:prstGeom>
        </p:spPr>
      </p:pic>
      <p:sp>
        <p:nvSpPr>
          <p:cNvPr id="11" name="Oval 10"/>
          <p:cNvSpPr/>
          <p:nvPr/>
        </p:nvSpPr>
        <p:spPr>
          <a:xfrm>
            <a:off x="548640" y="50340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92430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Design first, compose second</a:t>
            </a:r>
          </a:p>
        </p:txBody>
      </p:sp>
      <p:sp>
        <p:nvSpPr>
          <p:cNvPr id="13" name="Oval 12"/>
          <p:cNvSpPr/>
          <p:nvPr/>
        </p:nvSpPr>
        <p:spPr>
          <a:xfrm>
            <a:off x="6190488" y="50340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92430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Give each patch a job</a:t>
            </a:r>
          </a:p>
        </p:txBody>
      </p:sp>
      <p:sp>
        <p:nvSpPr>
          <p:cNvPr id="15" name="Oval 14"/>
          <p:cNvSpPr/>
          <p:nvPr/>
        </p:nvSpPr>
        <p:spPr>
          <a:xfrm>
            <a:off x="548640" y="57198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61010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Bring patches in and out</a:t>
            </a:r>
          </a:p>
        </p:txBody>
      </p:sp>
      <p:sp>
        <p:nvSpPr>
          <p:cNvPr id="17" name="Oval 16"/>
          <p:cNvSpPr/>
          <p:nvPr/>
        </p:nvSpPr>
        <p:spPr>
          <a:xfrm>
            <a:off x="6190488" y="57198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61010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Plan 45–60 seconds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 EFFECTS AND BOUNCE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4884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Add effects, automation, EQ and panning</a:t>
            </a:r>
          </a:p>
        </p:txBody>
      </p:sp>
      <p:sp>
        <p:nvSpPr>
          <p:cNvPr id="12" name="Oval 11"/>
          <p:cNvSpPr/>
          <p:nvPr/>
        </p:nvSpPr>
        <p:spPr>
          <a:xfrm>
            <a:off x="548640" y="287274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Balance the levels</a:t>
            </a:r>
          </a:p>
        </p:txBody>
      </p:sp>
      <p:sp>
        <p:nvSpPr>
          <p:cNvPr id="14" name="Oval 13"/>
          <p:cNvSpPr/>
          <p:nvPr/>
        </p:nvSpPr>
        <p:spPr>
          <a:xfrm>
            <a:off x="548640" y="359664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Bounce a .mp3 or .wav</a:t>
            </a:r>
          </a:p>
        </p:txBody>
      </p:sp>
      <p:sp>
        <p:nvSpPr>
          <p:cNvPr id="16" name="Oval 15"/>
          <p:cNvSpPr/>
          <p:nvPr/>
        </p:nvSpPr>
        <p:spPr>
          <a:xfrm>
            <a:off x="548640" y="432054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Zip the .logicx project</a:t>
            </a:r>
          </a:p>
        </p:txBody>
      </p:sp>
      <p:sp>
        <p:nvSpPr>
          <p:cNvPr id="18" name="Oval 17"/>
          <p:cNvSpPr/>
          <p:nvPr/>
        </p:nvSpPr>
        <p:spPr>
          <a:xfrm>
            <a:off x="548640" y="504444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Write your 3 Padlet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Alchemy Architect</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3 custom Alchemy patches made and used</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3A5F7D"/>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3A5F7D"/>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3A5F7D"/>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3A5F7D"/>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3A5F7D"/>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Oval 9"/>
          <p:cNvSpPr/>
          <p:nvPr/>
        </p:nvSpPr>
        <p:spPr>
          <a:xfrm>
            <a:off x="548640" y="216712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track</a:t>
            </a:r>
          </a:p>
        </p:txBody>
      </p:sp>
      <p:sp>
        <p:nvSpPr>
          <p:cNvPr id="12" name="Oval 11"/>
          <p:cNvSpPr/>
          <p:nvPr/>
        </p:nvSpPr>
        <p:spPr>
          <a:xfrm>
            <a:off x="548640" y="311708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Show us your 3 patches</a:t>
            </a:r>
          </a:p>
        </p:txBody>
      </p:sp>
      <p:sp>
        <p:nvSpPr>
          <p:cNvPr id="14" name="Oval 13"/>
          <p:cNvSpPr/>
          <p:nvPr/>
        </p:nvSpPr>
        <p:spPr>
          <a:xfrm>
            <a:off x="548640" y="406704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Alchemy Architect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05740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started with a blank patch.</a:t>
            </a:r>
          </a:p>
        </p:txBody>
      </p:sp>
      <p:sp>
        <p:nvSpPr>
          <p:cNvPr id="12" name="Oval 11"/>
          <p:cNvSpPr/>
          <p:nvPr/>
        </p:nvSpPr>
        <p:spPr>
          <a:xfrm>
            <a:off x="548640" y="278130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shaped the tone.</a:t>
            </a:r>
          </a:p>
        </p:txBody>
      </p:sp>
      <p:sp>
        <p:nvSpPr>
          <p:cNvPr id="14" name="Oval 13"/>
          <p:cNvSpPr/>
          <p:nvPr/>
        </p:nvSpPr>
        <p:spPr>
          <a:xfrm>
            <a:off x="548640" y="350520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gave it motion.</a:t>
            </a:r>
          </a:p>
        </p:txBody>
      </p:sp>
      <p:sp>
        <p:nvSpPr>
          <p:cNvPr id="16" name="Oval 15"/>
          <p:cNvSpPr/>
          <p:nvPr/>
        </p:nvSpPr>
        <p:spPr>
          <a:xfrm>
            <a:off x="548640" y="4229100"/>
            <a:ext cx="146304" cy="146304"/>
          </a:xfrm>
          <a:prstGeom prst="ellipse">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the sound is yours.</a:t>
            </a:r>
          </a:p>
        </p:txBody>
      </p:sp>
      <p:pic>
        <p:nvPicPr>
          <p:cNvPr id="18" name="Picture 17" descr="deck-hero.png"/>
          <p:cNvPicPr>
            <a:picLocks noChangeAspect="1"/>
          </p:cNvPicPr>
          <p:nvPr/>
        </p:nvPicPr>
        <p:blipFill>
          <a:blip r:embed="rId2"/>
          <a:stretch>
            <a:fillRect/>
          </a:stretch>
        </p:blipFill>
        <p:spPr>
          <a:xfrm>
            <a:off x="6519672" y="2103120"/>
            <a:ext cx="5120640" cy="932495"/>
          </a:xfrm>
          <a:prstGeom prst="rect">
            <a:avLst/>
          </a:prstGeom>
        </p:spPr>
      </p:pic>
      <p:sp>
        <p:nvSpPr>
          <p:cNvPr id="19" name="Rounded Rectangle 18"/>
          <p:cNvSpPr/>
          <p:nvPr/>
        </p:nvSpPr>
        <p:spPr>
          <a:xfrm>
            <a:off x="548640" y="5349240"/>
            <a:ext cx="5852160" cy="960120"/>
          </a:xfrm>
          <a:prstGeom prst="roundRect">
            <a:avLst/>
          </a:prstGeom>
          <a:solidFill>
            <a:srgbClr val="3A5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23</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Alchemy Architect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