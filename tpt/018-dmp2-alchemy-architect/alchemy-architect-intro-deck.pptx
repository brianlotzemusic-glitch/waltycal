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1, the first minute. No audio is included in this deck. Before class, choose a short passage of electronic music with a bold synth sound, and find it yourself on a service your school allows; refer to it by title and artist only. Open with my overview: using Logic's Alchemy synthesizer, students design at least three custom patches from scratch, then compose a short original piece with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your passage twice. Take answers aloud about the feeling and the texture, then ask whether the sound changes from the start of the note to the end. This sets up my teacher notes' big idea: every sound in electronic music was designed by someone, and students can be that person. Do not name a song on the slide; say its title and artist aloud if you 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plain-English tour using the vocabulary on the project sheet. A synthesizer generates sound electronically using oscillators, filters and modulation. The oscillator is the sound source and makes the raw waveform. The filter shapes the tone by cutting or boosting frequencies. The envelope, ADSR, controls how the sound changes over time. Modulation uses one signal, like an LFO, to control another parameter. A patch is a saved set of settings. Students add their own words on the vocabulary page.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project, from my pacing guide. Class 1: introduction to Alchemy and guided exploration of the interface. Class 2: sound design basics, oscillators, filters and envelopes, and begin designing Patch 1. Classes 3 to 5 are working days: design the remaining patches and compose your track. Class 6: final mix and bounce, and prepare presentations. Class 7: presentations with Padlet peer feedback. Hand out the project sheet now.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 and 2 of the project sheet, shortened to fit the slide. Students open Alchemy and experiment with the interface, sound sources and presets, then work on understanding oscillators, filters, envelopes and modulation routing. The Explore sheet gives them small tasks so Class 1 is play with a purpose. Headphones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common struggles, as a promise for the whole project. Alchemy is overwhelming at first, so start with the Simple view before opening Advanced. Students tweak endlessly without saving, so enforce a save-as-you-go habit; a numbered name such as Tide 1, Tide 2 works well. And students struggle to compose with unfamiliar sounds, so design first and compose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2. Four classic waveforms, drawn on paper; nothing here is audio. A sine is one pure tone. A triangle has only odd harmonics and sounds soft. A saw has every harmonic and sounds bright. A square has odd harmonics and sounds hollow. Play each in Alchemy for the class. My tip: start with a simple waveform and shape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saw wave at 110 Hz has a harmonic at every multiple of 110, each one quieter: 110, 220, 330, and so on, at 1, 1/2, 1/3 of the level. A low-pass filter with its cutoff at 1000 Hz keeps the first nine and turns the rest down; the curve shows how it fades rather than stops. Lower the cutoff and the sound gets darker. Demo it live by moving the cutoff while holding a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ADSR is Attack, Decay, Sustain, Release. The pluck: attack 0.01 seconds, decay 0.3, sustain 20 percent, release 0.2. The pad: attack 1 second, decay 0.5, sustain 80 percent, release 1.5. Sustain is a level, not a time; the other three are times. Ask: which one would you use for a bass, a bell, a pad? Then play with the envelope in Alchemy.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LFO is a low-frequency oscillator: a slow wave that moves another knob, here the filter cutoff. At 120 BPM a bar is 2 seconds, so an LFO at 0.5 Hz makes one sweep each bar and an LFO at 4 Hz makes eight wobbles each bar. Rate is how fast, amount is how far. My advanced variation asks for advanced modulation routing; this is the gentle start.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of the project sheet, shortened to fit the slide: create your first original sound from scratch, and save it. Build one patch live in about ten minutes using exactly these five moves, saving after each one. Then students begin their own Patch 1 on the Patch card. My easier variation is a guided walkthrough of one patch as a class; this demo can be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3 is the first working day. Step 4 of the project sheet, shortened here: build two more distinct sounds and aim for variety. A pad, a bass and a bell make a good set. Students fill in a Patch card for each. Circulate and ask each student to play you the patch alone and tell you its job.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4. Step 5 of the project sheet, shortened here: use your three patches to build a 45 to 60 second track. The picture is an invented 26-bar plan at 120 BPM, which is 52 seconds, with three patches coming in and out. Students fill in the Track plan first. My third struggle: custom patches can sound thin, so show layering and effects to thicken them. Class 5 is a full working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6. Step 6 of the project sheet, shortened to fit the slide: apply effects, automation, EQ and panning, and bounce your track. Students use the Mix check. Zip the .logicx in Finder (Control-click, Compress). Students also write their three Padlet questions today.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submission checklist from the project sheet, in short form. Show where students upload (your class page) and where the Padlet board is. Remind students that three custom patches must be created and used, so the track should feature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rubric: five categories, each scored 1 to 5, for a total out of 25. Students score themselves first; the final grade is the average of their score and mine. The slide reads the 5 column of each category aloud. Hand out the rubric page so students can self-score before they present.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7, presentations with Padlet Q and A. Each student plays the track and shows or describes the three patches, then explains the creative choices. During classmates' presentations, every student answers at least 2 of their 3 questions on their Padlet post. My teacher notes suggest students name their patches creatively and share them as a class sound library.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what my teacher notes say this project introduces: sound synthesis fundamentals. Every sound in electronic music was designed by someone, and now they know how to be that person. Invite students to keep saving patches and building their own sound library. Reflection: point students to the Reflection page. A reflection is a written or oral conversation about how they did on the project and what they would do differently next time; they choose to write it or to talk it through with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384048"/>
            <a:ext cx="12191695" cy="457200"/>
          </a:xfrm>
          <a:prstGeom prst="rect">
            <a:avLst/>
          </a:prstGeom>
          <a:noFill/>
        </p:spPr>
        <p:txBody>
          <a:bodyPr wrap="square" anchor="t" lIns="36576" rIns="36576" tIns="18288" bIns="18288">
            <a:spAutoFit/>
          </a:bodyPr>
          <a:lstStyle/>
          <a:p>
            <a:pPr algn="ctr"/>
            <a:r>
              <a:rPr sz="1600" b="0" spc="800">
                <a:solidFill>
                  <a:srgbClr val="000000"/>
                </a:solidFill>
                <a:latin typeface="Oswald"/>
              </a:rPr>
              <a:t>HUDSON BEAT</a:t>
            </a:r>
          </a:p>
        </p:txBody>
      </p:sp>
      <p:pic>
        <p:nvPicPr>
          <p:cNvPr id="3" name="Picture 2" descr="deck-hero.png"/>
          <p:cNvPicPr>
            <a:picLocks noChangeAspect="1"/>
          </p:cNvPicPr>
          <p:nvPr/>
        </p:nvPicPr>
        <p:blipFill>
          <a:blip r:embed="rId2"/>
          <a:stretch>
            <a:fillRect/>
          </a:stretch>
        </p:blipFill>
        <p:spPr>
          <a:xfrm>
            <a:off x="1340967" y="896112"/>
            <a:ext cx="9509760" cy="1731777"/>
          </a:xfrm>
          <a:prstGeom prst="rect">
            <a:avLst/>
          </a:prstGeom>
        </p:spPr>
      </p:pic>
      <p:sp>
        <p:nvSpPr>
          <p:cNvPr id="4" name="TextBox 3"/>
          <p:cNvSpPr txBox="1"/>
          <p:nvPr/>
        </p:nvSpPr>
        <p:spPr>
          <a:xfrm>
            <a:off x="0" y="3931920"/>
            <a:ext cx="12191695" cy="1005840"/>
          </a:xfrm>
          <a:prstGeom prst="rect">
            <a:avLst/>
          </a:prstGeom>
          <a:noFill/>
        </p:spPr>
        <p:txBody>
          <a:bodyPr wrap="square" anchor="t" lIns="36576" rIns="36576" tIns="18288" bIns="18288">
            <a:spAutoFit/>
          </a:bodyPr>
          <a:lstStyle/>
          <a:p>
            <a:pPr algn="ctr"/>
            <a:r>
              <a:rPr sz="7200" b="1">
                <a:solidFill>
                  <a:srgbClr val="000000"/>
                </a:solidFill>
                <a:latin typeface="Oswald"/>
              </a:rPr>
              <a:t>ALCHEMY ARCHITECT</a:t>
            </a:r>
          </a:p>
        </p:txBody>
      </p:sp>
      <p:sp>
        <p:nvSpPr>
          <p:cNvPr id="5" name="TextBox 4"/>
          <p:cNvSpPr txBox="1"/>
          <p:nvPr/>
        </p:nvSpPr>
        <p:spPr>
          <a:xfrm>
            <a:off x="0" y="5029200"/>
            <a:ext cx="12191695" cy="548640"/>
          </a:xfrm>
          <a:prstGeom prst="rect">
            <a:avLst/>
          </a:prstGeom>
          <a:noFill/>
        </p:spPr>
        <p:txBody>
          <a:bodyPr wrap="square" anchor="t" lIns="36576" rIns="36576" tIns="18288" bIns="18288">
            <a:spAutoFit/>
          </a:bodyPr>
          <a:lstStyle/>
          <a:p>
            <a:pPr algn="ctr"/>
            <a:r>
              <a:rPr sz="2800" b="0">
                <a:solidFill>
                  <a:srgbClr val="000000"/>
                </a:solidFill>
                <a:latin typeface="Oswald"/>
              </a:rPr>
              <a:t>Design the sound.</a:t>
            </a:r>
          </a:p>
        </p:txBody>
      </p:sp>
      <p:sp>
        <p:nvSpPr>
          <p:cNvPr id="6" name="Rectangle 5"/>
          <p:cNvSpPr/>
          <p:nvPr/>
        </p:nvSpPr>
        <p:spPr>
          <a:xfrm>
            <a:off x="0" y="5989320"/>
            <a:ext cx="12191695" cy="8686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0" y="6108192"/>
            <a:ext cx="12191695" cy="548640"/>
          </a:xfrm>
          <a:prstGeom prst="rect">
            <a:avLst/>
          </a:prstGeom>
          <a:noFill/>
        </p:spPr>
        <p:txBody>
          <a:bodyPr wrap="square" anchor="t" lIns="36576" rIns="36576" tIns="18288" bIns="18288">
            <a:spAutoFit/>
          </a:bodyPr>
          <a:lstStyle/>
          <a:p>
            <a:pPr algn="ctr"/>
            <a:r>
              <a:rPr sz="2000" b="0" spc="200">
                <a:solidFill>
                  <a:srgbClr val="FFFFFF"/>
                </a:solidFill>
                <a:latin typeface="Oswald"/>
              </a:rPr>
              <a:t>DIGITAL MUSIC PRODUCTION 2 · CLASS 1 · SYNTH SOUND DESIGN IN LOGIC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LISTEN: WHO DESIGNED THIS SOUND?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2</a:t>
            </a:r>
          </a:p>
        </p:txBody>
      </p:sp>
      <p:sp>
        <p:nvSpPr>
          <p:cNvPr id="10" name="Rounded Rectangle 9"/>
          <p:cNvSpPr/>
          <p:nvPr/>
        </p:nvSpPr>
        <p:spPr>
          <a:xfrm>
            <a:off x="548640" y="1828800"/>
            <a:ext cx="11091672" cy="182880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920240"/>
            <a:ext cx="10515600" cy="640080"/>
          </a:xfrm>
          <a:prstGeom prst="rect">
            <a:avLst/>
          </a:prstGeom>
          <a:noFill/>
        </p:spPr>
        <p:txBody>
          <a:bodyPr wrap="square" anchor="t" lIns="36576" rIns="36576" tIns="18288" bIns="18288">
            <a:spAutoFit/>
          </a:bodyPr>
          <a:lstStyle/>
          <a:p>
            <a:pPr algn="l"/>
            <a:r>
              <a:rPr sz="3600" b="1">
                <a:solidFill>
                  <a:srgbClr val="FFFFFF"/>
                </a:solidFill>
                <a:latin typeface="Oswald"/>
              </a:rPr>
              <a:t>EVERY SOUND WAS DESIGNED</a:t>
            </a:r>
          </a:p>
        </p:txBody>
      </p:sp>
      <p:sp>
        <p:nvSpPr>
          <p:cNvPr id="12" name="TextBox 11"/>
          <p:cNvSpPr txBox="1"/>
          <p:nvPr/>
        </p:nvSpPr>
        <p:spPr>
          <a:xfrm>
            <a:off x="822960" y="2578608"/>
            <a:ext cx="10515600" cy="457200"/>
          </a:xfrm>
          <a:prstGeom prst="rect">
            <a:avLst/>
          </a:prstGeom>
          <a:noFill/>
        </p:spPr>
        <p:txBody>
          <a:bodyPr wrap="square" anchor="t" lIns="36576" rIns="36576" tIns="18288" bIns="18288">
            <a:spAutoFit/>
          </a:bodyPr>
          <a:lstStyle/>
          <a:p>
            <a:pPr algn="l"/>
            <a:r>
              <a:rPr sz="2400" b="0">
                <a:solidFill>
                  <a:srgbClr val="CBD9E4"/>
                </a:solidFill>
                <a:latin typeface="Oswald"/>
              </a:rPr>
              <a:t>Someone built that sound, knob by knob</a:t>
            </a:r>
          </a:p>
        </p:txBody>
      </p:sp>
      <p:sp>
        <p:nvSpPr>
          <p:cNvPr id="13" name="TextBox 12"/>
          <p:cNvSpPr txBox="1"/>
          <p:nvPr/>
        </p:nvSpPr>
        <p:spPr>
          <a:xfrm>
            <a:off x="822960" y="3090672"/>
            <a:ext cx="10515600" cy="457200"/>
          </a:xfrm>
          <a:prstGeom prst="rect">
            <a:avLst/>
          </a:prstGeom>
          <a:noFill/>
        </p:spPr>
        <p:txBody>
          <a:bodyPr wrap="square" anchor="t" lIns="36576" rIns="36576" tIns="18288" bIns="18288">
            <a:spAutoFit/>
          </a:bodyPr>
          <a:lstStyle/>
          <a:p>
            <a:pPr algn="l"/>
            <a:r>
              <a:rPr sz="1800" b="0">
                <a:solidFill>
                  <a:srgbClr val="FFFFFF"/>
                </a:solidFill>
                <a:latin typeface="Source Sans 3"/>
              </a:rPr>
              <a:t>Teacher: play a short passage you choose, one with a bold synth sound.</a:t>
            </a:r>
          </a:p>
        </p:txBody>
      </p:sp>
      <p:sp>
        <p:nvSpPr>
          <p:cNvPr id="14" name="Oval 13"/>
          <p:cNvSpPr/>
          <p:nvPr/>
        </p:nvSpPr>
        <p:spPr>
          <a:xfrm>
            <a:off x="548640" y="40690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319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What does the sound make you think of?</a:t>
            </a:r>
          </a:p>
        </p:txBody>
      </p:sp>
      <p:sp>
        <p:nvSpPr>
          <p:cNvPr id="16" name="Oval 15"/>
          <p:cNvSpPr/>
          <p:nvPr/>
        </p:nvSpPr>
        <p:spPr>
          <a:xfrm>
            <a:off x="548640" y="46786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5415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Is it smooth or rough, bright or dark?</a:t>
            </a:r>
          </a:p>
        </p:txBody>
      </p:sp>
      <p:sp>
        <p:nvSpPr>
          <p:cNvPr id="18" name="Oval 17"/>
          <p:cNvSpPr/>
          <p:nvPr/>
        </p:nvSpPr>
        <p:spPr>
          <a:xfrm>
            <a:off x="548640" y="52882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15112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Does it change while the note plays?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FOUR BUILDING BLOCKS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3</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Oscillator: makes the raw wave</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Filter: cuts or boosts frequencies</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Envelope: shapes the sound over time</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Modulation: makes it move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SEVEN CLASSES</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4</a:t>
            </a:r>
          </a:p>
        </p:txBody>
      </p:sp>
      <p:sp>
        <p:nvSpPr>
          <p:cNvPr id="10" name="Rounded Rectangle 9"/>
          <p:cNvSpPr/>
          <p:nvPr/>
        </p:nvSpPr>
        <p:spPr>
          <a:xfrm>
            <a:off x="548640" y="1810512"/>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1</a:t>
            </a:r>
          </a:p>
        </p:txBody>
      </p:sp>
      <p:sp>
        <p:nvSpPr>
          <p:cNvPr id="12" name="TextBox 11"/>
          <p:cNvSpPr txBox="1"/>
          <p:nvPr/>
        </p:nvSpPr>
        <p:spPr>
          <a:xfrm>
            <a:off x="2286000" y="1810512"/>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Who designed this sound? · four building blocks · explore Alchemy</a:t>
            </a:r>
          </a:p>
        </p:txBody>
      </p:sp>
      <p:sp>
        <p:nvSpPr>
          <p:cNvPr id="13" name="Rounded Rectangle 12"/>
          <p:cNvSpPr/>
          <p:nvPr/>
        </p:nvSpPr>
        <p:spPr>
          <a:xfrm>
            <a:off x="548640" y="2444060"/>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444060"/>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2</a:t>
            </a:r>
          </a:p>
        </p:txBody>
      </p:sp>
      <p:sp>
        <p:nvSpPr>
          <p:cNvPr id="15" name="TextBox 14"/>
          <p:cNvSpPr txBox="1"/>
          <p:nvPr/>
        </p:nvSpPr>
        <p:spPr>
          <a:xfrm>
            <a:off x="2286000" y="2444060"/>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Oscillator · filter · envelope · LFO · build Patch 1</a:t>
            </a:r>
          </a:p>
        </p:txBody>
      </p:sp>
      <p:sp>
        <p:nvSpPr>
          <p:cNvPr id="16" name="Rounded Rectangle 15"/>
          <p:cNvSpPr/>
          <p:nvPr/>
        </p:nvSpPr>
        <p:spPr>
          <a:xfrm>
            <a:off x="548640" y="3077609"/>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77609"/>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3</a:t>
            </a:r>
          </a:p>
        </p:txBody>
      </p:sp>
      <p:sp>
        <p:nvSpPr>
          <p:cNvPr id="18" name="TextBox 17"/>
          <p:cNvSpPr txBox="1"/>
          <p:nvPr/>
        </p:nvSpPr>
        <p:spPr>
          <a:xfrm>
            <a:off x="2286000" y="3077609"/>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Patches 2 and 3</a:t>
            </a:r>
          </a:p>
        </p:txBody>
      </p:sp>
      <p:sp>
        <p:nvSpPr>
          <p:cNvPr id="19" name="Rounded Rectangle 18"/>
          <p:cNvSpPr/>
          <p:nvPr/>
        </p:nvSpPr>
        <p:spPr>
          <a:xfrm>
            <a:off x="548640" y="3711157"/>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711157"/>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4</a:t>
            </a:r>
          </a:p>
        </p:txBody>
      </p:sp>
      <p:sp>
        <p:nvSpPr>
          <p:cNvPr id="21" name="TextBox 20"/>
          <p:cNvSpPr txBox="1"/>
          <p:nvPr/>
        </p:nvSpPr>
        <p:spPr>
          <a:xfrm>
            <a:off x="2286000" y="3711157"/>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compose with your patches</a:t>
            </a:r>
          </a:p>
        </p:txBody>
      </p:sp>
      <p:sp>
        <p:nvSpPr>
          <p:cNvPr id="22" name="Rounded Rectangle 21"/>
          <p:cNvSpPr/>
          <p:nvPr/>
        </p:nvSpPr>
        <p:spPr>
          <a:xfrm>
            <a:off x="548640" y="4344706"/>
            <a:ext cx="1554480" cy="523820"/>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344706"/>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5</a:t>
            </a:r>
          </a:p>
        </p:txBody>
      </p:sp>
      <p:sp>
        <p:nvSpPr>
          <p:cNvPr id="24" name="TextBox 23"/>
          <p:cNvSpPr txBox="1"/>
          <p:nvPr/>
        </p:nvSpPr>
        <p:spPr>
          <a:xfrm>
            <a:off x="2286000" y="4344706"/>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Working day: compose and thicken</a:t>
            </a:r>
          </a:p>
        </p:txBody>
      </p:sp>
      <p:sp>
        <p:nvSpPr>
          <p:cNvPr id="25" name="Rounded Rectangle 24"/>
          <p:cNvSpPr/>
          <p:nvPr/>
        </p:nvSpPr>
        <p:spPr>
          <a:xfrm>
            <a:off x="548640" y="4978254"/>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8254"/>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6</a:t>
            </a:r>
          </a:p>
        </p:txBody>
      </p:sp>
      <p:sp>
        <p:nvSpPr>
          <p:cNvPr id="27" name="TextBox 26"/>
          <p:cNvSpPr txBox="1"/>
          <p:nvPr/>
        </p:nvSpPr>
        <p:spPr>
          <a:xfrm>
            <a:off x="2286000" y="4978254"/>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Mix · bounce · checklist · rubric · 3 questions</a:t>
            </a:r>
          </a:p>
        </p:txBody>
      </p:sp>
      <p:sp>
        <p:nvSpPr>
          <p:cNvPr id="28" name="Rounded Rectangle 27"/>
          <p:cNvSpPr/>
          <p:nvPr/>
        </p:nvSpPr>
        <p:spPr>
          <a:xfrm>
            <a:off x="548640" y="5611803"/>
            <a:ext cx="1554480" cy="5238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611803"/>
            <a:ext cx="1554480" cy="523820"/>
          </a:xfrm>
          <a:prstGeom prst="rect">
            <a:avLst/>
          </a:prstGeom>
          <a:noFill/>
        </p:spPr>
        <p:txBody>
          <a:bodyPr wrap="square" anchor="ctr" lIns="36576" rIns="36576" tIns="18288" bIns="18288">
            <a:spAutoFit/>
          </a:bodyPr>
          <a:lstStyle/>
          <a:p>
            <a:pPr algn="ctr"/>
            <a:r>
              <a:rPr sz="2200" b="1">
                <a:solidFill>
                  <a:srgbClr val="FFFFFF"/>
                </a:solidFill>
                <a:latin typeface="Oswald"/>
              </a:rPr>
              <a:t>CLASS 7</a:t>
            </a:r>
          </a:p>
        </p:txBody>
      </p:sp>
      <p:sp>
        <p:nvSpPr>
          <p:cNvPr id="30" name="TextBox 29"/>
          <p:cNvSpPr txBox="1"/>
          <p:nvPr/>
        </p:nvSpPr>
        <p:spPr>
          <a:xfrm>
            <a:off x="2286000" y="5611803"/>
            <a:ext cx="9326880" cy="523820"/>
          </a:xfrm>
          <a:prstGeom prst="rect">
            <a:avLst/>
          </a:prstGeom>
          <a:noFill/>
        </p:spPr>
        <p:txBody>
          <a:bodyPr wrap="square" anchor="ctr" lIns="36576" rIns="36576" tIns="18288" bIns="18288">
            <a:spAutoFit/>
          </a:bodyPr>
          <a:lstStyle/>
          <a:p>
            <a:pPr algn="l"/>
            <a:r>
              <a:rPr sz="2200" b="0">
                <a:solidFill>
                  <a:srgbClr val="000000"/>
                </a:solidFill>
                <a:latin typeface="Source Sans 3"/>
              </a:rPr>
              <a:t>Presentations with Padlet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STEPS 1 AND 2: EXPLORE, LEARN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5</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Open Alchemy and try the interface</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Play the sound sources and presets</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Learn oscillators, filters, envelopes</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Learn modulation routing</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Fill in the Explore sheet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1</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START SIMPLE, SAVE OFTEN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6</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Simple view before Advanced</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Change one thing at a time</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Save your patch as you go</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Design first, compose second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OSCILLATOR: THE RAW SOUND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7</a:t>
            </a:r>
          </a:p>
        </p:txBody>
      </p:sp>
      <p:pic>
        <p:nvPicPr>
          <p:cNvPr id="10" name="Picture 9" descr="deck-waves.png"/>
          <p:cNvPicPr>
            <a:picLocks noChangeAspect="1"/>
          </p:cNvPicPr>
          <p:nvPr/>
        </p:nvPicPr>
        <p:blipFill>
          <a:blip r:embed="rId2"/>
          <a:stretch>
            <a:fillRect/>
          </a:stretch>
        </p:blipFill>
        <p:spPr>
          <a:xfrm>
            <a:off x="548640" y="1810512"/>
            <a:ext cx="11091672" cy="1952134"/>
          </a:xfrm>
          <a:prstGeom prst="rect">
            <a:avLst/>
          </a:prstGeom>
        </p:spPr>
      </p:pic>
      <p:sp>
        <p:nvSpPr>
          <p:cNvPr id="11" name="Oval 10"/>
          <p:cNvSpPr/>
          <p:nvPr/>
        </p:nvSpPr>
        <p:spPr>
          <a:xfrm>
            <a:off x="548640" y="4956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Each wave has its own sound</a:t>
            </a:r>
          </a:p>
        </p:txBody>
      </p:sp>
      <p:sp>
        <p:nvSpPr>
          <p:cNvPr id="13" name="Oval 12"/>
          <p:cNvSpPr/>
          <p:nvPr/>
        </p:nvSpPr>
        <p:spPr>
          <a:xfrm>
            <a:off x="6190488" y="4956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8463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Saw is bright, sine is pure</a:t>
            </a:r>
          </a:p>
        </p:txBody>
      </p:sp>
      <p:sp>
        <p:nvSpPr>
          <p:cNvPr id="15" name="Oval 14"/>
          <p:cNvSpPr/>
          <p:nvPr/>
        </p:nvSpPr>
        <p:spPr>
          <a:xfrm>
            <a:off x="548640" y="56418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Square sounds hollow</a:t>
            </a:r>
          </a:p>
        </p:txBody>
      </p:sp>
      <p:sp>
        <p:nvSpPr>
          <p:cNvPr id="17" name="Oval 16"/>
          <p:cNvSpPr/>
          <p:nvPr/>
        </p:nvSpPr>
        <p:spPr>
          <a:xfrm>
            <a:off x="6190488" y="56418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53212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Start with one and shape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FILTER: SHAPING THE TONE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8</a:t>
            </a:r>
          </a:p>
        </p:txBody>
      </p:sp>
      <p:pic>
        <p:nvPicPr>
          <p:cNvPr id="10" name="Picture 9" descr="deck-filter.png"/>
          <p:cNvPicPr>
            <a:picLocks noChangeAspect="1"/>
          </p:cNvPicPr>
          <p:nvPr/>
        </p:nvPicPr>
        <p:blipFill>
          <a:blip r:embed="rId2"/>
          <a:stretch>
            <a:fillRect/>
          </a:stretch>
        </p:blipFill>
        <p:spPr>
          <a:xfrm>
            <a:off x="1179948" y="1810512"/>
            <a:ext cx="9829055" cy="3017520"/>
          </a:xfrm>
          <a:prstGeom prst="rect">
            <a:avLst/>
          </a:prstGeom>
        </p:spPr>
      </p:pic>
      <p:sp>
        <p:nvSpPr>
          <p:cNvPr id="11" name="Oval 10"/>
          <p:cNvSpPr/>
          <p:nvPr/>
        </p:nvSpPr>
        <p:spPr>
          <a:xfrm>
            <a:off x="548640"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The filter turns harmonics down</a:t>
            </a:r>
          </a:p>
        </p:txBody>
      </p:sp>
      <p:sp>
        <p:nvSpPr>
          <p:cNvPr id="13" name="Oval 12"/>
          <p:cNvSpPr/>
          <p:nvPr/>
        </p:nvSpPr>
        <p:spPr>
          <a:xfrm>
            <a:off x="6190488"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Low cutoff means a darker sound</a:t>
            </a:r>
          </a:p>
        </p:txBody>
      </p:sp>
      <p:sp>
        <p:nvSpPr>
          <p:cNvPr id="15" name="Oval 14"/>
          <p:cNvSpPr/>
          <p:nvPr/>
        </p:nvSpPr>
        <p:spPr>
          <a:xfrm>
            <a:off x="548640"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Open the cutoff to brighten it</a:t>
            </a:r>
          </a:p>
        </p:txBody>
      </p:sp>
      <p:sp>
        <p:nvSpPr>
          <p:cNvPr id="17" name="Oval 16"/>
          <p:cNvSpPr/>
          <p:nvPr/>
        </p:nvSpPr>
        <p:spPr>
          <a:xfrm>
            <a:off x="6190488"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Move it while you hold a note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THE ENVELOPE: SHAPE OVER TIME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9</a:t>
            </a:r>
          </a:p>
        </p:txBody>
      </p:sp>
      <p:pic>
        <p:nvPicPr>
          <p:cNvPr id="10" name="Picture 9" descr="deck-adsr.png"/>
          <p:cNvPicPr>
            <a:picLocks noChangeAspect="1"/>
          </p:cNvPicPr>
          <p:nvPr/>
        </p:nvPicPr>
        <p:blipFill>
          <a:blip r:embed="rId2"/>
          <a:stretch>
            <a:fillRect/>
          </a:stretch>
        </p:blipFill>
        <p:spPr>
          <a:xfrm>
            <a:off x="2210923" y="1810512"/>
            <a:ext cx="7767104" cy="3017520"/>
          </a:xfrm>
          <a:prstGeom prst="rect">
            <a:avLst/>
          </a:prstGeom>
        </p:spPr>
      </p:pic>
      <p:sp>
        <p:nvSpPr>
          <p:cNvPr id="11" name="Oval 10"/>
          <p:cNvSpPr/>
          <p:nvPr/>
        </p:nvSpPr>
        <p:spPr>
          <a:xfrm>
            <a:off x="548640" y="52120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Short attack, a pluck</a:t>
            </a:r>
          </a:p>
        </p:txBody>
      </p:sp>
      <p:sp>
        <p:nvSpPr>
          <p:cNvPr id="13" name="Oval 12"/>
          <p:cNvSpPr/>
          <p:nvPr/>
        </p:nvSpPr>
        <p:spPr>
          <a:xfrm>
            <a:off x="6190488" y="52120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Long attack, a pad</a:t>
            </a:r>
          </a:p>
        </p:txBody>
      </p:sp>
      <p:sp>
        <p:nvSpPr>
          <p:cNvPr id="15" name="Oval 14"/>
          <p:cNvSpPr/>
          <p:nvPr/>
        </p:nvSpPr>
        <p:spPr>
          <a:xfrm>
            <a:off x="548640" y="58978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Release is the tail after you let go</a:t>
            </a:r>
          </a:p>
        </p:txBody>
      </p:sp>
      <p:sp>
        <p:nvSpPr>
          <p:cNvPr id="17" name="Oval 16"/>
          <p:cNvSpPr/>
          <p:nvPr/>
        </p:nvSpPr>
        <p:spPr>
          <a:xfrm>
            <a:off x="6190488" y="589788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2"/>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Sustain is a level, not a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MODULATION: MAKE IT MOVE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10</a:t>
            </a:r>
          </a:p>
        </p:txBody>
      </p:sp>
      <p:pic>
        <p:nvPicPr>
          <p:cNvPr id="10" name="Picture 9" descr="deck-lfo.png"/>
          <p:cNvPicPr>
            <a:picLocks noChangeAspect="1"/>
          </p:cNvPicPr>
          <p:nvPr/>
        </p:nvPicPr>
        <p:blipFill>
          <a:blip r:embed="rId2"/>
          <a:stretch>
            <a:fillRect/>
          </a:stretch>
        </p:blipFill>
        <p:spPr>
          <a:xfrm>
            <a:off x="2230814" y="1810512"/>
            <a:ext cx="7727323" cy="3017520"/>
          </a:xfrm>
          <a:prstGeom prst="rect">
            <a:avLst/>
          </a:prstGeom>
        </p:spPr>
      </p:pic>
      <p:sp>
        <p:nvSpPr>
          <p:cNvPr id="11" name="Oval 10"/>
          <p:cNvSpPr/>
          <p:nvPr/>
        </p:nvSpPr>
        <p:spPr>
          <a:xfrm>
            <a:off x="548640"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An LFO is a slow wave that moves a knob</a:t>
            </a:r>
          </a:p>
        </p:txBody>
      </p:sp>
      <p:sp>
        <p:nvSpPr>
          <p:cNvPr id="13" name="Oval 12"/>
          <p:cNvSpPr/>
          <p:nvPr/>
        </p:nvSpPr>
        <p:spPr>
          <a:xfrm>
            <a:off x="6190488" y="52120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51023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Rate sets how fast it moves</a:t>
            </a:r>
          </a:p>
        </p:txBody>
      </p:sp>
      <p:sp>
        <p:nvSpPr>
          <p:cNvPr id="15" name="Oval 14"/>
          <p:cNvSpPr/>
          <p:nvPr/>
        </p:nvSpPr>
        <p:spPr>
          <a:xfrm>
            <a:off x="548640"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Amount sets how far it moves</a:t>
            </a:r>
          </a:p>
        </p:txBody>
      </p:sp>
      <p:sp>
        <p:nvSpPr>
          <p:cNvPr id="17" name="Oval 16"/>
          <p:cNvSpPr/>
          <p:nvPr/>
        </p:nvSpPr>
        <p:spPr>
          <a:xfrm>
            <a:off x="6190488" y="5897879"/>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788151"/>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Match the rate to the bar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2</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WATCH ME: BUILD PATCH 1</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11</a:t>
            </a:r>
          </a:p>
        </p:txBody>
      </p:sp>
      <p:sp>
        <p:nvSpPr>
          <p:cNvPr id="10" name="Oval 9"/>
          <p:cNvSpPr/>
          <p:nvPr/>
        </p:nvSpPr>
        <p:spPr>
          <a:xfrm>
            <a:off x="548640" y="192023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3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1</a:t>
            </a:r>
          </a:p>
        </p:txBody>
      </p:sp>
      <p:sp>
        <p:nvSpPr>
          <p:cNvPr id="12" name="TextBox 11"/>
          <p:cNvSpPr txBox="1"/>
          <p:nvPr/>
        </p:nvSpPr>
        <p:spPr>
          <a:xfrm>
            <a:off x="1325880" y="1828799"/>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Start with one simple waveform</a:t>
            </a:r>
          </a:p>
        </p:txBody>
      </p:sp>
      <p:sp>
        <p:nvSpPr>
          <p:cNvPr id="13" name="Oval 12"/>
          <p:cNvSpPr/>
          <p:nvPr/>
        </p:nvSpPr>
        <p:spPr>
          <a:xfrm>
            <a:off x="548640" y="2788920"/>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788920"/>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2</a:t>
            </a:r>
          </a:p>
        </p:txBody>
      </p:sp>
      <p:sp>
        <p:nvSpPr>
          <p:cNvPr id="15" name="TextBox 14"/>
          <p:cNvSpPr txBox="1"/>
          <p:nvPr/>
        </p:nvSpPr>
        <p:spPr>
          <a:xfrm>
            <a:off x="1325880" y="269748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Open the filter: move the cutoff</a:t>
            </a:r>
          </a:p>
        </p:txBody>
      </p:sp>
      <p:sp>
        <p:nvSpPr>
          <p:cNvPr id="16" name="Oval 15"/>
          <p:cNvSpPr/>
          <p:nvPr/>
        </p:nvSpPr>
        <p:spPr>
          <a:xfrm>
            <a:off x="548640" y="365759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5759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3</a:t>
            </a:r>
          </a:p>
        </p:txBody>
      </p:sp>
      <p:sp>
        <p:nvSpPr>
          <p:cNvPr id="18" name="TextBox 17"/>
          <p:cNvSpPr txBox="1"/>
          <p:nvPr/>
        </p:nvSpPr>
        <p:spPr>
          <a:xfrm>
            <a:off x="1325880" y="356616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Shape it with the envelope</a:t>
            </a:r>
          </a:p>
        </p:txBody>
      </p:sp>
      <p:sp>
        <p:nvSpPr>
          <p:cNvPr id="19" name="Oval 18"/>
          <p:cNvSpPr/>
          <p:nvPr/>
        </p:nvSpPr>
        <p:spPr>
          <a:xfrm>
            <a:off x="548640" y="452627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2627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4</a:t>
            </a:r>
          </a:p>
        </p:txBody>
      </p:sp>
      <p:sp>
        <p:nvSpPr>
          <p:cNvPr id="21" name="TextBox 20"/>
          <p:cNvSpPr txBox="1"/>
          <p:nvPr/>
        </p:nvSpPr>
        <p:spPr>
          <a:xfrm>
            <a:off x="1325880" y="443484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Add one slow LFO to the cutoff</a:t>
            </a:r>
          </a:p>
        </p:txBody>
      </p:sp>
      <p:sp>
        <p:nvSpPr>
          <p:cNvPr id="22" name="Oval 21"/>
          <p:cNvSpPr/>
          <p:nvPr/>
        </p:nvSpPr>
        <p:spPr>
          <a:xfrm>
            <a:off x="548640" y="5394959"/>
            <a:ext cx="566928" cy="56692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394959"/>
            <a:ext cx="566928" cy="566928"/>
          </a:xfrm>
          <a:prstGeom prst="rect">
            <a:avLst/>
          </a:prstGeom>
          <a:noFill/>
        </p:spPr>
        <p:txBody>
          <a:bodyPr wrap="square" anchor="ctr" lIns="36576" rIns="36576" tIns="18288" bIns="18288">
            <a:spAutoFit/>
          </a:bodyPr>
          <a:lstStyle/>
          <a:p>
            <a:pPr algn="ctr"/>
            <a:r>
              <a:rPr sz="2400" b="1">
                <a:solidFill>
                  <a:srgbClr val="FFFFFF"/>
                </a:solidFill>
                <a:latin typeface="Oswald"/>
              </a:rPr>
              <a:t>5</a:t>
            </a:r>
          </a:p>
        </p:txBody>
      </p:sp>
      <p:sp>
        <p:nvSpPr>
          <p:cNvPr id="24" name="TextBox 23"/>
          <p:cNvSpPr txBox="1"/>
          <p:nvPr/>
        </p:nvSpPr>
        <p:spPr>
          <a:xfrm>
            <a:off x="1325880" y="5303520"/>
            <a:ext cx="10241280" cy="749808"/>
          </a:xfrm>
          <a:prstGeom prst="rect">
            <a:avLst/>
          </a:prstGeom>
          <a:noFill/>
        </p:spPr>
        <p:txBody>
          <a:bodyPr wrap="square" anchor="ctr" lIns="36576" rIns="36576" tIns="18288" bIns="18288">
            <a:spAutoFit/>
          </a:bodyPr>
          <a:lstStyle/>
          <a:p>
            <a:pPr algn="l"/>
            <a:r>
              <a:rPr sz="2800" b="0">
                <a:solidFill>
                  <a:srgbClr val="000000"/>
                </a:solidFill>
                <a:latin typeface="Source Sans 3"/>
              </a:rPr>
              <a:t>Save it: give the patch a name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3</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PATCHES 2 AND 3</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12</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Build two more sounds from scratch</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Make each one different: bass, pad, lead</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Change one setting at a time</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Save as you 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4</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WORKING DAY: COMPOSE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13</a:t>
            </a:r>
          </a:p>
        </p:txBody>
      </p:sp>
      <p:pic>
        <p:nvPicPr>
          <p:cNvPr id="10" name="Picture 9" descr="deck-lanes.png"/>
          <p:cNvPicPr>
            <a:picLocks noChangeAspect="1"/>
          </p:cNvPicPr>
          <p:nvPr/>
        </p:nvPicPr>
        <p:blipFill>
          <a:blip r:embed="rId2"/>
          <a:stretch>
            <a:fillRect/>
          </a:stretch>
        </p:blipFill>
        <p:spPr>
          <a:xfrm>
            <a:off x="548640" y="1810512"/>
            <a:ext cx="11091672" cy="2839468"/>
          </a:xfrm>
          <a:prstGeom prst="rect">
            <a:avLst/>
          </a:prstGeom>
        </p:spPr>
      </p:pic>
      <p:sp>
        <p:nvSpPr>
          <p:cNvPr id="11" name="Oval 10"/>
          <p:cNvSpPr/>
          <p:nvPr/>
        </p:nvSpPr>
        <p:spPr>
          <a:xfrm>
            <a:off x="548640" y="50340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9243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Design first, compose second</a:t>
            </a:r>
          </a:p>
        </p:txBody>
      </p:sp>
      <p:sp>
        <p:nvSpPr>
          <p:cNvPr id="13" name="Oval 12"/>
          <p:cNvSpPr/>
          <p:nvPr/>
        </p:nvSpPr>
        <p:spPr>
          <a:xfrm>
            <a:off x="6190488" y="50340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49243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Give each patch a job</a:t>
            </a:r>
          </a:p>
        </p:txBody>
      </p:sp>
      <p:sp>
        <p:nvSpPr>
          <p:cNvPr id="15" name="Oval 14"/>
          <p:cNvSpPr/>
          <p:nvPr/>
        </p:nvSpPr>
        <p:spPr>
          <a:xfrm>
            <a:off x="548640" y="57198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56101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Bring patches in and out</a:t>
            </a:r>
          </a:p>
        </p:txBody>
      </p:sp>
      <p:sp>
        <p:nvSpPr>
          <p:cNvPr id="17" name="Oval 16"/>
          <p:cNvSpPr/>
          <p:nvPr/>
        </p:nvSpPr>
        <p:spPr>
          <a:xfrm>
            <a:off x="6190488" y="57198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610100"/>
            <a:ext cx="5212080" cy="548640"/>
          </a:xfrm>
          <a:prstGeom prst="rect">
            <a:avLst/>
          </a:prstGeom>
          <a:noFill/>
        </p:spPr>
        <p:txBody>
          <a:bodyPr wrap="square" anchor="t" lIns="36576" rIns="36576" tIns="18288" bIns="18288">
            <a:spAutoFit/>
          </a:bodyPr>
          <a:lstStyle/>
          <a:p>
            <a:pPr algn="l"/>
            <a:r>
              <a:rPr sz="2200" b="0">
                <a:solidFill>
                  <a:srgbClr val="000000"/>
                </a:solidFill>
                <a:latin typeface="Source Sans 3"/>
              </a:rPr>
              <a:t>Plan 45–60 seconds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MIX, EFFECTS AND BOUNCE</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14</a:t>
            </a:r>
          </a:p>
        </p:txBody>
      </p:sp>
      <p:sp>
        <p:nvSpPr>
          <p:cNvPr id="10" name="Oval 9"/>
          <p:cNvSpPr/>
          <p:nvPr/>
        </p:nvSpPr>
        <p:spPr>
          <a:xfrm>
            <a:off x="548640" y="21488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Add effects, automation, EQ and panning</a:t>
            </a:r>
          </a:p>
        </p:txBody>
      </p:sp>
      <p:sp>
        <p:nvSpPr>
          <p:cNvPr id="12" name="Oval 11"/>
          <p:cNvSpPr/>
          <p:nvPr/>
        </p:nvSpPr>
        <p:spPr>
          <a:xfrm>
            <a:off x="548640" y="28727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7355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Balance the levels</a:t>
            </a:r>
          </a:p>
        </p:txBody>
      </p:sp>
      <p:sp>
        <p:nvSpPr>
          <p:cNvPr id="14" name="Oval 13"/>
          <p:cNvSpPr/>
          <p:nvPr/>
        </p:nvSpPr>
        <p:spPr>
          <a:xfrm>
            <a:off x="548640" y="35966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4594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Bounce a .mp3 or .wav</a:t>
            </a:r>
          </a:p>
        </p:txBody>
      </p:sp>
      <p:sp>
        <p:nvSpPr>
          <p:cNvPr id="16" name="Oval 15"/>
          <p:cNvSpPr/>
          <p:nvPr/>
        </p:nvSpPr>
        <p:spPr>
          <a:xfrm>
            <a:off x="548640" y="43205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1833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Zip the .logicx project</a:t>
            </a:r>
          </a:p>
        </p:txBody>
      </p:sp>
      <p:sp>
        <p:nvSpPr>
          <p:cNvPr id="18" name="Oval 17"/>
          <p:cNvSpPr/>
          <p:nvPr/>
        </p:nvSpPr>
        <p:spPr>
          <a:xfrm>
            <a:off x="548640" y="504444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4907280"/>
            <a:ext cx="1069848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Write your 3 Padlet questions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WHAT YOU TURN IN</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15</a:t>
            </a:r>
          </a:p>
        </p:txBody>
      </p:sp>
      <p:sp>
        <p:nvSpPr>
          <p:cNvPr id="10" name="Rounded Rectangle 9"/>
          <p:cNvSpPr/>
          <p:nvPr/>
        </p:nvSpPr>
        <p:spPr>
          <a:xfrm>
            <a:off x="54864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Bounced .mp3 or .wav</a:t>
            </a:r>
          </a:p>
        </p:txBody>
      </p:sp>
      <p:sp>
        <p:nvSpPr>
          <p:cNvPr id="12" name="Rounded Rectangle 11"/>
          <p:cNvSpPr/>
          <p:nvPr/>
        </p:nvSpPr>
        <p:spPr>
          <a:xfrm>
            <a:off x="6172200" y="19751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9202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Zipped .logicx project</a:t>
            </a:r>
          </a:p>
        </p:txBody>
      </p:sp>
      <p:sp>
        <p:nvSpPr>
          <p:cNvPr id="14" name="Rounded Rectangle 13"/>
          <p:cNvSpPr/>
          <p:nvPr/>
        </p:nvSpPr>
        <p:spPr>
          <a:xfrm>
            <a:off x="54864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Named: Your Name – Alchemy Architect</a:t>
            </a:r>
          </a:p>
        </p:txBody>
      </p:sp>
      <p:sp>
        <p:nvSpPr>
          <p:cNvPr id="16" name="Rounded Rectangle 15"/>
          <p:cNvSpPr/>
          <p:nvPr/>
        </p:nvSpPr>
        <p:spPr>
          <a:xfrm>
            <a:off x="6172200" y="3346704"/>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0" y="32918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3 custom Alchemy patches made and used</a:t>
            </a:r>
          </a:p>
        </p:txBody>
      </p:sp>
      <p:sp>
        <p:nvSpPr>
          <p:cNvPr id="18" name="Rounded Rectangle 17"/>
          <p:cNvSpPr/>
          <p:nvPr/>
        </p:nvSpPr>
        <p:spPr>
          <a:xfrm>
            <a:off x="54864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Padlet post with your 3 questions</a:t>
            </a:r>
          </a:p>
        </p:txBody>
      </p:sp>
      <p:sp>
        <p:nvSpPr>
          <p:cNvPr id="20" name="Rounded Rectangle 19"/>
          <p:cNvSpPr/>
          <p:nvPr/>
        </p:nvSpPr>
        <p:spPr>
          <a:xfrm>
            <a:off x="6172200" y="4718303"/>
            <a:ext cx="365760" cy="365760"/>
          </a:xfrm>
          <a:prstGeom prst="roundRect">
            <a:avLst/>
          </a:prstGeom>
          <a:solidFill>
            <a:srgbClr val="FFFFFF"/>
          </a:solidFill>
          <a:ln w="285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4663440"/>
            <a:ext cx="4892040" cy="1298448"/>
          </a:xfrm>
          <a:prstGeom prst="rect">
            <a:avLst/>
          </a:prstGeom>
          <a:noFill/>
        </p:spPr>
        <p:txBody>
          <a:bodyPr wrap="square" anchor="t" lIns="36576" rIns="36576" tIns="18288" bIns="18288">
            <a:spAutoFit/>
          </a:bodyPr>
          <a:lstStyle/>
          <a:p>
            <a:pPr algn="l"/>
            <a:r>
              <a:rPr sz="2200" b="0">
                <a:solidFill>
                  <a:srgbClr val="000000"/>
                </a:solidFill>
                <a:latin typeface="Source Sans 3"/>
              </a:rPr>
              <a:t>Answer 2 questions on classmates’ posts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6</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HOW IT’S SCORED</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16</a:t>
            </a:r>
          </a:p>
        </p:txBody>
      </p:sp>
      <p:sp>
        <p:nvSpPr>
          <p:cNvPr id="10" name="Rounded Rectangle 9"/>
          <p:cNvSpPr/>
          <p:nvPr/>
        </p:nvSpPr>
        <p:spPr>
          <a:xfrm>
            <a:off x="548640" y="181051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1051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CREATIVITY &amp; ORIGINALITY</a:t>
            </a:r>
          </a:p>
        </p:txBody>
      </p:sp>
      <p:sp>
        <p:nvSpPr>
          <p:cNvPr id="12" name="TextBox 11"/>
          <p:cNvSpPr txBox="1"/>
          <p:nvPr/>
        </p:nvSpPr>
        <p:spPr>
          <a:xfrm>
            <a:off x="4572000" y="181051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creativity; innovative, bold, and expressive</a:t>
            </a:r>
          </a:p>
        </p:txBody>
      </p:sp>
      <p:sp>
        <p:nvSpPr>
          <p:cNvPr id="13" name="TextBox 12"/>
          <p:cNvSpPr txBox="1"/>
          <p:nvPr/>
        </p:nvSpPr>
        <p:spPr>
          <a:xfrm>
            <a:off x="10744200" y="181051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14" name="Rounded Rectangle 13"/>
          <p:cNvSpPr/>
          <p:nvPr/>
        </p:nvSpPr>
        <p:spPr>
          <a:xfrm>
            <a:off x="548640" y="263347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3347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TECHNICAL SKILL / DAW USE</a:t>
            </a:r>
          </a:p>
        </p:txBody>
      </p:sp>
      <p:sp>
        <p:nvSpPr>
          <p:cNvPr id="16" name="TextBox 15"/>
          <p:cNvSpPr txBox="1"/>
          <p:nvPr/>
        </p:nvSpPr>
        <p:spPr>
          <a:xfrm>
            <a:off x="4572000" y="263347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Expert-level command of multiple Logic systems</a:t>
            </a:r>
          </a:p>
        </p:txBody>
      </p:sp>
      <p:sp>
        <p:nvSpPr>
          <p:cNvPr id="17" name="TextBox 16"/>
          <p:cNvSpPr txBox="1"/>
          <p:nvPr/>
        </p:nvSpPr>
        <p:spPr>
          <a:xfrm>
            <a:off x="10744200" y="263347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18" name="Rounded Rectangle 17"/>
          <p:cNvSpPr/>
          <p:nvPr/>
        </p:nvSpPr>
        <p:spPr>
          <a:xfrm>
            <a:off x="548640" y="345643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45643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COMPOSITION &amp; STRUCTURE</a:t>
            </a:r>
          </a:p>
        </p:txBody>
      </p:sp>
      <p:sp>
        <p:nvSpPr>
          <p:cNvPr id="20" name="TextBox 19"/>
          <p:cNvSpPr txBox="1"/>
          <p:nvPr/>
        </p:nvSpPr>
        <p:spPr>
          <a:xfrm>
            <a:off x="4572000" y="345643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Professional pacing, flow, and musical arc</a:t>
            </a:r>
          </a:p>
        </p:txBody>
      </p:sp>
      <p:sp>
        <p:nvSpPr>
          <p:cNvPr id="21" name="TextBox 20"/>
          <p:cNvSpPr txBox="1"/>
          <p:nvPr/>
        </p:nvSpPr>
        <p:spPr>
          <a:xfrm>
            <a:off x="10744200" y="345643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22" name="Rounded Rectangle 21"/>
          <p:cNvSpPr/>
          <p:nvPr/>
        </p:nvSpPr>
        <p:spPr>
          <a:xfrm>
            <a:off x="548640" y="427939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27939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SOUND DESIGN &amp; MIX QUALITY</a:t>
            </a:r>
          </a:p>
        </p:txBody>
      </p:sp>
      <p:sp>
        <p:nvSpPr>
          <p:cNvPr id="24" name="TextBox 23"/>
          <p:cNvSpPr txBox="1"/>
          <p:nvPr/>
        </p:nvSpPr>
        <p:spPr>
          <a:xfrm>
            <a:off x="4572000" y="427939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sound design; professional-quality mix</a:t>
            </a:r>
          </a:p>
        </p:txBody>
      </p:sp>
      <p:sp>
        <p:nvSpPr>
          <p:cNvPr id="25" name="TextBox 24"/>
          <p:cNvSpPr txBox="1"/>
          <p:nvPr/>
        </p:nvSpPr>
        <p:spPr>
          <a:xfrm>
            <a:off x="10744200" y="427939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26" name="Rounded Rectangle 25"/>
          <p:cNvSpPr/>
          <p:nvPr/>
        </p:nvSpPr>
        <p:spPr>
          <a:xfrm>
            <a:off x="548640" y="5102352"/>
            <a:ext cx="3840480" cy="713232"/>
          </a:xfrm>
          <a:prstGeom prst="round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02352"/>
            <a:ext cx="3566160" cy="713232"/>
          </a:xfrm>
          <a:prstGeom prst="rect">
            <a:avLst/>
          </a:prstGeom>
          <a:noFill/>
        </p:spPr>
        <p:txBody>
          <a:bodyPr wrap="square" anchor="ctr" lIns="36576" rIns="36576" tIns="18288" bIns="18288">
            <a:spAutoFit/>
          </a:bodyPr>
          <a:lstStyle/>
          <a:p>
            <a:pPr algn="l"/>
            <a:r>
              <a:rPr sz="1900" b="1">
                <a:solidFill>
                  <a:srgbClr val="FFFFFF"/>
                </a:solidFill>
                <a:latin typeface="Oswald"/>
              </a:rPr>
              <a:t>DOCUMENTATION &amp; PRESENTATION</a:t>
            </a:r>
          </a:p>
        </p:txBody>
      </p:sp>
      <p:sp>
        <p:nvSpPr>
          <p:cNvPr id="28" name="TextBox 27"/>
          <p:cNvSpPr txBox="1"/>
          <p:nvPr/>
        </p:nvSpPr>
        <p:spPr>
          <a:xfrm>
            <a:off x="4572000" y="5102352"/>
            <a:ext cx="6126480" cy="713232"/>
          </a:xfrm>
          <a:prstGeom prst="rect">
            <a:avLst/>
          </a:prstGeom>
          <a:noFill/>
        </p:spPr>
        <p:txBody>
          <a:bodyPr wrap="square" anchor="ctr" lIns="36576" rIns="36576" tIns="18288" bIns="18288">
            <a:spAutoFit/>
          </a:bodyPr>
          <a:lstStyle/>
          <a:p>
            <a:pPr algn="l"/>
            <a:r>
              <a:rPr sz="1800" b="0">
                <a:solidFill>
                  <a:srgbClr val="000000"/>
                </a:solidFill>
                <a:latin typeface="Source Sans 3"/>
              </a:rPr>
              <a:t>5 = Exceptional; thorough insight and polished delivery</a:t>
            </a:r>
          </a:p>
        </p:txBody>
      </p:sp>
      <p:sp>
        <p:nvSpPr>
          <p:cNvPr id="29" name="TextBox 28"/>
          <p:cNvSpPr txBox="1"/>
          <p:nvPr/>
        </p:nvSpPr>
        <p:spPr>
          <a:xfrm>
            <a:off x="10744200" y="5102352"/>
            <a:ext cx="896112" cy="713232"/>
          </a:xfrm>
          <a:prstGeom prst="rect">
            <a:avLst/>
          </a:prstGeom>
          <a:noFill/>
        </p:spPr>
        <p:txBody>
          <a:bodyPr wrap="square" anchor="ctr" lIns="36576" rIns="36576" tIns="18288" bIns="18288">
            <a:spAutoFit/>
          </a:bodyPr>
          <a:lstStyle/>
          <a:p>
            <a:pPr algn="r"/>
            <a:r>
              <a:rPr sz="2400" b="1">
                <a:solidFill>
                  <a:srgbClr val="3A5F7D"/>
                </a:solidFill>
                <a:latin typeface="Oswald"/>
              </a:rPr>
              <a:t>/ 5</a:t>
            </a:r>
          </a:p>
        </p:txBody>
      </p:sp>
      <p:sp>
        <p:nvSpPr>
          <p:cNvPr id="30" name="TextBox 29"/>
          <p:cNvSpPr txBox="1"/>
          <p:nvPr/>
        </p:nvSpPr>
        <p:spPr>
          <a:xfrm>
            <a:off x="548640" y="5943600"/>
            <a:ext cx="11091672" cy="411480"/>
          </a:xfrm>
          <a:prstGeom prst="rect">
            <a:avLst/>
          </a:prstGeom>
          <a:noFill/>
        </p:spPr>
        <p:txBody>
          <a:bodyPr wrap="square" anchor="t" lIns="36576" rIns="36576" tIns="18288" bIns="18288">
            <a:spAutoFit/>
          </a:bodyPr>
          <a:lstStyle/>
          <a:p>
            <a:pPr algn="r"/>
            <a:r>
              <a:rPr sz="2000" b="1">
                <a:solidFill>
                  <a:srgbClr val="000000"/>
                </a:solidFill>
                <a:latin typeface="Oswald"/>
              </a:rPr>
              <a:t>SCORED 1–5 · FINAL GRADE = AVERAGE OF YOUR SCORE AND MINE · /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PRESENTATION DAY</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17</a:t>
            </a:r>
          </a:p>
        </p:txBody>
      </p:sp>
      <p:sp>
        <p:nvSpPr>
          <p:cNvPr id="10" name="Oval 9"/>
          <p:cNvSpPr/>
          <p:nvPr/>
        </p:nvSpPr>
        <p:spPr>
          <a:xfrm>
            <a:off x="548640" y="216712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01168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Play your track</a:t>
            </a:r>
          </a:p>
        </p:txBody>
      </p:sp>
      <p:sp>
        <p:nvSpPr>
          <p:cNvPr id="12" name="Oval 11"/>
          <p:cNvSpPr/>
          <p:nvPr/>
        </p:nvSpPr>
        <p:spPr>
          <a:xfrm>
            <a:off x="548640" y="311708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96164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Show us your 3 patches</a:t>
            </a:r>
          </a:p>
        </p:txBody>
      </p:sp>
      <p:sp>
        <p:nvSpPr>
          <p:cNvPr id="14" name="Oval 13"/>
          <p:cNvSpPr/>
          <p:nvPr/>
        </p:nvSpPr>
        <p:spPr>
          <a:xfrm>
            <a:off x="548640" y="406704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91160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Your Padlet post: 3 questions about your project</a:t>
            </a:r>
          </a:p>
        </p:txBody>
      </p:sp>
      <p:sp>
        <p:nvSpPr>
          <p:cNvPr id="16" name="Oval 15"/>
          <p:cNvSpPr/>
          <p:nvPr/>
        </p:nvSpPr>
        <p:spPr>
          <a:xfrm>
            <a:off x="548640" y="5017008"/>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61560"/>
            <a:ext cx="10698480" cy="690880"/>
          </a:xfrm>
          <a:prstGeom prst="rect">
            <a:avLst/>
          </a:prstGeom>
          <a:noFill/>
        </p:spPr>
        <p:txBody>
          <a:bodyPr wrap="square" anchor="t" lIns="36576" rIns="36576" tIns="18288" bIns="18288">
            <a:spAutoFit/>
          </a:bodyPr>
          <a:lstStyle/>
          <a:p>
            <a:pPr algn="l"/>
            <a:r>
              <a:rPr sz="3400" b="0">
                <a:solidFill>
                  <a:srgbClr val="000000"/>
                </a:solidFill>
                <a:latin typeface="Source Sans 3"/>
              </a:rPr>
              <a:t>Answer at least 2 of each classmate’s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5486400" cy="365760"/>
          </a:xfrm>
          <a:prstGeom prst="rect">
            <a:avLst/>
          </a:prstGeom>
          <a:noFill/>
        </p:spPr>
        <p:txBody>
          <a:bodyPr wrap="square" anchor="t" lIns="36576" rIns="36576" tIns="18288" bIns="18288">
            <a:spAutoFit/>
          </a:bodyPr>
          <a:lstStyle/>
          <a:p>
            <a:pPr algn="l"/>
            <a:r>
              <a:rPr sz="1300" b="0" spc="600">
                <a:solidFill>
                  <a:srgbClr val="000000"/>
                </a:solidFill>
                <a:latin typeface="Oswald"/>
              </a:rPr>
              <a:t>HUDSON BEAT</a:t>
            </a:r>
          </a:p>
        </p:txBody>
      </p:sp>
      <p:sp>
        <p:nvSpPr>
          <p:cNvPr id="3" name="Rounded Rectangle 2"/>
          <p:cNvSpPr/>
          <p:nvPr/>
        </p:nvSpPr>
        <p:spPr>
          <a:xfrm>
            <a:off x="10222992" y="274320"/>
            <a:ext cx="1417320" cy="384048"/>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22992" y="274320"/>
            <a:ext cx="1417320" cy="384048"/>
          </a:xfrm>
          <a:prstGeom prst="rect">
            <a:avLst/>
          </a:prstGeom>
          <a:noFill/>
        </p:spPr>
        <p:txBody>
          <a:bodyPr wrap="square" anchor="ctr" lIns="36576" rIns="36576" tIns="18288" bIns="18288">
            <a:spAutoFit/>
          </a:bodyPr>
          <a:lstStyle/>
          <a:p>
            <a:pPr algn="ctr"/>
            <a:r>
              <a:rPr sz="1500" b="1">
                <a:solidFill>
                  <a:srgbClr val="FFFFFF"/>
                </a:solidFill>
                <a:latin typeface="Oswald"/>
              </a:rPr>
              <a:t>CLASS 7</a:t>
            </a:r>
          </a:p>
        </p:txBody>
      </p:sp>
      <p:sp>
        <p:nvSpPr>
          <p:cNvPr id="5" name="TextBox 4"/>
          <p:cNvSpPr txBox="1"/>
          <p:nvPr/>
        </p:nvSpPr>
        <p:spPr>
          <a:xfrm>
            <a:off x="548640" y="658368"/>
            <a:ext cx="11064240" cy="868680"/>
          </a:xfrm>
          <a:prstGeom prst="rect">
            <a:avLst/>
          </a:prstGeom>
          <a:noFill/>
        </p:spPr>
        <p:txBody>
          <a:bodyPr wrap="square" anchor="b" lIns="36576" rIns="36576" tIns="18288" bIns="18288">
            <a:spAutoFit/>
          </a:bodyPr>
          <a:lstStyle/>
          <a:p>
            <a:pPr algn="l"/>
            <a:r>
              <a:rPr sz="4000" b="1">
                <a:solidFill>
                  <a:srgbClr val="000000"/>
                </a:solidFill>
                <a:latin typeface="Oswald"/>
              </a:rPr>
              <a:t>ONE LAST THING…</a:t>
            </a:r>
          </a:p>
        </p:txBody>
      </p:sp>
      <p:sp>
        <p:nvSpPr>
          <p:cNvPr id="6" name="Rectangle 5"/>
          <p:cNvSpPr/>
          <p:nvPr/>
        </p:nvSpPr>
        <p:spPr>
          <a:xfrm>
            <a:off x="548640" y="1572768"/>
            <a:ext cx="11091672" cy="3657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6400800"/>
            <a:ext cx="1109167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437376"/>
            <a:ext cx="8229600" cy="274320"/>
          </a:xfrm>
          <a:prstGeom prst="rect">
            <a:avLst/>
          </a:prstGeom>
          <a:noFill/>
        </p:spPr>
        <p:txBody>
          <a:bodyPr wrap="square" anchor="t" lIns="36576" rIns="36576" tIns="18288" bIns="18288">
            <a:spAutoFit/>
          </a:bodyPr>
          <a:lstStyle/>
          <a:p>
            <a:pPr algn="l"/>
            <a:r>
              <a:rPr sz="1000" b="0">
                <a:solidFill>
                  <a:srgbClr val="333333"/>
                </a:solidFill>
                <a:latin typeface="Source Sans 3"/>
              </a:rPr>
              <a:t>Alchemy Architect · Intro deck · © 2026 Brian Lotze · Hudson Beat</a:t>
            </a:r>
          </a:p>
        </p:txBody>
      </p:sp>
      <p:sp>
        <p:nvSpPr>
          <p:cNvPr id="9" name="TextBox 8"/>
          <p:cNvSpPr txBox="1"/>
          <p:nvPr/>
        </p:nvSpPr>
        <p:spPr>
          <a:xfrm>
            <a:off x="10241280" y="6437376"/>
            <a:ext cx="1399032" cy="274320"/>
          </a:xfrm>
          <a:prstGeom prst="rect">
            <a:avLst/>
          </a:prstGeom>
          <a:noFill/>
        </p:spPr>
        <p:txBody>
          <a:bodyPr wrap="square" anchor="t" lIns="36576" rIns="36576" tIns="18288" bIns="18288">
            <a:spAutoFit/>
          </a:bodyPr>
          <a:lstStyle/>
          <a:p>
            <a:pPr algn="r"/>
            <a:r>
              <a:rPr sz="1000" b="1">
                <a:solidFill>
                  <a:srgbClr val="000000"/>
                </a:solidFill>
                <a:latin typeface="Oswald"/>
              </a:rPr>
              <a:t>18</a:t>
            </a:r>
          </a:p>
        </p:txBody>
      </p:sp>
      <p:sp>
        <p:nvSpPr>
          <p:cNvPr id="10" name="Oval 9"/>
          <p:cNvSpPr/>
          <p:nvPr/>
        </p:nvSpPr>
        <p:spPr>
          <a:xfrm>
            <a:off x="548640" y="20574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9202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started with a blank patch.</a:t>
            </a:r>
          </a:p>
        </p:txBody>
      </p:sp>
      <p:sp>
        <p:nvSpPr>
          <p:cNvPr id="12" name="Oval 11"/>
          <p:cNvSpPr/>
          <p:nvPr/>
        </p:nvSpPr>
        <p:spPr>
          <a:xfrm>
            <a:off x="548640" y="27813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6441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shaped the tone.</a:t>
            </a:r>
          </a:p>
        </p:txBody>
      </p:sp>
      <p:sp>
        <p:nvSpPr>
          <p:cNvPr id="14" name="Oval 13"/>
          <p:cNvSpPr/>
          <p:nvPr/>
        </p:nvSpPr>
        <p:spPr>
          <a:xfrm>
            <a:off x="548640" y="35052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368040"/>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You gave it motion.</a:t>
            </a:r>
          </a:p>
        </p:txBody>
      </p:sp>
      <p:sp>
        <p:nvSpPr>
          <p:cNvPr id="16" name="Oval 15"/>
          <p:cNvSpPr/>
          <p:nvPr/>
        </p:nvSpPr>
        <p:spPr>
          <a:xfrm>
            <a:off x="548640" y="4229100"/>
            <a:ext cx="146304" cy="146304"/>
          </a:xfrm>
          <a:prstGeom prst="ellipse">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091939"/>
            <a:ext cx="5486400" cy="609600"/>
          </a:xfrm>
          <a:prstGeom prst="rect">
            <a:avLst/>
          </a:prstGeom>
          <a:noFill/>
        </p:spPr>
        <p:txBody>
          <a:bodyPr wrap="square" anchor="t" lIns="36576" rIns="36576" tIns="18288" bIns="18288">
            <a:spAutoFit/>
          </a:bodyPr>
          <a:lstStyle/>
          <a:p>
            <a:pPr algn="l"/>
            <a:r>
              <a:rPr sz="3000" b="0">
                <a:solidFill>
                  <a:srgbClr val="000000"/>
                </a:solidFill>
                <a:latin typeface="Source Sans 3"/>
              </a:rPr>
              <a:t>Now the sound is yours.</a:t>
            </a:r>
          </a:p>
        </p:txBody>
      </p:sp>
      <p:pic>
        <p:nvPicPr>
          <p:cNvPr id="18" name="Picture 17" descr="deck-hero.png"/>
          <p:cNvPicPr>
            <a:picLocks noChangeAspect="1"/>
          </p:cNvPicPr>
          <p:nvPr/>
        </p:nvPicPr>
        <p:blipFill>
          <a:blip r:embed="rId2"/>
          <a:stretch>
            <a:fillRect/>
          </a:stretch>
        </p:blipFill>
        <p:spPr>
          <a:xfrm>
            <a:off x="6519672" y="2103120"/>
            <a:ext cx="5120640" cy="932495"/>
          </a:xfrm>
          <a:prstGeom prst="rect">
            <a:avLst/>
          </a:prstGeom>
        </p:spPr>
      </p:pic>
      <p:sp>
        <p:nvSpPr>
          <p:cNvPr id="19" name="Rounded Rectangle 18"/>
          <p:cNvSpPr/>
          <p:nvPr/>
        </p:nvSpPr>
        <p:spPr>
          <a:xfrm>
            <a:off x="548640" y="5349240"/>
            <a:ext cx="5852160" cy="960120"/>
          </a:xfrm>
          <a:prstGeom prst="roundRect">
            <a:avLst/>
          </a:prstGeom>
          <a:solidFill>
            <a:srgbClr val="3A5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394960"/>
            <a:ext cx="5486400" cy="365760"/>
          </a:xfrm>
          <a:prstGeom prst="rect">
            <a:avLst/>
          </a:prstGeom>
          <a:noFill/>
        </p:spPr>
        <p:txBody>
          <a:bodyPr wrap="square" anchor="t" lIns="36576" rIns="36576" tIns="18288" bIns="18288">
            <a:spAutoFit/>
          </a:bodyPr>
          <a:lstStyle/>
          <a:p>
            <a:pPr algn="l"/>
            <a:r>
              <a:rPr sz="2000" b="1">
                <a:solidFill>
                  <a:srgbClr val="FFFFFF"/>
                </a:solidFill>
                <a:latin typeface="Oswald"/>
              </a:rPr>
              <a:t>REFLECTION · PAGE 23</a:t>
            </a:r>
          </a:p>
        </p:txBody>
      </p:sp>
      <p:sp>
        <p:nvSpPr>
          <p:cNvPr id="21" name="TextBox 20"/>
          <p:cNvSpPr txBox="1"/>
          <p:nvPr/>
        </p:nvSpPr>
        <p:spPr>
          <a:xfrm>
            <a:off x="731520" y="5760720"/>
            <a:ext cx="5486400" cy="502920"/>
          </a:xfrm>
          <a:prstGeom prst="rect">
            <a:avLst/>
          </a:prstGeom>
          <a:noFill/>
        </p:spPr>
        <p:txBody>
          <a:bodyPr wrap="square" anchor="t" lIns="36576" rIns="36576" tIns="18288" bIns="18288">
            <a:spAutoFit/>
          </a:bodyPr>
          <a:lstStyle/>
          <a:p>
            <a:pPr algn="l"/>
            <a:r>
              <a:rPr sz="1500" b="0">
                <a:solidFill>
                  <a:srgbClr val="FFFFFF"/>
                </a:solidFill>
                <a:latin typeface="Source Sans 3"/>
              </a:rPr>
              <a:t>Write it or talk it through: what went well, what was hard, what you would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Alchemy Architect · Intro deck</dc:title>
  <dc:subject/>
  <dc:creator>Brian Lotze · Hudson Beat</dc:creator>
  <cp:keywords/>
  <dc:description>Designed with the help of digital and AI tools, and checked by hand.</dc:description>
  <cp:lastModifiedBy>Steve Canny</cp:lastModifiedBy>
  <cp:revision>1</cp:revision>
  <dcterms:created xsi:type="dcterms:W3CDTF">2013-01-27T09:14:16Z</dcterms:created>
  <dcterms:modified xsi:type="dcterms:W3CDTF">2013-01-27T09:15:58Z</dcterms:modified>
  <cp:category/>
</cp:coreProperties>
</file>