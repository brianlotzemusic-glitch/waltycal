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the first minute. Have your Foundation stem open in Logic on the class speakers, and In the Air Tonight (Phil Collins) cued up on YouTube or Spotify from your own account; no audio or video is included in this deck. Stems are not included either: see the stems pages of the kit to find or make them. Open with: today you write drums for music that already exists.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my teacher notes, minutes 0 to 5: play 60 seconds of one of the stem tracks without the drums. Ask what the music is doing and where the energy changes. Do not give answers yet. The point is to hear before naming anything; students answer again after they have mapped their own 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Plain-English definition, from the project sheet vocabulary: a stem track is a single isolated instrument or group from a real recording; in this project, everything except the drums. The unit's principle from my course plan is listen first, then respond. Drums that belong to the music, not just on top of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shape of the unit. Part 1, Foundation: two contrasting patterns, A and B, placed where the sections change in a 16-measure stem. Part 2, Full Song: a new, longer stem, and a deliberate transition at every section change. Day 5 is for finishing and submitting, Day 6 for presenting. Hand out the project sheet now.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three minutes. For most of In the Air Tonight a quiet drum machine keeps time and the big drums are held back; they finally crash in with a famous tom fill near 3:40. That fill is a transition: it announces the new section. It hits hard because of the space before it. Keep it brief, as my notes say: students understand transitions better once they have built patterns.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transition types, word for word from the Day 1 post. Play each of the four examples you programmed from the worked transitions page, once each today; Day 3 is the full workshop. Students use these in Part 2, Full Song, so today is just a first hearing.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15 to 25. Students download their stem and listen twice before touching Logic. Circulate and ask every student: where are your sections? They should be able to tell you. Students who struggle can use the section map worksheet, or you can pre-label the markers for them.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possible answer over the Foundation stem from the recipe: 16 measures, four sections of 4. Pattern A is laid back with closed hi-hat eighths; pattern B pushes energy with a kick on every beat and open hi-hats off the beat. Placed A, A, B, A to follow the stem. You can tell them apart without looking at the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three-minute demo. An Electronic Drum Kit loads Drum Machine Designer. Control-click in the track at the first A marker, Create Pattern Region, double-click to open the Step Sequencer. Start with kick, snare and closed hi-hat, aim for 3 to 5 layers, and keep playing it with the stem.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2, minutes 0 to 5, from my notes: ask two students to play their A pattern alongside the stem. Does it fit? The whole class listens and responds briefly. The project sheet's question: do my drums follow the music, or does the music follow my drums? It should always be the former.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 to 45: students finish A, build B and place both across the full stem. The key prompt from my notes: play A, then immediately play B. If they have to look at the screen to tell them apart, they are not different enough. Push back on the student who changed one hi-hat hit and called it 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mixing concept for this unit, minutes 45 to 53. Students adjust volumes so nothing clips. Say the rule from my tutorial: never push anything into the red; it is almost always better to turn other things down. Play a project with the drums too loud, pull the drums down until the stem leads, and ask which sounds more like a real song.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3, the most important instructional moment of the unit. Play each of the four examples twice, programmed in Logic from the worked transitions page, and ask what it does to the energy. Fill: the groove breaks into snare and toms. Breakdown: only the kick is left. Cut: two beats of silence. Build: a sound joins on every beat.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possible map of the Full Song stem from the recipe: 56 measures, eight sections, so seven section changes and seven transitions. Four types are used, each chosen for its moment: a cut before the quieter bridge, a build before the big last chorus, as the project sheet says. Students map their own stem before they write a single transition.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short demo. A 64-step pattern covers four measures, so the transition sits in the same region as the groove. Change only the last one or two measures. Listen after each transition before moving to the next, and ask the key question at every one: why this type for this moment?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4 is a full working day. The common prompt from my notes: play the full track from beginning to end without stopping. Every section change should feel like it was meant to happen. If anything feels accidental, it needs work. Remind students of the cut tip: silence only works if the music earns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for early finishers, and not graded: my course plan mentions reverb for the full song, and the bus and send workflow is taught properly in Unit 6, Spooky Tunes. A little shared reverb can glue the drums to the stem. Less is more: the drums should not sound far away.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5. The Foundation part of the submission checklist, condensed. Show where students submit (your class page). Export: File, Bounce, Project or Section, MP3. Compress: in Finder, Control-click the .logicx project and choose Compress. Check the project name you want on the project sheet.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Song part of the checklist, plus the three feedback questions every student posts before presenting. Students who are done write their questions now; students who are not yet done finish and submit. All projects are submitted before Day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categories, each scored 2 to 5, for a total out of 25. Read the 5 column aloud: distinct A and B patterns placed precisely; every transition feels inevitable; 64-step mode used for transition detail; drums that sit perfectly with the stem with nothing clipping; on time, confident, three thoughtful Padlet questions.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6. Each student plays their full drum track alongside the stem. Classmates respond to at least 2 projects. Ask about one transition: why did you choose this type for this moment? Name what students just did: they adjusted volumes and panned instruments around a real song.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observation from my teacher notes: your drums were written in response to music that already existed. That is what session musicians do. That is a professional skill. And from my course plan, name it: you mixed a song. Next unit, Chords by 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384048"/>
            <a:ext cx="12191695" cy="457200"/>
          </a:xfrm>
          <a:prstGeom prst="rect">
            <a:avLst/>
          </a:prstGeom>
          <a:noFill/>
        </p:spPr>
        <p:txBody>
          <a:bodyPr wrap="square" anchor="t" lIns="36576" rIns="36576" tIns="18288" bIns="18288">
            <a:spAutoFit/>
          </a:bodyPr>
          <a:lstStyle/>
          <a:p>
            <a:pPr algn="ctr"/>
            <a:r>
              <a:rPr sz="1600" b="0" spc="800">
                <a:solidFill>
                  <a:srgbClr val="000000"/>
                </a:solidFill>
                <a:latin typeface="Oswald"/>
              </a:rPr>
              <a:t>HUDSON BEAT</a:t>
            </a:r>
          </a:p>
        </p:txBody>
      </p:sp>
      <p:pic>
        <p:nvPicPr>
          <p:cNvPr id="3" name="Picture 2" descr="deck-hero.png"/>
          <p:cNvPicPr>
            <a:picLocks noChangeAspect="1"/>
          </p:cNvPicPr>
          <p:nvPr/>
        </p:nvPicPr>
        <p:blipFill>
          <a:blip r:embed="rId2"/>
          <a:stretch>
            <a:fillRect/>
          </a:stretch>
        </p:blipFill>
        <p:spPr>
          <a:xfrm>
            <a:off x="3037115" y="896112"/>
            <a:ext cx="6117464" cy="2971800"/>
          </a:xfrm>
          <a:prstGeom prst="rect">
            <a:avLst/>
          </a:prstGeom>
        </p:spPr>
      </p:pic>
      <p:sp>
        <p:nvSpPr>
          <p:cNvPr id="4" name="TextBox 3"/>
          <p:cNvSpPr txBox="1"/>
          <p:nvPr/>
        </p:nvSpPr>
        <p:spPr>
          <a:xfrm>
            <a:off x="0" y="3931920"/>
            <a:ext cx="12191695" cy="1005840"/>
          </a:xfrm>
          <a:prstGeom prst="rect">
            <a:avLst/>
          </a:prstGeom>
          <a:noFill/>
        </p:spPr>
        <p:txBody>
          <a:bodyPr wrap="square" anchor="t" lIns="36576" rIns="36576" tIns="18288" bIns="18288">
            <a:spAutoFit/>
          </a:bodyPr>
          <a:lstStyle/>
          <a:p>
            <a:pPr algn="ctr"/>
            <a:r>
              <a:rPr sz="7200" b="1">
                <a:solidFill>
                  <a:srgbClr val="000000"/>
                </a:solidFill>
                <a:latin typeface="Oswald"/>
              </a:rPr>
              <a:t>STEMS &amp; GROOVES</a:t>
            </a:r>
          </a:p>
        </p:txBody>
      </p:sp>
      <p:sp>
        <p:nvSpPr>
          <p:cNvPr id="5" name="TextBox 4"/>
          <p:cNvSpPr txBox="1"/>
          <p:nvPr/>
        </p:nvSpPr>
        <p:spPr>
          <a:xfrm>
            <a:off x="0" y="5029200"/>
            <a:ext cx="12191695" cy="548640"/>
          </a:xfrm>
          <a:prstGeom prst="rect">
            <a:avLst/>
          </a:prstGeom>
          <a:noFill/>
        </p:spPr>
        <p:txBody>
          <a:bodyPr wrap="square" anchor="t" lIns="36576" rIns="36576" tIns="18288" bIns="18288">
            <a:spAutoFit/>
          </a:bodyPr>
          <a:lstStyle/>
          <a:p>
            <a:pPr algn="ctr"/>
            <a:r>
              <a:rPr sz="2800" b="0">
                <a:solidFill>
                  <a:srgbClr val="000000"/>
                </a:solidFill>
                <a:latin typeface="Oswald"/>
              </a:rPr>
              <a:t>Feat. In the Air Tonight</a:t>
            </a:r>
          </a:p>
        </p:txBody>
      </p:sp>
      <p:sp>
        <p:nvSpPr>
          <p:cNvPr id="6" name="Rectangle 5"/>
          <p:cNvSpPr/>
          <p:nvPr/>
        </p:nvSpPr>
        <p:spPr>
          <a:xfrm>
            <a:off x="0" y="5989320"/>
            <a:ext cx="12191695" cy="86868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0" y="6108192"/>
            <a:ext cx="12191695" cy="548640"/>
          </a:xfrm>
          <a:prstGeom prst="rect">
            <a:avLst/>
          </a:prstGeom>
          <a:noFill/>
        </p:spPr>
        <p:txBody>
          <a:bodyPr wrap="square" anchor="t" lIns="36576" rIns="36576" tIns="18288" bIns="18288">
            <a:spAutoFit/>
          </a:bodyPr>
          <a:lstStyle/>
          <a:p>
            <a:pPr algn="ctr"/>
            <a:r>
              <a:rPr sz="2000" b="0" spc="200">
                <a:solidFill>
                  <a:srgbClr val="FFFFFF"/>
                </a:solidFill>
                <a:latin typeface="Oswald"/>
              </a:rPr>
              <a:t>DIGITAL MUSIC PRODUCTION · UNIT 2 · DAY 1 · DRUMS OVER STEMS IN LOGIC PRO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MUSIC WITH NO DRUMS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YOUR FOUNDATION STEM</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8D0"/>
                </a:solidFill>
                <a:latin typeface="Oswald"/>
              </a:rPr>
              <a:t>teacher plays 60 seconds</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No drums yet: that part is your job.</a:t>
            </a:r>
          </a:p>
        </p:txBody>
      </p:sp>
      <p:sp>
        <p:nvSpPr>
          <p:cNvPr id="14" name="Oval 13"/>
          <p:cNvSpPr/>
          <p:nvPr/>
        </p:nvSpPr>
        <p:spPr>
          <a:xfrm>
            <a:off x="548640" y="40690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is this music doing?</a:t>
            </a:r>
          </a:p>
        </p:txBody>
      </p:sp>
      <p:sp>
        <p:nvSpPr>
          <p:cNvPr id="16" name="Oval 15"/>
          <p:cNvSpPr/>
          <p:nvPr/>
        </p:nvSpPr>
        <p:spPr>
          <a:xfrm>
            <a:off x="548640" y="46786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Where does the energy change?</a:t>
            </a:r>
          </a:p>
        </p:txBody>
      </p:sp>
      <p:sp>
        <p:nvSpPr>
          <p:cNvPr id="18" name="Oval 17"/>
          <p:cNvSpPr/>
          <p:nvPr/>
        </p:nvSpPr>
        <p:spPr>
          <a:xfrm>
            <a:off x="548640" y="52882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Where does a new section feel like it starts?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WHAT THE HECK IS A STEM?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3</a:t>
            </a:r>
          </a:p>
        </p:txBody>
      </p:sp>
      <p:sp>
        <p:nvSpPr>
          <p:cNvPr id="10" name="Oval 9"/>
          <p:cNvSpPr/>
          <p:nvPr/>
        </p:nvSpPr>
        <p:spPr>
          <a:xfrm>
            <a:off x="548640" y="216712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One instrument or group, pulled out of a recording</a:t>
            </a:r>
          </a:p>
        </p:txBody>
      </p:sp>
      <p:sp>
        <p:nvSpPr>
          <p:cNvPr id="12" name="Oval 11"/>
          <p:cNvSpPr/>
          <p:nvPr/>
        </p:nvSpPr>
        <p:spPr>
          <a:xfrm>
            <a:off x="548640" y="3117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stem: everything except the drums</a:t>
            </a:r>
          </a:p>
        </p:txBody>
      </p:sp>
      <p:sp>
        <p:nvSpPr>
          <p:cNvPr id="14" name="Oval 13"/>
          <p:cNvSpPr/>
          <p:nvPr/>
        </p:nvSpPr>
        <p:spPr>
          <a:xfrm>
            <a:off x="548640" y="4067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Your job: write drums that belong</a:t>
            </a:r>
          </a:p>
        </p:txBody>
      </p:sp>
      <p:sp>
        <p:nvSpPr>
          <p:cNvPr id="16" name="Oval 15"/>
          <p:cNvSpPr/>
          <p:nvPr/>
        </p:nvSpPr>
        <p:spPr>
          <a:xfrm>
            <a:off x="548640" y="501700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Listen first, then respond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SIX DAYS, TWO PARTS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4</a:t>
            </a:r>
          </a:p>
        </p:txBody>
      </p:sp>
      <p:sp>
        <p:nvSpPr>
          <p:cNvPr id="10" name="Rounded Rectangle 9"/>
          <p:cNvSpPr/>
          <p:nvPr/>
        </p:nvSpPr>
        <p:spPr>
          <a:xfrm>
            <a:off x="548640" y="1810512"/>
            <a:ext cx="1371600" cy="640080"/>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10512"/>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1</a:t>
            </a:r>
          </a:p>
        </p:txBody>
      </p:sp>
      <p:sp>
        <p:nvSpPr>
          <p:cNvPr id="12" name="TextBox 11"/>
          <p:cNvSpPr txBox="1"/>
          <p:nvPr/>
        </p:nvSpPr>
        <p:spPr>
          <a:xfrm>
            <a:off x="2148840" y="1773936"/>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LEARNING + FOUNDATION START  ·  FOUNDATION</a:t>
            </a:r>
          </a:p>
        </p:txBody>
      </p:sp>
      <p:sp>
        <p:nvSpPr>
          <p:cNvPr id="13" name="TextBox 12"/>
          <p:cNvSpPr txBox="1"/>
          <p:nvPr/>
        </p:nvSpPr>
        <p:spPr>
          <a:xfrm>
            <a:off x="2148840" y="2148840"/>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Listen to the stem; the four transitions; map the sections; start the A pattern</a:t>
            </a:r>
          </a:p>
        </p:txBody>
      </p:sp>
      <p:sp>
        <p:nvSpPr>
          <p:cNvPr id="14" name="Rounded Rectangle 13"/>
          <p:cNvSpPr/>
          <p:nvPr/>
        </p:nvSpPr>
        <p:spPr>
          <a:xfrm>
            <a:off x="548640" y="2569464"/>
            <a:ext cx="1371600" cy="640080"/>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569464"/>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2</a:t>
            </a:r>
          </a:p>
        </p:txBody>
      </p:sp>
      <p:sp>
        <p:nvSpPr>
          <p:cNvPr id="16" name="TextBox 15"/>
          <p:cNvSpPr txBox="1"/>
          <p:nvPr/>
        </p:nvSpPr>
        <p:spPr>
          <a:xfrm>
            <a:off x="2148840" y="2532888"/>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WORKING: FOUNDATION  ·  FOUNDATION</a:t>
            </a:r>
          </a:p>
        </p:txBody>
      </p:sp>
      <p:sp>
        <p:nvSpPr>
          <p:cNvPr id="17" name="TextBox 16"/>
          <p:cNvSpPr txBox="1"/>
          <p:nvPr/>
        </p:nvSpPr>
        <p:spPr>
          <a:xfrm>
            <a:off x="2148840" y="2907792"/>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Finish A, build a contrasting B, place both; gain staging</a:t>
            </a:r>
          </a:p>
        </p:txBody>
      </p:sp>
      <p:sp>
        <p:nvSpPr>
          <p:cNvPr id="18" name="Rounded Rectangle 17"/>
          <p:cNvSpPr/>
          <p:nvPr/>
        </p:nvSpPr>
        <p:spPr>
          <a:xfrm>
            <a:off x="548640" y="3328415"/>
            <a:ext cx="1371600" cy="6400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328415"/>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3</a:t>
            </a:r>
          </a:p>
        </p:txBody>
      </p:sp>
      <p:sp>
        <p:nvSpPr>
          <p:cNvPr id="20" name="TextBox 19"/>
          <p:cNvSpPr txBox="1"/>
          <p:nvPr/>
        </p:nvSpPr>
        <p:spPr>
          <a:xfrm>
            <a:off x="2148840" y="3291839"/>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TRANSITION WORKSHOP + FULL SONG START  ·  FULL SONG</a:t>
            </a:r>
          </a:p>
        </p:txBody>
      </p:sp>
      <p:sp>
        <p:nvSpPr>
          <p:cNvPr id="21" name="TextBox 20"/>
          <p:cNvSpPr txBox="1"/>
          <p:nvPr/>
        </p:nvSpPr>
        <p:spPr>
          <a:xfrm>
            <a:off x="2148840" y="3666744"/>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Transition workshop; map every section change; build transitions in 64 steps</a:t>
            </a:r>
          </a:p>
        </p:txBody>
      </p:sp>
      <p:sp>
        <p:nvSpPr>
          <p:cNvPr id="22" name="Rounded Rectangle 21"/>
          <p:cNvSpPr/>
          <p:nvPr/>
        </p:nvSpPr>
        <p:spPr>
          <a:xfrm>
            <a:off x="548640" y="4087368"/>
            <a:ext cx="1371600" cy="6400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087368"/>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4</a:t>
            </a:r>
          </a:p>
        </p:txBody>
      </p:sp>
      <p:sp>
        <p:nvSpPr>
          <p:cNvPr id="24" name="TextBox 23"/>
          <p:cNvSpPr txBox="1"/>
          <p:nvPr/>
        </p:nvSpPr>
        <p:spPr>
          <a:xfrm>
            <a:off x="2148840" y="4050791"/>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WORKING: FULL SONG  ·  FULL SONG</a:t>
            </a:r>
          </a:p>
        </p:txBody>
      </p:sp>
      <p:sp>
        <p:nvSpPr>
          <p:cNvPr id="25" name="TextBox 24"/>
          <p:cNvSpPr txBox="1"/>
          <p:nvPr/>
        </p:nvSpPr>
        <p:spPr>
          <a:xfrm>
            <a:off x="2148840" y="4425696"/>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Finish every transition; play it through; optional reverb bus</a:t>
            </a:r>
          </a:p>
        </p:txBody>
      </p:sp>
      <p:sp>
        <p:nvSpPr>
          <p:cNvPr id="26" name="Rounded Rectangle 25"/>
          <p:cNvSpPr/>
          <p:nvPr/>
        </p:nvSpPr>
        <p:spPr>
          <a:xfrm>
            <a:off x="548640" y="4846320"/>
            <a:ext cx="1371600" cy="6400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4846320"/>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5</a:t>
            </a:r>
          </a:p>
        </p:txBody>
      </p:sp>
      <p:sp>
        <p:nvSpPr>
          <p:cNvPr id="28" name="TextBox 27"/>
          <p:cNvSpPr txBox="1"/>
          <p:nvPr/>
        </p:nvSpPr>
        <p:spPr>
          <a:xfrm>
            <a:off x="2148840" y="4809744"/>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SUBMISSION + PRESENTATION PREP  ·  SUBMIT</a:t>
            </a:r>
          </a:p>
        </p:txBody>
      </p:sp>
      <p:sp>
        <p:nvSpPr>
          <p:cNvPr id="29" name="TextBox 28"/>
          <p:cNvSpPr txBox="1"/>
          <p:nvPr/>
        </p:nvSpPr>
        <p:spPr>
          <a:xfrm>
            <a:off x="2148840" y="5184648"/>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Checklists and rubric; submit; write three feedback questions</a:t>
            </a:r>
          </a:p>
        </p:txBody>
      </p:sp>
      <p:sp>
        <p:nvSpPr>
          <p:cNvPr id="30" name="Rounded Rectangle 29"/>
          <p:cNvSpPr/>
          <p:nvPr/>
        </p:nvSpPr>
        <p:spPr>
          <a:xfrm>
            <a:off x="548640" y="5605271"/>
            <a:ext cx="1371600" cy="64008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5605271"/>
            <a:ext cx="1371600" cy="640080"/>
          </a:xfrm>
          <a:prstGeom prst="rect">
            <a:avLst/>
          </a:prstGeom>
          <a:noFill/>
        </p:spPr>
        <p:txBody>
          <a:bodyPr wrap="square" anchor="ctr" lIns="36576" rIns="36576" tIns="18288" bIns="18288">
            <a:spAutoFit/>
          </a:bodyPr>
          <a:lstStyle/>
          <a:p>
            <a:pPr algn="ctr"/>
            <a:r>
              <a:rPr sz="2400" b="1">
                <a:solidFill>
                  <a:srgbClr val="FFFFFF"/>
                </a:solidFill>
                <a:latin typeface="Oswald"/>
              </a:rPr>
              <a:t>DAY 6</a:t>
            </a:r>
          </a:p>
        </p:txBody>
      </p:sp>
      <p:sp>
        <p:nvSpPr>
          <p:cNvPr id="32" name="TextBox 31"/>
          <p:cNvSpPr txBox="1"/>
          <p:nvPr/>
        </p:nvSpPr>
        <p:spPr>
          <a:xfrm>
            <a:off x="2148840" y="5568695"/>
            <a:ext cx="9509760" cy="384048"/>
          </a:xfrm>
          <a:prstGeom prst="rect">
            <a:avLst/>
          </a:prstGeom>
          <a:noFill/>
        </p:spPr>
        <p:txBody>
          <a:bodyPr wrap="square" anchor="t" lIns="36576" rIns="36576" tIns="18288" bIns="18288">
            <a:spAutoFit/>
          </a:bodyPr>
          <a:lstStyle/>
          <a:p>
            <a:pPr algn="l"/>
            <a:r>
              <a:rPr sz="2100" b="1">
                <a:solidFill>
                  <a:srgbClr val="000000"/>
                </a:solidFill>
                <a:latin typeface="Oswald"/>
              </a:rPr>
              <a:t>PRESENTING  ·  PRESENT</a:t>
            </a:r>
          </a:p>
        </p:txBody>
      </p:sp>
      <p:sp>
        <p:nvSpPr>
          <p:cNvPr id="33" name="TextBox 32"/>
          <p:cNvSpPr txBox="1"/>
          <p:nvPr/>
        </p:nvSpPr>
        <p:spPr>
          <a:xfrm>
            <a:off x="2148840" y="5943599"/>
            <a:ext cx="9509760" cy="329184"/>
          </a:xfrm>
          <a:prstGeom prst="rect">
            <a:avLst/>
          </a:prstGeom>
          <a:noFill/>
        </p:spPr>
        <p:txBody>
          <a:bodyPr wrap="square" anchor="t" lIns="36576" rIns="36576" tIns="18288" bIns="18288">
            <a:spAutoFit/>
          </a:bodyPr>
          <a:lstStyle/>
          <a:p>
            <a:pPr algn="l"/>
            <a:r>
              <a:rPr sz="1600" b="0">
                <a:solidFill>
                  <a:srgbClr val="000000"/>
                </a:solidFill>
                <a:latin typeface="Source Sans 3"/>
              </a:rPr>
              <a:t>Play it with the stem; why that transition? You mixed a song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A FAMOUS DRUM ENTRANCE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5</a:t>
            </a:r>
          </a:p>
        </p:txBody>
      </p:sp>
      <p:sp>
        <p:nvSpPr>
          <p:cNvPr id="10" name="Rounded Rectangle 9"/>
          <p:cNvSpPr/>
          <p:nvPr/>
        </p:nvSpPr>
        <p:spPr>
          <a:xfrm>
            <a:off x="548640" y="1828800"/>
            <a:ext cx="11091672" cy="182880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920240"/>
            <a:ext cx="10515600" cy="640080"/>
          </a:xfrm>
          <a:prstGeom prst="rect">
            <a:avLst/>
          </a:prstGeom>
          <a:noFill/>
        </p:spPr>
        <p:txBody>
          <a:bodyPr wrap="square" anchor="t" lIns="36576" rIns="36576" tIns="18288" bIns="18288">
            <a:spAutoFit/>
          </a:bodyPr>
          <a:lstStyle/>
          <a:p>
            <a:pPr algn="l"/>
            <a:r>
              <a:rPr sz="3600" b="1">
                <a:solidFill>
                  <a:srgbClr val="FFFFFF"/>
                </a:solidFill>
                <a:latin typeface="Oswald"/>
              </a:rPr>
              <a:t>IN THE AIR TONIGHT</a:t>
            </a:r>
          </a:p>
        </p:txBody>
      </p:sp>
      <p:sp>
        <p:nvSpPr>
          <p:cNvPr id="12" name="TextBox 11"/>
          <p:cNvSpPr txBox="1"/>
          <p:nvPr/>
        </p:nvSpPr>
        <p:spPr>
          <a:xfrm>
            <a:off x="822960" y="2578608"/>
            <a:ext cx="10515600" cy="457200"/>
          </a:xfrm>
          <a:prstGeom prst="rect">
            <a:avLst/>
          </a:prstGeom>
          <a:noFill/>
        </p:spPr>
        <p:txBody>
          <a:bodyPr wrap="square" anchor="t" lIns="36576" rIns="36576" tIns="18288" bIns="18288">
            <a:spAutoFit/>
          </a:bodyPr>
          <a:lstStyle/>
          <a:p>
            <a:pPr algn="l"/>
            <a:r>
              <a:rPr sz="2400" b="0">
                <a:solidFill>
                  <a:srgbClr val="BFE8D0"/>
                </a:solidFill>
                <a:latin typeface="Oswald"/>
              </a:rPr>
              <a:t>Phil Collins</a:t>
            </a:r>
          </a:p>
        </p:txBody>
      </p:sp>
      <p:sp>
        <p:nvSpPr>
          <p:cNvPr id="13" name="TextBox 12"/>
          <p:cNvSpPr txBox="1"/>
          <p:nvPr/>
        </p:nvSpPr>
        <p:spPr>
          <a:xfrm>
            <a:off x="822960" y="3090672"/>
            <a:ext cx="10515600" cy="457200"/>
          </a:xfrm>
          <a:prstGeom prst="rect">
            <a:avLst/>
          </a:prstGeom>
          <a:noFill/>
        </p:spPr>
        <p:txBody>
          <a:bodyPr wrap="square" anchor="t" lIns="36576" rIns="36576" tIns="18288" bIns="18288">
            <a:spAutoFit/>
          </a:bodyPr>
          <a:lstStyle/>
          <a:p>
            <a:pPr algn="l"/>
            <a:r>
              <a:rPr sz="1800" b="0">
                <a:solidFill>
                  <a:srgbClr val="FFFFFF"/>
                </a:solidFill>
                <a:latin typeface="Source Sans 3"/>
              </a:rPr>
              <a:t>Teacher: play from about 3:00 to 4:00 from YouTube or Spotify.</a:t>
            </a:r>
          </a:p>
        </p:txBody>
      </p:sp>
      <p:sp>
        <p:nvSpPr>
          <p:cNvPr id="14" name="Oval 13"/>
          <p:cNvSpPr/>
          <p:nvPr/>
        </p:nvSpPr>
        <p:spPr>
          <a:xfrm>
            <a:off x="548640" y="40690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319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keeps time before the big drums arrive?</a:t>
            </a:r>
          </a:p>
        </p:txBody>
      </p:sp>
      <p:sp>
        <p:nvSpPr>
          <p:cNvPr id="16" name="Oval 15"/>
          <p:cNvSpPr/>
          <p:nvPr/>
        </p:nvSpPr>
        <p:spPr>
          <a:xfrm>
            <a:off x="548640" y="46786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5415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What happens right before they come in?</a:t>
            </a:r>
          </a:p>
        </p:txBody>
      </p:sp>
      <p:sp>
        <p:nvSpPr>
          <p:cNvPr id="18" name="Oval 17"/>
          <p:cNvSpPr/>
          <p:nvPr/>
        </p:nvSpPr>
        <p:spPr>
          <a:xfrm>
            <a:off x="548640" y="528828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5151120"/>
            <a:ext cx="1069848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Why does it hit so hard?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FOUR WAYS TO ANNOUNCE A CHANGE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6</a:t>
            </a:r>
          </a:p>
        </p:txBody>
      </p:sp>
      <p:sp>
        <p:nvSpPr>
          <p:cNvPr id="10" name="Rounded Rectangle 9"/>
          <p:cNvSpPr/>
          <p:nvPr/>
        </p:nvSpPr>
        <p:spPr>
          <a:xfrm>
            <a:off x="548640" y="1810512"/>
            <a:ext cx="5449824" cy="1920240"/>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83664"/>
            <a:ext cx="5449824" cy="806500"/>
          </a:xfrm>
          <a:prstGeom prst="rect">
            <a:avLst/>
          </a:prstGeom>
          <a:noFill/>
        </p:spPr>
        <p:txBody>
          <a:bodyPr wrap="square" anchor="ctr" lIns="36576" rIns="36576" tIns="18288" bIns="18288">
            <a:spAutoFit/>
          </a:bodyPr>
          <a:lstStyle/>
          <a:p>
            <a:pPr algn="ctr"/>
            <a:r>
              <a:rPr sz="3000" b="1">
                <a:solidFill>
                  <a:srgbClr val="FFFFFF"/>
                </a:solidFill>
                <a:latin typeface="Oswald"/>
              </a:rPr>
              <a:t>1  ·  Drum fill</a:t>
            </a:r>
          </a:p>
        </p:txBody>
      </p:sp>
      <p:sp>
        <p:nvSpPr>
          <p:cNvPr id="12" name="TextBox 11"/>
          <p:cNvSpPr txBox="1"/>
          <p:nvPr/>
        </p:nvSpPr>
        <p:spPr>
          <a:xfrm>
            <a:off x="685800" y="2674620"/>
            <a:ext cx="5175504" cy="998524"/>
          </a:xfrm>
          <a:prstGeom prst="rect">
            <a:avLst/>
          </a:prstGeom>
          <a:noFill/>
        </p:spPr>
        <p:txBody>
          <a:bodyPr wrap="square" anchor="t" lIns="36576" rIns="36576" tIns="18288" bIns="18288">
            <a:spAutoFit/>
          </a:bodyPr>
          <a:lstStyle/>
          <a:p>
            <a:pPr algn="ctr"/>
            <a:r>
              <a:rPr sz="2000" b="0">
                <a:solidFill>
                  <a:srgbClr val="FFFFFF"/>
                </a:solidFill>
                <a:latin typeface="Source Sans 3"/>
              </a:rPr>
              <a:t>a rhythmic variation in the last 1–2 measures that signals a change is coming</a:t>
            </a:r>
          </a:p>
        </p:txBody>
      </p:sp>
      <p:sp>
        <p:nvSpPr>
          <p:cNvPr id="13" name="Rounded Rectangle 12"/>
          <p:cNvSpPr/>
          <p:nvPr/>
        </p:nvSpPr>
        <p:spPr>
          <a:xfrm>
            <a:off x="6190488" y="1810512"/>
            <a:ext cx="5449824" cy="1920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90488" y="1883664"/>
            <a:ext cx="5449824" cy="806500"/>
          </a:xfrm>
          <a:prstGeom prst="rect">
            <a:avLst/>
          </a:prstGeom>
          <a:noFill/>
        </p:spPr>
        <p:txBody>
          <a:bodyPr wrap="square" anchor="ctr" lIns="36576" rIns="36576" tIns="18288" bIns="18288">
            <a:spAutoFit/>
          </a:bodyPr>
          <a:lstStyle/>
          <a:p>
            <a:pPr algn="ctr"/>
            <a:r>
              <a:rPr sz="3000" b="1">
                <a:solidFill>
                  <a:srgbClr val="FFFFFF"/>
                </a:solidFill>
                <a:latin typeface="Oswald"/>
              </a:rPr>
              <a:t>2  ·  Breakdown</a:t>
            </a:r>
          </a:p>
        </p:txBody>
      </p:sp>
      <p:sp>
        <p:nvSpPr>
          <p:cNvPr id="15" name="TextBox 14"/>
          <p:cNvSpPr txBox="1"/>
          <p:nvPr/>
        </p:nvSpPr>
        <p:spPr>
          <a:xfrm>
            <a:off x="6327648" y="2674620"/>
            <a:ext cx="5175504" cy="998524"/>
          </a:xfrm>
          <a:prstGeom prst="rect">
            <a:avLst/>
          </a:prstGeom>
          <a:noFill/>
        </p:spPr>
        <p:txBody>
          <a:bodyPr wrap="square" anchor="t" lIns="36576" rIns="36576" tIns="18288" bIns="18288">
            <a:spAutoFit/>
          </a:bodyPr>
          <a:lstStyle/>
          <a:p>
            <a:pPr algn="ctr"/>
            <a:r>
              <a:rPr sz="2000" b="0">
                <a:solidFill>
                  <a:srgbClr val="FFFFFF"/>
                </a:solidFill>
                <a:latin typeface="Source Sans 3"/>
              </a:rPr>
              <a:t>strip to one element (kick only, hi-hat only) before the new section hits</a:t>
            </a:r>
          </a:p>
        </p:txBody>
      </p:sp>
      <p:sp>
        <p:nvSpPr>
          <p:cNvPr id="16" name="Rounded Rectangle 15"/>
          <p:cNvSpPr/>
          <p:nvPr/>
        </p:nvSpPr>
        <p:spPr>
          <a:xfrm>
            <a:off x="548640" y="3913631"/>
            <a:ext cx="5449824" cy="1920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986783"/>
            <a:ext cx="5449824" cy="806500"/>
          </a:xfrm>
          <a:prstGeom prst="rect">
            <a:avLst/>
          </a:prstGeom>
          <a:noFill/>
        </p:spPr>
        <p:txBody>
          <a:bodyPr wrap="square" anchor="ctr" lIns="36576" rIns="36576" tIns="18288" bIns="18288">
            <a:spAutoFit/>
          </a:bodyPr>
          <a:lstStyle/>
          <a:p>
            <a:pPr algn="ctr"/>
            <a:r>
              <a:rPr sz="3000" b="1">
                <a:solidFill>
                  <a:srgbClr val="FFFFFF"/>
                </a:solidFill>
                <a:latin typeface="Oswald"/>
              </a:rPr>
              <a:t>3  ·  Cut</a:t>
            </a:r>
          </a:p>
        </p:txBody>
      </p:sp>
      <p:sp>
        <p:nvSpPr>
          <p:cNvPr id="18" name="TextBox 17"/>
          <p:cNvSpPr txBox="1"/>
          <p:nvPr/>
        </p:nvSpPr>
        <p:spPr>
          <a:xfrm>
            <a:off x="685800" y="4777740"/>
            <a:ext cx="5175504" cy="998524"/>
          </a:xfrm>
          <a:prstGeom prst="rect">
            <a:avLst/>
          </a:prstGeom>
          <a:noFill/>
        </p:spPr>
        <p:txBody>
          <a:bodyPr wrap="square" anchor="t" lIns="36576" rIns="36576" tIns="18288" bIns="18288">
            <a:spAutoFit/>
          </a:bodyPr>
          <a:lstStyle/>
          <a:p>
            <a:pPr algn="ctr"/>
            <a:r>
              <a:rPr sz="2000" b="0">
                <a:solidFill>
                  <a:srgbClr val="FFFFFF"/>
                </a:solidFill>
                <a:latin typeface="Source Sans 3"/>
              </a:rPr>
              <a:t>complete silence for 1–2 beats before the next section drops</a:t>
            </a:r>
          </a:p>
        </p:txBody>
      </p:sp>
      <p:sp>
        <p:nvSpPr>
          <p:cNvPr id="19" name="Rounded Rectangle 18"/>
          <p:cNvSpPr/>
          <p:nvPr/>
        </p:nvSpPr>
        <p:spPr>
          <a:xfrm>
            <a:off x="6190488" y="3913631"/>
            <a:ext cx="5449824" cy="1920240"/>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90488" y="3986783"/>
            <a:ext cx="5449824" cy="806500"/>
          </a:xfrm>
          <a:prstGeom prst="rect">
            <a:avLst/>
          </a:prstGeom>
          <a:noFill/>
        </p:spPr>
        <p:txBody>
          <a:bodyPr wrap="square" anchor="ctr" lIns="36576" rIns="36576" tIns="18288" bIns="18288">
            <a:spAutoFit/>
          </a:bodyPr>
          <a:lstStyle/>
          <a:p>
            <a:pPr algn="ctr"/>
            <a:r>
              <a:rPr sz="3000" b="1">
                <a:solidFill>
                  <a:srgbClr val="FFFFFF"/>
                </a:solidFill>
                <a:latin typeface="Oswald"/>
              </a:rPr>
              <a:t>4  ·  Build</a:t>
            </a:r>
          </a:p>
        </p:txBody>
      </p:sp>
      <p:sp>
        <p:nvSpPr>
          <p:cNvPr id="21" name="TextBox 20"/>
          <p:cNvSpPr txBox="1"/>
          <p:nvPr/>
        </p:nvSpPr>
        <p:spPr>
          <a:xfrm>
            <a:off x="6327648" y="4777740"/>
            <a:ext cx="5175504" cy="998524"/>
          </a:xfrm>
          <a:prstGeom prst="rect">
            <a:avLst/>
          </a:prstGeom>
          <a:noFill/>
        </p:spPr>
        <p:txBody>
          <a:bodyPr wrap="square" anchor="t" lIns="36576" rIns="36576" tIns="18288" bIns="18288">
            <a:spAutoFit/>
          </a:bodyPr>
          <a:lstStyle/>
          <a:p>
            <a:pPr algn="ctr"/>
            <a:r>
              <a:rPr sz="2000" b="0">
                <a:solidFill>
                  <a:srgbClr val="FFFFFF"/>
                </a:solidFill>
                <a:latin typeface="Source Sans 3"/>
              </a:rPr>
              <a:t>add elements progressively in the last measure to increase energy into the change</a:t>
            </a:r>
          </a:p>
        </p:txBody>
      </p:sp>
      <p:sp>
        <p:nvSpPr>
          <p:cNvPr id="22" name="TextBox 21"/>
          <p:cNvSpPr txBox="1"/>
          <p:nvPr/>
        </p:nvSpPr>
        <p:spPr>
          <a:xfrm>
            <a:off x="548640" y="5943600"/>
            <a:ext cx="11064240" cy="365760"/>
          </a:xfrm>
          <a:prstGeom prst="rect">
            <a:avLst/>
          </a:prstGeom>
          <a:noFill/>
        </p:spPr>
        <p:txBody>
          <a:bodyPr wrap="square" anchor="t" lIns="36576" rIns="36576" tIns="18288" bIns="18288">
            <a:spAutoFit/>
          </a:bodyPr>
          <a:lstStyle/>
          <a:p>
            <a:pPr algn="ctr"/>
            <a:r>
              <a:rPr sz="1800" b="0">
                <a:solidFill>
                  <a:srgbClr val="000000"/>
                </a:solidFill>
                <a:latin typeface="Source Sans 3"/>
              </a:rPr>
              <a:t>You will use these in Part 2. Every section change gets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LISTEN BEFORE YOU BUILD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Download one stem from the Foundation folder</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Play all 16 measures twice: touch nothing</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Where does the energy change? Count measures</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Arrangement markers: A or B, 4 measures each</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Only then open Drum Machine Designer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A AND B OVER THE STEM</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8</a:t>
            </a:r>
          </a:p>
        </p:txBody>
      </p:sp>
      <p:pic>
        <p:nvPicPr>
          <p:cNvPr id="10" name="Picture 9" descr="deck-patterns.png"/>
          <p:cNvPicPr>
            <a:picLocks noChangeAspect="1"/>
          </p:cNvPicPr>
          <p:nvPr/>
        </p:nvPicPr>
        <p:blipFill>
          <a:blip r:embed="rId2"/>
          <a:stretch>
            <a:fillRect/>
          </a:stretch>
        </p:blipFill>
        <p:spPr>
          <a:xfrm>
            <a:off x="548640" y="1810512"/>
            <a:ext cx="11091672" cy="2495626"/>
          </a:xfrm>
          <a:prstGeom prst="rect">
            <a:avLst/>
          </a:prstGeom>
        </p:spPr>
      </p:pic>
      <p:sp>
        <p:nvSpPr>
          <p:cNvPr id="11" name="Oval 10"/>
          <p:cNvSpPr/>
          <p:nvPr/>
        </p:nvSpPr>
        <p:spPr>
          <a:xfrm>
            <a:off x="548640"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laid back, closed hi-hat eighths</a:t>
            </a:r>
          </a:p>
        </p:txBody>
      </p:sp>
      <p:sp>
        <p:nvSpPr>
          <p:cNvPr id="13" name="Oval 12"/>
          <p:cNvSpPr/>
          <p:nvPr/>
        </p:nvSpPr>
        <p:spPr>
          <a:xfrm>
            <a:off x="6190488"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 kick on every beat, open hi-hats</a:t>
            </a:r>
          </a:p>
        </p:txBody>
      </p:sp>
      <p:sp>
        <p:nvSpPr>
          <p:cNvPr id="15" name="Oval 14"/>
          <p:cNvSpPr/>
          <p:nvPr/>
        </p:nvSpPr>
        <p:spPr>
          <a:xfrm>
            <a:off x="548640"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Placed A, A, B, A: it follows the stem</a:t>
            </a:r>
          </a:p>
        </p:txBody>
      </p:sp>
      <p:sp>
        <p:nvSpPr>
          <p:cNvPr id="17" name="Oval 16"/>
          <p:cNvSpPr/>
          <p:nvPr/>
        </p:nvSpPr>
        <p:spPr>
          <a:xfrm>
            <a:off x="6190488"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Tell them apart without looking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1</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BUILD YOUR A PATTERN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9</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New track: Software Instrument, an Electronic Drum Kit</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Control-click at the first A: Create Pattern Region</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Kick, snare, closed hi-hat first</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Play it with the stem: does it fit?</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Save it: Your Name - Foundation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DOES IT FIT?</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10</a:t>
            </a:r>
          </a:p>
        </p:txBody>
      </p:sp>
      <p:sp>
        <p:nvSpPr>
          <p:cNvPr id="10" name="Oval 9"/>
          <p:cNvSpPr/>
          <p:nvPr/>
        </p:nvSpPr>
        <p:spPr>
          <a:xfrm>
            <a:off x="548640" y="216712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Two volunteers: A pattern with the stem</a:t>
            </a:r>
          </a:p>
        </p:txBody>
      </p:sp>
      <p:sp>
        <p:nvSpPr>
          <p:cNvPr id="12" name="Oval 11"/>
          <p:cNvSpPr/>
          <p:nvPr/>
        </p:nvSpPr>
        <p:spPr>
          <a:xfrm>
            <a:off x="548640" y="3117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Does the groove fit the feel of the section?</a:t>
            </a:r>
          </a:p>
        </p:txBody>
      </p:sp>
      <p:sp>
        <p:nvSpPr>
          <p:cNvPr id="14" name="Oval 13"/>
          <p:cNvSpPr/>
          <p:nvPr/>
        </p:nvSpPr>
        <p:spPr>
          <a:xfrm>
            <a:off x="548640" y="4067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Do the drums follow the music?</a:t>
            </a:r>
          </a:p>
        </p:txBody>
      </p:sp>
      <p:sp>
        <p:nvSpPr>
          <p:cNvPr id="16" name="Oval 15"/>
          <p:cNvSpPr/>
          <p:nvPr/>
        </p:nvSpPr>
        <p:spPr>
          <a:xfrm>
            <a:off x="548640" y="501700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Or does the music follow the drums?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PLAY A, THEN PLAY B</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11</a:t>
            </a:r>
          </a:p>
        </p:txBody>
      </p:sp>
      <p:sp>
        <p:nvSpPr>
          <p:cNvPr id="10" name="Oval 9"/>
          <p:cNvSpPr/>
          <p:nvPr/>
        </p:nvSpPr>
        <p:spPr>
          <a:xfrm>
            <a:off x="548640" y="216712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Can you feel the difference without looking?</a:t>
            </a:r>
          </a:p>
        </p:txBody>
      </p:sp>
      <p:sp>
        <p:nvSpPr>
          <p:cNvPr id="12" name="Oval 11"/>
          <p:cNvSpPr/>
          <p:nvPr/>
        </p:nvSpPr>
        <p:spPr>
          <a:xfrm>
            <a:off x="548640" y="3117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If A is busy, B might be stripped back</a:t>
            </a:r>
          </a:p>
        </p:txBody>
      </p:sp>
      <p:sp>
        <p:nvSpPr>
          <p:cNvPr id="14" name="Oval 13"/>
          <p:cNvSpPr/>
          <p:nvPr/>
        </p:nvSpPr>
        <p:spPr>
          <a:xfrm>
            <a:off x="548640" y="4067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If A is laid back, B might add energy</a:t>
            </a:r>
          </a:p>
        </p:txBody>
      </p:sp>
      <p:sp>
        <p:nvSpPr>
          <p:cNvPr id="16" name="Oval 15"/>
          <p:cNvSpPr/>
          <p:nvPr/>
        </p:nvSpPr>
        <p:spPr>
          <a:xfrm>
            <a:off x="548640" y="501700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Then copy both across every section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2</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MIXING MOMENT: GAIN STAGING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12</a:t>
            </a:r>
          </a:p>
        </p:txBody>
      </p:sp>
      <p:pic>
        <p:nvPicPr>
          <p:cNvPr id="10" name="Picture 9" descr="deck-meter.png"/>
          <p:cNvPicPr>
            <a:picLocks noChangeAspect="1"/>
          </p:cNvPicPr>
          <p:nvPr/>
        </p:nvPicPr>
        <p:blipFill>
          <a:blip r:embed="rId2"/>
          <a:stretch>
            <a:fillRect/>
          </a:stretch>
        </p:blipFill>
        <p:spPr>
          <a:xfrm>
            <a:off x="548640" y="1828800"/>
            <a:ext cx="6766560" cy="3388485"/>
          </a:xfrm>
          <a:prstGeom prst="rect">
            <a:avLst/>
          </a:prstGeom>
        </p:spPr>
      </p:pic>
      <p:sp>
        <p:nvSpPr>
          <p:cNvPr id="11" name="Oval 10"/>
          <p:cNvSpPr/>
          <p:nvPr/>
        </p:nvSpPr>
        <p:spPr>
          <a:xfrm>
            <a:off x="7680960" y="20756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28432" y="1965960"/>
            <a:ext cx="3611879" cy="487680"/>
          </a:xfrm>
          <a:prstGeom prst="rect">
            <a:avLst/>
          </a:prstGeom>
          <a:noFill/>
        </p:spPr>
        <p:txBody>
          <a:bodyPr wrap="square" anchor="t" lIns="36576" rIns="36576" tIns="18288" bIns="18288">
            <a:spAutoFit/>
          </a:bodyPr>
          <a:lstStyle/>
          <a:p>
            <a:pPr algn="l"/>
            <a:r>
              <a:rPr sz="2400" b="0">
                <a:solidFill>
                  <a:srgbClr val="000000"/>
                </a:solidFill>
                <a:latin typeface="Source Sans 3"/>
              </a:rPr>
              <a:t>Never into the red</a:t>
            </a:r>
          </a:p>
        </p:txBody>
      </p:sp>
      <p:sp>
        <p:nvSpPr>
          <p:cNvPr id="13" name="Oval 12"/>
          <p:cNvSpPr/>
          <p:nvPr/>
        </p:nvSpPr>
        <p:spPr>
          <a:xfrm>
            <a:off x="7680960" y="26852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28432" y="2575560"/>
            <a:ext cx="3611879" cy="487680"/>
          </a:xfrm>
          <a:prstGeom prst="rect">
            <a:avLst/>
          </a:prstGeom>
          <a:noFill/>
        </p:spPr>
        <p:txBody>
          <a:bodyPr wrap="square" anchor="t" lIns="36576" rIns="36576" tIns="18288" bIns="18288">
            <a:spAutoFit/>
          </a:bodyPr>
          <a:lstStyle/>
          <a:p>
            <a:pPr algn="l"/>
            <a:r>
              <a:rPr sz="2400" b="0">
                <a:solidFill>
                  <a:srgbClr val="000000"/>
                </a:solidFill>
                <a:latin typeface="Source Sans 3"/>
              </a:rPr>
              <a:t>Turn other things down</a:t>
            </a:r>
          </a:p>
        </p:txBody>
      </p:sp>
      <p:sp>
        <p:nvSpPr>
          <p:cNvPr id="15" name="Oval 14"/>
          <p:cNvSpPr/>
          <p:nvPr/>
        </p:nvSpPr>
        <p:spPr>
          <a:xfrm>
            <a:off x="7680960" y="32948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28432" y="3185160"/>
            <a:ext cx="3611879" cy="487680"/>
          </a:xfrm>
          <a:prstGeom prst="rect">
            <a:avLst/>
          </a:prstGeom>
          <a:noFill/>
        </p:spPr>
        <p:txBody>
          <a:bodyPr wrap="square" anchor="t" lIns="36576" rIns="36576" tIns="18288" bIns="18288">
            <a:spAutoFit/>
          </a:bodyPr>
          <a:lstStyle/>
          <a:p>
            <a:pPr algn="l"/>
            <a:r>
              <a:rPr sz="2400" b="0">
                <a:solidFill>
                  <a:srgbClr val="000000"/>
                </a:solidFill>
                <a:latin typeface="Source Sans 3"/>
              </a:rPr>
              <a:t>The stem leads</a:t>
            </a:r>
          </a:p>
        </p:txBody>
      </p:sp>
      <p:sp>
        <p:nvSpPr>
          <p:cNvPr id="17" name="Oval 16"/>
          <p:cNvSpPr/>
          <p:nvPr/>
        </p:nvSpPr>
        <p:spPr>
          <a:xfrm>
            <a:off x="7680960" y="39044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28432" y="3794760"/>
            <a:ext cx="3611879" cy="487680"/>
          </a:xfrm>
          <a:prstGeom prst="rect">
            <a:avLst/>
          </a:prstGeom>
          <a:noFill/>
        </p:spPr>
        <p:txBody>
          <a:bodyPr wrap="square" anchor="t" lIns="36576" rIns="36576" tIns="18288" bIns="18288">
            <a:spAutoFit/>
          </a:bodyPr>
          <a:lstStyle/>
          <a:p>
            <a:pPr algn="l"/>
            <a:r>
              <a:rPr sz="2400" b="0">
                <a:solidFill>
                  <a:srgbClr val="000000"/>
                </a:solidFill>
                <a:latin typeface="Source Sans 3"/>
              </a:rPr>
              <a:t>Drums support it</a:t>
            </a:r>
          </a:p>
        </p:txBody>
      </p:sp>
      <p:sp>
        <p:nvSpPr>
          <p:cNvPr id="19" name="Oval 18"/>
          <p:cNvSpPr/>
          <p:nvPr/>
        </p:nvSpPr>
        <p:spPr>
          <a:xfrm>
            <a:off x="7680960" y="4514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28432" y="4404360"/>
            <a:ext cx="3611879" cy="487680"/>
          </a:xfrm>
          <a:prstGeom prst="rect">
            <a:avLst/>
          </a:prstGeom>
          <a:noFill/>
        </p:spPr>
        <p:txBody>
          <a:bodyPr wrap="square" anchor="t" lIns="36576" rIns="36576" tIns="18288" bIns="18288">
            <a:spAutoFit/>
          </a:bodyPr>
          <a:lstStyle/>
          <a:p>
            <a:pPr algn="l"/>
            <a:r>
              <a:rPr sz="2400" b="0">
                <a:solidFill>
                  <a:srgbClr val="000000"/>
                </a:solidFill>
                <a:latin typeface="Source Sans 3"/>
              </a:rPr>
              <a:t>Every element audible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TRANSITION WORKSHOP</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13</a:t>
            </a:r>
          </a:p>
        </p:txBody>
      </p:sp>
      <p:pic>
        <p:nvPicPr>
          <p:cNvPr id="10" name="Picture 9" descr="deck-trans.png"/>
          <p:cNvPicPr>
            <a:picLocks noChangeAspect="1"/>
          </p:cNvPicPr>
          <p:nvPr/>
        </p:nvPicPr>
        <p:blipFill>
          <a:blip r:embed="rId2"/>
          <a:stretch>
            <a:fillRect/>
          </a:stretch>
        </p:blipFill>
        <p:spPr>
          <a:xfrm>
            <a:off x="548640" y="1810512"/>
            <a:ext cx="11091672" cy="2368072"/>
          </a:xfrm>
          <a:prstGeom prst="rect">
            <a:avLst/>
          </a:prstGeom>
        </p:spPr>
      </p:pic>
      <p:sp>
        <p:nvSpPr>
          <p:cNvPr id="11" name="Oval 10"/>
          <p:cNvSpPr/>
          <p:nvPr/>
        </p:nvSpPr>
        <p:spPr>
          <a:xfrm>
            <a:off x="548640"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Fill: the groove breaks into snare, then toms</a:t>
            </a:r>
          </a:p>
        </p:txBody>
      </p:sp>
      <p:sp>
        <p:nvSpPr>
          <p:cNvPr id="13" name="Oval 12"/>
          <p:cNvSpPr/>
          <p:nvPr/>
        </p:nvSpPr>
        <p:spPr>
          <a:xfrm>
            <a:off x="6190488"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Breakdown: one element left (the kick)</a:t>
            </a:r>
          </a:p>
        </p:txBody>
      </p:sp>
      <p:sp>
        <p:nvSpPr>
          <p:cNvPr id="15" name="Oval 14"/>
          <p:cNvSpPr/>
          <p:nvPr/>
        </p:nvSpPr>
        <p:spPr>
          <a:xfrm>
            <a:off x="548640"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Cut: two beats of complete silence</a:t>
            </a:r>
          </a:p>
        </p:txBody>
      </p:sp>
      <p:sp>
        <p:nvSpPr>
          <p:cNvPr id="17" name="Oval 16"/>
          <p:cNvSpPr/>
          <p:nvPr/>
        </p:nvSpPr>
        <p:spPr>
          <a:xfrm>
            <a:off x="6190488"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Build: a sound joins on every beat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WORKED EXAMPLE: MAP EVERY CHANGE</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14</a:t>
            </a:r>
          </a:p>
        </p:txBody>
      </p:sp>
      <p:pic>
        <p:nvPicPr>
          <p:cNvPr id="10" name="Picture 9" descr="deck-songmap.png"/>
          <p:cNvPicPr>
            <a:picLocks noChangeAspect="1"/>
          </p:cNvPicPr>
          <p:nvPr/>
        </p:nvPicPr>
        <p:blipFill>
          <a:blip r:embed="rId2"/>
          <a:stretch>
            <a:fillRect/>
          </a:stretch>
        </p:blipFill>
        <p:spPr>
          <a:xfrm>
            <a:off x="548640" y="1810512"/>
            <a:ext cx="11091672" cy="1735847"/>
          </a:xfrm>
          <a:prstGeom prst="rect">
            <a:avLst/>
          </a:prstGeom>
        </p:spPr>
      </p:pic>
      <p:sp>
        <p:nvSpPr>
          <p:cNvPr id="11" name="Oval 10"/>
          <p:cNvSpPr/>
          <p:nvPr/>
        </p:nvSpPr>
        <p:spPr>
          <a:xfrm>
            <a:off x="548640"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7"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8 sections, 7 changes, 7 transitions</a:t>
            </a:r>
          </a:p>
        </p:txBody>
      </p:sp>
      <p:sp>
        <p:nvSpPr>
          <p:cNvPr id="13" name="Oval 12"/>
          <p:cNvSpPr/>
          <p:nvPr/>
        </p:nvSpPr>
        <p:spPr>
          <a:xfrm>
            <a:off x="6190488" y="4956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8463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Four types, each for its moment</a:t>
            </a:r>
          </a:p>
        </p:txBody>
      </p:sp>
      <p:sp>
        <p:nvSpPr>
          <p:cNvPr id="15" name="Oval 14"/>
          <p:cNvSpPr/>
          <p:nvPr/>
        </p:nvSpPr>
        <p:spPr>
          <a:xfrm>
            <a:off x="548640"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7"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cut before the quieter bridge</a:t>
            </a:r>
          </a:p>
        </p:txBody>
      </p:sp>
      <p:sp>
        <p:nvSpPr>
          <p:cNvPr id="17" name="Oval 16"/>
          <p:cNvSpPr/>
          <p:nvPr/>
        </p:nvSpPr>
        <p:spPr>
          <a:xfrm>
            <a:off x="6190488" y="56418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83096" y="5532120"/>
            <a:ext cx="5212080" cy="548640"/>
          </a:xfrm>
          <a:prstGeom prst="rect">
            <a:avLst/>
          </a:prstGeom>
          <a:noFill/>
        </p:spPr>
        <p:txBody>
          <a:bodyPr wrap="square" anchor="t" lIns="36576" rIns="36576" tIns="18288" bIns="18288">
            <a:spAutoFit/>
          </a:bodyPr>
          <a:lstStyle/>
          <a:p>
            <a:pPr algn="l"/>
            <a:r>
              <a:rPr sz="2200" b="0">
                <a:solidFill>
                  <a:srgbClr val="000000"/>
                </a:solidFill>
                <a:latin typeface="Source Sans 3"/>
              </a:rPr>
              <a:t>A build before the big last chorus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3</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WATCH ME: A TRANSITION IN 64 STEPS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15</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Copy the groove into the measures before the change</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Step Sequencer: set the pattern length to 64 steps</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Change only the last measure (or two)</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Play into the new section: does it announce it?</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Listen, then move to the next change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PLAY IT ALL THE WAY THROUGH</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16</a:t>
            </a:r>
          </a:p>
        </p:txBody>
      </p:sp>
      <p:sp>
        <p:nvSpPr>
          <p:cNvPr id="10" name="Oval 9"/>
          <p:cNvSpPr/>
          <p:nvPr/>
        </p:nvSpPr>
        <p:spPr>
          <a:xfrm>
            <a:off x="548640" y="216712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Every section change should feel intentional</a:t>
            </a:r>
          </a:p>
        </p:txBody>
      </p:sp>
      <p:sp>
        <p:nvSpPr>
          <p:cNvPr id="12" name="Oval 11"/>
          <p:cNvSpPr/>
          <p:nvPr/>
        </p:nvSpPr>
        <p:spPr>
          <a:xfrm>
            <a:off x="548640" y="3117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If a transition adds nothing, rework it</a:t>
            </a:r>
          </a:p>
        </p:txBody>
      </p:sp>
      <p:sp>
        <p:nvSpPr>
          <p:cNvPr id="14" name="Oval 13"/>
          <p:cNvSpPr/>
          <p:nvPr/>
        </p:nvSpPr>
        <p:spPr>
          <a:xfrm>
            <a:off x="548640" y="4067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A cut only works if the music earns it</a:t>
            </a:r>
          </a:p>
        </p:txBody>
      </p:sp>
      <p:sp>
        <p:nvSpPr>
          <p:cNvPr id="16" name="Oval 15"/>
          <p:cNvSpPr/>
          <p:nvPr/>
        </p:nvSpPr>
        <p:spPr>
          <a:xfrm>
            <a:off x="548640" y="501700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The stem is the star: drums support it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4</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OPTIONAL: A REVERB BUS</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17</a:t>
            </a:r>
          </a:p>
        </p:txBody>
      </p:sp>
      <p:sp>
        <p:nvSpPr>
          <p:cNvPr id="10" name="Oval 9"/>
          <p:cNvSpPr/>
          <p:nvPr/>
        </p:nvSpPr>
        <p:spPr>
          <a:xfrm>
            <a:off x="548640" y="192023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92023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1</a:t>
            </a:r>
          </a:p>
        </p:txBody>
      </p:sp>
      <p:sp>
        <p:nvSpPr>
          <p:cNvPr id="12" name="TextBox 11"/>
          <p:cNvSpPr txBox="1"/>
          <p:nvPr/>
        </p:nvSpPr>
        <p:spPr>
          <a:xfrm>
            <a:off x="1325880" y="1828799"/>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Mixer (X): on the drums, click a Send slot, choose a bus</a:t>
            </a:r>
          </a:p>
        </p:txBody>
      </p:sp>
      <p:sp>
        <p:nvSpPr>
          <p:cNvPr id="13" name="Oval 12"/>
          <p:cNvSpPr/>
          <p:nvPr/>
        </p:nvSpPr>
        <p:spPr>
          <a:xfrm>
            <a:off x="548640" y="2788920"/>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788920"/>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2</a:t>
            </a:r>
          </a:p>
        </p:txBody>
      </p:sp>
      <p:sp>
        <p:nvSpPr>
          <p:cNvPr id="15" name="TextBox 14"/>
          <p:cNvSpPr txBox="1"/>
          <p:nvPr/>
        </p:nvSpPr>
        <p:spPr>
          <a:xfrm>
            <a:off x="1325880" y="269748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Logic adds an Aux channel strip</a:t>
            </a:r>
          </a:p>
        </p:txBody>
      </p:sp>
      <p:sp>
        <p:nvSpPr>
          <p:cNvPr id="16" name="Oval 15"/>
          <p:cNvSpPr/>
          <p:nvPr/>
        </p:nvSpPr>
        <p:spPr>
          <a:xfrm>
            <a:off x="548640" y="365759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5759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3</a:t>
            </a:r>
          </a:p>
        </p:txBody>
      </p:sp>
      <p:sp>
        <p:nvSpPr>
          <p:cNvPr id="18" name="TextBox 17"/>
          <p:cNvSpPr txBox="1"/>
          <p:nvPr/>
        </p:nvSpPr>
        <p:spPr>
          <a:xfrm>
            <a:off x="1325880" y="356616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On the Aux: an Audio FX slot, then ChromaVerb</a:t>
            </a:r>
          </a:p>
        </p:txBody>
      </p:sp>
      <p:sp>
        <p:nvSpPr>
          <p:cNvPr id="19" name="Oval 18"/>
          <p:cNvSpPr/>
          <p:nvPr/>
        </p:nvSpPr>
        <p:spPr>
          <a:xfrm>
            <a:off x="548640" y="452627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7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4</a:t>
            </a:r>
          </a:p>
        </p:txBody>
      </p:sp>
      <p:sp>
        <p:nvSpPr>
          <p:cNvPr id="21" name="TextBox 20"/>
          <p:cNvSpPr txBox="1"/>
          <p:nvPr/>
        </p:nvSpPr>
        <p:spPr>
          <a:xfrm>
            <a:off x="1325880" y="443484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Turn the Send knob up slowly</a:t>
            </a:r>
          </a:p>
        </p:txBody>
      </p:sp>
      <p:sp>
        <p:nvSpPr>
          <p:cNvPr id="22" name="Oval 21"/>
          <p:cNvSpPr/>
          <p:nvPr/>
        </p:nvSpPr>
        <p:spPr>
          <a:xfrm>
            <a:off x="548640" y="5394959"/>
            <a:ext cx="566928" cy="566928"/>
          </a:xfrm>
          <a:prstGeom prst="ellipse">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394959"/>
            <a:ext cx="566928" cy="566928"/>
          </a:xfrm>
          <a:prstGeom prst="rect">
            <a:avLst/>
          </a:prstGeom>
          <a:noFill/>
        </p:spPr>
        <p:txBody>
          <a:bodyPr wrap="square" anchor="ctr" lIns="36576" rIns="36576" tIns="18288" bIns="18288">
            <a:spAutoFit/>
          </a:bodyPr>
          <a:lstStyle/>
          <a:p>
            <a:pPr algn="ctr"/>
            <a:r>
              <a:rPr sz="2400" b="1">
                <a:solidFill>
                  <a:srgbClr val="FFFFFF"/>
                </a:solidFill>
                <a:latin typeface="Oswald"/>
              </a:rPr>
              <a:t>5</a:t>
            </a:r>
          </a:p>
        </p:txBody>
      </p:sp>
      <p:sp>
        <p:nvSpPr>
          <p:cNvPr id="24" name="TextBox 23"/>
          <p:cNvSpPr txBox="1"/>
          <p:nvPr/>
        </p:nvSpPr>
        <p:spPr>
          <a:xfrm>
            <a:off x="1325880" y="5303520"/>
            <a:ext cx="10241280" cy="822960"/>
          </a:xfrm>
          <a:prstGeom prst="rect">
            <a:avLst/>
          </a:prstGeom>
          <a:noFill/>
        </p:spPr>
        <p:txBody>
          <a:bodyPr wrap="square" anchor="ctr" lIns="36576" rIns="36576" tIns="18288" bIns="18288">
            <a:spAutoFit/>
          </a:bodyPr>
          <a:lstStyle/>
          <a:p>
            <a:pPr algn="l"/>
            <a:r>
              <a:rPr sz="2800" b="0">
                <a:solidFill>
                  <a:srgbClr val="000000"/>
                </a:solidFill>
                <a:latin typeface="Source Sans 3"/>
              </a:rPr>
              <a:t>Not graded: the full lesson is in Unit 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FOUNDATION: 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18</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A and B written and placed across all sections</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At least 3 layers per pattern</a:t>
            </a:r>
          </a:p>
        </p:txBody>
      </p:sp>
      <p:sp>
        <p:nvSpPr>
          <p:cNvPr id="14" name="Rounded Rectangle 13"/>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Nothing clipping, everything audible</a:t>
            </a:r>
          </a:p>
        </p:txBody>
      </p:sp>
      <p:sp>
        <p:nvSpPr>
          <p:cNvPr id="16" name="Rounded Rectangle 15"/>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Named as on your project sheet</a:t>
            </a:r>
          </a:p>
        </p:txBody>
      </p:sp>
      <p:sp>
        <p:nvSpPr>
          <p:cNvPr id="18" name="Rounded Rectangle 17"/>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MP3 + .zip, submitted before presenting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FULL SONG: WHAT YOU TURN IN</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19</a:t>
            </a:r>
          </a:p>
        </p:txBody>
      </p:sp>
      <p:sp>
        <p:nvSpPr>
          <p:cNvPr id="10" name="Rounded Rectangle 9"/>
          <p:cNvSpPr/>
          <p:nvPr/>
        </p:nvSpPr>
        <p:spPr>
          <a:xfrm>
            <a:off x="54864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Every section change labeled, with a transition</a:t>
            </a:r>
          </a:p>
        </p:txBody>
      </p:sp>
      <p:sp>
        <p:nvSpPr>
          <p:cNvPr id="12" name="Rounded Rectangle 11"/>
          <p:cNvSpPr/>
          <p:nvPr/>
        </p:nvSpPr>
        <p:spPr>
          <a:xfrm>
            <a:off x="6172200" y="20391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20840" y="19659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At least two transition types</a:t>
            </a:r>
          </a:p>
        </p:txBody>
      </p:sp>
      <p:sp>
        <p:nvSpPr>
          <p:cNvPr id="14" name="Rounded Rectangle 13"/>
          <p:cNvSpPr/>
          <p:nvPr/>
        </p:nvSpPr>
        <p:spPr>
          <a:xfrm>
            <a:off x="54864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Each transition fits the music</a:t>
            </a:r>
          </a:p>
        </p:txBody>
      </p:sp>
      <p:sp>
        <p:nvSpPr>
          <p:cNvPr id="16" name="Rounded Rectangle 15"/>
          <p:cNvSpPr/>
          <p:nvPr/>
        </p:nvSpPr>
        <p:spPr>
          <a:xfrm>
            <a:off x="6172200" y="34107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3375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Mix: the drums serve the stem</a:t>
            </a:r>
          </a:p>
        </p:txBody>
      </p:sp>
      <p:sp>
        <p:nvSpPr>
          <p:cNvPr id="18" name="Rounded Rectangle 17"/>
          <p:cNvSpPr/>
          <p:nvPr/>
        </p:nvSpPr>
        <p:spPr>
          <a:xfrm>
            <a:off x="54864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Named; MP3 + .zip submitted</a:t>
            </a:r>
          </a:p>
        </p:txBody>
      </p:sp>
      <p:sp>
        <p:nvSpPr>
          <p:cNvPr id="20" name="Rounded Rectangle 19"/>
          <p:cNvSpPr/>
          <p:nvPr/>
        </p:nvSpPr>
        <p:spPr>
          <a:xfrm>
            <a:off x="6172200" y="4782312"/>
            <a:ext cx="384048" cy="384048"/>
          </a:xfrm>
          <a:prstGeom prst="roundRect">
            <a:avLst/>
          </a:prstGeom>
          <a:solidFill>
            <a:srgbClr val="FFFFFF"/>
          </a:solidFill>
          <a:ln w="2857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4709160"/>
            <a:ext cx="4892040" cy="1280160"/>
          </a:xfrm>
          <a:prstGeom prst="rect">
            <a:avLst/>
          </a:prstGeom>
          <a:noFill/>
        </p:spPr>
        <p:txBody>
          <a:bodyPr wrap="square" anchor="t" lIns="36576" rIns="36576" tIns="18288" bIns="18288">
            <a:spAutoFit/>
          </a:bodyPr>
          <a:lstStyle/>
          <a:p>
            <a:pPr algn="l"/>
            <a:r>
              <a:rPr sz="2400" b="0">
                <a:solidFill>
                  <a:srgbClr val="000000"/>
                </a:solidFill>
                <a:latin typeface="Source Sans 3"/>
              </a:rPr>
              <a:t>Three Padlet feedback questions posted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5</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HOW IT’S SCORED</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20</a:t>
            </a:r>
          </a:p>
        </p:txBody>
      </p:sp>
      <p:sp>
        <p:nvSpPr>
          <p:cNvPr id="10" name="Rounded Rectangle 9"/>
          <p:cNvSpPr/>
          <p:nvPr/>
        </p:nvSpPr>
        <p:spPr>
          <a:xfrm>
            <a:off x="548640" y="181051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81051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FOUNDATIONS</a:t>
            </a:r>
          </a:p>
        </p:txBody>
      </p:sp>
      <p:sp>
        <p:nvSpPr>
          <p:cNvPr id="12" name="TextBox 11"/>
          <p:cNvSpPr txBox="1"/>
          <p:nvPr/>
        </p:nvSpPr>
        <p:spPr>
          <a:xfrm>
            <a:off x="4572000" y="181051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A and B have distinct personalities; placement precise and intentional.</a:t>
            </a:r>
          </a:p>
        </p:txBody>
      </p:sp>
      <p:sp>
        <p:nvSpPr>
          <p:cNvPr id="13" name="TextBox 12"/>
          <p:cNvSpPr txBox="1"/>
          <p:nvPr/>
        </p:nvSpPr>
        <p:spPr>
          <a:xfrm>
            <a:off x="10744200" y="1810512"/>
            <a:ext cx="896112" cy="713232"/>
          </a:xfrm>
          <a:prstGeom prst="rect">
            <a:avLst/>
          </a:prstGeom>
          <a:noFill/>
        </p:spPr>
        <p:txBody>
          <a:bodyPr wrap="square" anchor="ctr" lIns="36576" rIns="36576" tIns="18288" bIns="18288">
            <a:spAutoFit/>
          </a:bodyPr>
          <a:lstStyle/>
          <a:p>
            <a:pPr algn="r"/>
            <a:r>
              <a:rPr sz="2400" b="1">
                <a:solidFill>
                  <a:srgbClr val="1E8A50"/>
                </a:solidFill>
                <a:latin typeface="Oswald"/>
              </a:rPr>
              <a:t>/ 5</a:t>
            </a:r>
          </a:p>
        </p:txBody>
      </p:sp>
      <p:sp>
        <p:nvSpPr>
          <p:cNvPr id="14" name="Rounded Rectangle 13"/>
          <p:cNvSpPr/>
          <p:nvPr/>
        </p:nvSpPr>
        <p:spPr>
          <a:xfrm>
            <a:off x="548640" y="263347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3347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FULL SONG</a:t>
            </a:r>
          </a:p>
        </p:txBody>
      </p:sp>
      <p:sp>
        <p:nvSpPr>
          <p:cNvPr id="16" name="TextBox 15"/>
          <p:cNvSpPr txBox="1"/>
          <p:nvPr/>
        </p:nvSpPr>
        <p:spPr>
          <a:xfrm>
            <a:off x="4572000" y="263347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Every transition feels inevitable: the right type for each moment.</a:t>
            </a:r>
          </a:p>
        </p:txBody>
      </p:sp>
      <p:sp>
        <p:nvSpPr>
          <p:cNvPr id="17" name="TextBox 16"/>
          <p:cNvSpPr txBox="1"/>
          <p:nvPr/>
        </p:nvSpPr>
        <p:spPr>
          <a:xfrm>
            <a:off x="10744200" y="2633472"/>
            <a:ext cx="896112" cy="713232"/>
          </a:xfrm>
          <a:prstGeom prst="rect">
            <a:avLst/>
          </a:prstGeom>
          <a:noFill/>
        </p:spPr>
        <p:txBody>
          <a:bodyPr wrap="square" anchor="ctr" lIns="36576" rIns="36576" tIns="18288" bIns="18288">
            <a:spAutoFit/>
          </a:bodyPr>
          <a:lstStyle/>
          <a:p>
            <a:pPr algn="r"/>
            <a:r>
              <a:rPr sz="2400" b="1">
                <a:solidFill>
                  <a:srgbClr val="1E8A50"/>
                </a:solidFill>
                <a:latin typeface="Oswald"/>
              </a:rPr>
              <a:t>/ 5</a:t>
            </a:r>
          </a:p>
        </p:txBody>
      </p:sp>
      <p:sp>
        <p:nvSpPr>
          <p:cNvPr id="18" name="Rounded Rectangle 17"/>
          <p:cNvSpPr/>
          <p:nvPr/>
        </p:nvSpPr>
        <p:spPr>
          <a:xfrm>
            <a:off x="548640" y="345643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345643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TECHNICAL SKILL / DAW USE</a:t>
            </a:r>
          </a:p>
        </p:txBody>
      </p:sp>
      <p:sp>
        <p:nvSpPr>
          <p:cNvPr id="20" name="TextBox 19"/>
          <p:cNvSpPr txBox="1"/>
          <p:nvPr/>
        </p:nvSpPr>
        <p:spPr>
          <a:xfrm>
            <a:off x="4572000" y="345643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64-step mode for transition detail; clean, confident workflow.</a:t>
            </a:r>
          </a:p>
        </p:txBody>
      </p:sp>
      <p:sp>
        <p:nvSpPr>
          <p:cNvPr id="21" name="TextBox 20"/>
          <p:cNvSpPr txBox="1"/>
          <p:nvPr/>
        </p:nvSpPr>
        <p:spPr>
          <a:xfrm>
            <a:off x="10744200" y="3456432"/>
            <a:ext cx="896112" cy="713232"/>
          </a:xfrm>
          <a:prstGeom prst="rect">
            <a:avLst/>
          </a:prstGeom>
          <a:noFill/>
        </p:spPr>
        <p:txBody>
          <a:bodyPr wrap="square" anchor="ctr" lIns="36576" rIns="36576" tIns="18288" bIns="18288">
            <a:spAutoFit/>
          </a:bodyPr>
          <a:lstStyle/>
          <a:p>
            <a:pPr algn="r"/>
            <a:r>
              <a:rPr sz="2400" b="1">
                <a:solidFill>
                  <a:srgbClr val="1E8A50"/>
                </a:solidFill>
                <a:latin typeface="Oswald"/>
              </a:rPr>
              <a:t>/ 5</a:t>
            </a:r>
          </a:p>
        </p:txBody>
      </p:sp>
      <p:sp>
        <p:nvSpPr>
          <p:cNvPr id="22" name="Rounded Rectangle 21"/>
          <p:cNvSpPr/>
          <p:nvPr/>
        </p:nvSpPr>
        <p:spPr>
          <a:xfrm>
            <a:off x="548640" y="427939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27939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GAIN STAGING &amp; MIX</a:t>
            </a:r>
          </a:p>
        </p:txBody>
      </p:sp>
      <p:sp>
        <p:nvSpPr>
          <p:cNvPr id="24" name="TextBox 23"/>
          <p:cNvSpPr txBox="1"/>
          <p:nvPr/>
        </p:nvSpPr>
        <p:spPr>
          <a:xfrm>
            <a:off x="4572000" y="427939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Drums sit perfectly with the stem; nothing clips; one cohesive piece.</a:t>
            </a:r>
          </a:p>
        </p:txBody>
      </p:sp>
      <p:sp>
        <p:nvSpPr>
          <p:cNvPr id="25" name="TextBox 24"/>
          <p:cNvSpPr txBox="1"/>
          <p:nvPr/>
        </p:nvSpPr>
        <p:spPr>
          <a:xfrm>
            <a:off x="10744200" y="4279392"/>
            <a:ext cx="896112" cy="713232"/>
          </a:xfrm>
          <a:prstGeom prst="rect">
            <a:avLst/>
          </a:prstGeom>
          <a:noFill/>
        </p:spPr>
        <p:txBody>
          <a:bodyPr wrap="square" anchor="ctr" lIns="36576" rIns="36576" tIns="18288" bIns="18288">
            <a:spAutoFit/>
          </a:bodyPr>
          <a:lstStyle/>
          <a:p>
            <a:pPr algn="r"/>
            <a:r>
              <a:rPr sz="2400" b="1">
                <a:solidFill>
                  <a:srgbClr val="1E8A50"/>
                </a:solidFill>
                <a:latin typeface="Oswald"/>
              </a:rPr>
              <a:t>/ 5</a:t>
            </a:r>
          </a:p>
        </p:txBody>
      </p:sp>
      <p:sp>
        <p:nvSpPr>
          <p:cNvPr id="26" name="Rounded Rectangle 25"/>
          <p:cNvSpPr/>
          <p:nvPr/>
        </p:nvSpPr>
        <p:spPr>
          <a:xfrm>
            <a:off x="548640" y="5102352"/>
            <a:ext cx="3840480" cy="713232"/>
          </a:xfrm>
          <a:prstGeom prst="round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102352"/>
            <a:ext cx="3566160" cy="713232"/>
          </a:xfrm>
          <a:prstGeom prst="rect">
            <a:avLst/>
          </a:prstGeom>
          <a:noFill/>
        </p:spPr>
        <p:txBody>
          <a:bodyPr wrap="square" anchor="ctr" lIns="36576" rIns="36576" tIns="18288" bIns="18288">
            <a:spAutoFit/>
          </a:bodyPr>
          <a:lstStyle/>
          <a:p>
            <a:pPr algn="l"/>
            <a:r>
              <a:rPr sz="1900" b="1">
                <a:solidFill>
                  <a:srgbClr val="FFFFFF"/>
                </a:solidFill>
                <a:latin typeface="Oswald"/>
              </a:rPr>
              <a:t>DOCUMENTATION &amp; PRESENTATION</a:t>
            </a:r>
          </a:p>
        </p:txBody>
      </p:sp>
      <p:sp>
        <p:nvSpPr>
          <p:cNvPr id="28" name="TextBox 27"/>
          <p:cNvSpPr txBox="1"/>
          <p:nvPr/>
        </p:nvSpPr>
        <p:spPr>
          <a:xfrm>
            <a:off x="4572000" y="5102352"/>
            <a:ext cx="6126480" cy="713232"/>
          </a:xfrm>
          <a:prstGeom prst="rect">
            <a:avLst/>
          </a:prstGeom>
          <a:noFill/>
        </p:spPr>
        <p:txBody>
          <a:bodyPr wrap="square" anchor="ctr" lIns="36576" rIns="36576" tIns="18288" bIns="18288">
            <a:spAutoFit/>
          </a:bodyPr>
          <a:lstStyle/>
          <a:p>
            <a:pPr algn="l"/>
            <a:r>
              <a:rPr sz="1800" b="0">
                <a:solidFill>
                  <a:srgbClr val="000000"/>
                </a:solidFill>
                <a:latin typeface="Source Sans 3"/>
              </a:rPr>
              <a:t>5 = Named, on time, confident, three thoughtful Padlet questions.</a:t>
            </a:r>
          </a:p>
        </p:txBody>
      </p:sp>
      <p:sp>
        <p:nvSpPr>
          <p:cNvPr id="29" name="TextBox 28"/>
          <p:cNvSpPr txBox="1"/>
          <p:nvPr/>
        </p:nvSpPr>
        <p:spPr>
          <a:xfrm>
            <a:off x="10744200" y="5102352"/>
            <a:ext cx="896112" cy="713232"/>
          </a:xfrm>
          <a:prstGeom prst="rect">
            <a:avLst/>
          </a:prstGeom>
          <a:noFill/>
        </p:spPr>
        <p:txBody>
          <a:bodyPr wrap="square" anchor="ctr" lIns="36576" rIns="36576" tIns="18288" bIns="18288">
            <a:spAutoFit/>
          </a:bodyPr>
          <a:lstStyle/>
          <a:p>
            <a:pPr algn="r"/>
            <a:r>
              <a:rPr sz="2400" b="1">
                <a:solidFill>
                  <a:srgbClr val="1E8A50"/>
                </a:solidFill>
                <a:latin typeface="Oswald"/>
              </a:rPr>
              <a:t>/ 5</a:t>
            </a:r>
          </a:p>
        </p:txBody>
      </p:sp>
      <p:sp>
        <p:nvSpPr>
          <p:cNvPr id="30" name="TextBox 29"/>
          <p:cNvSpPr txBox="1"/>
          <p:nvPr/>
        </p:nvSpPr>
        <p:spPr>
          <a:xfrm>
            <a:off x="5486400" y="5943600"/>
            <a:ext cx="6153912" cy="411480"/>
          </a:xfrm>
          <a:prstGeom prst="rect">
            <a:avLst/>
          </a:prstGeom>
          <a:noFill/>
        </p:spPr>
        <p:txBody>
          <a:bodyPr wrap="square" anchor="t" lIns="36576" rIns="36576" tIns="18288" bIns="18288">
            <a:spAutoFit/>
          </a:bodyPr>
          <a:lstStyle/>
          <a:p>
            <a:pPr algn="r"/>
            <a:r>
              <a:rPr sz="2200" b="1">
                <a:solidFill>
                  <a:srgbClr val="000000"/>
                </a:solidFill>
                <a:latin typeface="Oswald"/>
              </a:rPr>
              <a:t>SCORED 2 TO 5 · TOTAL /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PRESENTATION DAY</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21</a:t>
            </a:r>
          </a:p>
        </p:txBody>
      </p:sp>
      <p:sp>
        <p:nvSpPr>
          <p:cNvPr id="10" name="Oval 9"/>
          <p:cNvSpPr/>
          <p:nvPr/>
        </p:nvSpPr>
        <p:spPr>
          <a:xfrm>
            <a:off x="548640" y="216712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01168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Play your full drum track with the stem</a:t>
            </a:r>
          </a:p>
        </p:txBody>
      </p:sp>
      <p:sp>
        <p:nvSpPr>
          <p:cNvPr id="12" name="Oval 11"/>
          <p:cNvSpPr/>
          <p:nvPr/>
        </p:nvSpPr>
        <p:spPr>
          <a:xfrm>
            <a:off x="548640" y="311708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96164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Point to each transition: why that type?</a:t>
            </a:r>
          </a:p>
        </p:txBody>
      </p:sp>
      <p:sp>
        <p:nvSpPr>
          <p:cNvPr id="14" name="Oval 13"/>
          <p:cNvSpPr/>
          <p:nvPr/>
        </p:nvSpPr>
        <p:spPr>
          <a:xfrm>
            <a:off x="548640" y="406704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91160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Respond to at least 2 projects</a:t>
            </a:r>
          </a:p>
        </p:txBody>
      </p:sp>
      <p:sp>
        <p:nvSpPr>
          <p:cNvPr id="16" name="Oval 15"/>
          <p:cNvSpPr/>
          <p:nvPr/>
        </p:nvSpPr>
        <p:spPr>
          <a:xfrm>
            <a:off x="548640" y="5017008"/>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61560"/>
            <a:ext cx="10698480" cy="690880"/>
          </a:xfrm>
          <a:prstGeom prst="rect">
            <a:avLst/>
          </a:prstGeom>
          <a:noFill/>
        </p:spPr>
        <p:txBody>
          <a:bodyPr wrap="square" anchor="t" lIns="36576" rIns="36576" tIns="18288" bIns="18288">
            <a:spAutoFit/>
          </a:bodyPr>
          <a:lstStyle/>
          <a:p>
            <a:pPr algn="l"/>
            <a:r>
              <a:rPr sz="3400" b="0">
                <a:solidFill>
                  <a:srgbClr val="000000"/>
                </a:solidFill>
                <a:latin typeface="Source Sans 3"/>
              </a:rPr>
              <a:t>You responded to music that already existed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5486400" cy="365760"/>
          </a:xfrm>
          <a:prstGeom prst="rect">
            <a:avLst/>
          </a:prstGeom>
          <a:noFill/>
        </p:spPr>
        <p:txBody>
          <a:bodyPr wrap="square" anchor="t" lIns="36576" rIns="36576" tIns="18288" bIns="18288">
            <a:spAutoFit/>
          </a:bodyPr>
          <a:lstStyle/>
          <a:p>
            <a:pPr algn="l"/>
            <a:r>
              <a:rPr sz="1300" b="0" spc="600">
                <a:solidFill>
                  <a:srgbClr val="000000"/>
                </a:solidFill>
                <a:latin typeface="Oswald"/>
              </a:rPr>
              <a:t>HUDSON BEAT</a:t>
            </a:r>
          </a:p>
        </p:txBody>
      </p:sp>
      <p:sp>
        <p:nvSpPr>
          <p:cNvPr id="3" name="Rounded Rectangle 2"/>
          <p:cNvSpPr/>
          <p:nvPr/>
        </p:nvSpPr>
        <p:spPr>
          <a:xfrm>
            <a:off x="10360152" y="274320"/>
            <a:ext cx="1280160" cy="384048"/>
          </a:xfrm>
          <a:prstGeom prst="roundRect">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0152" y="274320"/>
            <a:ext cx="1280160" cy="384048"/>
          </a:xfrm>
          <a:prstGeom prst="rect">
            <a:avLst/>
          </a:prstGeom>
          <a:noFill/>
        </p:spPr>
        <p:txBody>
          <a:bodyPr wrap="square" anchor="ctr" lIns="36576" rIns="36576" tIns="18288" bIns="18288">
            <a:spAutoFit/>
          </a:bodyPr>
          <a:lstStyle/>
          <a:p>
            <a:pPr algn="ctr"/>
            <a:r>
              <a:rPr sz="1500" b="1">
                <a:solidFill>
                  <a:srgbClr val="FFFFFF"/>
                </a:solidFill>
                <a:latin typeface="Oswald"/>
              </a:rPr>
              <a:t>DAY 6</a:t>
            </a:r>
          </a:p>
        </p:txBody>
      </p:sp>
      <p:sp>
        <p:nvSpPr>
          <p:cNvPr id="5" name="TextBox 4"/>
          <p:cNvSpPr txBox="1"/>
          <p:nvPr/>
        </p:nvSpPr>
        <p:spPr>
          <a:xfrm>
            <a:off x="548640" y="658368"/>
            <a:ext cx="11064240" cy="868680"/>
          </a:xfrm>
          <a:prstGeom prst="rect">
            <a:avLst/>
          </a:prstGeom>
          <a:noFill/>
        </p:spPr>
        <p:txBody>
          <a:bodyPr wrap="square" anchor="b" lIns="36576" rIns="36576" tIns="18288" bIns="18288">
            <a:spAutoFit/>
          </a:bodyPr>
          <a:lstStyle/>
          <a:p>
            <a:pPr algn="l"/>
            <a:r>
              <a:rPr sz="4000" b="1">
                <a:solidFill>
                  <a:srgbClr val="000000"/>
                </a:solidFill>
                <a:latin typeface="Oswald"/>
              </a:rPr>
              <a:t>ONE LAST THING…</a:t>
            </a:r>
          </a:p>
        </p:txBody>
      </p:sp>
      <p:sp>
        <p:nvSpPr>
          <p:cNvPr id="6" name="Rectangle 5"/>
          <p:cNvSpPr/>
          <p:nvPr/>
        </p:nvSpPr>
        <p:spPr>
          <a:xfrm>
            <a:off x="548640" y="1572768"/>
            <a:ext cx="11091672" cy="36576"/>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6400800"/>
            <a:ext cx="11091672" cy="10972"/>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6437376"/>
            <a:ext cx="8229600" cy="274320"/>
          </a:xfrm>
          <a:prstGeom prst="rect">
            <a:avLst/>
          </a:prstGeom>
          <a:noFill/>
        </p:spPr>
        <p:txBody>
          <a:bodyPr wrap="square" anchor="t" lIns="36576" rIns="36576" tIns="18288" bIns="18288">
            <a:spAutoFit/>
          </a:bodyPr>
          <a:lstStyle/>
          <a:p>
            <a:pPr algn="l"/>
            <a:r>
              <a:rPr sz="1000" b="0">
                <a:solidFill>
                  <a:srgbClr val="333333"/>
                </a:solidFill>
                <a:latin typeface="Source Sans 3"/>
              </a:rPr>
              <a:t>Stems &amp; Grooves · Intro deck · © 2026 Brian Lotze · Hudson Beat</a:t>
            </a:r>
          </a:p>
        </p:txBody>
      </p:sp>
      <p:sp>
        <p:nvSpPr>
          <p:cNvPr id="9" name="TextBox 8"/>
          <p:cNvSpPr txBox="1"/>
          <p:nvPr/>
        </p:nvSpPr>
        <p:spPr>
          <a:xfrm>
            <a:off x="10241280" y="6437376"/>
            <a:ext cx="1399032" cy="274320"/>
          </a:xfrm>
          <a:prstGeom prst="rect">
            <a:avLst/>
          </a:prstGeom>
          <a:noFill/>
        </p:spPr>
        <p:txBody>
          <a:bodyPr wrap="square" anchor="t" lIns="36576" rIns="36576" tIns="18288" bIns="18288">
            <a:spAutoFit/>
          </a:bodyPr>
          <a:lstStyle/>
          <a:p>
            <a:pPr algn="r"/>
            <a:r>
              <a:rPr sz="1000" b="1">
                <a:solidFill>
                  <a:srgbClr val="000000"/>
                </a:solidFill>
                <a:latin typeface="Oswald"/>
              </a:rPr>
              <a:t>22</a:t>
            </a:r>
          </a:p>
        </p:txBody>
      </p:sp>
      <p:sp>
        <p:nvSpPr>
          <p:cNvPr id="10" name="Oval 9"/>
          <p:cNvSpPr/>
          <p:nvPr/>
        </p:nvSpPr>
        <p:spPr>
          <a:xfrm>
            <a:off x="548640" y="205740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19202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listened first.</a:t>
            </a:r>
          </a:p>
        </p:txBody>
      </p:sp>
      <p:sp>
        <p:nvSpPr>
          <p:cNvPr id="12" name="Oval 11"/>
          <p:cNvSpPr/>
          <p:nvPr/>
        </p:nvSpPr>
        <p:spPr>
          <a:xfrm>
            <a:off x="548640" y="278130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26441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wrote drums that belong.</a:t>
            </a:r>
          </a:p>
        </p:txBody>
      </p:sp>
      <p:sp>
        <p:nvSpPr>
          <p:cNvPr id="14" name="Oval 13"/>
          <p:cNvSpPr/>
          <p:nvPr/>
        </p:nvSpPr>
        <p:spPr>
          <a:xfrm>
            <a:off x="548640" y="350520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6112" y="3368040"/>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announced every change.</a:t>
            </a:r>
          </a:p>
        </p:txBody>
      </p:sp>
      <p:sp>
        <p:nvSpPr>
          <p:cNvPr id="16" name="Oval 15"/>
          <p:cNvSpPr/>
          <p:nvPr/>
        </p:nvSpPr>
        <p:spPr>
          <a:xfrm>
            <a:off x="548640" y="4229100"/>
            <a:ext cx="146304" cy="146304"/>
          </a:xfrm>
          <a:prstGeom prst="ellipse">
            <a:avLst/>
          </a:prstGeom>
          <a:solidFill>
            <a:srgbClr val="1E8A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091939"/>
            <a:ext cx="5486400" cy="609600"/>
          </a:xfrm>
          <a:prstGeom prst="rect">
            <a:avLst/>
          </a:prstGeom>
          <a:noFill/>
        </p:spPr>
        <p:txBody>
          <a:bodyPr wrap="square" anchor="t" lIns="36576" rIns="36576" tIns="18288" bIns="18288">
            <a:spAutoFit/>
          </a:bodyPr>
          <a:lstStyle/>
          <a:p>
            <a:pPr algn="l"/>
            <a:r>
              <a:rPr sz="3000" b="0">
                <a:solidFill>
                  <a:srgbClr val="000000"/>
                </a:solidFill>
                <a:latin typeface="Source Sans 3"/>
              </a:rPr>
              <a:t>You mixed a song.</a:t>
            </a:r>
          </a:p>
        </p:txBody>
      </p:sp>
      <p:pic>
        <p:nvPicPr>
          <p:cNvPr id="18" name="Picture 17" descr="deck-hero.png"/>
          <p:cNvPicPr>
            <a:picLocks noChangeAspect="1"/>
          </p:cNvPicPr>
          <p:nvPr/>
        </p:nvPicPr>
        <p:blipFill>
          <a:blip r:embed="rId2"/>
          <a:stretch>
            <a:fillRect/>
          </a:stretch>
        </p:blipFill>
        <p:spPr>
          <a:xfrm>
            <a:off x="6702552" y="1965960"/>
            <a:ext cx="4937760" cy="239871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Stems &amp; Grooves · Intro deck</dc:title>
  <dc:subject/>
  <dc:creator>Brian Lotze · Hudson Beat</dc:creator>
  <cp:keywords/>
  <dc:description>Designed with the help of digital and AI tools, and checked by hand.</dc:description>
  <cp:lastModifiedBy>Steve Canny</cp:lastModifiedBy>
  <cp:revision>1</cp:revision>
  <dcterms:created xsi:type="dcterms:W3CDTF">2013-01-27T09:14:16Z</dcterms:created>
  <dcterms:modified xsi:type="dcterms:W3CDTF">2013-01-27T09:15:58Z</dcterms:modified>
  <cp:category/>
</cp:coreProperties>
</file>