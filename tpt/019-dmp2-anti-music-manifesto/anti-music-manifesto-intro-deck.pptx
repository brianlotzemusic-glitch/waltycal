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Class 1, the first minute. No audio is included in this deck. Open with my overview: break the rules on purpose and create an intentional piece of anti-music, a work that deliberately defies traditional structure, tonality or rhythm while still expressing a clear artistic concept. Then my line: this is not random noise, it is noise with a vision. Students make one 45 to 60 second piece in Logic and write a one-paragraph artist statement.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My teacher notes suggest a brief listening session of experimental music before starting. Choose one or two short passages yourself, preview them at a low volume, and find them on a service your school allows; say the title and the artist aloud if you like, and do not put them on the slide. Take answers aloud. The point is that the same sounds can feel planned or accidental, which sets up the idea that the difference between anti-music and random noise is intention.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My vocabulary term: anti-music is art that intentionally breaks traditional musical rules while maintaining artistic purpose; the slide shortens that definition. The last line is from my overview. Students write the term in their own words on the vocabulary page. Atonality, dissonance and deconstruction, the other terms on the sheet, come up as the rules get chosen.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shape of the project, from my pacing guide. Class 1: introduction, what anti-music means, brainstorm concepts. Class 2: gather sounds, begin building, write initial concept notes. Classes 3 to 5 are working days: build, shape, refine. Class 6: write the artist statement, final mix and bounce, prepare presentations. Class 7: presentations with Padlet Q and A peer feedback. Hand out the project sheet now.</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Requirement 2 is to intentionally break at least one major musical convention: structure, tonality, rhythm, and so on. The picture shows each one holding, then broken on purpose. Structure: the sections come in an expected order, and here the order is reversed. Tonality: a melody keeps returning to a home note, and here no note feels like home. Rhythm: a steady pulse, and here it falls apart. Rule cards for students who want a starting point are on the Rules page.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Steps 1 and 2 of the project sheet, shortened to fit the slide. Step 1: brainstorm what anti-music means to you, and decide what rule you are breaking and why. Step 2: record or create unconventional sound sources. The Concept sheet and the Sound log hold the thinking. Nobody opens a Logic session until the Concept sheet names a rule and a reason.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My first common struggle, shortened here: students make random noise and call it anti-music, so push them to define their concept before they start building. Require the specific rule and the reason. My third struggle: some students are uncomfortable making bad music on purpose, so frame it as artistic exploration, not failure. My tip 3 says it too: that might be the point.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Class 2. A sound source, here recorded or created, goes through transformation, effects and automation. Requirements 3 and 4 ask students to use Logic's effects and automation to distort or deconstruct sounds, and to record or create unconventional sound sources. My fourth struggle is students who just bang on a keyboard, so encourage effects, automation and sound manipulation.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2: record or create unconventional sound sources. These are suggestions from the kit, not mine: objects and rooms around the school, sounds students make in Logic, and everything named and noted in the Sound log so nothing gets lost. Remind students to get permission before recording other people, and to keep the headphone volume moderate, because distorted and noisy sounds can be much louder than they seem.</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live demo of about ten minutes, which is also the kit's own suggestion for Class 2, not one of my steps. Record a short sound, a drawer or a pen click, then reverse it, change its speed or pitch, add distortion or delay, and draw automation on one effect knob so the change happens over time. Save after each move and write what you did in the Sound log. Menu names are on the Logic quick reference; check the labels on your version.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Class 3 is the first working day, and Classes 4 and 5 continue it. Steps 3 and 4 of the project sheet, shortened here: use Logic to construct your piece and lean into effects, automation and distortion; even though you are breaking rules, the piece should feel intentional, not accidental. Students use the Build plan. Circulate and ask each student to play you the moment the rule breaks.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Class 4. An invented piece, Kitchen Table, described on paper; nothing here is audio. The rule is a steady pulse. Promise: ten drawer clicks, one a second. Break: the clicks speed up, stretch out and fall apart as the distortion rises. Hush: only a kettle hiss. Wrong return: the clicks come back, uneven. It is 50 seconds, inside my 45 to 60 second requirement. The full plan and a sample artist statement are on the worked example page.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check students can use on each other's work. These are the kit's own questions, drawn from my line that the difference between anti-music and random noise is intention. If a student cannot answer the first question, send them back to the Concept sheet. Class 5 is a full working day with no new slide.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Class 6. Step 5 of the project sheet, shortened to fit the slide: write your artist statement, explaining what you did and why. My second struggle is vague statements, so require the specific rule and the reasoning. Tip 4: the statement is just as important as the music, because it tells your audience what to listen for. Students plan it on the Statement planner.</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6 of the project sheet, shortened to fit the slide: mix, bounce, and prepare to present your concept to the class. A harsh sound can still be balanced against the others; levels are a choice. Zip the .logicx in Finder (Control-click, Compress). Students also write their three Padlet questions today.</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submission checklist from the project sheet, shortened to fit the slide. Show where students upload (your class page) and where the Padlet board is. Remind students that the artist statement is submitted as well as the music.</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My rubric: five categories, each scored 1 to 5, for a total out of 25. Students score themselves first; the final grade is the average of their score and mine. The slide reads the 5 column of each category aloud. Hand out the rubric page so students can self-score before they present.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Class 7, presentations with Padlet Q and A. Each student plays the piece and presents the concept, then during classmates' presentations every student answers at least 2 of their 3 questions on their Padlet post. Read the artist statement aloud or let students do it. My notes say this project sparks great class discussions; leave time for them.</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with what my teacher notes say this project does: it pushes creative boundaries and critical thinking about what music is, and it makes students articulate artistic intent, which strengthens their ability to talk about creative work. Reflection: point students to the Reflection page. A reflection is a written or oral conversation about how they did on the project and what they would do differently next time; they choose to write it or to talk it through with you.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384048"/>
            <a:ext cx="12191695" cy="457200"/>
          </a:xfrm>
          <a:prstGeom prst="rect">
            <a:avLst/>
          </a:prstGeom>
          <a:noFill/>
        </p:spPr>
        <p:txBody>
          <a:bodyPr wrap="square" anchor="t" lIns="36576" rIns="36576" tIns="18288" bIns="18288">
            <a:spAutoFit/>
          </a:bodyPr>
          <a:lstStyle/>
          <a:p>
            <a:pPr algn="ctr"/>
            <a:r>
              <a:rPr sz="1600" b="0" spc="800">
                <a:solidFill>
                  <a:srgbClr val="000000"/>
                </a:solidFill>
                <a:latin typeface="Oswald"/>
              </a:rPr>
              <a:t>HUDSON BEAT</a:t>
            </a:r>
          </a:p>
        </p:txBody>
      </p:sp>
      <p:pic>
        <p:nvPicPr>
          <p:cNvPr id="3" name="Picture 2" descr="deck-hero.png"/>
          <p:cNvPicPr>
            <a:picLocks noChangeAspect="1"/>
          </p:cNvPicPr>
          <p:nvPr/>
        </p:nvPicPr>
        <p:blipFill>
          <a:blip r:embed="rId2"/>
          <a:stretch>
            <a:fillRect/>
          </a:stretch>
        </p:blipFill>
        <p:spPr>
          <a:xfrm>
            <a:off x="3182318" y="896112"/>
            <a:ext cx="5827058" cy="2971800"/>
          </a:xfrm>
          <a:prstGeom prst="rect">
            <a:avLst/>
          </a:prstGeom>
        </p:spPr>
      </p:pic>
      <p:sp>
        <p:nvSpPr>
          <p:cNvPr id="4" name="TextBox 3"/>
          <p:cNvSpPr txBox="1"/>
          <p:nvPr/>
        </p:nvSpPr>
        <p:spPr>
          <a:xfrm>
            <a:off x="0" y="3931920"/>
            <a:ext cx="12191695" cy="1005840"/>
          </a:xfrm>
          <a:prstGeom prst="rect">
            <a:avLst/>
          </a:prstGeom>
          <a:noFill/>
        </p:spPr>
        <p:txBody>
          <a:bodyPr wrap="square" anchor="t" lIns="36576" rIns="36576" tIns="18288" bIns="18288">
            <a:spAutoFit/>
          </a:bodyPr>
          <a:lstStyle/>
          <a:p>
            <a:pPr algn="ctr"/>
            <a:r>
              <a:rPr sz="7200" b="1">
                <a:solidFill>
                  <a:srgbClr val="000000"/>
                </a:solidFill>
                <a:latin typeface="Oswald"/>
              </a:rPr>
              <a:t>ANTI-MUSIC MANIFESTO</a:t>
            </a:r>
          </a:p>
        </p:txBody>
      </p:sp>
      <p:sp>
        <p:nvSpPr>
          <p:cNvPr id="5" name="TextBox 4"/>
          <p:cNvSpPr txBox="1"/>
          <p:nvPr/>
        </p:nvSpPr>
        <p:spPr>
          <a:xfrm>
            <a:off x="0" y="5029200"/>
            <a:ext cx="12191695" cy="548640"/>
          </a:xfrm>
          <a:prstGeom prst="rect">
            <a:avLst/>
          </a:prstGeom>
          <a:noFill/>
        </p:spPr>
        <p:txBody>
          <a:bodyPr wrap="square" anchor="t" lIns="36576" rIns="36576" tIns="18288" bIns="18288">
            <a:spAutoFit/>
          </a:bodyPr>
          <a:lstStyle/>
          <a:p>
            <a:pPr algn="ctr"/>
            <a:r>
              <a:rPr sz="2800" b="0">
                <a:solidFill>
                  <a:srgbClr val="000000"/>
                </a:solidFill>
                <a:latin typeface="Oswald"/>
              </a:rPr>
              <a:t>Break the rules on purpose.</a:t>
            </a:r>
          </a:p>
        </p:txBody>
      </p:sp>
      <p:sp>
        <p:nvSpPr>
          <p:cNvPr id="6" name="Rectangle 5"/>
          <p:cNvSpPr/>
          <p:nvPr/>
        </p:nvSpPr>
        <p:spPr>
          <a:xfrm>
            <a:off x="0" y="5989320"/>
            <a:ext cx="12191695" cy="86868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0" y="6108192"/>
            <a:ext cx="12191695" cy="548640"/>
          </a:xfrm>
          <a:prstGeom prst="rect">
            <a:avLst/>
          </a:prstGeom>
          <a:noFill/>
        </p:spPr>
        <p:txBody>
          <a:bodyPr wrap="square" anchor="t" lIns="36576" rIns="36576" tIns="18288" bIns="18288">
            <a:spAutoFit/>
          </a:bodyPr>
          <a:lstStyle/>
          <a:p>
            <a:pPr algn="ctr"/>
            <a:r>
              <a:rPr sz="2000" b="0" spc="200">
                <a:solidFill>
                  <a:srgbClr val="FFFFFF"/>
                </a:solidFill>
                <a:latin typeface="Oswald"/>
              </a:rPr>
              <a:t>DIGITAL MUSIC PRODUCTION 2 · CLASS 1 · BREAK THE RULES ON PURPOSE IN LOGIC PRO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222992" y="274320"/>
            <a:ext cx="1417320" cy="384048"/>
          </a:xfrm>
          <a:prstGeom prst="roundRect">
            <a:avLst/>
          </a:prstGeom>
          <a:solidFill>
            <a:srgbClr val="7A1F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22992" y="274320"/>
            <a:ext cx="1417320" cy="384048"/>
          </a:xfrm>
          <a:prstGeom prst="rect">
            <a:avLst/>
          </a:prstGeom>
          <a:noFill/>
        </p:spPr>
        <p:txBody>
          <a:bodyPr wrap="square" anchor="ctr" lIns="36576" rIns="36576" tIns="18288" bIns="18288">
            <a:spAutoFit/>
          </a:bodyPr>
          <a:lstStyle/>
          <a:p>
            <a:pPr algn="ctr"/>
            <a:r>
              <a:rPr sz="1500" b="1">
                <a:solidFill>
                  <a:srgbClr val="FFFFFF"/>
                </a:solidFill>
                <a:latin typeface="Oswald"/>
              </a:rPr>
              <a:t>CLASS 1</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LISTEN: IS THIS MUSIC?</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Anti-Music Manifesto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2</a:t>
            </a:r>
          </a:p>
        </p:txBody>
      </p:sp>
      <p:sp>
        <p:nvSpPr>
          <p:cNvPr id="10" name="Rounded Rectangle 9"/>
          <p:cNvSpPr/>
          <p:nvPr/>
        </p:nvSpPr>
        <p:spPr>
          <a:xfrm>
            <a:off x="548640" y="1828800"/>
            <a:ext cx="11091672" cy="1828800"/>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1920240"/>
            <a:ext cx="10515600" cy="640080"/>
          </a:xfrm>
          <a:prstGeom prst="rect">
            <a:avLst/>
          </a:prstGeom>
          <a:noFill/>
        </p:spPr>
        <p:txBody>
          <a:bodyPr wrap="square" anchor="t" lIns="36576" rIns="36576" tIns="18288" bIns="18288">
            <a:spAutoFit/>
          </a:bodyPr>
          <a:lstStyle/>
          <a:p>
            <a:pPr algn="l"/>
            <a:r>
              <a:rPr sz="3600" b="1">
                <a:solidFill>
                  <a:srgbClr val="FFFFFF"/>
                </a:solidFill>
                <a:latin typeface="Oswald"/>
              </a:rPr>
              <a:t>IS IT MUSIC?</a:t>
            </a:r>
          </a:p>
        </p:txBody>
      </p:sp>
      <p:sp>
        <p:nvSpPr>
          <p:cNvPr id="12" name="TextBox 11"/>
          <p:cNvSpPr txBox="1"/>
          <p:nvPr/>
        </p:nvSpPr>
        <p:spPr>
          <a:xfrm>
            <a:off x="822960" y="2578608"/>
            <a:ext cx="10515600" cy="457200"/>
          </a:xfrm>
          <a:prstGeom prst="rect">
            <a:avLst/>
          </a:prstGeom>
          <a:noFill/>
        </p:spPr>
        <p:txBody>
          <a:bodyPr wrap="square" anchor="t" lIns="36576" rIns="36576" tIns="18288" bIns="18288">
            <a:spAutoFit/>
          </a:bodyPr>
          <a:lstStyle/>
          <a:p>
            <a:pPr algn="l"/>
            <a:r>
              <a:rPr sz="2400" b="0">
                <a:solidFill>
                  <a:srgbClr val="EBC9D5"/>
                </a:solidFill>
                <a:latin typeface="Oswald"/>
              </a:rPr>
              <a:t>Decide, then defend your answer</a:t>
            </a:r>
          </a:p>
        </p:txBody>
      </p:sp>
      <p:sp>
        <p:nvSpPr>
          <p:cNvPr id="13" name="TextBox 12"/>
          <p:cNvSpPr txBox="1"/>
          <p:nvPr/>
        </p:nvSpPr>
        <p:spPr>
          <a:xfrm>
            <a:off x="822960" y="3090672"/>
            <a:ext cx="10515600" cy="457200"/>
          </a:xfrm>
          <a:prstGeom prst="rect">
            <a:avLst/>
          </a:prstGeom>
          <a:noFill/>
        </p:spPr>
        <p:txBody>
          <a:bodyPr wrap="square" anchor="t" lIns="36576" rIns="36576" tIns="18288" bIns="18288">
            <a:spAutoFit/>
          </a:bodyPr>
          <a:lstStyle/>
          <a:p>
            <a:pPr algn="l"/>
            <a:r>
              <a:rPr sz="1800" b="0">
                <a:solidFill>
                  <a:srgbClr val="FFFFFF"/>
                </a:solidFill>
                <a:latin typeface="Source Sans 3"/>
              </a:rPr>
              <a:t>Teacher: play a short passage you choose, one that breaks a rule.</a:t>
            </a:r>
          </a:p>
        </p:txBody>
      </p:sp>
      <p:sp>
        <p:nvSpPr>
          <p:cNvPr id="14" name="Oval 13"/>
          <p:cNvSpPr/>
          <p:nvPr/>
        </p:nvSpPr>
        <p:spPr>
          <a:xfrm>
            <a:off x="548640" y="4069080"/>
            <a:ext cx="146304" cy="146304"/>
          </a:xfrm>
          <a:prstGeom prst="ellipse">
            <a:avLst/>
          </a:prstGeom>
          <a:solidFill>
            <a:srgbClr val="7A1F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6112" y="3931920"/>
            <a:ext cx="10698480" cy="609600"/>
          </a:xfrm>
          <a:prstGeom prst="rect">
            <a:avLst/>
          </a:prstGeom>
          <a:noFill/>
        </p:spPr>
        <p:txBody>
          <a:bodyPr wrap="square" anchor="t" lIns="36576" rIns="36576" tIns="18288" bIns="18288">
            <a:spAutoFit/>
          </a:bodyPr>
          <a:lstStyle/>
          <a:p>
            <a:pPr algn="l"/>
            <a:r>
              <a:rPr sz="3000" b="0">
                <a:solidFill>
                  <a:srgbClr val="000000"/>
                </a:solidFill>
                <a:latin typeface="Source Sans 3"/>
              </a:rPr>
              <a:t>What rule does it seem to break?</a:t>
            </a:r>
          </a:p>
        </p:txBody>
      </p:sp>
      <p:sp>
        <p:nvSpPr>
          <p:cNvPr id="16" name="Oval 15"/>
          <p:cNvSpPr/>
          <p:nvPr/>
        </p:nvSpPr>
        <p:spPr>
          <a:xfrm>
            <a:off x="548640" y="4678680"/>
            <a:ext cx="146304" cy="146304"/>
          </a:xfrm>
          <a:prstGeom prst="ellipse">
            <a:avLst/>
          </a:prstGeom>
          <a:solidFill>
            <a:srgbClr val="7A1F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6112" y="4541520"/>
            <a:ext cx="10698480" cy="609600"/>
          </a:xfrm>
          <a:prstGeom prst="rect">
            <a:avLst/>
          </a:prstGeom>
          <a:noFill/>
        </p:spPr>
        <p:txBody>
          <a:bodyPr wrap="square" anchor="t" lIns="36576" rIns="36576" tIns="18288" bIns="18288">
            <a:spAutoFit/>
          </a:bodyPr>
          <a:lstStyle/>
          <a:p>
            <a:pPr algn="l"/>
            <a:r>
              <a:rPr sz="3000" b="0">
                <a:solidFill>
                  <a:srgbClr val="000000"/>
                </a:solidFill>
                <a:latin typeface="Source Sans 3"/>
              </a:rPr>
              <a:t>Does it feel planned or accidental?</a:t>
            </a:r>
          </a:p>
        </p:txBody>
      </p:sp>
      <p:sp>
        <p:nvSpPr>
          <p:cNvPr id="18" name="Oval 17"/>
          <p:cNvSpPr/>
          <p:nvPr/>
        </p:nvSpPr>
        <p:spPr>
          <a:xfrm>
            <a:off x="548640" y="5288280"/>
            <a:ext cx="146304" cy="146304"/>
          </a:xfrm>
          <a:prstGeom prst="ellipse">
            <a:avLst/>
          </a:prstGeom>
          <a:solidFill>
            <a:srgbClr val="7A1F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96112" y="5151120"/>
            <a:ext cx="10698480" cy="609600"/>
          </a:xfrm>
          <a:prstGeom prst="rect">
            <a:avLst/>
          </a:prstGeom>
          <a:noFill/>
        </p:spPr>
        <p:txBody>
          <a:bodyPr wrap="square" anchor="t" lIns="36576" rIns="36576" tIns="18288" bIns="18288">
            <a:spAutoFit/>
          </a:bodyPr>
          <a:lstStyle/>
          <a:p>
            <a:pPr algn="l"/>
            <a:r>
              <a:rPr sz="3000" b="0">
                <a:solidFill>
                  <a:srgbClr val="000000"/>
                </a:solidFill>
                <a:latin typeface="Source Sans 3"/>
              </a:rPr>
              <a:t>Would you call it music?</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222992" y="274320"/>
            <a:ext cx="1417320" cy="384048"/>
          </a:xfrm>
          <a:prstGeom prst="roundRect">
            <a:avLst/>
          </a:prstGeom>
          <a:solidFill>
            <a:srgbClr val="7A1F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22992" y="274320"/>
            <a:ext cx="1417320" cy="384048"/>
          </a:xfrm>
          <a:prstGeom prst="rect">
            <a:avLst/>
          </a:prstGeom>
          <a:noFill/>
        </p:spPr>
        <p:txBody>
          <a:bodyPr wrap="square" anchor="ctr" lIns="36576" rIns="36576" tIns="18288" bIns="18288">
            <a:spAutoFit/>
          </a:bodyPr>
          <a:lstStyle/>
          <a:p>
            <a:pPr algn="ctr"/>
            <a:r>
              <a:rPr sz="1500" b="1">
                <a:solidFill>
                  <a:srgbClr val="FFFFFF"/>
                </a:solidFill>
                <a:latin typeface="Oswald"/>
              </a:rPr>
              <a:t>CLASS 1</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WHAT IS ANTI-MUSIC?</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Anti-Music Manifesto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3</a:t>
            </a:r>
          </a:p>
        </p:txBody>
      </p:sp>
      <p:sp>
        <p:nvSpPr>
          <p:cNvPr id="10" name="Oval 9"/>
          <p:cNvSpPr/>
          <p:nvPr/>
        </p:nvSpPr>
        <p:spPr>
          <a:xfrm>
            <a:off x="548640" y="2167128"/>
            <a:ext cx="146304" cy="146304"/>
          </a:xfrm>
          <a:prstGeom prst="ellipse">
            <a:avLst/>
          </a:prstGeom>
          <a:solidFill>
            <a:srgbClr val="7A1F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 y="201168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Art that breaks the rules on purpose</a:t>
            </a:r>
          </a:p>
        </p:txBody>
      </p:sp>
      <p:sp>
        <p:nvSpPr>
          <p:cNvPr id="12" name="Oval 11"/>
          <p:cNvSpPr/>
          <p:nvPr/>
        </p:nvSpPr>
        <p:spPr>
          <a:xfrm>
            <a:off x="548640" y="3117088"/>
            <a:ext cx="146304" cy="146304"/>
          </a:xfrm>
          <a:prstGeom prst="ellipse">
            <a:avLst/>
          </a:prstGeom>
          <a:solidFill>
            <a:srgbClr val="7A1F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96112" y="296164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It keeps an artistic purpose</a:t>
            </a:r>
          </a:p>
        </p:txBody>
      </p:sp>
      <p:sp>
        <p:nvSpPr>
          <p:cNvPr id="14" name="Oval 13"/>
          <p:cNvSpPr/>
          <p:nvPr/>
        </p:nvSpPr>
        <p:spPr>
          <a:xfrm>
            <a:off x="548640" y="4067048"/>
            <a:ext cx="146304" cy="146304"/>
          </a:xfrm>
          <a:prstGeom prst="ellipse">
            <a:avLst/>
          </a:prstGeom>
          <a:solidFill>
            <a:srgbClr val="7A1F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6112" y="391160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Not random noise</a:t>
            </a:r>
          </a:p>
        </p:txBody>
      </p:sp>
      <p:sp>
        <p:nvSpPr>
          <p:cNvPr id="16" name="Oval 15"/>
          <p:cNvSpPr/>
          <p:nvPr/>
        </p:nvSpPr>
        <p:spPr>
          <a:xfrm>
            <a:off x="548640" y="5017008"/>
            <a:ext cx="146304" cy="146304"/>
          </a:xfrm>
          <a:prstGeom prst="ellipse">
            <a:avLst/>
          </a:prstGeom>
          <a:solidFill>
            <a:srgbClr val="7A1F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6112" y="486156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Noise with a vision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222992" y="274320"/>
            <a:ext cx="1417320" cy="384048"/>
          </a:xfrm>
          <a:prstGeom prst="roundRect">
            <a:avLst/>
          </a:prstGeom>
          <a:solidFill>
            <a:srgbClr val="7A1F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22992" y="274320"/>
            <a:ext cx="1417320" cy="384048"/>
          </a:xfrm>
          <a:prstGeom prst="rect">
            <a:avLst/>
          </a:prstGeom>
          <a:noFill/>
        </p:spPr>
        <p:txBody>
          <a:bodyPr wrap="square" anchor="ctr" lIns="36576" rIns="36576" tIns="18288" bIns="18288">
            <a:spAutoFit/>
          </a:bodyPr>
          <a:lstStyle/>
          <a:p>
            <a:pPr algn="ctr"/>
            <a:r>
              <a:rPr sz="1500" b="1">
                <a:solidFill>
                  <a:srgbClr val="FFFFFF"/>
                </a:solidFill>
                <a:latin typeface="Oswald"/>
              </a:rPr>
              <a:t>CLASS 1</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SEVEN CLASSES</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Anti-Music Manifesto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4</a:t>
            </a:r>
          </a:p>
        </p:txBody>
      </p:sp>
      <p:sp>
        <p:nvSpPr>
          <p:cNvPr id="10" name="Rounded Rectangle 9"/>
          <p:cNvSpPr/>
          <p:nvPr/>
        </p:nvSpPr>
        <p:spPr>
          <a:xfrm>
            <a:off x="548640" y="1810512"/>
            <a:ext cx="1554480" cy="523820"/>
          </a:xfrm>
          <a:prstGeom prst="roundRect">
            <a:avLst/>
          </a:prstGeom>
          <a:solidFill>
            <a:srgbClr val="7A1F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810512"/>
            <a:ext cx="1554480" cy="523820"/>
          </a:xfrm>
          <a:prstGeom prst="rect">
            <a:avLst/>
          </a:prstGeom>
          <a:noFill/>
        </p:spPr>
        <p:txBody>
          <a:bodyPr wrap="square" anchor="ctr" lIns="36576" rIns="36576" tIns="18288" bIns="18288">
            <a:spAutoFit/>
          </a:bodyPr>
          <a:lstStyle/>
          <a:p>
            <a:pPr algn="ctr"/>
            <a:r>
              <a:rPr sz="2200" b="1">
                <a:solidFill>
                  <a:srgbClr val="FFFFFF"/>
                </a:solidFill>
                <a:latin typeface="Oswald"/>
              </a:rPr>
              <a:t>CLASS 1</a:t>
            </a:r>
          </a:p>
        </p:txBody>
      </p:sp>
      <p:sp>
        <p:nvSpPr>
          <p:cNvPr id="12" name="TextBox 11"/>
          <p:cNvSpPr txBox="1"/>
          <p:nvPr/>
        </p:nvSpPr>
        <p:spPr>
          <a:xfrm>
            <a:off x="2286000" y="1810512"/>
            <a:ext cx="9326880" cy="523820"/>
          </a:xfrm>
          <a:prstGeom prst="rect">
            <a:avLst/>
          </a:prstGeom>
          <a:noFill/>
        </p:spPr>
        <p:txBody>
          <a:bodyPr wrap="square" anchor="ctr" lIns="36576" rIns="36576" tIns="18288" bIns="18288">
            <a:spAutoFit/>
          </a:bodyPr>
          <a:lstStyle/>
          <a:p>
            <a:pPr algn="l"/>
            <a:r>
              <a:rPr sz="2200" b="0">
                <a:solidFill>
                  <a:srgbClr val="000000"/>
                </a:solidFill>
                <a:latin typeface="Source Sans 3"/>
              </a:rPr>
              <a:t>Is this music? · what is anti-music? · pick a rule to break</a:t>
            </a:r>
          </a:p>
        </p:txBody>
      </p:sp>
      <p:sp>
        <p:nvSpPr>
          <p:cNvPr id="13" name="Rounded Rectangle 12"/>
          <p:cNvSpPr/>
          <p:nvPr/>
        </p:nvSpPr>
        <p:spPr>
          <a:xfrm>
            <a:off x="548640" y="2444060"/>
            <a:ext cx="1554480" cy="523820"/>
          </a:xfrm>
          <a:prstGeom prst="roundRect">
            <a:avLst/>
          </a:prstGeom>
          <a:solidFill>
            <a:srgbClr val="7A1F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2444060"/>
            <a:ext cx="1554480" cy="523820"/>
          </a:xfrm>
          <a:prstGeom prst="rect">
            <a:avLst/>
          </a:prstGeom>
          <a:noFill/>
        </p:spPr>
        <p:txBody>
          <a:bodyPr wrap="square" anchor="ctr" lIns="36576" rIns="36576" tIns="18288" bIns="18288">
            <a:spAutoFit/>
          </a:bodyPr>
          <a:lstStyle/>
          <a:p>
            <a:pPr algn="ctr"/>
            <a:r>
              <a:rPr sz="2200" b="1">
                <a:solidFill>
                  <a:srgbClr val="FFFFFF"/>
                </a:solidFill>
                <a:latin typeface="Oswald"/>
              </a:rPr>
              <a:t>CLASS 2</a:t>
            </a:r>
          </a:p>
        </p:txBody>
      </p:sp>
      <p:sp>
        <p:nvSpPr>
          <p:cNvPr id="15" name="TextBox 14"/>
          <p:cNvSpPr txBox="1"/>
          <p:nvPr/>
        </p:nvSpPr>
        <p:spPr>
          <a:xfrm>
            <a:off x="2286000" y="2444060"/>
            <a:ext cx="9326880" cy="523820"/>
          </a:xfrm>
          <a:prstGeom prst="rect">
            <a:avLst/>
          </a:prstGeom>
          <a:noFill/>
        </p:spPr>
        <p:txBody>
          <a:bodyPr wrap="square" anchor="ctr" lIns="36576" rIns="36576" tIns="18288" bIns="18288">
            <a:spAutoFit/>
          </a:bodyPr>
          <a:lstStyle/>
          <a:p>
            <a:pPr algn="l"/>
            <a:r>
              <a:rPr sz="2200" b="0">
                <a:solidFill>
                  <a:srgbClr val="000000"/>
                </a:solidFill>
                <a:latin typeface="Source Sans 3"/>
              </a:rPr>
              <a:t>Source · transform · effects · automation · demo</a:t>
            </a:r>
          </a:p>
        </p:txBody>
      </p:sp>
      <p:sp>
        <p:nvSpPr>
          <p:cNvPr id="16" name="Rounded Rectangle 15"/>
          <p:cNvSpPr/>
          <p:nvPr/>
        </p:nvSpPr>
        <p:spPr>
          <a:xfrm>
            <a:off x="548640" y="3077609"/>
            <a:ext cx="1554480" cy="523820"/>
          </a:xfrm>
          <a:prstGeom prst="roundRect">
            <a:avLst/>
          </a:prstGeom>
          <a:solidFill>
            <a:srgbClr val="7A1F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 y="3077609"/>
            <a:ext cx="1554480" cy="523820"/>
          </a:xfrm>
          <a:prstGeom prst="rect">
            <a:avLst/>
          </a:prstGeom>
          <a:noFill/>
        </p:spPr>
        <p:txBody>
          <a:bodyPr wrap="square" anchor="ctr" lIns="36576" rIns="36576" tIns="18288" bIns="18288">
            <a:spAutoFit/>
          </a:bodyPr>
          <a:lstStyle/>
          <a:p>
            <a:pPr algn="ctr"/>
            <a:r>
              <a:rPr sz="2200" b="1">
                <a:solidFill>
                  <a:srgbClr val="FFFFFF"/>
                </a:solidFill>
                <a:latin typeface="Oswald"/>
              </a:rPr>
              <a:t>CLASS 3</a:t>
            </a:r>
          </a:p>
        </p:txBody>
      </p:sp>
      <p:sp>
        <p:nvSpPr>
          <p:cNvPr id="18" name="TextBox 17"/>
          <p:cNvSpPr txBox="1"/>
          <p:nvPr/>
        </p:nvSpPr>
        <p:spPr>
          <a:xfrm>
            <a:off x="2286000" y="3077609"/>
            <a:ext cx="9326880" cy="523820"/>
          </a:xfrm>
          <a:prstGeom prst="rect">
            <a:avLst/>
          </a:prstGeom>
          <a:noFill/>
        </p:spPr>
        <p:txBody>
          <a:bodyPr wrap="square" anchor="ctr" lIns="36576" rIns="36576" tIns="18288" bIns="18288">
            <a:spAutoFit/>
          </a:bodyPr>
          <a:lstStyle/>
          <a:p>
            <a:pPr algn="l"/>
            <a:r>
              <a:rPr sz="2200" b="0">
                <a:solidFill>
                  <a:srgbClr val="000000"/>
                </a:solidFill>
                <a:latin typeface="Source Sans 3"/>
              </a:rPr>
              <a:t>Working day: build and shape</a:t>
            </a:r>
          </a:p>
        </p:txBody>
      </p:sp>
      <p:sp>
        <p:nvSpPr>
          <p:cNvPr id="19" name="Rounded Rectangle 18"/>
          <p:cNvSpPr/>
          <p:nvPr/>
        </p:nvSpPr>
        <p:spPr>
          <a:xfrm>
            <a:off x="548640" y="3711157"/>
            <a:ext cx="1554480" cy="523820"/>
          </a:xfrm>
          <a:prstGeom prst="roundRect">
            <a:avLst/>
          </a:prstGeom>
          <a:solidFill>
            <a:srgbClr val="7A1F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8640" y="3711157"/>
            <a:ext cx="1554480" cy="523820"/>
          </a:xfrm>
          <a:prstGeom prst="rect">
            <a:avLst/>
          </a:prstGeom>
          <a:noFill/>
        </p:spPr>
        <p:txBody>
          <a:bodyPr wrap="square" anchor="ctr" lIns="36576" rIns="36576" tIns="18288" bIns="18288">
            <a:spAutoFit/>
          </a:bodyPr>
          <a:lstStyle/>
          <a:p>
            <a:pPr algn="ctr"/>
            <a:r>
              <a:rPr sz="2200" b="1">
                <a:solidFill>
                  <a:srgbClr val="FFFFFF"/>
                </a:solidFill>
                <a:latin typeface="Oswald"/>
              </a:rPr>
              <a:t>CLASS 4</a:t>
            </a:r>
          </a:p>
        </p:txBody>
      </p:sp>
      <p:sp>
        <p:nvSpPr>
          <p:cNvPr id="21" name="TextBox 20"/>
          <p:cNvSpPr txBox="1"/>
          <p:nvPr/>
        </p:nvSpPr>
        <p:spPr>
          <a:xfrm>
            <a:off x="2286000" y="3711157"/>
            <a:ext cx="9326880" cy="523820"/>
          </a:xfrm>
          <a:prstGeom prst="rect">
            <a:avLst/>
          </a:prstGeom>
          <a:noFill/>
        </p:spPr>
        <p:txBody>
          <a:bodyPr wrap="square" anchor="ctr" lIns="36576" rIns="36576" tIns="18288" bIns="18288">
            <a:spAutoFit/>
          </a:bodyPr>
          <a:lstStyle/>
          <a:p>
            <a:pPr algn="l"/>
            <a:r>
              <a:rPr sz="2200" b="0">
                <a:solidFill>
                  <a:srgbClr val="000000"/>
                </a:solidFill>
                <a:latin typeface="Source Sans 3"/>
              </a:rPr>
              <a:t>Working day: the worked example, is it on purpose?</a:t>
            </a:r>
          </a:p>
        </p:txBody>
      </p:sp>
      <p:sp>
        <p:nvSpPr>
          <p:cNvPr id="22" name="Rounded Rectangle 21"/>
          <p:cNvSpPr/>
          <p:nvPr/>
        </p:nvSpPr>
        <p:spPr>
          <a:xfrm>
            <a:off x="548640" y="4344706"/>
            <a:ext cx="1554480" cy="523820"/>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48640" y="4344706"/>
            <a:ext cx="1554480" cy="523820"/>
          </a:xfrm>
          <a:prstGeom prst="rect">
            <a:avLst/>
          </a:prstGeom>
          <a:noFill/>
        </p:spPr>
        <p:txBody>
          <a:bodyPr wrap="square" anchor="ctr" lIns="36576" rIns="36576" tIns="18288" bIns="18288">
            <a:spAutoFit/>
          </a:bodyPr>
          <a:lstStyle/>
          <a:p>
            <a:pPr algn="ctr"/>
            <a:r>
              <a:rPr sz="2200" b="1">
                <a:solidFill>
                  <a:srgbClr val="FFFFFF"/>
                </a:solidFill>
                <a:latin typeface="Oswald"/>
              </a:rPr>
              <a:t>CLASS 5</a:t>
            </a:r>
          </a:p>
        </p:txBody>
      </p:sp>
      <p:sp>
        <p:nvSpPr>
          <p:cNvPr id="24" name="TextBox 23"/>
          <p:cNvSpPr txBox="1"/>
          <p:nvPr/>
        </p:nvSpPr>
        <p:spPr>
          <a:xfrm>
            <a:off x="2286000" y="4344706"/>
            <a:ext cx="9326880" cy="523820"/>
          </a:xfrm>
          <a:prstGeom prst="rect">
            <a:avLst/>
          </a:prstGeom>
          <a:noFill/>
        </p:spPr>
        <p:txBody>
          <a:bodyPr wrap="square" anchor="ctr" lIns="36576" rIns="36576" tIns="18288" bIns="18288">
            <a:spAutoFit/>
          </a:bodyPr>
          <a:lstStyle/>
          <a:p>
            <a:pPr algn="l"/>
            <a:r>
              <a:rPr sz="2200" b="0">
                <a:solidFill>
                  <a:srgbClr val="000000"/>
                </a:solidFill>
                <a:latin typeface="Source Sans 3"/>
              </a:rPr>
              <a:t>Working day: refine</a:t>
            </a:r>
          </a:p>
        </p:txBody>
      </p:sp>
      <p:sp>
        <p:nvSpPr>
          <p:cNvPr id="25" name="Rounded Rectangle 24"/>
          <p:cNvSpPr/>
          <p:nvPr/>
        </p:nvSpPr>
        <p:spPr>
          <a:xfrm>
            <a:off x="548640" y="4978254"/>
            <a:ext cx="1554480" cy="523820"/>
          </a:xfrm>
          <a:prstGeom prst="roundRect">
            <a:avLst/>
          </a:prstGeom>
          <a:solidFill>
            <a:srgbClr val="7A1F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48640" y="4978254"/>
            <a:ext cx="1554480" cy="523820"/>
          </a:xfrm>
          <a:prstGeom prst="rect">
            <a:avLst/>
          </a:prstGeom>
          <a:noFill/>
        </p:spPr>
        <p:txBody>
          <a:bodyPr wrap="square" anchor="ctr" lIns="36576" rIns="36576" tIns="18288" bIns="18288">
            <a:spAutoFit/>
          </a:bodyPr>
          <a:lstStyle/>
          <a:p>
            <a:pPr algn="ctr"/>
            <a:r>
              <a:rPr sz="2200" b="1">
                <a:solidFill>
                  <a:srgbClr val="FFFFFF"/>
                </a:solidFill>
                <a:latin typeface="Oswald"/>
              </a:rPr>
              <a:t>CLASS 6</a:t>
            </a:r>
          </a:p>
        </p:txBody>
      </p:sp>
      <p:sp>
        <p:nvSpPr>
          <p:cNvPr id="27" name="TextBox 26"/>
          <p:cNvSpPr txBox="1"/>
          <p:nvPr/>
        </p:nvSpPr>
        <p:spPr>
          <a:xfrm>
            <a:off x="2286000" y="4978254"/>
            <a:ext cx="9326880" cy="523820"/>
          </a:xfrm>
          <a:prstGeom prst="rect">
            <a:avLst/>
          </a:prstGeom>
          <a:noFill/>
        </p:spPr>
        <p:txBody>
          <a:bodyPr wrap="square" anchor="ctr" lIns="36576" rIns="36576" tIns="18288" bIns="18288">
            <a:spAutoFit/>
          </a:bodyPr>
          <a:lstStyle/>
          <a:p>
            <a:pPr algn="l"/>
            <a:r>
              <a:rPr sz="2200" b="0">
                <a:solidFill>
                  <a:srgbClr val="000000"/>
                </a:solidFill>
                <a:latin typeface="Source Sans 3"/>
              </a:rPr>
              <a:t>Artist statement · mix · bounce · checklist · rubric</a:t>
            </a:r>
          </a:p>
        </p:txBody>
      </p:sp>
      <p:sp>
        <p:nvSpPr>
          <p:cNvPr id="28" name="Rounded Rectangle 27"/>
          <p:cNvSpPr/>
          <p:nvPr/>
        </p:nvSpPr>
        <p:spPr>
          <a:xfrm>
            <a:off x="548640" y="5611803"/>
            <a:ext cx="1554480" cy="523820"/>
          </a:xfrm>
          <a:prstGeom prst="roundRect">
            <a:avLst/>
          </a:prstGeom>
          <a:solidFill>
            <a:srgbClr val="7A1F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48640" y="5611803"/>
            <a:ext cx="1554480" cy="523820"/>
          </a:xfrm>
          <a:prstGeom prst="rect">
            <a:avLst/>
          </a:prstGeom>
          <a:noFill/>
        </p:spPr>
        <p:txBody>
          <a:bodyPr wrap="square" anchor="ctr" lIns="36576" rIns="36576" tIns="18288" bIns="18288">
            <a:spAutoFit/>
          </a:bodyPr>
          <a:lstStyle/>
          <a:p>
            <a:pPr algn="ctr"/>
            <a:r>
              <a:rPr sz="2200" b="1">
                <a:solidFill>
                  <a:srgbClr val="FFFFFF"/>
                </a:solidFill>
                <a:latin typeface="Oswald"/>
              </a:rPr>
              <a:t>CLASS 7</a:t>
            </a:r>
          </a:p>
        </p:txBody>
      </p:sp>
      <p:sp>
        <p:nvSpPr>
          <p:cNvPr id="30" name="TextBox 29"/>
          <p:cNvSpPr txBox="1"/>
          <p:nvPr/>
        </p:nvSpPr>
        <p:spPr>
          <a:xfrm>
            <a:off x="2286000" y="5611803"/>
            <a:ext cx="9326880" cy="523820"/>
          </a:xfrm>
          <a:prstGeom prst="rect">
            <a:avLst/>
          </a:prstGeom>
          <a:noFill/>
        </p:spPr>
        <p:txBody>
          <a:bodyPr wrap="square" anchor="ctr" lIns="36576" rIns="36576" tIns="18288" bIns="18288">
            <a:spAutoFit/>
          </a:bodyPr>
          <a:lstStyle/>
          <a:p>
            <a:pPr algn="l"/>
            <a:r>
              <a:rPr sz="2200" b="0">
                <a:solidFill>
                  <a:srgbClr val="000000"/>
                </a:solidFill>
                <a:latin typeface="Source Sans 3"/>
              </a:rPr>
              <a:t>Presentations with Padlet Q&amp;A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222992" y="274320"/>
            <a:ext cx="1417320" cy="384048"/>
          </a:xfrm>
          <a:prstGeom prst="roundRect">
            <a:avLst/>
          </a:prstGeom>
          <a:solidFill>
            <a:srgbClr val="7A1F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22992" y="274320"/>
            <a:ext cx="1417320" cy="384048"/>
          </a:xfrm>
          <a:prstGeom prst="rect">
            <a:avLst/>
          </a:prstGeom>
          <a:noFill/>
        </p:spPr>
        <p:txBody>
          <a:bodyPr wrap="square" anchor="ctr" lIns="36576" rIns="36576" tIns="18288" bIns="18288">
            <a:spAutoFit/>
          </a:bodyPr>
          <a:lstStyle/>
          <a:p>
            <a:pPr algn="ctr"/>
            <a:r>
              <a:rPr sz="1500" b="1">
                <a:solidFill>
                  <a:srgbClr val="FFFFFF"/>
                </a:solidFill>
                <a:latin typeface="Oswald"/>
              </a:rPr>
              <a:t>CLASS 1</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PICK A RULE TO BREAK</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Anti-Music Manifesto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5</a:t>
            </a:r>
          </a:p>
        </p:txBody>
      </p:sp>
      <p:pic>
        <p:nvPicPr>
          <p:cNvPr id="10" name="Picture 9" descr="deck-rules.png"/>
          <p:cNvPicPr>
            <a:picLocks noChangeAspect="1"/>
          </p:cNvPicPr>
          <p:nvPr/>
        </p:nvPicPr>
        <p:blipFill>
          <a:blip r:embed="rId2"/>
          <a:stretch>
            <a:fillRect/>
          </a:stretch>
        </p:blipFill>
        <p:spPr>
          <a:xfrm>
            <a:off x="548640" y="1810512"/>
            <a:ext cx="11091672" cy="2562176"/>
          </a:xfrm>
          <a:prstGeom prst="rect">
            <a:avLst/>
          </a:prstGeom>
        </p:spPr>
      </p:pic>
      <p:sp>
        <p:nvSpPr>
          <p:cNvPr id="11" name="Oval 10"/>
          <p:cNvSpPr/>
          <p:nvPr/>
        </p:nvSpPr>
        <p:spPr>
          <a:xfrm>
            <a:off x="548640" y="4956048"/>
            <a:ext cx="146304" cy="146304"/>
          </a:xfrm>
          <a:prstGeom prst="ellipse">
            <a:avLst/>
          </a:prstGeom>
          <a:solidFill>
            <a:srgbClr val="7A1F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1247" y="4846320"/>
            <a:ext cx="5212080" cy="548640"/>
          </a:xfrm>
          <a:prstGeom prst="rect">
            <a:avLst/>
          </a:prstGeom>
          <a:noFill/>
        </p:spPr>
        <p:txBody>
          <a:bodyPr wrap="square" anchor="t" lIns="36576" rIns="36576" tIns="18288" bIns="18288">
            <a:spAutoFit/>
          </a:bodyPr>
          <a:lstStyle/>
          <a:p>
            <a:pPr algn="l"/>
            <a:r>
              <a:rPr sz="2200" b="0">
                <a:solidFill>
                  <a:srgbClr val="000000"/>
                </a:solidFill>
                <a:latin typeface="Source Sans 3"/>
              </a:rPr>
              <a:t>Pick one rule, or more</a:t>
            </a:r>
          </a:p>
        </p:txBody>
      </p:sp>
      <p:sp>
        <p:nvSpPr>
          <p:cNvPr id="13" name="Oval 12"/>
          <p:cNvSpPr/>
          <p:nvPr/>
        </p:nvSpPr>
        <p:spPr>
          <a:xfrm>
            <a:off x="6190488" y="4956048"/>
            <a:ext cx="146304" cy="146304"/>
          </a:xfrm>
          <a:prstGeom prst="ellipse">
            <a:avLst/>
          </a:prstGeom>
          <a:solidFill>
            <a:srgbClr val="7A1F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3096" y="4846320"/>
            <a:ext cx="5212080" cy="548640"/>
          </a:xfrm>
          <a:prstGeom prst="rect">
            <a:avLst/>
          </a:prstGeom>
          <a:noFill/>
        </p:spPr>
        <p:txBody>
          <a:bodyPr wrap="square" anchor="t" lIns="36576" rIns="36576" tIns="18288" bIns="18288">
            <a:spAutoFit/>
          </a:bodyPr>
          <a:lstStyle/>
          <a:p>
            <a:pPr algn="l"/>
            <a:r>
              <a:rPr sz="2200" b="0">
                <a:solidFill>
                  <a:srgbClr val="000000"/>
                </a:solidFill>
                <a:latin typeface="Source Sans 3"/>
              </a:rPr>
              <a:t>Structure, tonality or rhythm</a:t>
            </a:r>
          </a:p>
        </p:txBody>
      </p:sp>
      <p:sp>
        <p:nvSpPr>
          <p:cNvPr id="15" name="Oval 14"/>
          <p:cNvSpPr/>
          <p:nvPr/>
        </p:nvSpPr>
        <p:spPr>
          <a:xfrm>
            <a:off x="548640" y="5641848"/>
            <a:ext cx="146304" cy="146304"/>
          </a:xfrm>
          <a:prstGeom prst="ellipse">
            <a:avLst/>
          </a:prstGeom>
          <a:solidFill>
            <a:srgbClr val="7A1F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1247" y="5532120"/>
            <a:ext cx="5212080" cy="548640"/>
          </a:xfrm>
          <a:prstGeom prst="rect">
            <a:avLst/>
          </a:prstGeom>
          <a:noFill/>
        </p:spPr>
        <p:txBody>
          <a:bodyPr wrap="square" anchor="t" lIns="36576" rIns="36576" tIns="18288" bIns="18288">
            <a:spAutoFit/>
          </a:bodyPr>
          <a:lstStyle/>
          <a:p>
            <a:pPr algn="l"/>
            <a:r>
              <a:rPr sz="2200" b="0">
                <a:solidFill>
                  <a:srgbClr val="000000"/>
                </a:solidFill>
                <a:latin typeface="Source Sans 3"/>
              </a:rPr>
              <a:t>Know why you are breaking it</a:t>
            </a:r>
          </a:p>
        </p:txBody>
      </p:sp>
      <p:sp>
        <p:nvSpPr>
          <p:cNvPr id="17" name="Oval 16"/>
          <p:cNvSpPr/>
          <p:nvPr/>
        </p:nvSpPr>
        <p:spPr>
          <a:xfrm>
            <a:off x="6190488" y="5641848"/>
            <a:ext cx="146304" cy="146304"/>
          </a:xfrm>
          <a:prstGeom prst="ellipse">
            <a:avLst/>
          </a:prstGeom>
          <a:solidFill>
            <a:srgbClr val="7A1F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3096" y="5532120"/>
            <a:ext cx="5212080" cy="548640"/>
          </a:xfrm>
          <a:prstGeom prst="rect">
            <a:avLst/>
          </a:prstGeom>
          <a:noFill/>
        </p:spPr>
        <p:txBody>
          <a:bodyPr wrap="square" anchor="t" lIns="36576" rIns="36576" tIns="18288" bIns="18288">
            <a:spAutoFit/>
          </a:bodyPr>
          <a:lstStyle/>
          <a:p>
            <a:pPr algn="l"/>
            <a:r>
              <a:rPr sz="2200" b="0">
                <a:solidFill>
                  <a:srgbClr val="000000"/>
                </a:solidFill>
                <a:latin typeface="Source Sans 3"/>
              </a:rPr>
              <a:t>Break it on purpose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222992" y="274320"/>
            <a:ext cx="1417320" cy="384048"/>
          </a:xfrm>
          <a:prstGeom prst="roundRect">
            <a:avLst/>
          </a:prstGeom>
          <a:solidFill>
            <a:srgbClr val="7A1F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22992" y="274320"/>
            <a:ext cx="1417320" cy="384048"/>
          </a:xfrm>
          <a:prstGeom prst="rect">
            <a:avLst/>
          </a:prstGeom>
          <a:noFill/>
        </p:spPr>
        <p:txBody>
          <a:bodyPr wrap="square" anchor="ctr" lIns="36576" rIns="36576" tIns="18288" bIns="18288">
            <a:spAutoFit/>
          </a:bodyPr>
          <a:lstStyle/>
          <a:p>
            <a:pPr algn="ctr"/>
            <a:r>
              <a:rPr sz="1500" b="1">
                <a:solidFill>
                  <a:srgbClr val="FFFFFF"/>
                </a:solidFill>
                <a:latin typeface="Oswald"/>
              </a:rPr>
              <a:t>CLASS 1</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STEPS 1 AND 2: CONCEPT, SOUNDS</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Anti-Music Manifesto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6</a:t>
            </a:r>
          </a:p>
        </p:txBody>
      </p:sp>
      <p:sp>
        <p:nvSpPr>
          <p:cNvPr id="10" name="Oval 9"/>
          <p:cNvSpPr/>
          <p:nvPr/>
        </p:nvSpPr>
        <p:spPr>
          <a:xfrm>
            <a:off x="548640" y="1920239"/>
            <a:ext cx="566928" cy="566928"/>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920239"/>
            <a:ext cx="566928" cy="566928"/>
          </a:xfrm>
          <a:prstGeom prst="rect">
            <a:avLst/>
          </a:prstGeom>
          <a:noFill/>
        </p:spPr>
        <p:txBody>
          <a:bodyPr wrap="square" anchor="ctr" lIns="36576" rIns="36576" tIns="18288" bIns="18288">
            <a:spAutoFit/>
          </a:bodyPr>
          <a:lstStyle/>
          <a:p>
            <a:pPr algn="ctr"/>
            <a:r>
              <a:rPr sz="2400" b="1">
                <a:solidFill>
                  <a:srgbClr val="FFFFFF"/>
                </a:solidFill>
                <a:latin typeface="Oswald"/>
              </a:rPr>
              <a:t>1</a:t>
            </a:r>
          </a:p>
        </p:txBody>
      </p:sp>
      <p:sp>
        <p:nvSpPr>
          <p:cNvPr id="12" name="TextBox 11"/>
          <p:cNvSpPr txBox="1"/>
          <p:nvPr/>
        </p:nvSpPr>
        <p:spPr>
          <a:xfrm>
            <a:off x="1325880" y="1828799"/>
            <a:ext cx="10241280" cy="749808"/>
          </a:xfrm>
          <a:prstGeom prst="rect">
            <a:avLst/>
          </a:prstGeom>
          <a:noFill/>
        </p:spPr>
        <p:txBody>
          <a:bodyPr wrap="square" anchor="ctr" lIns="36576" rIns="36576" tIns="18288" bIns="18288">
            <a:spAutoFit/>
          </a:bodyPr>
          <a:lstStyle/>
          <a:p>
            <a:pPr algn="l"/>
            <a:r>
              <a:rPr sz="2800" b="0">
                <a:solidFill>
                  <a:srgbClr val="000000"/>
                </a:solidFill>
                <a:latin typeface="Source Sans 3"/>
              </a:rPr>
              <a:t>Define your concept</a:t>
            </a:r>
          </a:p>
        </p:txBody>
      </p:sp>
      <p:sp>
        <p:nvSpPr>
          <p:cNvPr id="13" name="Oval 12"/>
          <p:cNvSpPr/>
          <p:nvPr/>
        </p:nvSpPr>
        <p:spPr>
          <a:xfrm>
            <a:off x="548640" y="2788920"/>
            <a:ext cx="566928" cy="566928"/>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2788920"/>
            <a:ext cx="566928" cy="566928"/>
          </a:xfrm>
          <a:prstGeom prst="rect">
            <a:avLst/>
          </a:prstGeom>
          <a:noFill/>
        </p:spPr>
        <p:txBody>
          <a:bodyPr wrap="square" anchor="ctr" lIns="36576" rIns="36576" tIns="18288" bIns="18288">
            <a:spAutoFit/>
          </a:bodyPr>
          <a:lstStyle/>
          <a:p>
            <a:pPr algn="ctr"/>
            <a:r>
              <a:rPr sz="2400" b="1">
                <a:solidFill>
                  <a:srgbClr val="FFFFFF"/>
                </a:solidFill>
                <a:latin typeface="Oswald"/>
              </a:rPr>
              <a:t>2</a:t>
            </a:r>
          </a:p>
        </p:txBody>
      </p:sp>
      <p:sp>
        <p:nvSpPr>
          <p:cNvPr id="15" name="TextBox 14"/>
          <p:cNvSpPr txBox="1"/>
          <p:nvPr/>
        </p:nvSpPr>
        <p:spPr>
          <a:xfrm>
            <a:off x="1325880" y="2697480"/>
            <a:ext cx="10241280" cy="749808"/>
          </a:xfrm>
          <a:prstGeom prst="rect">
            <a:avLst/>
          </a:prstGeom>
          <a:noFill/>
        </p:spPr>
        <p:txBody>
          <a:bodyPr wrap="square" anchor="ctr" lIns="36576" rIns="36576" tIns="18288" bIns="18288">
            <a:spAutoFit/>
          </a:bodyPr>
          <a:lstStyle/>
          <a:p>
            <a:pPr algn="l"/>
            <a:r>
              <a:rPr sz="2800" b="0">
                <a:solidFill>
                  <a:srgbClr val="000000"/>
                </a:solidFill>
                <a:latin typeface="Source Sans 3"/>
              </a:rPr>
              <a:t>What rule are you breaking, and why?</a:t>
            </a:r>
          </a:p>
        </p:txBody>
      </p:sp>
      <p:sp>
        <p:nvSpPr>
          <p:cNvPr id="16" name="Oval 15"/>
          <p:cNvSpPr/>
          <p:nvPr/>
        </p:nvSpPr>
        <p:spPr>
          <a:xfrm>
            <a:off x="548640" y="3657599"/>
            <a:ext cx="566928" cy="566928"/>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 y="3657599"/>
            <a:ext cx="566928" cy="566928"/>
          </a:xfrm>
          <a:prstGeom prst="rect">
            <a:avLst/>
          </a:prstGeom>
          <a:noFill/>
        </p:spPr>
        <p:txBody>
          <a:bodyPr wrap="square" anchor="ctr" lIns="36576" rIns="36576" tIns="18288" bIns="18288">
            <a:spAutoFit/>
          </a:bodyPr>
          <a:lstStyle/>
          <a:p>
            <a:pPr algn="ctr"/>
            <a:r>
              <a:rPr sz="2400" b="1">
                <a:solidFill>
                  <a:srgbClr val="FFFFFF"/>
                </a:solidFill>
                <a:latin typeface="Oswald"/>
              </a:rPr>
              <a:t>3</a:t>
            </a:r>
          </a:p>
        </p:txBody>
      </p:sp>
      <p:sp>
        <p:nvSpPr>
          <p:cNvPr id="18" name="TextBox 17"/>
          <p:cNvSpPr txBox="1"/>
          <p:nvPr/>
        </p:nvSpPr>
        <p:spPr>
          <a:xfrm>
            <a:off x="1325880" y="3566160"/>
            <a:ext cx="10241280" cy="749808"/>
          </a:xfrm>
          <a:prstGeom prst="rect">
            <a:avLst/>
          </a:prstGeom>
          <a:noFill/>
        </p:spPr>
        <p:txBody>
          <a:bodyPr wrap="square" anchor="ctr" lIns="36576" rIns="36576" tIns="18288" bIns="18288">
            <a:spAutoFit/>
          </a:bodyPr>
          <a:lstStyle/>
          <a:p>
            <a:pPr algn="l"/>
            <a:r>
              <a:rPr sz="2800" b="0">
                <a:solidFill>
                  <a:srgbClr val="000000"/>
                </a:solidFill>
                <a:latin typeface="Source Sans 3"/>
              </a:rPr>
              <a:t>Record or create unconventional sounds</a:t>
            </a:r>
          </a:p>
        </p:txBody>
      </p:sp>
      <p:sp>
        <p:nvSpPr>
          <p:cNvPr id="19" name="Oval 18"/>
          <p:cNvSpPr/>
          <p:nvPr/>
        </p:nvSpPr>
        <p:spPr>
          <a:xfrm>
            <a:off x="548640" y="4526279"/>
            <a:ext cx="566928" cy="566928"/>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8640" y="4526279"/>
            <a:ext cx="566928" cy="566928"/>
          </a:xfrm>
          <a:prstGeom prst="rect">
            <a:avLst/>
          </a:prstGeom>
          <a:noFill/>
        </p:spPr>
        <p:txBody>
          <a:bodyPr wrap="square" anchor="ctr" lIns="36576" rIns="36576" tIns="18288" bIns="18288">
            <a:spAutoFit/>
          </a:bodyPr>
          <a:lstStyle/>
          <a:p>
            <a:pPr algn="ctr"/>
            <a:r>
              <a:rPr sz="2400" b="1">
                <a:solidFill>
                  <a:srgbClr val="FFFFFF"/>
                </a:solidFill>
                <a:latin typeface="Oswald"/>
              </a:rPr>
              <a:t>4</a:t>
            </a:r>
          </a:p>
        </p:txBody>
      </p:sp>
      <p:sp>
        <p:nvSpPr>
          <p:cNvPr id="21" name="TextBox 20"/>
          <p:cNvSpPr txBox="1"/>
          <p:nvPr/>
        </p:nvSpPr>
        <p:spPr>
          <a:xfrm>
            <a:off x="1325880" y="4434840"/>
            <a:ext cx="10241280" cy="749808"/>
          </a:xfrm>
          <a:prstGeom prst="rect">
            <a:avLst/>
          </a:prstGeom>
          <a:noFill/>
        </p:spPr>
        <p:txBody>
          <a:bodyPr wrap="square" anchor="ctr" lIns="36576" rIns="36576" tIns="18288" bIns="18288">
            <a:spAutoFit/>
          </a:bodyPr>
          <a:lstStyle/>
          <a:p>
            <a:pPr algn="l"/>
            <a:r>
              <a:rPr sz="2800" b="0">
                <a:solidFill>
                  <a:srgbClr val="000000"/>
                </a:solidFill>
                <a:latin typeface="Source Sans 3"/>
              </a:rPr>
              <a:t>Fill in the Concept sheet</a:t>
            </a:r>
          </a:p>
        </p:txBody>
      </p:sp>
      <p:sp>
        <p:nvSpPr>
          <p:cNvPr id="22" name="Oval 21"/>
          <p:cNvSpPr/>
          <p:nvPr/>
        </p:nvSpPr>
        <p:spPr>
          <a:xfrm>
            <a:off x="548640" y="5394959"/>
            <a:ext cx="566928" cy="566928"/>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48640" y="5394959"/>
            <a:ext cx="566928" cy="566928"/>
          </a:xfrm>
          <a:prstGeom prst="rect">
            <a:avLst/>
          </a:prstGeom>
          <a:noFill/>
        </p:spPr>
        <p:txBody>
          <a:bodyPr wrap="square" anchor="ctr" lIns="36576" rIns="36576" tIns="18288" bIns="18288">
            <a:spAutoFit/>
          </a:bodyPr>
          <a:lstStyle/>
          <a:p>
            <a:pPr algn="ctr"/>
            <a:r>
              <a:rPr sz="2400" b="1">
                <a:solidFill>
                  <a:srgbClr val="FFFFFF"/>
                </a:solidFill>
                <a:latin typeface="Oswald"/>
              </a:rPr>
              <a:t>5</a:t>
            </a:r>
          </a:p>
        </p:txBody>
      </p:sp>
      <p:sp>
        <p:nvSpPr>
          <p:cNvPr id="24" name="TextBox 23"/>
          <p:cNvSpPr txBox="1"/>
          <p:nvPr/>
        </p:nvSpPr>
        <p:spPr>
          <a:xfrm>
            <a:off x="1325880" y="5303520"/>
            <a:ext cx="10241280" cy="749808"/>
          </a:xfrm>
          <a:prstGeom prst="rect">
            <a:avLst/>
          </a:prstGeom>
          <a:noFill/>
        </p:spPr>
        <p:txBody>
          <a:bodyPr wrap="square" anchor="ctr" lIns="36576" rIns="36576" tIns="18288" bIns="18288">
            <a:spAutoFit/>
          </a:bodyPr>
          <a:lstStyle/>
          <a:p>
            <a:pPr algn="l"/>
            <a:r>
              <a:rPr sz="2800" b="0">
                <a:solidFill>
                  <a:srgbClr val="000000"/>
                </a:solidFill>
                <a:latin typeface="Source Sans 3"/>
              </a:rPr>
              <a:t>Keep a Sound log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222992" y="274320"/>
            <a:ext cx="1417320" cy="384048"/>
          </a:xfrm>
          <a:prstGeom prst="roundRect">
            <a:avLst/>
          </a:prstGeom>
          <a:solidFill>
            <a:srgbClr val="7A1F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22992" y="274320"/>
            <a:ext cx="1417320" cy="384048"/>
          </a:xfrm>
          <a:prstGeom prst="rect">
            <a:avLst/>
          </a:prstGeom>
          <a:noFill/>
        </p:spPr>
        <p:txBody>
          <a:bodyPr wrap="square" anchor="ctr" lIns="36576" rIns="36576" tIns="18288" bIns="18288">
            <a:spAutoFit/>
          </a:bodyPr>
          <a:lstStyle/>
          <a:p>
            <a:pPr algn="ctr"/>
            <a:r>
              <a:rPr sz="1500" b="1">
                <a:solidFill>
                  <a:srgbClr val="FFFFFF"/>
                </a:solidFill>
                <a:latin typeface="Oswald"/>
              </a:rPr>
              <a:t>CLASS 1</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INTENTION, NOT ACCIDENT</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Anti-Music Manifesto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7</a:t>
            </a:r>
          </a:p>
        </p:txBody>
      </p:sp>
      <p:sp>
        <p:nvSpPr>
          <p:cNvPr id="10" name="Oval 9"/>
          <p:cNvSpPr/>
          <p:nvPr/>
        </p:nvSpPr>
        <p:spPr>
          <a:xfrm>
            <a:off x="548640" y="2167128"/>
            <a:ext cx="146304" cy="146304"/>
          </a:xfrm>
          <a:prstGeom prst="ellipse">
            <a:avLst/>
          </a:prstGeom>
          <a:solidFill>
            <a:srgbClr val="7A1F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 y="201168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Define your concept before you build</a:t>
            </a:r>
          </a:p>
        </p:txBody>
      </p:sp>
      <p:sp>
        <p:nvSpPr>
          <p:cNvPr id="12" name="Oval 11"/>
          <p:cNvSpPr/>
          <p:nvPr/>
        </p:nvSpPr>
        <p:spPr>
          <a:xfrm>
            <a:off x="548640" y="3117088"/>
            <a:ext cx="146304" cy="146304"/>
          </a:xfrm>
          <a:prstGeom prst="ellipse">
            <a:avLst/>
          </a:prstGeom>
          <a:solidFill>
            <a:srgbClr val="7A1F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96112" y="296164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Name the specific rule you break</a:t>
            </a:r>
          </a:p>
        </p:txBody>
      </p:sp>
      <p:sp>
        <p:nvSpPr>
          <p:cNvPr id="14" name="Oval 13"/>
          <p:cNvSpPr/>
          <p:nvPr/>
        </p:nvSpPr>
        <p:spPr>
          <a:xfrm>
            <a:off x="548640" y="4067048"/>
            <a:ext cx="146304" cy="146304"/>
          </a:xfrm>
          <a:prstGeom prst="ellipse">
            <a:avLst/>
          </a:prstGeom>
          <a:solidFill>
            <a:srgbClr val="7A1F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6112" y="391160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Know why you are breaking it</a:t>
            </a:r>
          </a:p>
        </p:txBody>
      </p:sp>
      <p:sp>
        <p:nvSpPr>
          <p:cNvPr id="16" name="Oval 15"/>
          <p:cNvSpPr/>
          <p:nvPr/>
        </p:nvSpPr>
        <p:spPr>
          <a:xfrm>
            <a:off x="548640" y="5017008"/>
            <a:ext cx="146304" cy="146304"/>
          </a:xfrm>
          <a:prstGeom prst="ellipse">
            <a:avLst/>
          </a:prstGeom>
          <a:solidFill>
            <a:srgbClr val="7A1F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6112" y="486156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Uncomfortable is allowed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222992" y="274320"/>
            <a:ext cx="1417320" cy="384048"/>
          </a:xfrm>
          <a:prstGeom prst="roundRect">
            <a:avLst/>
          </a:prstGeom>
          <a:solidFill>
            <a:srgbClr val="7A1F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22992" y="274320"/>
            <a:ext cx="1417320" cy="384048"/>
          </a:xfrm>
          <a:prstGeom prst="rect">
            <a:avLst/>
          </a:prstGeom>
          <a:noFill/>
        </p:spPr>
        <p:txBody>
          <a:bodyPr wrap="square" anchor="ctr" lIns="36576" rIns="36576" tIns="18288" bIns="18288">
            <a:spAutoFit/>
          </a:bodyPr>
          <a:lstStyle/>
          <a:p>
            <a:pPr algn="ctr"/>
            <a:r>
              <a:rPr sz="1500" b="1">
                <a:solidFill>
                  <a:srgbClr val="FFFFFF"/>
                </a:solidFill>
                <a:latin typeface="Oswald"/>
              </a:rPr>
              <a:t>CLASS 2</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THE SOUND CHAIN</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Anti-Music Manifesto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8</a:t>
            </a:r>
          </a:p>
        </p:txBody>
      </p:sp>
      <p:pic>
        <p:nvPicPr>
          <p:cNvPr id="10" name="Picture 9" descr="deck-chain.png"/>
          <p:cNvPicPr>
            <a:picLocks noChangeAspect="1"/>
          </p:cNvPicPr>
          <p:nvPr/>
        </p:nvPicPr>
        <p:blipFill>
          <a:blip r:embed="rId2"/>
          <a:stretch>
            <a:fillRect/>
          </a:stretch>
        </p:blipFill>
        <p:spPr>
          <a:xfrm>
            <a:off x="548640" y="1810512"/>
            <a:ext cx="11091672" cy="1830126"/>
          </a:xfrm>
          <a:prstGeom prst="rect">
            <a:avLst/>
          </a:prstGeom>
        </p:spPr>
      </p:pic>
      <p:sp>
        <p:nvSpPr>
          <p:cNvPr id="11" name="Oval 10"/>
          <p:cNvSpPr/>
          <p:nvPr/>
        </p:nvSpPr>
        <p:spPr>
          <a:xfrm>
            <a:off x="548640" y="4956048"/>
            <a:ext cx="146304" cy="146304"/>
          </a:xfrm>
          <a:prstGeom prst="ellipse">
            <a:avLst/>
          </a:prstGeom>
          <a:solidFill>
            <a:srgbClr val="7A1F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1247" y="4846320"/>
            <a:ext cx="5212080" cy="548640"/>
          </a:xfrm>
          <a:prstGeom prst="rect">
            <a:avLst/>
          </a:prstGeom>
          <a:noFill/>
        </p:spPr>
        <p:txBody>
          <a:bodyPr wrap="square" anchor="t" lIns="36576" rIns="36576" tIns="18288" bIns="18288">
            <a:spAutoFit/>
          </a:bodyPr>
          <a:lstStyle/>
          <a:p>
            <a:pPr algn="l"/>
            <a:r>
              <a:rPr sz="2200" b="0">
                <a:solidFill>
                  <a:srgbClr val="000000"/>
                </a:solidFill>
                <a:latin typeface="Source Sans 3"/>
              </a:rPr>
              <a:t>Record or create a sound</a:t>
            </a:r>
          </a:p>
        </p:txBody>
      </p:sp>
      <p:sp>
        <p:nvSpPr>
          <p:cNvPr id="13" name="Oval 12"/>
          <p:cNvSpPr/>
          <p:nvPr/>
        </p:nvSpPr>
        <p:spPr>
          <a:xfrm>
            <a:off x="6190488" y="4956048"/>
            <a:ext cx="146304" cy="146304"/>
          </a:xfrm>
          <a:prstGeom prst="ellipse">
            <a:avLst/>
          </a:prstGeom>
          <a:solidFill>
            <a:srgbClr val="7A1F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3096" y="4846320"/>
            <a:ext cx="5212080" cy="548640"/>
          </a:xfrm>
          <a:prstGeom prst="rect">
            <a:avLst/>
          </a:prstGeom>
          <a:noFill/>
        </p:spPr>
        <p:txBody>
          <a:bodyPr wrap="square" anchor="t" lIns="36576" rIns="36576" tIns="18288" bIns="18288">
            <a:spAutoFit/>
          </a:bodyPr>
          <a:lstStyle/>
          <a:p>
            <a:pPr algn="l"/>
            <a:r>
              <a:rPr sz="2200" b="0">
                <a:solidFill>
                  <a:srgbClr val="000000"/>
                </a:solidFill>
                <a:latin typeface="Source Sans 3"/>
              </a:rPr>
              <a:t>Transform it until it is strange</a:t>
            </a:r>
          </a:p>
        </p:txBody>
      </p:sp>
      <p:sp>
        <p:nvSpPr>
          <p:cNvPr id="15" name="Oval 14"/>
          <p:cNvSpPr/>
          <p:nvPr/>
        </p:nvSpPr>
        <p:spPr>
          <a:xfrm>
            <a:off x="548640" y="5641848"/>
            <a:ext cx="146304" cy="146304"/>
          </a:xfrm>
          <a:prstGeom prst="ellipse">
            <a:avLst/>
          </a:prstGeom>
          <a:solidFill>
            <a:srgbClr val="7A1F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1247" y="5532120"/>
            <a:ext cx="5212080" cy="548640"/>
          </a:xfrm>
          <a:prstGeom prst="rect">
            <a:avLst/>
          </a:prstGeom>
          <a:noFill/>
        </p:spPr>
        <p:txBody>
          <a:bodyPr wrap="square" anchor="t" lIns="36576" rIns="36576" tIns="18288" bIns="18288">
            <a:spAutoFit/>
          </a:bodyPr>
          <a:lstStyle/>
          <a:p>
            <a:pPr algn="l"/>
            <a:r>
              <a:rPr sz="2200" b="0">
                <a:solidFill>
                  <a:srgbClr val="000000"/>
                </a:solidFill>
                <a:latin typeface="Source Sans 3"/>
              </a:rPr>
              <a:t>Distort and deconstruct with effects</a:t>
            </a:r>
          </a:p>
        </p:txBody>
      </p:sp>
      <p:sp>
        <p:nvSpPr>
          <p:cNvPr id="17" name="Oval 16"/>
          <p:cNvSpPr/>
          <p:nvPr/>
        </p:nvSpPr>
        <p:spPr>
          <a:xfrm>
            <a:off x="6190488" y="5641848"/>
            <a:ext cx="146304" cy="146304"/>
          </a:xfrm>
          <a:prstGeom prst="ellipse">
            <a:avLst/>
          </a:prstGeom>
          <a:solidFill>
            <a:srgbClr val="7A1F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3096" y="5532120"/>
            <a:ext cx="5212080" cy="548640"/>
          </a:xfrm>
          <a:prstGeom prst="rect">
            <a:avLst/>
          </a:prstGeom>
          <a:noFill/>
        </p:spPr>
        <p:txBody>
          <a:bodyPr wrap="square" anchor="t" lIns="36576" rIns="36576" tIns="18288" bIns="18288">
            <a:spAutoFit/>
          </a:bodyPr>
          <a:lstStyle/>
          <a:p>
            <a:pPr algn="l"/>
            <a:r>
              <a:rPr sz="2200" b="0">
                <a:solidFill>
                  <a:srgbClr val="000000"/>
                </a:solidFill>
                <a:latin typeface="Source Sans 3"/>
              </a:rPr>
              <a:t>Automate so it keeps changing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222992" y="274320"/>
            <a:ext cx="1417320" cy="384048"/>
          </a:xfrm>
          <a:prstGeom prst="roundRect">
            <a:avLst/>
          </a:prstGeom>
          <a:solidFill>
            <a:srgbClr val="7A1F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22992" y="274320"/>
            <a:ext cx="1417320" cy="384048"/>
          </a:xfrm>
          <a:prstGeom prst="rect">
            <a:avLst/>
          </a:prstGeom>
          <a:noFill/>
        </p:spPr>
        <p:txBody>
          <a:bodyPr wrap="square" anchor="ctr" lIns="36576" rIns="36576" tIns="18288" bIns="18288">
            <a:spAutoFit/>
          </a:bodyPr>
          <a:lstStyle/>
          <a:p>
            <a:pPr algn="ctr"/>
            <a:r>
              <a:rPr sz="1500" b="1">
                <a:solidFill>
                  <a:srgbClr val="FFFFFF"/>
                </a:solidFill>
                <a:latin typeface="Oswald"/>
              </a:rPr>
              <a:t>CLASS 2</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GATHER UNUSUAL SOUNDS</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Anti-Music Manifesto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9</a:t>
            </a:r>
          </a:p>
        </p:txBody>
      </p:sp>
      <p:sp>
        <p:nvSpPr>
          <p:cNvPr id="10" name="Oval 9"/>
          <p:cNvSpPr/>
          <p:nvPr/>
        </p:nvSpPr>
        <p:spPr>
          <a:xfrm>
            <a:off x="548640" y="2167128"/>
            <a:ext cx="146304" cy="146304"/>
          </a:xfrm>
          <a:prstGeom prst="ellipse">
            <a:avLst/>
          </a:prstGeom>
          <a:solidFill>
            <a:srgbClr val="7A1F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 y="201168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Record everyday objects and spaces</a:t>
            </a:r>
          </a:p>
        </p:txBody>
      </p:sp>
      <p:sp>
        <p:nvSpPr>
          <p:cNvPr id="12" name="Oval 11"/>
          <p:cNvSpPr/>
          <p:nvPr/>
        </p:nvSpPr>
        <p:spPr>
          <a:xfrm>
            <a:off x="548640" y="3117088"/>
            <a:ext cx="146304" cy="146304"/>
          </a:xfrm>
          <a:prstGeom prst="ellipse">
            <a:avLst/>
          </a:prstGeom>
          <a:solidFill>
            <a:srgbClr val="7A1F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96112" y="296164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Create sounds inside Logic</a:t>
            </a:r>
          </a:p>
        </p:txBody>
      </p:sp>
      <p:sp>
        <p:nvSpPr>
          <p:cNvPr id="14" name="Oval 13"/>
          <p:cNvSpPr/>
          <p:nvPr/>
        </p:nvSpPr>
        <p:spPr>
          <a:xfrm>
            <a:off x="548640" y="4067048"/>
            <a:ext cx="146304" cy="146304"/>
          </a:xfrm>
          <a:prstGeom prst="ellipse">
            <a:avLst/>
          </a:prstGeom>
          <a:solidFill>
            <a:srgbClr val="7A1F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6112" y="391160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Keep every file, name it, log it</a:t>
            </a:r>
          </a:p>
        </p:txBody>
      </p:sp>
      <p:sp>
        <p:nvSpPr>
          <p:cNvPr id="16" name="Oval 15"/>
          <p:cNvSpPr/>
          <p:nvPr/>
        </p:nvSpPr>
        <p:spPr>
          <a:xfrm>
            <a:off x="548640" y="5017008"/>
            <a:ext cx="146304" cy="146304"/>
          </a:xfrm>
          <a:prstGeom prst="ellipse">
            <a:avLst/>
          </a:prstGeom>
          <a:solidFill>
            <a:srgbClr val="7A1F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6112" y="486156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Keep recordings school-appropriate and kind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222992" y="274320"/>
            <a:ext cx="1417320" cy="384048"/>
          </a:xfrm>
          <a:prstGeom prst="roundRect">
            <a:avLst/>
          </a:prstGeom>
          <a:solidFill>
            <a:srgbClr val="7A1F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22992" y="274320"/>
            <a:ext cx="1417320" cy="384048"/>
          </a:xfrm>
          <a:prstGeom prst="rect">
            <a:avLst/>
          </a:prstGeom>
          <a:noFill/>
        </p:spPr>
        <p:txBody>
          <a:bodyPr wrap="square" anchor="ctr" lIns="36576" rIns="36576" tIns="18288" bIns="18288">
            <a:spAutoFit/>
          </a:bodyPr>
          <a:lstStyle/>
          <a:p>
            <a:pPr algn="ctr"/>
            <a:r>
              <a:rPr sz="1500" b="1">
                <a:solidFill>
                  <a:srgbClr val="FFFFFF"/>
                </a:solidFill>
                <a:latin typeface="Oswald"/>
              </a:rPr>
              <a:t>CLASS 2</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WATCH ME: TURN A SOUND INSIDE OUT</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Anti-Music Manifesto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10</a:t>
            </a:r>
          </a:p>
        </p:txBody>
      </p:sp>
      <p:sp>
        <p:nvSpPr>
          <p:cNvPr id="10" name="Oval 9"/>
          <p:cNvSpPr/>
          <p:nvPr/>
        </p:nvSpPr>
        <p:spPr>
          <a:xfrm>
            <a:off x="548640" y="1920239"/>
            <a:ext cx="566928" cy="566928"/>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920239"/>
            <a:ext cx="566928" cy="566928"/>
          </a:xfrm>
          <a:prstGeom prst="rect">
            <a:avLst/>
          </a:prstGeom>
          <a:noFill/>
        </p:spPr>
        <p:txBody>
          <a:bodyPr wrap="square" anchor="ctr" lIns="36576" rIns="36576" tIns="18288" bIns="18288">
            <a:spAutoFit/>
          </a:bodyPr>
          <a:lstStyle/>
          <a:p>
            <a:pPr algn="ctr"/>
            <a:r>
              <a:rPr sz="2400" b="1">
                <a:solidFill>
                  <a:srgbClr val="FFFFFF"/>
                </a:solidFill>
                <a:latin typeface="Oswald"/>
              </a:rPr>
              <a:t>1</a:t>
            </a:r>
          </a:p>
        </p:txBody>
      </p:sp>
      <p:sp>
        <p:nvSpPr>
          <p:cNvPr id="12" name="TextBox 11"/>
          <p:cNvSpPr txBox="1"/>
          <p:nvPr/>
        </p:nvSpPr>
        <p:spPr>
          <a:xfrm>
            <a:off x="1325880" y="1828799"/>
            <a:ext cx="10241280" cy="749808"/>
          </a:xfrm>
          <a:prstGeom prst="rect">
            <a:avLst/>
          </a:prstGeom>
          <a:noFill/>
        </p:spPr>
        <p:txBody>
          <a:bodyPr wrap="square" anchor="ctr" lIns="36576" rIns="36576" tIns="18288" bIns="18288">
            <a:spAutoFit/>
          </a:bodyPr>
          <a:lstStyle/>
          <a:p>
            <a:pPr algn="l"/>
            <a:r>
              <a:rPr sz="2800" b="0">
                <a:solidFill>
                  <a:srgbClr val="000000"/>
                </a:solidFill>
                <a:latin typeface="Source Sans 3"/>
              </a:rPr>
              <a:t>Record one short everyday sound</a:t>
            </a:r>
          </a:p>
        </p:txBody>
      </p:sp>
      <p:sp>
        <p:nvSpPr>
          <p:cNvPr id="13" name="Oval 12"/>
          <p:cNvSpPr/>
          <p:nvPr/>
        </p:nvSpPr>
        <p:spPr>
          <a:xfrm>
            <a:off x="548640" y="2788920"/>
            <a:ext cx="566928" cy="566928"/>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2788920"/>
            <a:ext cx="566928" cy="566928"/>
          </a:xfrm>
          <a:prstGeom prst="rect">
            <a:avLst/>
          </a:prstGeom>
          <a:noFill/>
        </p:spPr>
        <p:txBody>
          <a:bodyPr wrap="square" anchor="ctr" lIns="36576" rIns="36576" tIns="18288" bIns="18288">
            <a:spAutoFit/>
          </a:bodyPr>
          <a:lstStyle/>
          <a:p>
            <a:pPr algn="ctr"/>
            <a:r>
              <a:rPr sz="2400" b="1">
                <a:solidFill>
                  <a:srgbClr val="FFFFFF"/>
                </a:solidFill>
                <a:latin typeface="Oswald"/>
              </a:rPr>
              <a:t>2</a:t>
            </a:r>
          </a:p>
        </p:txBody>
      </p:sp>
      <p:sp>
        <p:nvSpPr>
          <p:cNvPr id="15" name="TextBox 14"/>
          <p:cNvSpPr txBox="1"/>
          <p:nvPr/>
        </p:nvSpPr>
        <p:spPr>
          <a:xfrm>
            <a:off x="1325880" y="2697480"/>
            <a:ext cx="10241280" cy="749808"/>
          </a:xfrm>
          <a:prstGeom prst="rect">
            <a:avLst/>
          </a:prstGeom>
          <a:noFill/>
        </p:spPr>
        <p:txBody>
          <a:bodyPr wrap="square" anchor="ctr" lIns="36576" rIns="36576" tIns="18288" bIns="18288">
            <a:spAutoFit/>
          </a:bodyPr>
          <a:lstStyle/>
          <a:p>
            <a:pPr algn="l"/>
            <a:r>
              <a:rPr sz="2800" b="0">
                <a:solidFill>
                  <a:srgbClr val="000000"/>
                </a:solidFill>
                <a:latin typeface="Source Sans 3"/>
              </a:rPr>
              <a:t>Reverse it or change its speed and pitch</a:t>
            </a:r>
          </a:p>
        </p:txBody>
      </p:sp>
      <p:sp>
        <p:nvSpPr>
          <p:cNvPr id="16" name="Oval 15"/>
          <p:cNvSpPr/>
          <p:nvPr/>
        </p:nvSpPr>
        <p:spPr>
          <a:xfrm>
            <a:off x="548640" y="3657599"/>
            <a:ext cx="566928" cy="566928"/>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 y="3657599"/>
            <a:ext cx="566928" cy="566928"/>
          </a:xfrm>
          <a:prstGeom prst="rect">
            <a:avLst/>
          </a:prstGeom>
          <a:noFill/>
        </p:spPr>
        <p:txBody>
          <a:bodyPr wrap="square" anchor="ctr" lIns="36576" rIns="36576" tIns="18288" bIns="18288">
            <a:spAutoFit/>
          </a:bodyPr>
          <a:lstStyle/>
          <a:p>
            <a:pPr algn="ctr"/>
            <a:r>
              <a:rPr sz="2400" b="1">
                <a:solidFill>
                  <a:srgbClr val="FFFFFF"/>
                </a:solidFill>
                <a:latin typeface="Oswald"/>
              </a:rPr>
              <a:t>3</a:t>
            </a:r>
          </a:p>
        </p:txBody>
      </p:sp>
      <p:sp>
        <p:nvSpPr>
          <p:cNvPr id="18" name="TextBox 17"/>
          <p:cNvSpPr txBox="1"/>
          <p:nvPr/>
        </p:nvSpPr>
        <p:spPr>
          <a:xfrm>
            <a:off x="1325880" y="3566160"/>
            <a:ext cx="10241280" cy="749808"/>
          </a:xfrm>
          <a:prstGeom prst="rect">
            <a:avLst/>
          </a:prstGeom>
          <a:noFill/>
        </p:spPr>
        <p:txBody>
          <a:bodyPr wrap="square" anchor="ctr" lIns="36576" rIns="36576" tIns="18288" bIns="18288">
            <a:spAutoFit/>
          </a:bodyPr>
          <a:lstStyle/>
          <a:p>
            <a:pPr algn="l"/>
            <a:r>
              <a:rPr sz="2800" b="0">
                <a:solidFill>
                  <a:srgbClr val="000000"/>
                </a:solidFill>
                <a:latin typeface="Source Sans 3"/>
              </a:rPr>
              <a:t>Add distortion or delay</a:t>
            </a:r>
          </a:p>
        </p:txBody>
      </p:sp>
      <p:sp>
        <p:nvSpPr>
          <p:cNvPr id="19" name="Oval 18"/>
          <p:cNvSpPr/>
          <p:nvPr/>
        </p:nvSpPr>
        <p:spPr>
          <a:xfrm>
            <a:off x="548640" y="4526279"/>
            <a:ext cx="566928" cy="566928"/>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8640" y="4526279"/>
            <a:ext cx="566928" cy="566928"/>
          </a:xfrm>
          <a:prstGeom prst="rect">
            <a:avLst/>
          </a:prstGeom>
          <a:noFill/>
        </p:spPr>
        <p:txBody>
          <a:bodyPr wrap="square" anchor="ctr" lIns="36576" rIns="36576" tIns="18288" bIns="18288">
            <a:spAutoFit/>
          </a:bodyPr>
          <a:lstStyle/>
          <a:p>
            <a:pPr algn="ctr"/>
            <a:r>
              <a:rPr sz="2400" b="1">
                <a:solidFill>
                  <a:srgbClr val="FFFFFF"/>
                </a:solidFill>
                <a:latin typeface="Oswald"/>
              </a:rPr>
              <a:t>4</a:t>
            </a:r>
          </a:p>
        </p:txBody>
      </p:sp>
      <p:sp>
        <p:nvSpPr>
          <p:cNvPr id="21" name="TextBox 20"/>
          <p:cNvSpPr txBox="1"/>
          <p:nvPr/>
        </p:nvSpPr>
        <p:spPr>
          <a:xfrm>
            <a:off x="1325880" y="4434840"/>
            <a:ext cx="10241280" cy="749808"/>
          </a:xfrm>
          <a:prstGeom prst="rect">
            <a:avLst/>
          </a:prstGeom>
          <a:noFill/>
        </p:spPr>
        <p:txBody>
          <a:bodyPr wrap="square" anchor="ctr" lIns="36576" rIns="36576" tIns="18288" bIns="18288">
            <a:spAutoFit/>
          </a:bodyPr>
          <a:lstStyle/>
          <a:p>
            <a:pPr algn="l"/>
            <a:r>
              <a:rPr sz="2800" b="0">
                <a:solidFill>
                  <a:srgbClr val="000000"/>
                </a:solidFill>
                <a:latin typeface="Source Sans 3"/>
              </a:rPr>
              <a:t>Automate one effect knob</a:t>
            </a:r>
          </a:p>
        </p:txBody>
      </p:sp>
      <p:sp>
        <p:nvSpPr>
          <p:cNvPr id="22" name="Oval 21"/>
          <p:cNvSpPr/>
          <p:nvPr/>
        </p:nvSpPr>
        <p:spPr>
          <a:xfrm>
            <a:off x="548640" y="5394959"/>
            <a:ext cx="566928" cy="566928"/>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48640" y="5394959"/>
            <a:ext cx="566928" cy="566928"/>
          </a:xfrm>
          <a:prstGeom prst="rect">
            <a:avLst/>
          </a:prstGeom>
          <a:noFill/>
        </p:spPr>
        <p:txBody>
          <a:bodyPr wrap="square" anchor="ctr" lIns="36576" rIns="36576" tIns="18288" bIns="18288">
            <a:spAutoFit/>
          </a:bodyPr>
          <a:lstStyle/>
          <a:p>
            <a:pPr algn="ctr"/>
            <a:r>
              <a:rPr sz="2400" b="1">
                <a:solidFill>
                  <a:srgbClr val="FFFFFF"/>
                </a:solidFill>
                <a:latin typeface="Oswald"/>
              </a:rPr>
              <a:t>5</a:t>
            </a:r>
          </a:p>
        </p:txBody>
      </p:sp>
      <p:sp>
        <p:nvSpPr>
          <p:cNvPr id="24" name="TextBox 23"/>
          <p:cNvSpPr txBox="1"/>
          <p:nvPr/>
        </p:nvSpPr>
        <p:spPr>
          <a:xfrm>
            <a:off x="1325880" y="5303520"/>
            <a:ext cx="10241280" cy="749808"/>
          </a:xfrm>
          <a:prstGeom prst="rect">
            <a:avLst/>
          </a:prstGeom>
          <a:noFill/>
        </p:spPr>
        <p:txBody>
          <a:bodyPr wrap="square" anchor="ctr" lIns="36576" rIns="36576" tIns="18288" bIns="18288">
            <a:spAutoFit/>
          </a:bodyPr>
          <a:lstStyle/>
          <a:p>
            <a:pPr algn="l"/>
            <a:r>
              <a:rPr sz="2800" b="0">
                <a:solidFill>
                  <a:srgbClr val="000000"/>
                </a:solidFill>
                <a:latin typeface="Source Sans 3"/>
              </a:rPr>
              <a:t>Save it and note what you did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222992" y="274320"/>
            <a:ext cx="1417320" cy="384048"/>
          </a:xfrm>
          <a:prstGeom prst="roundRect">
            <a:avLst/>
          </a:prstGeom>
          <a:solidFill>
            <a:srgbClr val="7A1F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22992" y="274320"/>
            <a:ext cx="1417320" cy="384048"/>
          </a:xfrm>
          <a:prstGeom prst="rect">
            <a:avLst/>
          </a:prstGeom>
          <a:noFill/>
        </p:spPr>
        <p:txBody>
          <a:bodyPr wrap="square" anchor="ctr" lIns="36576" rIns="36576" tIns="18288" bIns="18288">
            <a:spAutoFit/>
          </a:bodyPr>
          <a:lstStyle/>
          <a:p>
            <a:pPr algn="ctr"/>
            <a:r>
              <a:rPr sz="1500" b="1">
                <a:solidFill>
                  <a:srgbClr val="FFFFFF"/>
                </a:solidFill>
                <a:latin typeface="Oswald"/>
              </a:rPr>
              <a:t>CLASS 3</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WORKING DAYS: BUILD AND SHAPE</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Anti-Music Manifesto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11</a:t>
            </a:r>
          </a:p>
        </p:txBody>
      </p:sp>
      <p:sp>
        <p:nvSpPr>
          <p:cNvPr id="10" name="Oval 9"/>
          <p:cNvSpPr/>
          <p:nvPr/>
        </p:nvSpPr>
        <p:spPr>
          <a:xfrm>
            <a:off x="548640" y="2167128"/>
            <a:ext cx="146304" cy="146304"/>
          </a:xfrm>
          <a:prstGeom prst="ellipse">
            <a:avLst/>
          </a:prstGeom>
          <a:solidFill>
            <a:srgbClr val="7A1F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 y="201168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Build with effects, automation and distortion</a:t>
            </a:r>
          </a:p>
        </p:txBody>
      </p:sp>
      <p:sp>
        <p:nvSpPr>
          <p:cNvPr id="12" name="Oval 11"/>
          <p:cNvSpPr/>
          <p:nvPr/>
        </p:nvSpPr>
        <p:spPr>
          <a:xfrm>
            <a:off x="548640" y="3117088"/>
            <a:ext cx="146304" cy="146304"/>
          </a:xfrm>
          <a:prstGeom prst="ellipse">
            <a:avLst/>
          </a:prstGeom>
          <a:solidFill>
            <a:srgbClr val="7A1F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96112" y="296164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Lean into the rule you chose</a:t>
            </a:r>
          </a:p>
        </p:txBody>
      </p:sp>
      <p:sp>
        <p:nvSpPr>
          <p:cNvPr id="14" name="Oval 13"/>
          <p:cNvSpPr/>
          <p:nvPr/>
        </p:nvSpPr>
        <p:spPr>
          <a:xfrm>
            <a:off x="548640" y="4067048"/>
            <a:ext cx="146304" cy="146304"/>
          </a:xfrm>
          <a:prstGeom prst="ellipse">
            <a:avLst/>
          </a:prstGeom>
          <a:solidFill>
            <a:srgbClr val="7A1F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6112" y="391160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Shape it: intentional, not accidental</a:t>
            </a:r>
          </a:p>
        </p:txBody>
      </p:sp>
      <p:sp>
        <p:nvSpPr>
          <p:cNvPr id="16" name="Oval 15"/>
          <p:cNvSpPr/>
          <p:nvPr/>
        </p:nvSpPr>
        <p:spPr>
          <a:xfrm>
            <a:off x="548640" y="5017008"/>
            <a:ext cx="146304" cy="146304"/>
          </a:xfrm>
          <a:prstGeom prst="ellipse">
            <a:avLst/>
          </a:prstGeom>
          <a:solidFill>
            <a:srgbClr val="7A1F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6112" y="486156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Save versions as you go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222992" y="274320"/>
            <a:ext cx="1417320" cy="384048"/>
          </a:xfrm>
          <a:prstGeom prst="roundRect">
            <a:avLst/>
          </a:prstGeom>
          <a:solidFill>
            <a:srgbClr val="7A1F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22992" y="274320"/>
            <a:ext cx="1417320" cy="384048"/>
          </a:xfrm>
          <a:prstGeom prst="rect">
            <a:avLst/>
          </a:prstGeom>
          <a:noFill/>
        </p:spPr>
        <p:txBody>
          <a:bodyPr wrap="square" anchor="ctr" lIns="36576" rIns="36576" tIns="18288" bIns="18288">
            <a:spAutoFit/>
          </a:bodyPr>
          <a:lstStyle/>
          <a:p>
            <a:pPr algn="ctr"/>
            <a:r>
              <a:rPr sz="1500" b="1">
                <a:solidFill>
                  <a:srgbClr val="FFFFFF"/>
                </a:solidFill>
                <a:latin typeface="Oswald"/>
              </a:rPr>
              <a:t>CLASS 4</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WORKED EXAMPLE: 50 SECONDS ON PAPER</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Anti-Music Manifesto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12</a:t>
            </a:r>
          </a:p>
        </p:txBody>
      </p:sp>
      <p:pic>
        <p:nvPicPr>
          <p:cNvPr id="10" name="Picture 9" descr="deck-plan.png"/>
          <p:cNvPicPr>
            <a:picLocks noChangeAspect="1"/>
          </p:cNvPicPr>
          <p:nvPr/>
        </p:nvPicPr>
        <p:blipFill>
          <a:blip r:embed="rId2"/>
          <a:stretch>
            <a:fillRect/>
          </a:stretch>
        </p:blipFill>
        <p:spPr>
          <a:xfrm>
            <a:off x="909733" y="1810512"/>
            <a:ext cx="10369484" cy="3017520"/>
          </a:xfrm>
          <a:prstGeom prst="rect">
            <a:avLst/>
          </a:prstGeom>
        </p:spPr>
      </p:pic>
      <p:sp>
        <p:nvSpPr>
          <p:cNvPr id="11" name="Oval 10"/>
          <p:cNvSpPr/>
          <p:nvPr/>
        </p:nvSpPr>
        <p:spPr>
          <a:xfrm>
            <a:off x="548640" y="5212079"/>
            <a:ext cx="146304" cy="146304"/>
          </a:xfrm>
          <a:prstGeom prst="ellipse">
            <a:avLst/>
          </a:prstGeom>
          <a:solidFill>
            <a:srgbClr val="7A1F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1247" y="5102351"/>
            <a:ext cx="5212080" cy="548640"/>
          </a:xfrm>
          <a:prstGeom prst="rect">
            <a:avLst/>
          </a:prstGeom>
          <a:noFill/>
        </p:spPr>
        <p:txBody>
          <a:bodyPr wrap="square" anchor="t" lIns="36576" rIns="36576" tIns="18288" bIns="18288">
            <a:spAutoFit/>
          </a:bodyPr>
          <a:lstStyle/>
          <a:p>
            <a:pPr algn="l"/>
            <a:r>
              <a:rPr sz="2200" b="0">
                <a:solidFill>
                  <a:srgbClr val="000000"/>
                </a:solidFill>
                <a:latin typeface="Source Sans 3"/>
              </a:rPr>
              <a:t>The rule is a steady pulse</a:t>
            </a:r>
          </a:p>
        </p:txBody>
      </p:sp>
      <p:sp>
        <p:nvSpPr>
          <p:cNvPr id="13" name="Oval 12"/>
          <p:cNvSpPr/>
          <p:nvPr/>
        </p:nvSpPr>
        <p:spPr>
          <a:xfrm>
            <a:off x="6190488" y="5212079"/>
            <a:ext cx="146304" cy="146304"/>
          </a:xfrm>
          <a:prstGeom prst="ellipse">
            <a:avLst/>
          </a:prstGeom>
          <a:solidFill>
            <a:srgbClr val="7A1F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3096" y="5102351"/>
            <a:ext cx="5212080" cy="548640"/>
          </a:xfrm>
          <a:prstGeom prst="rect">
            <a:avLst/>
          </a:prstGeom>
          <a:noFill/>
        </p:spPr>
        <p:txBody>
          <a:bodyPr wrap="square" anchor="t" lIns="36576" rIns="36576" tIns="18288" bIns="18288">
            <a:spAutoFit/>
          </a:bodyPr>
          <a:lstStyle/>
          <a:p>
            <a:pPr algn="l"/>
            <a:r>
              <a:rPr sz="2200" b="0">
                <a:solidFill>
                  <a:srgbClr val="000000"/>
                </a:solidFill>
                <a:latin typeface="Source Sans 3"/>
              </a:rPr>
              <a:t>It breaks, hushes, returns wrong</a:t>
            </a:r>
          </a:p>
        </p:txBody>
      </p:sp>
      <p:sp>
        <p:nvSpPr>
          <p:cNvPr id="15" name="Oval 14"/>
          <p:cNvSpPr/>
          <p:nvPr/>
        </p:nvSpPr>
        <p:spPr>
          <a:xfrm>
            <a:off x="548640" y="5897879"/>
            <a:ext cx="146304" cy="146304"/>
          </a:xfrm>
          <a:prstGeom prst="ellipse">
            <a:avLst/>
          </a:prstGeom>
          <a:solidFill>
            <a:srgbClr val="7A1F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1247" y="5788151"/>
            <a:ext cx="5212080" cy="548640"/>
          </a:xfrm>
          <a:prstGeom prst="rect">
            <a:avLst/>
          </a:prstGeom>
          <a:noFill/>
        </p:spPr>
        <p:txBody>
          <a:bodyPr wrap="square" anchor="t" lIns="36576" rIns="36576" tIns="18288" bIns="18288">
            <a:spAutoFit/>
          </a:bodyPr>
          <a:lstStyle/>
          <a:p>
            <a:pPr algn="l"/>
            <a:r>
              <a:rPr sz="2200" b="0">
                <a:solidFill>
                  <a:srgbClr val="000000"/>
                </a:solidFill>
                <a:latin typeface="Source Sans 3"/>
              </a:rPr>
              <a:t>Every sound has a job</a:t>
            </a:r>
          </a:p>
        </p:txBody>
      </p:sp>
      <p:sp>
        <p:nvSpPr>
          <p:cNvPr id="17" name="Oval 16"/>
          <p:cNvSpPr/>
          <p:nvPr/>
        </p:nvSpPr>
        <p:spPr>
          <a:xfrm>
            <a:off x="6190488" y="5897879"/>
            <a:ext cx="146304" cy="146304"/>
          </a:xfrm>
          <a:prstGeom prst="ellipse">
            <a:avLst/>
          </a:prstGeom>
          <a:solidFill>
            <a:srgbClr val="7A1F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3096" y="5788151"/>
            <a:ext cx="5212080" cy="548640"/>
          </a:xfrm>
          <a:prstGeom prst="rect">
            <a:avLst/>
          </a:prstGeom>
          <a:noFill/>
        </p:spPr>
        <p:txBody>
          <a:bodyPr wrap="square" anchor="t" lIns="36576" rIns="36576" tIns="18288" bIns="18288">
            <a:spAutoFit/>
          </a:bodyPr>
          <a:lstStyle/>
          <a:p>
            <a:pPr algn="l"/>
            <a:r>
              <a:rPr sz="2200" b="0">
                <a:solidFill>
                  <a:srgbClr val="000000"/>
                </a:solidFill>
                <a:latin typeface="Source Sans 3"/>
              </a:rPr>
              <a:t>Plan 45–60 seconds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222992" y="274320"/>
            <a:ext cx="1417320" cy="384048"/>
          </a:xfrm>
          <a:prstGeom prst="roundRect">
            <a:avLst/>
          </a:prstGeom>
          <a:solidFill>
            <a:srgbClr val="7A1F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22992" y="274320"/>
            <a:ext cx="1417320" cy="384048"/>
          </a:xfrm>
          <a:prstGeom prst="rect">
            <a:avLst/>
          </a:prstGeom>
          <a:noFill/>
        </p:spPr>
        <p:txBody>
          <a:bodyPr wrap="square" anchor="ctr" lIns="36576" rIns="36576" tIns="18288" bIns="18288">
            <a:spAutoFit/>
          </a:bodyPr>
          <a:lstStyle/>
          <a:p>
            <a:pPr algn="ctr"/>
            <a:r>
              <a:rPr sz="1500" b="1">
                <a:solidFill>
                  <a:srgbClr val="FFFFFF"/>
                </a:solidFill>
                <a:latin typeface="Oswald"/>
              </a:rPr>
              <a:t>CLASS 4</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IS IT ON PURPOSE?</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Anti-Music Manifesto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13</a:t>
            </a:r>
          </a:p>
        </p:txBody>
      </p:sp>
      <p:sp>
        <p:nvSpPr>
          <p:cNvPr id="10" name="Oval 9"/>
          <p:cNvSpPr/>
          <p:nvPr/>
        </p:nvSpPr>
        <p:spPr>
          <a:xfrm>
            <a:off x="548640" y="2167128"/>
            <a:ext cx="146304" cy="146304"/>
          </a:xfrm>
          <a:prstGeom prst="ellipse">
            <a:avLst/>
          </a:prstGeom>
          <a:solidFill>
            <a:srgbClr val="7A1F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 y="201168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Could a listener tell which rule you broke?</a:t>
            </a:r>
          </a:p>
        </p:txBody>
      </p:sp>
      <p:sp>
        <p:nvSpPr>
          <p:cNvPr id="12" name="Oval 11"/>
          <p:cNvSpPr/>
          <p:nvPr/>
        </p:nvSpPr>
        <p:spPr>
          <a:xfrm>
            <a:off x="548640" y="3117088"/>
            <a:ext cx="146304" cy="146304"/>
          </a:xfrm>
          <a:prstGeom prst="ellipse">
            <a:avLst/>
          </a:prstGeom>
          <a:solidFill>
            <a:srgbClr val="7A1F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96112" y="296164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Does every sound have a job?</a:t>
            </a:r>
          </a:p>
        </p:txBody>
      </p:sp>
      <p:sp>
        <p:nvSpPr>
          <p:cNvPr id="14" name="Oval 13"/>
          <p:cNvSpPr/>
          <p:nvPr/>
        </p:nvSpPr>
        <p:spPr>
          <a:xfrm>
            <a:off x="548640" y="4067048"/>
            <a:ext cx="146304" cy="146304"/>
          </a:xfrm>
          <a:prstGeom prst="ellipse">
            <a:avLst/>
          </a:prstGeom>
          <a:solidFill>
            <a:srgbClr val="7A1F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6112" y="391160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Does it change over its 45 to 60 seconds?</a:t>
            </a:r>
          </a:p>
        </p:txBody>
      </p:sp>
      <p:sp>
        <p:nvSpPr>
          <p:cNvPr id="16" name="Oval 15"/>
          <p:cNvSpPr/>
          <p:nvPr/>
        </p:nvSpPr>
        <p:spPr>
          <a:xfrm>
            <a:off x="548640" y="5017008"/>
            <a:ext cx="146304" cy="146304"/>
          </a:xfrm>
          <a:prstGeom prst="ellipse">
            <a:avLst/>
          </a:prstGeom>
          <a:solidFill>
            <a:srgbClr val="7A1F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6112" y="486156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Can you explain every choice?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222992" y="274320"/>
            <a:ext cx="1417320" cy="384048"/>
          </a:xfrm>
          <a:prstGeom prst="roundRect">
            <a:avLst/>
          </a:prstGeom>
          <a:solidFill>
            <a:srgbClr val="7A1F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22992" y="274320"/>
            <a:ext cx="1417320" cy="384048"/>
          </a:xfrm>
          <a:prstGeom prst="rect">
            <a:avLst/>
          </a:prstGeom>
          <a:noFill/>
        </p:spPr>
        <p:txBody>
          <a:bodyPr wrap="square" anchor="ctr" lIns="36576" rIns="36576" tIns="18288" bIns="18288">
            <a:spAutoFit/>
          </a:bodyPr>
          <a:lstStyle/>
          <a:p>
            <a:pPr algn="ctr"/>
            <a:r>
              <a:rPr sz="1500" b="1">
                <a:solidFill>
                  <a:srgbClr val="FFFFFF"/>
                </a:solidFill>
                <a:latin typeface="Oswald"/>
              </a:rPr>
              <a:t>CLASS 6</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STEP 5: THE ARTIST STATEMENT</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Anti-Music Manifesto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14</a:t>
            </a:r>
          </a:p>
        </p:txBody>
      </p:sp>
      <p:sp>
        <p:nvSpPr>
          <p:cNvPr id="10" name="Oval 9"/>
          <p:cNvSpPr/>
          <p:nvPr/>
        </p:nvSpPr>
        <p:spPr>
          <a:xfrm>
            <a:off x="548640" y="1920239"/>
            <a:ext cx="566928" cy="566928"/>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920239"/>
            <a:ext cx="566928" cy="566928"/>
          </a:xfrm>
          <a:prstGeom prst="rect">
            <a:avLst/>
          </a:prstGeom>
          <a:noFill/>
        </p:spPr>
        <p:txBody>
          <a:bodyPr wrap="square" anchor="ctr" lIns="36576" rIns="36576" tIns="18288" bIns="18288">
            <a:spAutoFit/>
          </a:bodyPr>
          <a:lstStyle/>
          <a:p>
            <a:pPr algn="ctr"/>
            <a:r>
              <a:rPr sz="2400" b="1">
                <a:solidFill>
                  <a:srgbClr val="FFFFFF"/>
                </a:solidFill>
                <a:latin typeface="Oswald"/>
              </a:rPr>
              <a:t>1</a:t>
            </a:r>
          </a:p>
        </p:txBody>
      </p:sp>
      <p:sp>
        <p:nvSpPr>
          <p:cNvPr id="12" name="TextBox 11"/>
          <p:cNvSpPr txBox="1"/>
          <p:nvPr/>
        </p:nvSpPr>
        <p:spPr>
          <a:xfrm>
            <a:off x="1325880" y="1828799"/>
            <a:ext cx="10241280" cy="749808"/>
          </a:xfrm>
          <a:prstGeom prst="rect">
            <a:avLst/>
          </a:prstGeom>
          <a:noFill/>
        </p:spPr>
        <p:txBody>
          <a:bodyPr wrap="square" anchor="ctr" lIns="36576" rIns="36576" tIns="18288" bIns="18288">
            <a:spAutoFit/>
          </a:bodyPr>
          <a:lstStyle/>
          <a:p>
            <a:pPr algn="l"/>
            <a:r>
              <a:rPr sz="2800" b="0">
                <a:solidFill>
                  <a:srgbClr val="000000"/>
                </a:solidFill>
                <a:latin typeface="Source Sans 3"/>
              </a:rPr>
              <a:t>One paragraph</a:t>
            </a:r>
          </a:p>
        </p:txBody>
      </p:sp>
      <p:sp>
        <p:nvSpPr>
          <p:cNvPr id="13" name="Oval 12"/>
          <p:cNvSpPr/>
          <p:nvPr/>
        </p:nvSpPr>
        <p:spPr>
          <a:xfrm>
            <a:off x="548640" y="2788920"/>
            <a:ext cx="566928" cy="566928"/>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2788920"/>
            <a:ext cx="566928" cy="566928"/>
          </a:xfrm>
          <a:prstGeom prst="rect">
            <a:avLst/>
          </a:prstGeom>
          <a:noFill/>
        </p:spPr>
        <p:txBody>
          <a:bodyPr wrap="square" anchor="ctr" lIns="36576" rIns="36576" tIns="18288" bIns="18288">
            <a:spAutoFit/>
          </a:bodyPr>
          <a:lstStyle/>
          <a:p>
            <a:pPr algn="ctr"/>
            <a:r>
              <a:rPr sz="2400" b="1">
                <a:solidFill>
                  <a:srgbClr val="FFFFFF"/>
                </a:solidFill>
                <a:latin typeface="Oswald"/>
              </a:rPr>
              <a:t>2</a:t>
            </a:r>
          </a:p>
        </p:txBody>
      </p:sp>
      <p:sp>
        <p:nvSpPr>
          <p:cNvPr id="15" name="TextBox 14"/>
          <p:cNvSpPr txBox="1"/>
          <p:nvPr/>
        </p:nvSpPr>
        <p:spPr>
          <a:xfrm>
            <a:off x="1325880" y="2697480"/>
            <a:ext cx="10241280" cy="749808"/>
          </a:xfrm>
          <a:prstGeom prst="rect">
            <a:avLst/>
          </a:prstGeom>
          <a:noFill/>
        </p:spPr>
        <p:txBody>
          <a:bodyPr wrap="square" anchor="ctr" lIns="36576" rIns="36576" tIns="18288" bIns="18288">
            <a:spAutoFit/>
          </a:bodyPr>
          <a:lstStyle/>
          <a:p>
            <a:pPr algn="l"/>
            <a:r>
              <a:rPr sz="2800" b="0">
                <a:solidFill>
                  <a:srgbClr val="000000"/>
                </a:solidFill>
                <a:latin typeface="Source Sans 3"/>
              </a:rPr>
              <a:t>Name the specific rule you broke</a:t>
            </a:r>
          </a:p>
        </p:txBody>
      </p:sp>
      <p:sp>
        <p:nvSpPr>
          <p:cNvPr id="16" name="Oval 15"/>
          <p:cNvSpPr/>
          <p:nvPr/>
        </p:nvSpPr>
        <p:spPr>
          <a:xfrm>
            <a:off x="548640" y="3657599"/>
            <a:ext cx="566928" cy="566928"/>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 y="3657599"/>
            <a:ext cx="566928" cy="566928"/>
          </a:xfrm>
          <a:prstGeom prst="rect">
            <a:avLst/>
          </a:prstGeom>
          <a:noFill/>
        </p:spPr>
        <p:txBody>
          <a:bodyPr wrap="square" anchor="ctr" lIns="36576" rIns="36576" tIns="18288" bIns="18288">
            <a:spAutoFit/>
          </a:bodyPr>
          <a:lstStyle/>
          <a:p>
            <a:pPr algn="ctr"/>
            <a:r>
              <a:rPr sz="2400" b="1">
                <a:solidFill>
                  <a:srgbClr val="FFFFFF"/>
                </a:solidFill>
                <a:latin typeface="Oswald"/>
              </a:rPr>
              <a:t>3</a:t>
            </a:r>
          </a:p>
        </p:txBody>
      </p:sp>
      <p:sp>
        <p:nvSpPr>
          <p:cNvPr id="18" name="TextBox 17"/>
          <p:cNvSpPr txBox="1"/>
          <p:nvPr/>
        </p:nvSpPr>
        <p:spPr>
          <a:xfrm>
            <a:off x="1325880" y="3566160"/>
            <a:ext cx="10241280" cy="749808"/>
          </a:xfrm>
          <a:prstGeom prst="rect">
            <a:avLst/>
          </a:prstGeom>
          <a:noFill/>
        </p:spPr>
        <p:txBody>
          <a:bodyPr wrap="square" anchor="ctr" lIns="36576" rIns="36576" tIns="18288" bIns="18288">
            <a:spAutoFit/>
          </a:bodyPr>
          <a:lstStyle/>
          <a:p>
            <a:pPr algn="l"/>
            <a:r>
              <a:rPr sz="2800" b="0">
                <a:solidFill>
                  <a:srgbClr val="000000"/>
                </a:solidFill>
                <a:latin typeface="Source Sans 3"/>
              </a:rPr>
              <a:t>Explain your reasoning</a:t>
            </a:r>
          </a:p>
        </p:txBody>
      </p:sp>
      <p:sp>
        <p:nvSpPr>
          <p:cNvPr id="19" name="Oval 18"/>
          <p:cNvSpPr/>
          <p:nvPr/>
        </p:nvSpPr>
        <p:spPr>
          <a:xfrm>
            <a:off x="548640" y="4526279"/>
            <a:ext cx="566928" cy="566928"/>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8640" y="4526279"/>
            <a:ext cx="566928" cy="566928"/>
          </a:xfrm>
          <a:prstGeom prst="rect">
            <a:avLst/>
          </a:prstGeom>
          <a:noFill/>
        </p:spPr>
        <p:txBody>
          <a:bodyPr wrap="square" anchor="ctr" lIns="36576" rIns="36576" tIns="18288" bIns="18288">
            <a:spAutoFit/>
          </a:bodyPr>
          <a:lstStyle/>
          <a:p>
            <a:pPr algn="ctr"/>
            <a:r>
              <a:rPr sz="2400" b="1">
                <a:solidFill>
                  <a:srgbClr val="FFFFFF"/>
                </a:solidFill>
                <a:latin typeface="Oswald"/>
              </a:rPr>
              <a:t>4</a:t>
            </a:r>
          </a:p>
        </p:txBody>
      </p:sp>
      <p:sp>
        <p:nvSpPr>
          <p:cNvPr id="21" name="TextBox 20"/>
          <p:cNvSpPr txBox="1"/>
          <p:nvPr/>
        </p:nvSpPr>
        <p:spPr>
          <a:xfrm>
            <a:off x="1325880" y="4434840"/>
            <a:ext cx="10241280" cy="749808"/>
          </a:xfrm>
          <a:prstGeom prst="rect">
            <a:avLst/>
          </a:prstGeom>
          <a:noFill/>
        </p:spPr>
        <p:txBody>
          <a:bodyPr wrap="square" anchor="ctr" lIns="36576" rIns="36576" tIns="18288" bIns="18288">
            <a:spAutoFit/>
          </a:bodyPr>
          <a:lstStyle/>
          <a:p>
            <a:pPr algn="l"/>
            <a:r>
              <a:rPr sz="2800" b="0">
                <a:solidFill>
                  <a:srgbClr val="000000"/>
                </a:solidFill>
                <a:latin typeface="Source Sans 3"/>
              </a:rPr>
              <a:t>Say what to listen for</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222992" y="274320"/>
            <a:ext cx="1417320" cy="384048"/>
          </a:xfrm>
          <a:prstGeom prst="roundRect">
            <a:avLst/>
          </a:prstGeom>
          <a:solidFill>
            <a:srgbClr val="7A1F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22992" y="274320"/>
            <a:ext cx="1417320" cy="384048"/>
          </a:xfrm>
          <a:prstGeom prst="rect">
            <a:avLst/>
          </a:prstGeom>
          <a:noFill/>
        </p:spPr>
        <p:txBody>
          <a:bodyPr wrap="square" anchor="ctr" lIns="36576" rIns="36576" tIns="18288" bIns="18288">
            <a:spAutoFit/>
          </a:bodyPr>
          <a:lstStyle/>
          <a:p>
            <a:pPr algn="ctr"/>
            <a:r>
              <a:rPr sz="1500" b="1">
                <a:solidFill>
                  <a:srgbClr val="FFFFFF"/>
                </a:solidFill>
                <a:latin typeface="Oswald"/>
              </a:rPr>
              <a:t>CLASS 6</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FINAL MIX AND BOUNCE</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Anti-Music Manifesto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15</a:t>
            </a:r>
          </a:p>
        </p:txBody>
      </p:sp>
      <p:sp>
        <p:nvSpPr>
          <p:cNvPr id="10" name="Oval 9"/>
          <p:cNvSpPr/>
          <p:nvPr/>
        </p:nvSpPr>
        <p:spPr>
          <a:xfrm>
            <a:off x="548640" y="2167128"/>
            <a:ext cx="146304" cy="146304"/>
          </a:xfrm>
          <a:prstGeom prst="ellipse">
            <a:avLst/>
          </a:prstGeom>
          <a:solidFill>
            <a:srgbClr val="7A1F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 y="201168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Mix: balance on purpose</a:t>
            </a:r>
          </a:p>
        </p:txBody>
      </p:sp>
      <p:sp>
        <p:nvSpPr>
          <p:cNvPr id="12" name="Oval 11"/>
          <p:cNvSpPr/>
          <p:nvPr/>
        </p:nvSpPr>
        <p:spPr>
          <a:xfrm>
            <a:off x="548640" y="3117088"/>
            <a:ext cx="146304" cy="146304"/>
          </a:xfrm>
          <a:prstGeom prst="ellipse">
            <a:avLst/>
          </a:prstGeom>
          <a:solidFill>
            <a:srgbClr val="7A1F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96112" y="296164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Bounce a .mp3 or .wav</a:t>
            </a:r>
          </a:p>
        </p:txBody>
      </p:sp>
      <p:sp>
        <p:nvSpPr>
          <p:cNvPr id="14" name="Oval 13"/>
          <p:cNvSpPr/>
          <p:nvPr/>
        </p:nvSpPr>
        <p:spPr>
          <a:xfrm>
            <a:off x="548640" y="4067048"/>
            <a:ext cx="146304" cy="146304"/>
          </a:xfrm>
          <a:prstGeom prst="ellipse">
            <a:avLst/>
          </a:prstGeom>
          <a:solidFill>
            <a:srgbClr val="7A1F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6112" y="391160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Zip the .logicx project</a:t>
            </a:r>
          </a:p>
        </p:txBody>
      </p:sp>
      <p:sp>
        <p:nvSpPr>
          <p:cNvPr id="16" name="Oval 15"/>
          <p:cNvSpPr/>
          <p:nvPr/>
        </p:nvSpPr>
        <p:spPr>
          <a:xfrm>
            <a:off x="548640" y="5017008"/>
            <a:ext cx="146304" cy="146304"/>
          </a:xfrm>
          <a:prstGeom prst="ellipse">
            <a:avLst/>
          </a:prstGeom>
          <a:solidFill>
            <a:srgbClr val="7A1F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6112" y="486156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Write your 3 Padlet questions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222992" y="274320"/>
            <a:ext cx="1417320" cy="384048"/>
          </a:xfrm>
          <a:prstGeom prst="roundRect">
            <a:avLst/>
          </a:prstGeom>
          <a:solidFill>
            <a:srgbClr val="7A1F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22992" y="274320"/>
            <a:ext cx="1417320" cy="384048"/>
          </a:xfrm>
          <a:prstGeom prst="rect">
            <a:avLst/>
          </a:prstGeom>
          <a:noFill/>
        </p:spPr>
        <p:txBody>
          <a:bodyPr wrap="square" anchor="ctr" lIns="36576" rIns="36576" tIns="18288" bIns="18288">
            <a:spAutoFit/>
          </a:bodyPr>
          <a:lstStyle/>
          <a:p>
            <a:pPr algn="ctr"/>
            <a:r>
              <a:rPr sz="1500" b="1">
                <a:solidFill>
                  <a:srgbClr val="FFFFFF"/>
                </a:solidFill>
                <a:latin typeface="Oswald"/>
              </a:rPr>
              <a:t>CLASS 6</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WHAT YOU TURN IN</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Anti-Music Manifesto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16</a:t>
            </a:r>
          </a:p>
        </p:txBody>
      </p:sp>
      <p:sp>
        <p:nvSpPr>
          <p:cNvPr id="10" name="Rounded Rectangle 9"/>
          <p:cNvSpPr/>
          <p:nvPr/>
        </p:nvSpPr>
        <p:spPr>
          <a:xfrm>
            <a:off x="548640" y="1975104"/>
            <a:ext cx="365760" cy="365760"/>
          </a:xfrm>
          <a:prstGeom prst="roundRect">
            <a:avLst/>
          </a:prstGeom>
          <a:solidFill>
            <a:srgbClr val="FFFFFF"/>
          </a:solid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1920240"/>
            <a:ext cx="4892040" cy="1298448"/>
          </a:xfrm>
          <a:prstGeom prst="rect">
            <a:avLst/>
          </a:prstGeom>
          <a:noFill/>
        </p:spPr>
        <p:txBody>
          <a:bodyPr wrap="square" anchor="t" lIns="36576" rIns="36576" tIns="18288" bIns="18288">
            <a:spAutoFit/>
          </a:bodyPr>
          <a:lstStyle/>
          <a:p>
            <a:pPr algn="l"/>
            <a:r>
              <a:rPr sz="2200" b="0">
                <a:solidFill>
                  <a:srgbClr val="000000"/>
                </a:solidFill>
                <a:latin typeface="Source Sans 3"/>
              </a:rPr>
              <a:t>Bounced .mp3 or .wav</a:t>
            </a:r>
          </a:p>
        </p:txBody>
      </p:sp>
      <p:sp>
        <p:nvSpPr>
          <p:cNvPr id="12" name="Rounded Rectangle 11"/>
          <p:cNvSpPr/>
          <p:nvPr/>
        </p:nvSpPr>
        <p:spPr>
          <a:xfrm>
            <a:off x="6172200" y="1975104"/>
            <a:ext cx="365760" cy="365760"/>
          </a:xfrm>
          <a:prstGeom prst="roundRect">
            <a:avLst/>
          </a:prstGeom>
          <a:solidFill>
            <a:srgbClr val="FFFFFF"/>
          </a:solid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720840" y="1920240"/>
            <a:ext cx="4892040" cy="1298448"/>
          </a:xfrm>
          <a:prstGeom prst="rect">
            <a:avLst/>
          </a:prstGeom>
          <a:noFill/>
        </p:spPr>
        <p:txBody>
          <a:bodyPr wrap="square" anchor="t" lIns="36576" rIns="36576" tIns="18288" bIns="18288">
            <a:spAutoFit/>
          </a:bodyPr>
          <a:lstStyle/>
          <a:p>
            <a:pPr algn="l"/>
            <a:r>
              <a:rPr sz="2200" b="0">
                <a:solidFill>
                  <a:srgbClr val="000000"/>
                </a:solidFill>
                <a:latin typeface="Source Sans 3"/>
              </a:rPr>
              <a:t>Zipped .logicx project</a:t>
            </a:r>
          </a:p>
        </p:txBody>
      </p:sp>
      <p:sp>
        <p:nvSpPr>
          <p:cNvPr id="14" name="Rounded Rectangle 13"/>
          <p:cNvSpPr/>
          <p:nvPr/>
        </p:nvSpPr>
        <p:spPr>
          <a:xfrm>
            <a:off x="548640" y="3346704"/>
            <a:ext cx="365760" cy="365760"/>
          </a:xfrm>
          <a:prstGeom prst="roundRect">
            <a:avLst/>
          </a:prstGeom>
          <a:solidFill>
            <a:srgbClr val="FFFFFF"/>
          </a:solid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97280" y="3291840"/>
            <a:ext cx="4892040" cy="1298448"/>
          </a:xfrm>
          <a:prstGeom prst="rect">
            <a:avLst/>
          </a:prstGeom>
          <a:noFill/>
        </p:spPr>
        <p:txBody>
          <a:bodyPr wrap="square" anchor="t" lIns="36576" rIns="36576" tIns="18288" bIns="18288">
            <a:spAutoFit/>
          </a:bodyPr>
          <a:lstStyle/>
          <a:p>
            <a:pPr algn="l"/>
            <a:r>
              <a:rPr sz="2200" b="0">
                <a:solidFill>
                  <a:srgbClr val="000000"/>
                </a:solidFill>
                <a:latin typeface="Source Sans 3"/>
              </a:rPr>
              <a:t>Named: Your Name – Anti-Music Manifesto</a:t>
            </a:r>
          </a:p>
        </p:txBody>
      </p:sp>
      <p:sp>
        <p:nvSpPr>
          <p:cNvPr id="16" name="Rounded Rectangle 15"/>
          <p:cNvSpPr/>
          <p:nvPr/>
        </p:nvSpPr>
        <p:spPr>
          <a:xfrm>
            <a:off x="6172200" y="3346704"/>
            <a:ext cx="365760" cy="365760"/>
          </a:xfrm>
          <a:prstGeom prst="roundRect">
            <a:avLst/>
          </a:prstGeom>
          <a:solidFill>
            <a:srgbClr val="FFFFFF"/>
          </a:solid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720840" y="3291840"/>
            <a:ext cx="4892040" cy="1298448"/>
          </a:xfrm>
          <a:prstGeom prst="rect">
            <a:avLst/>
          </a:prstGeom>
          <a:noFill/>
        </p:spPr>
        <p:txBody>
          <a:bodyPr wrap="square" anchor="t" lIns="36576" rIns="36576" tIns="18288" bIns="18288">
            <a:spAutoFit/>
          </a:bodyPr>
          <a:lstStyle/>
          <a:p>
            <a:pPr algn="l"/>
            <a:r>
              <a:rPr sz="2200" b="0">
                <a:solidFill>
                  <a:srgbClr val="000000"/>
                </a:solidFill>
                <a:latin typeface="Source Sans 3"/>
              </a:rPr>
              <a:t>Artist statement submitted</a:t>
            </a:r>
          </a:p>
        </p:txBody>
      </p:sp>
      <p:sp>
        <p:nvSpPr>
          <p:cNvPr id="18" name="Rounded Rectangle 17"/>
          <p:cNvSpPr/>
          <p:nvPr/>
        </p:nvSpPr>
        <p:spPr>
          <a:xfrm>
            <a:off x="548640" y="4718303"/>
            <a:ext cx="365760" cy="365760"/>
          </a:xfrm>
          <a:prstGeom prst="roundRect">
            <a:avLst/>
          </a:prstGeom>
          <a:solidFill>
            <a:srgbClr val="FFFFFF"/>
          </a:solid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97280" y="4663440"/>
            <a:ext cx="4892040" cy="1298448"/>
          </a:xfrm>
          <a:prstGeom prst="rect">
            <a:avLst/>
          </a:prstGeom>
          <a:noFill/>
        </p:spPr>
        <p:txBody>
          <a:bodyPr wrap="square" anchor="t" lIns="36576" rIns="36576" tIns="18288" bIns="18288">
            <a:spAutoFit/>
          </a:bodyPr>
          <a:lstStyle/>
          <a:p>
            <a:pPr algn="l"/>
            <a:r>
              <a:rPr sz="2200" b="0">
                <a:solidFill>
                  <a:srgbClr val="000000"/>
                </a:solidFill>
                <a:latin typeface="Source Sans 3"/>
              </a:rPr>
              <a:t>Padlet post with your 3 questions</a:t>
            </a:r>
          </a:p>
        </p:txBody>
      </p:sp>
      <p:sp>
        <p:nvSpPr>
          <p:cNvPr id="20" name="Rounded Rectangle 19"/>
          <p:cNvSpPr/>
          <p:nvPr/>
        </p:nvSpPr>
        <p:spPr>
          <a:xfrm>
            <a:off x="6172200" y="4718303"/>
            <a:ext cx="365760" cy="365760"/>
          </a:xfrm>
          <a:prstGeom prst="roundRect">
            <a:avLst/>
          </a:prstGeom>
          <a:solidFill>
            <a:srgbClr val="FFFFFF"/>
          </a:solid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720840" y="4663440"/>
            <a:ext cx="4892040" cy="1298448"/>
          </a:xfrm>
          <a:prstGeom prst="rect">
            <a:avLst/>
          </a:prstGeom>
          <a:noFill/>
        </p:spPr>
        <p:txBody>
          <a:bodyPr wrap="square" anchor="t" lIns="36576" rIns="36576" tIns="18288" bIns="18288">
            <a:spAutoFit/>
          </a:bodyPr>
          <a:lstStyle/>
          <a:p>
            <a:pPr algn="l"/>
            <a:r>
              <a:rPr sz="2200" b="0">
                <a:solidFill>
                  <a:srgbClr val="000000"/>
                </a:solidFill>
                <a:latin typeface="Source Sans 3"/>
              </a:rPr>
              <a:t>Answer 2 questions on classmates’ posts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222992" y="274320"/>
            <a:ext cx="1417320" cy="384048"/>
          </a:xfrm>
          <a:prstGeom prst="roundRect">
            <a:avLst/>
          </a:prstGeom>
          <a:solidFill>
            <a:srgbClr val="7A1F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22992" y="274320"/>
            <a:ext cx="1417320" cy="384048"/>
          </a:xfrm>
          <a:prstGeom prst="rect">
            <a:avLst/>
          </a:prstGeom>
          <a:noFill/>
        </p:spPr>
        <p:txBody>
          <a:bodyPr wrap="square" anchor="ctr" lIns="36576" rIns="36576" tIns="18288" bIns="18288">
            <a:spAutoFit/>
          </a:bodyPr>
          <a:lstStyle/>
          <a:p>
            <a:pPr algn="ctr"/>
            <a:r>
              <a:rPr sz="1500" b="1">
                <a:solidFill>
                  <a:srgbClr val="FFFFFF"/>
                </a:solidFill>
                <a:latin typeface="Oswald"/>
              </a:rPr>
              <a:t>CLASS 6</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HOW IT’S SCORED</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Anti-Music Manifesto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17</a:t>
            </a:r>
          </a:p>
        </p:txBody>
      </p:sp>
      <p:sp>
        <p:nvSpPr>
          <p:cNvPr id="10" name="Rounded Rectangle 9"/>
          <p:cNvSpPr/>
          <p:nvPr/>
        </p:nvSpPr>
        <p:spPr>
          <a:xfrm>
            <a:off x="548640" y="1810512"/>
            <a:ext cx="3840480" cy="713232"/>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1810512"/>
            <a:ext cx="3566160" cy="713232"/>
          </a:xfrm>
          <a:prstGeom prst="rect">
            <a:avLst/>
          </a:prstGeom>
          <a:noFill/>
        </p:spPr>
        <p:txBody>
          <a:bodyPr wrap="square" anchor="ctr" lIns="36576" rIns="36576" tIns="18288" bIns="18288">
            <a:spAutoFit/>
          </a:bodyPr>
          <a:lstStyle/>
          <a:p>
            <a:pPr algn="l"/>
            <a:r>
              <a:rPr sz="1900" b="1">
                <a:solidFill>
                  <a:srgbClr val="FFFFFF"/>
                </a:solidFill>
                <a:latin typeface="Oswald"/>
              </a:rPr>
              <a:t>CREATIVITY &amp; ORIGINALITY</a:t>
            </a:r>
          </a:p>
        </p:txBody>
      </p:sp>
      <p:sp>
        <p:nvSpPr>
          <p:cNvPr id="12" name="TextBox 11"/>
          <p:cNvSpPr txBox="1"/>
          <p:nvPr/>
        </p:nvSpPr>
        <p:spPr>
          <a:xfrm>
            <a:off x="4572000" y="1810512"/>
            <a:ext cx="6126480" cy="713232"/>
          </a:xfrm>
          <a:prstGeom prst="rect">
            <a:avLst/>
          </a:prstGeom>
          <a:noFill/>
        </p:spPr>
        <p:txBody>
          <a:bodyPr wrap="square" anchor="ctr" lIns="36576" rIns="36576" tIns="18288" bIns="18288">
            <a:spAutoFit/>
          </a:bodyPr>
          <a:lstStyle/>
          <a:p>
            <a:pPr algn="l"/>
            <a:r>
              <a:rPr sz="1800" b="0">
                <a:solidFill>
                  <a:srgbClr val="000000"/>
                </a:solidFill>
                <a:latin typeface="Source Sans 3"/>
              </a:rPr>
              <a:t>5 = Exceptional creativity; innovative, bold, and expressive</a:t>
            </a:r>
          </a:p>
        </p:txBody>
      </p:sp>
      <p:sp>
        <p:nvSpPr>
          <p:cNvPr id="13" name="TextBox 12"/>
          <p:cNvSpPr txBox="1"/>
          <p:nvPr/>
        </p:nvSpPr>
        <p:spPr>
          <a:xfrm>
            <a:off x="10744200" y="1810512"/>
            <a:ext cx="896112" cy="713232"/>
          </a:xfrm>
          <a:prstGeom prst="rect">
            <a:avLst/>
          </a:prstGeom>
          <a:noFill/>
        </p:spPr>
        <p:txBody>
          <a:bodyPr wrap="square" anchor="ctr" lIns="36576" rIns="36576" tIns="18288" bIns="18288">
            <a:spAutoFit/>
          </a:bodyPr>
          <a:lstStyle/>
          <a:p>
            <a:pPr algn="r"/>
            <a:r>
              <a:rPr sz="2400" b="1">
                <a:solidFill>
                  <a:srgbClr val="7A1F3D"/>
                </a:solidFill>
                <a:latin typeface="Oswald"/>
              </a:rPr>
              <a:t>/ 5</a:t>
            </a:r>
          </a:p>
        </p:txBody>
      </p:sp>
      <p:sp>
        <p:nvSpPr>
          <p:cNvPr id="14" name="Rounded Rectangle 13"/>
          <p:cNvSpPr/>
          <p:nvPr/>
        </p:nvSpPr>
        <p:spPr>
          <a:xfrm>
            <a:off x="548640" y="2633472"/>
            <a:ext cx="3840480" cy="713232"/>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2633472"/>
            <a:ext cx="3566160" cy="713232"/>
          </a:xfrm>
          <a:prstGeom prst="rect">
            <a:avLst/>
          </a:prstGeom>
          <a:noFill/>
        </p:spPr>
        <p:txBody>
          <a:bodyPr wrap="square" anchor="ctr" lIns="36576" rIns="36576" tIns="18288" bIns="18288">
            <a:spAutoFit/>
          </a:bodyPr>
          <a:lstStyle/>
          <a:p>
            <a:pPr algn="l"/>
            <a:r>
              <a:rPr sz="1900" b="1">
                <a:solidFill>
                  <a:srgbClr val="FFFFFF"/>
                </a:solidFill>
                <a:latin typeface="Oswald"/>
              </a:rPr>
              <a:t>TECHNICAL SKILL / DAW USE</a:t>
            </a:r>
          </a:p>
        </p:txBody>
      </p:sp>
      <p:sp>
        <p:nvSpPr>
          <p:cNvPr id="16" name="TextBox 15"/>
          <p:cNvSpPr txBox="1"/>
          <p:nvPr/>
        </p:nvSpPr>
        <p:spPr>
          <a:xfrm>
            <a:off x="4572000" y="2633472"/>
            <a:ext cx="6126480" cy="713232"/>
          </a:xfrm>
          <a:prstGeom prst="rect">
            <a:avLst/>
          </a:prstGeom>
          <a:noFill/>
        </p:spPr>
        <p:txBody>
          <a:bodyPr wrap="square" anchor="ctr" lIns="36576" rIns="36576" tIns="18288" bIns="18288">
            <a:spAutoFit/>
          </a:bodyPr>
          <a:lstStyle/>
          <a:p>
            <a:pPr algn="l"/>
            <a:r>
              <a:rPr sz="1800" b="0">
                <a:solidFill>
                  <a:srgbClr val="000000"/>
                </a:solidFill>
                <a:latin typeface="Source Sans 3"/>
              </a:rPr>
              <a:t>5 = Expert-level command of multiple Logic systems</a:t>
            </a:r>
          </a:p>
        </p:txBody>
      </p:sp>
      <p:sp>
        <p:nvSpPr>
          <p:cNvPr id="17" name="TextBox 16"/>
          <p:cNvSpPr txBox="1"/>
          <p:nvPr/>
        </p:nvSpPr>
        <p:spPr>
          <a:xfrm>
            <a:off x="10744200" y="2633472"/>
            <a:ext cx="896112" cy="713232"/>
          </a:xfrm>
          <a:prstGeom prst="rect">
            <a:avLst/>
          </a:prstGeom>
          <a:noFill/>
        </p:spPr>
        <p:txBody>
          <a:bodyPr wrap="square" anchor="ctr" lIns="36576" rIns="36576" tIns="18288" bIns="18288">
            <a:spAutoFit/>
          </a:bodyPr>
          <a:lstStyle/>
          <a:p>
            <a:pPr algn="r"/>
            <a:r>
              <a:rPr sz="2400" b="1">
                <a:solidFill>
                  <a:srgbClr val="7A1F3D"/>
                </a:solidFill>
                <a:latin typeface="Oswald"/>
              </a:rPr>
              <a:t>/ 5</a:t>
            </a:r>
          </a:p>
        </p:txBody>
      </p:sp>
      <p:sp>
        <p:nvSpPr>
          <p:cNvPr id="18" name="Rounded Rectangle 17"/>
          <p:cNvSpPr/>
          <p:nvPr/>
        </p:nvSpPr>
        <p:spPr>
          <a:xfrm>
            <a:off x="548640" y="3456432"/>
            <a:ext cx="3840480" cy="713232"/>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3456432"/>
            <a:ext cx="3566160" cy="713232"/>
          </a:xfrm>
          <a:prstGeom prst="rect">
            <a:avLst/>
          </a:prstGeom>
          <a:noFill/>
        </p:spPr>
        <p:txBody>
          <a:bodyPr wrap="square" anchor="ctr" lIns="36576" rIns="36576" tIns="18288" bIns="18288">
            <a:spAutoFit/>
          </a:bodyPr>
          <a:lstStyle/>
          <a:p>
            <a:pPr algn="l"/>
            <a:r>
              <a:rPr sz="1900" b="1">
                <a:solidFill>
                  <a:srgbClr val="FFFFFF"/>
                </a:solidFill>
                <a:latin typeface="Oswald"/>
              </a:rPr>
              <a:t>COMPOSITION &amp; STRUCTURE</a:t>
            </a:r>
          </a:p>
        </p:txBody>
      </p:sp>
      <p:sp>
        <p:nvSpPr>
          <p:cNvPr id="20" name="TextBox 19"/>
          <p:cNvSpPr txBox="1"/>
          <p:nvPr/>
        </p:nvSpPr>
        <p:spPr>
          <a:xfrm>
            <a:off x="4572000" y="3456432"/>
            <a:ext cx="6126480" cy="713232"/>
          </a:xfrm>
          <a:prstGeom prst="rect">
            <a:avLst/>
          </a:prstGeom>
          <a:noFill/>
        </p:spPr>
        <p:txBody>
          <a:bodyPr wrap="square" anchor="ctr" lIns="36576" rIns="36576" tIns="18288" bIns="18288">
            <a:spAutoFit/>
          </a:bodyPr>
          <a:lstStyle/>
          <a:p>
            <a:pPr algn="l"/>
            <a:r>
              <a:rPr sz="1800" b="0">
                <a:solidFill>
                  <a:srgbClr val="000000"/>
                </a:solidFill>
                <a:latin typeface="Source Sans 3"/>
              </a:rPr>
              <a:t>5 = Professional pacing, flow, and musical arc</a:t>
            </a:r>
          </a:p>
        </p:txBody>
      </p:sp>
      <p:sp>
        <p:nvSpPr>
          <p:cNvPr id="21" name="TextBox 20"/>
          <p:cNvSpPr txBox="1"/>
          <p:nvPr/>
        </p:nvSpPr>
        <p:spPr>
          <a:xfrm>
            <a:off x="10744200" y="3456432"/>
            <a:ext cx="896112" cy="713232"/>
          </a:xfrm>
          <a:prstGeom prst="rect">
            <a:avLst/>
          </a:prstGeom>
          <a:noFill/>
        </p:spPr>
        <p:txBody>
          <a:bodyPr wrap="square" anchor="ctr" lIns="36576" rIns="36576" tIns="18288" bIns="18288">
            <a:spAutoFit/>
          </a:bodyPr>
          <a:lstStyle/>
          <a:p>
            <a:pPr algn="r"/>
            <a:r>
              <a:rPr sz="2400" b="1">
                <a:solidFill>
                  <a:srgbClr val="7A1F3D"/>
                </a:solidFill>
                <a:latin typeface="Oswald"/>
              </a:rPr>
              <a:t>/ 5</a:t>
            </a:r>
          </a:p>
        </p:txBody>
      </p:sp>
      <p:sp>
        <p:nvSpPr>
          <p:cNvPr id="22" name="Rounded Rectangle 21"/>
          <p:cNvSpPr/>
          <p:nvPr/>
        </p:nvSpPr>
        <p:spPr>
          <a:xfrm>
            <a:off x="548640" y="4279392"/>
            <a:ext cx="3840480" cy="713232"/>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85800" y="4279392"/>
            <a:ext cx="3566160" cy="713232"/>
          </a:xfrm>
          <a:prstGeom prst="rect">
            <a:avLst/>
          </a:prstGeom>
          <a:noFill/>
        </p:spPr>
        <p:txBody>
          <a:bodyPr wrap="square" anchor="ctr" lIns="36576" rIns="36576" tIns="18288" bIns="18288">
            <a:spAutoFit/>
          </a:bodyPr>
          <a:lstStyle/>
          <a:p>
            <a:pPr algn="l"/>
            <a:r>
              <a:rPr sz="1900" b="1">
                <a:solidFill>
                  <a:srgbClr val="FFFFFF"/>
                </a:solidFill>
                <a:latin typeface="Oswald"/>
              </a:rPr>
              <a:t>SOUND DESIGN &amp; MIX QUALITY</a:t>
            </a:r>
          </a:p>
        </p:txBody>
      </p:sp>
      <p:sp>
        <p:nvSpPr>
          <p:cNvPr id="24" name="TextBox 23"/>
          <p:cNvSpPr txBox="1"/>
          <p:nvPr/>
        </p:nvSpPr>
        <p:spPr>
          <a:xfrm>
            <a:off x="4572000" y="4279392"/>
            <a:ext cx="6126480" cy="713232"/>
          </a:xfrm>
          <a:prstGeom prst="rect">
            <a:avLst/>
          </a:prstGeom>
          <a:noFill/>
        </p:spPr>
        <p:txBody>
          <a:bodyPr wrap="square" anchor="ctr" lIns="36576" rIns="36576" tIns="18288" bIns="18288">
            <a:spAutoFit/>
          </a:bodyPr>
          <a:lstStyle/>
          <a:p>
            <a:pPr algn="l"/>
            <a:r>
              <a:rPr sz="1800" b="0">
                <a:solidFill>
                  <a:srgbClr val="000000"/>
                </a:solidFill>
                <a:latin typeface="Source Sans 3"/>
              </a:rPr>
              <a:t>5 = Exceptional sound design; professional-quality mix</a:t>
            </a:r>
          </a:p>
        </p:txBody>
      </p:sp>
      <p:sp>
        <p:nvSpPr>
          <p:cNvPr id="25" name="TextBox 24"/>
          <p:cNvSpPr txBox="1"/>
          <p:nvPr/>
        </p:nvSpPr>
        <p:spPr>
          <a:xfrm>
            <a:off x="10744200" y="4279392"/>
            <a:ext cx="896112" cy="713232"/>
          </a:xfrm>
          <a:prstGeom prst="rect">
            <a:avLst/>
          </a:prstGeom>
          <a:noFill/>
        </p:spPr>
        <p:txBody>
          <a:bodyPr wrap="square" anchor="ctr" lIns="36576" rIns="36576" tIns="18288" bIns="18288">
            <a:spAutoFit/>
          </a:bodyPr>
          <a:lstStyle/>
          <a:p>
            <a:pPr algn="r"/>
            <a:r>
              <a:rPr sz="2400" b="1">
                <a:solidFill>
                  <a:srgbClr val="7A1F3D"/>
                </a:solidFill>
                <a:latin typeface="Oswald"/>
              </a:rPr>
              <a:t>/ 5</a:t>
            </a:r>
          </a:p>
        </p:txBody>
      </p:sp>
      <p:sp>
        <p:nvSpPr>
          <p:cNvPr id="26" name="Rounded Rectangle 25"/>
          <p:cNvSpPr/>
          <p:nvPr/>
        </p:nvSpPr>
        <p:spPr>
          <a:xfrm>
            <a:off x="548640" y="5102352"/>
            <a:ext cx="3840480" cy="713232"/>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5800" y="5102352"/>
            <a:ext cx="3566160" cy="713232"/>
          </a:xfrm>
          <a:prstGeom prst="rect">
            <a:avLst/>
          </a:prstGeom>
          <a:noFill/>
        </p:spPr>
        <p:txBody>
          <a:bodyPr wrap="square" anchor="ctr" lIns="36576" rIns="36576" tIns="18288" bIns="18288">
            <a:spAutoFit/>
          </a:bodyPr>
          <a:lstStyle/>
          <a:p>
            <a:pPr algn="l"/>
            <a:r>
              <a:rPr sz="1900" b="1">
                <a:solidFill>
                  <a:srgbClr val="FFFFFF"/>
                </a:solidFill>
                <a:latin typeface="Oswald"/>
              </a:rPr>
              <a:t>DOCUMENTATION &amp; PRESENTATION</a:t>
            </a:r>
          </a:p>
        </p:txBody>
      </p:sp>
      <p:sp>
        <p:nvSpPr>
          <p:cNvPr id="28" name="TextBox 27"/>
          <p:cNvSpPr txBox="1"/>
          <p:nvPr/>
        </p:nvSpPr>
        <p:spPr>
          <a:xfrm>
            <a:off x="4572000" y="5102352"/>
            <a:ext cx="6126480" cy="713232"/>
          </a:xfrm>
          <a:prstGeom prst="rect">
            <a:avLst/>
          </a:prstGeom>
          <a:noFill/>
        </p:spPr>
        <p:txBody>
          <a:bodyPr wrap="square" anchor="ctr" lIns="36576" rIns="36576" tIns="18288" bIns="18288">
            <a:spAutoFit/>
          </a:bodyPr>
          <a:lstStyle/>
          <a:p>
            <a:pPr algn="l"/>
            <a:r>
              <a:rPr sz="1800" b="0">
                <a:solidFill>
                  <a:srgbClr val="000000"/>
                </a:solidFill>
                <a:latin typeface="Source Sans 3"/>
              </a:rPr>
              <a:t>5 = Exceptional; thorough insight and polished delivery</a:t>
            </a:r>
          </a:p>
        </p:txBody>
      </p:sp>
      <p:sp>
        <p:nvSpPr>
          <p:cNvPr id="29" name="TextBox 28"/>
          <p:cNvSpPr txBox="1"/>
          <p:nvPr/>
        </p:nvSpPr>
        <p:spPr>
          <a:xfrm>
            <a:off x="10744200" y="5102352"/>
            <a:ext cx="896112" cy="713232"/>
          </a:xfrm>
          <a:prstGeom prst="rect">
            <a:avLst/>
          </a:prstGeom>
          <a:noFill/>
        </p:spPr>
        <p:txBody>
          <a:bodyPr wrap="square" anchor="ctr" lIns="36576" rIns="36576" tIns="18288" bIns="18288">
            <a:spAutoFit/>
          </a:bodyPr>
          <a:lstStyle/>
          <a:p>
            <a:pPr algn="r"/>
            <a:r>
              <a:rPr sz="2400" b="1">
                <a:solidFill>
                  <a:srgbClr val="7A1F3D"/>
                </a:solidFill>
                <a:latin typeface="Oswald"/>
              </a:rPr>
              <a:t>/ 5</a:t>
            </a:r>
          </a:p>
        </p:txBody>
      </p:sp>
      <p:sp>
        <p:nvSpPr>
          <p:cNvPr id="30" name="TextBox 29"/>
          <p:cNvSpPr txBox="1"/>
          <p:nvPr/>
        </p:nvSpPr>
        <p:spPr>
          <a:xfrm>
            <a:off x="548640" y="5943600"/>
            <a:ext cx="11091672" cy="411480"/>
          </a:xfrm>
          <a:prstGeom prst="rect">
            <a:avLst/>
          </a:prstGeom>
          <a:noFill/>
        </p:spPr>
        <p:txBody>
          <a:bodyPr wrap="square" anchor="t" lIns="36576" rIns="36576" tIns="18288" bIns="18288">
            <a:spAutoFit/>
          </a:bodyPr>
          <a:lstStyle/>
          <a:p>
            <a:pPr algn="r"/>
            <a:r>
              <a:rPr sz="2000" b="1">
                <a:solidFill>
                  <a:srgbClr val="000000"/>
                </a:solidFill>
                <a:latin typeface="Oswald"/>
              </a:rPr>
              <a:t>SCORED 1–5 · FINAL GRADE = AVERAGE OF YOUR SCORE AND MINE · / 25</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222992" y="274320"/>
            <a:ext cx="1417320" cy="384048"/>
          </a:xfrm>
          <a:prstGeom prst="roundRect">
            <a:avLst/>
          </a:prstGeom>
          <a:solidFill>
            <a:srgbClr val="7A1F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22992" y="274320"/>
            <a:ext cx="1417320" cy="384048"/>
          </a:xfrm>
          <a:prstGeom prst="rect">
            <a:avLst/>
          </a:prstGeom>
          <a:noFill/>
        </p:spPr>
        <p:txBody>
          <a:bodyPr wrap="square" anchor="ctr" lIns="36576" rIns="36576" tIns="18288" bIns="18288">
            <a:spAutoFit/>
          </a:bodyPr>
          <a:lstStyle/>
          <a:p>
            <a:pPr algn="ctr"/>
            <a:r>
              <a:rPr sz="1500" b="1">
                <a:solidFill>
                  <a:srgbClr val="FFFFFF"/>
                </a:solidFill>
                <a:latin typeface="Oswald"/>
              </a:rPr>
              <a:t>CLASS 7</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PRESENTATION DAY</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Anti-Music Manifesto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18</a:t>
            </a:r>
          </a:p>
        </p:txBody>
      </p:sp>
      <p:sp>
        <p:nvSpPr>
          <p:cNvPr id="10" name="Oval 9"/>
          <p:cNvSpPr/>
          <p:nvPr/>
        </p:nvSpPr>
        <p:spPr>
          <a:xfrm>
            <a:off x="548640" y="2167128"/>
            <a:ext cx="146304" cy="146304"/>
          </a:xfrm>
          <a:prstGeom prst="ellipse">
            <a:avLst/>
          </a:prstGeom>
          <a:solidFill>
            <a:srgbClr val="7A1F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 y="201168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Play your piece</a:t>
            </a:r>
          </a:p>
        </p:txBody>
      </p:sp>
      <p:sp>
        <p:nvSpPr>
          <p:cNvPr id="12" name="Oval 11"/>
          <p:cNvSpPr/>
          <p:nvPr/>
        </p:nvSpPr>
        <p:spPr>
          <a:xfrm>
            <a:off x="548640" y="3117088"/>
            <a:ext cx="146304" cy="146304"/>
          </a:xfrm>
          <a:prstGeom prst="ellipse">
            <a:avLst/>
          </a:prstGeom>
          <a:solidFill>
            <a:srgbClr val="7A1F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96112" y="296164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Say the rule you broke, and why</a:t>
            </a:r>
          </a:p>
        </p:txBody>
      </p:sp>
      <p:sp>
        <p:nvSpPr>
          <p:cNvPr id="14" name="Oval 13"/>
          <p:cNvSpPr/>
          <p:nvPr/>
        </p:nvSpPr>
        <p:spPr>
          <a:xfrm>
            <a:off x="548640" y="4067048"/>
            <a:ext cx="146304" cy="146304"/>
          </a:xfrm>
          <a:prstGeom prst="ellipse">
            <a:avLst/>
          </a:prstGeom>
          <a:solidFill>
            <a:srgbClr val="7A1F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6112" y="391160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Your Padlet post: 3 questions about your project</a:t>
            </a:r>
          </a:p>
        </p:txBody>
      </p:sp>
      <p:sp>
        <p:nvSpPr>
          <p:cNvPr id="16" name="Oval 15"/>
          <p:cNvSpPr/>
          <p:nvPr/>
        </p:nvSpPr>
        <p:spPr>
          <a:xfrm>
            <a:off x="548640" y="5017008"/>
            <a:ext cx="146304" cy="146304"/>
          </a:xfrm>
          <a:prstGeom prst="ellipse">
            <a:avLst/>
          </a:prstGeom>
          <a:solidFill>
            <a:srgbClr val="7A1F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6112" y="486156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Answer at least 2 of each classmate’s 3</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222992" y="274320"/>
            <a:ext cx="1417320" cy="384048"/>
          </a:xfrm>
          <a:prstGeom prst="roundRect">
            <a:avLst/>
          </a:prstGeom>
          <a:solidFill>
            <a:srgbClr val="7A1F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22992" y="274320"/>
            <a:ext cx="1417320" cy="384048"/>
          </a:xfrm>
          <a:prstGeom prst="rect">
            <a:avLst/>
          </a:prstGeom>
          <a:noFill/>
        </p:spPr>
        <p:txBody>
          <a:bodyPr wrap="square" anchor="ctr" lIns="36576" rIns="36576" tIns="18288" bIns="18288">
            <a:spAutoFit/>
          </a:bodyPr>
          <a:lstStyle/>
          <a:p>
            <a:pPr algn="ctr"/>
            <a:r>
              <a:rPr sz="1500" b="1">
                <a:solidFill>
                  <a:srgbClr val="FFFFFF"/>
                </a:solidFill>
                <a:latin typeface="Oswald"/>
              </a:rPr>
              <a:t>CLASS 7</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ONE LAST THING…</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Anti-Music Manifesto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19</a:t>
            </a:r>
          </a:p>
        </p:txBody>
      </p:sp>
      <p:sp>
        <p:nvSpPr>
          <p:cNvPr id="10" name="Oval 9"/>
          <p:cNvSpPr/>
          <p:nvPr/>
        </p:nvSpPr>
        <p:spPr>
          <a:xfrm>
            <a:off x="548640" y="2057400"/>
            <a:ext cx="146304" cy="146304"/>
          </a:xfrm>
          <a:prstGeom prst="ellipse">
            <a:avLst/>
          </a:prstGeom>
          <a:solidFill>
            <a:srgbClr val="7A1F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 y="1920240"/>
            <a:ext cx="5486400" cy="609600"/>
          </a:xfrm>
          <a:prstGeom prst="rect">
            <a:avLst/>
          </a:prstGeom>
          <a:noFill/>
        </p:spPr>
        <p:txBody>
          <a:bodyPr wrap="square" anchor="t" lIns="36576" rIns="36576" tIns="18288" bIns="18288">
            <a:spAutoFit/>
          </a:bodyPr>
          <a:lstStyle/>
          <a:p>
            <a:pPr algn="l"/>
            <a:r>
              <a:rPr sz="3000" b="0">
                <a:solidFill>
                  <a:srgbClr val="000000"/>
                </a:solidFill>
                <a:latin typeface="Source Sans 3"/>
              </a:rPr>
              <a:t>You picked a rule.</a:t>
            </a:r>
          </a:p>
        </p:txBody>
      </p:sp>
      <p:sp>
        <p:nvSpPr>
          <p:cNvPr id="12" name="Oval 11"/>
          <p:cNvSpPr/>
          <p:nvPr/>
        </p:nvSpPr>
        <p:spPr>
          <a:xfrm>
            <a:off x="548640" y="2781300"/>
            <a:ext cx="146304" cy="146304"/>
          </a:xfrm>
          <a:prstGeom prst="ellipse">
            <a:avLst/>
          </a:prstGeom>
          <a:solidFill>
            <a:srgbClr val="7A1F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96112" y="2644140"/>
            <a:ext cx="5486400" cy="609600"/>
          </a:xfrm>
          <a:prstGeom prst="rect">
            <a:avLst/>
          </a:prstGeom>
          <a:noFill/>
        </p:spPr>
        <p:txBody>
          <a:bodyPr wrap="square" anchor="t" lIns="36576" rIns="36576" tIns="18288" bIns="18288">
            <a:spAutoFit/>
          </a:bodyPr>
          <a:lstStyle/>
          <a:p>
            <a:pPr algn="l"/>
            <a:r>
              <a:rPr sz="3000" b="0">
                <a:solidFill>
                  <a:srgbClr val="000000"/>
                </a:solidFill>
                <a:latin typeface="Source Sans 3"/>
              </a:rPr>
              <a:t>You broke it on purpose.</a:t>
            </a:r>
          </a:p>
        </p:txBody>
      </p:sp>
      <p:sp>
        <p:nvSpPr>
          <p:cNvPr id="14" name="Oval 13"/>
          <p:cNvSpPr/>
          <p:nvPr/>
        </p:nvSpPr>
        <p:spPr>
          <a:xfrm>
            <a:off x="548640" y="3505200"/>
            <a:ext cx="146304" cy="146304"/>
          </a:xfrm>
          <a:prstGeom prst="ellipse">
            <a:avLst/>
          </a:prstGeom>
          <a:solidFill>
            <a:srgbClr val="7A1F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6112" y="3368040"/>
            <a:ext cx="5486400" cy="609600"/>
          </a:xfrm>
          <a:prstGeom prst="rect">
            <a:avLst/>
          </a:prstGeom>
          <a:noFill/>
        </p:spPr>
        <p:txBody>
          <a:bodyPr wrap="square" anchor="t" lIns="36576" rIns="36576" tIns="18288" bIns="18288">
            <a:spAutoFit/>
          </a:bodyPr>
          <a:lstStyle/>
          <a:p>
            <a:pPr algn="l"/>
            <a:r>
              <a:rPr sz="3000" b="0">
                <a:solidFill>
                  <a:srgbClr val="000000"/>
                </a:solidFill>
                <a:latin typeface="Source Sans 3"/>
              </a:rPr>
              <a:t>You said why.</a:t>
            </a:r>
          </a:p>
        </p:txBody>
      </p:sp>
      <p:sp>
        <p:nvSpPr>
          <p:cNvPr id="16" name="Oval 15"/>
          <p:cNvSpPr/>
          <p:nvPr/>
        </p:nvSpPr>
        <p:spPr>
          <a:xfrm>
            <a:off x="548640" y="4229100"/>
            <a:ext cx="146304" cy="146304"/>
          </a:xfrm>
          <a:prstGeom prst="ellipse">
            <a:avLst/>
          </a:prstGeom>
          <a:solidFill>
            <a:srgbClr val="7A1F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6112" y="4091939"/>
            <a:ext cx="5486400" cy="609600"/>
          </a:xfrm>
          <a:prstGeom prst="rect">
            <a:avLst/>
          </a:prstGeom>
          <a:noFill/>
        </p:spPr>
        <p:txBody>
          <a:bodyPr wrap="square" anchor="t" lIns="36576" rIns="36576" tIns="18288" bIns="18288">
            <a:spAutoFit/>
          </a:bodyPr>
          <a:lstStyle/>
          <a:p>
            <a:pPr algn="l"/>
            <a:r>
              <a:rPr sz="3000" b="0">
                <a:solidFill>
                  <a:srgbClr val="000000"/>
                </a:solidFill>
                <a:latin typeface="Source Sans 3"/>
              </a:rPr>
              <a:t>Now the noise has a vision.</a:t>
            </a:r>
          </a:p>
        </p:txBody>
      </p:sp>
      <p:pic>
        <p:nvPicPr>
          <p:cNvPr id="18" name="Picture 17" descr="deck-hero.png"/>
          <p:cNvPicPr>
            <a:picLocks noChangeAspect="1"/>
          </p:cNvPicPr>
          <p:nvPr/>
        </p:nvPicPr>
        <p:blipFill>
          <a:blip r:embed="rId2"/>
          <a:stretch>
            <a:fillRect/>
          </a:stretch>
        </p:blipFill>
        <p:spPr>
          <a:xfrm>
            <a:off x="6519672" y="2103120"/>
            <a:ext cx="5120640" cy="2611526"/>
          </a:xfrm>
          <a:prstGeom prst="rect">
            <a:avLst/>
          </a:prstGeom>
        </p:spPr>
      </p:pic>
      <p:sp>
        <p:nvSpPr>
          <p:cNvPr id="19" name="Rounded Rectangle 18"/>
          <p:cNvSpPr/>
          <p:nvPr/>
        </p:nvSpPr>
        <p:spPr>
          <a:xfrm>
            <a:off x="548640" y="5349240"/>
            <a:ext cx="5852160" cy="960120"/>
          </a:xfrm>
          <a:prstGeom prst="roundRect">
            <a:avLst/>
          </a:prstGeom>
          <a:solidFill>
            <a:srgbClr val="7A1F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1520" y="5394960"/>
            <a:ext cx="5486400" cy="365760"/>
          </a:xfrm>
          <a:prstGeom prst="rect">
            <a:avLst/>
          </a:prstGeom>
          <a:noFill/>
        </p:spPr>
        <p:txBody>
          <a:bodyPr wrap="square" anchor="t" lIns="36576" rIns="36576" tIns="18288" bIns="18288">
            <a:spAutoFit/>
          </a:bodyPr>
          <a:lstStyle/>
          <a:p>
            <a:pPr algn="l"/>
            <a:r>
              <a:rPr sz="2000" b="1">
                <a:solidFill>
                  <a:srgbClr val="FFFFFF"/>
                </a:solidFill>
                <a:latin typeface="Oswald"/>
              </a:rPr>
              <a:t>REFLECTION · PAGE 22</a:t>
            </a:r>
          </a:p>
        </p:txBody>
      </p:sp>
      <p:sp>
        <p:nvSpPr>
          <p:cNvPr id="21" name="TextBox 20"/>
          <p:cNvSpPr txBox="1"/>
          <p:nvPr/>
        </p:nvSpPr>
        <p:spPr>
          <a:xfrm>
            <a:off x="731520" y="5760720"/>
            <a:ext cx="5486400" cy="502920"/>
          </a:xfrm>
          <a:prstGeom prst="rect">
            <a:avLst/>
          </a:prstGeom>
          <a:noFill/>
        </p:spPr>
        <p:txBody>
          <a:bodyPr wrap="square" anchor="t" lIns="36576" rIns="36576" tIns="18288" bIns="18288">
            <a:spAutoFit/>
          </a:bodyPr>
          <a:lstStyle/>
          <a:p>
            <a:pPr algn="l"/>
            <a:r>
              <a:rPr sz="1500" b="0">
                <a:solidFill>
                  <a:srgbClr val="FFFFFF"/>
                </a:solidFill>
                <a:latin typeface="Source Sans 3"/>
              </a:rPr>
              <a:t>Write it or talk it through: what went well, what was hard, what you would change.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Anti-Music Manifesto · Intro deck</dc:title>
  <dc:subject/>
  <dc:creator>Brian Lotze · Hudson Beat</dc:creator>
  <cp:keywords/>
  <dc:description>Designed with the help of digital and AI tools, and checked by hand.</dc:description>
  <cp:lastModifiedBy>Steve Canny</cp:lastModifiedBy>
  <cp:revision>1</cp:revision>
  <dcterms:created xsi:type="dcterms:W3CDTF">2013-01-27T09:14:16Z</dcterms:created>
  <dcterms:modified xsi:type="dcterms:W3CDTF">2013-01-27T09:15:58Z</dcterms:modified>
  <cp:category/>
</cp:coreProperties>
</file>