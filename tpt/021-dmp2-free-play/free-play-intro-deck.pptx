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1, the first minute. No audio is included in this deck. Open with my overview: this is your chance to make whatever you want. Use Logic Pro to explore any style, technique or idea that excites you. The only rule is to have a plan and follow through. Say that the project is about finding a creative voice and showing you can manage a project from start to finish.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three questions aloud and take a few answers. Nothing is played from a speaker and no one else's music is used. The point is that Free Play only works if students pick something they care about, and that is harder than it sounds: the freedom is the challenge. This sets up my first struggle, analysis paralysis, which comes up on slide 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overview and fourth goal, shortened to fit the slide. Use Logic Pro to explore any style, technique or idea that excites you. The only rule: have a plan and follow through. The project is about finding your creative voice and showing that you can manage a project from start to finish. Goal four: build confidence in making creative decisions independently. Students write the four vocabulary terms in their own words on the vocabulary page: DAW, bounce or export, arrangement and project proposal.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shape of the project, from my pacing guide. Class 1: introduction, project overview, explore Logic, brainstorm ideas. Class 2: write and submit project proposals on your class page. Classes 3 to 5 are working days: compose, build, refine. Class 6: final mix, bounce, and prepare presentations, and students write their three Padlet feedback questions. Class 7: presentations with Padlet Q and A peer feedback. Hand out the project sheet now.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1. My third goal is to practice the full production cycle: idea, composition, mix, presentation. Every project in this course follows it, and this is the first time students run it with no rules about what to make. Point to each box and say when it happens: the idea today and Class 2, composition on the working days, the mix and bounce in Class 6, the presentation in Class 7.</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of the project sheet, shortened to fit the slide: explore. Open Logic, experiment with sounds and brainstorm ideas. The last three lines on the slide are the kit's own suggestions, not my steps: write down two or three ideas, pick one before the end of class, and use the Idea sketchpad. If a student cannot pick, offer the Idea starters page; my Easier variation is a short list of prompts to choose from.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tips 1, 2 and 3, shortened to fit the slide. Tip 1: start with a clear idea, but let it evolve; some of the best projects shift direction. Tip 2: do not spend three days picking sounds; get something down early and refine as you go. Tip 3: if you get stuck, listen to music that inspires you and notice what they did. This answers my first struggle, analysis paralysis: encourage students to commit to an idea early and iterate.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2. Step 2 of the project sheet, shortened here: write a paragraph describing your concept, your tools, and what the final product will sound like, and submit it on your class page. Those are the three boxes. My second struggle is weak proposals: some students write one vague sentence, so push them to describe what the track will sound like and which tools they will use. The Proposal planner has a sentence frame for each part.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contrast; the vague example is the kit's own, not mine. Read it aloud, then ask what it would sound like: nobody can say. Then read the clear version from the worked example page, an invented piece on paper. A clear proposal gives the concept, the tools and the sound. My second struggle, shortened: a one-sentence proposal needs to be pushed to say what the track will sound like and which tools it will use.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checklist is the kit's own, built from step 2 and my second struggle; step 2 is shortened here. Students tick each line on the Proposal planner before they submit. Read every proposal before the student starts building, and send a vague one back with a question rather than a grade. The proposal also becomes evidence for the Documentation and Presentation row of my rubric.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3 is the first working day, and Classes 4 and 5 continue it. Steps 3 and 4 of the project sheet, shortened to fit the slide. Step 3, build: lay down your foundation of drums, chords and bass and begin shaping your arrangement. Step 4, develop: add layers, melodies, FX and transitions, and refine your sound and structure. Hand out the Work plan so students can say what they will finish each class.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3. An invented piece, Late Bus Home, described on paper; nothing here is audio. It is 96 beats per minute and 60 bars of 4/4, which is two minutes thirty. Read the sections across the top: intro, verse, chorus, verse, chorus, a short break, a last chorus and an outro. The lanes show drums, bass and chords entering after the intro, the melody in the choruses and the break, and short risers before each chorus. The full proposal, the arrangement numbers and a mix plan are on the worked example page.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4, a working day. These four lines are the kit's own suggestions for the middle of the project, not my steps. Ask each student to read their proposal and say whether the track still matches it; it can change, but they should know it has. A transition between sections, a riser or a drop out, is a quick way to make a loop feel like a piece. Saving a new version first means a bad experiment costs nothing.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third struggle, shortened: students underestimate how long mixing takes, so remind them to leave at least one full class for final mixing and bounce. Requirement 3, shortened: apply basic mixing (EQ, panning and volume balancing) on all tracks. Tip 4, shortened: listen to your track on headphones and speakers before you call it done. Ask students to say which class they will start mixing on and write it on the Work plan.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6. Steps 5 and 6 of the project sheet, shortened to fit the slide. Step 5: mix, balancing your levels, applying EQ and panning and cleaning up your project. Step 6: finalize, bouncing your final track and preparing your presentation. The last line is from my pacing guide: students write their three Padlet feedback questions today. Zip the .logicx in Finder (Control-click, Compress).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submission checklist from the project sheet, shortened to fit the slide. Show where students upload (your class page) and where the Padlet board is. The proposal should already be in from Class 2; if it is not, this is the last chance.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rubric: five categories, each scored 1 to 5, for a total out of 25. Students score themselves first; the final grade is the average of their score and mine. The slide reads the 5 column of each category aloud. Hand out the rubric page so students can self-score before they present.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7, presentations with Padlet Q and A. Step 7 of the project sheet, shortened to fit the slide: create your own Padlet post with 3 questions you want classmates to answer, present to the class, and during classmates' presentations answer at least 2 of their 3 questions. Remind the class that thoughtful questions lead to better feedback, my fourth struggle. Ask each student to say what they set out to make before they play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what my teacher notes say this project does: it is a diagnostic project as much as a creative one, and it sets up the proposal and Padlet Q and A workflow students will use all semester. Tell them the next project starts from a menu, and they will write another proposal. Reflection: point students to the Reflection page. A reflection is a written or oral conversation about how they did on the project and what they would do differently next time; they choose to write it or to talk it through with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384048"/>
            <a:ext cx="12191695" cy="457200"/>
          </a:xfrm>
          <a:prstGeom prst="rect">
            <a:avLst/>
          </a:prstGeom>
          <a:noFill/>
        </p:spPr>
        <p:txBody>
          <a:bodyPr wrap="square" anchor="t" lIns="36576" rIns="36576" tIns="18288" bIns="18288">
            <a:spAutoFit/>
          </a:bodyPr>
          <a:lstStyle/>
          <a:p>
            <a:pPr algn="ctr"/>
            <a:r>
              <a:rPr sz="1600" b="0" spc="800">
                <a:solidFill>
                  <a:srgbClr val="000000"/>
                </a:solidFill>
                <a:latin typeface="Oswald"/>
              </a:rPr>
              <a:t>HUDSON BEAT</a:t>
            </a:r>
          </a:p>
        </p:txBody>
      </p:sp>
      <p:pic>
        <p:nvPicPr>
          <p:cNvPr id="3" name="Picture 2" descr="deck-hero.png"/>
          <p:cNvPicPr>
            <a:picLocks noChangeAspect="1"/>
          </p:cNvPicPr>
          <p:nvPr/>
        </p:nvPicPr>
        <p:blipFill>
          <a:blip r:embed="rId2"/>
          <a:stretch>
            <a:fillRect/>
          </a:stretch>
        </p:blipFill>
        <p:spPr>
          <a:xfrm>
            <a:off x="3182318" y="896112"/>
            <a:ext cx="5827058" cy="2971800"/>
          </a:xfrm>
          <a:prstGeom prst="rect">
            <a:avLst/>
          </a:prstGeom>
        </p:spPr>
      </p:pic>
      <p:sp>
        <p:nvSpPr>
          <p:cNvPr id="4" name="TextBox 3"/>
          <p:cNvSpPr txBox="1"/>
          <p:nvPr/>
        </p:nvSpPr>
        <p:spPr>
          <a:xfrm>
            <a:off x="0" y="3931920"/>
            <a:ext cx="12191695" cy="1005840"/>
          </a:xfrm>
          <a:prstGeom prst="rect">
            <a:avLst/>
          </a:prstGeom>
          <a:noFill/>
        </p:spPr>
        <p:txBody>
          <a:bodyPr wrap="square" anchor="t" lIns="36576" rIns="36576" tIns="18288" bIns="18288">
            <a:spAutoFit/>
          </a:bodyPr>
          <a:lstStyle/>
          <a:p>
            <a:pPr algn="ctr"/>
            <a:r>
              <a:rPr sz="7200" b="1">
                <a:solidFill>
                  <a:srgbClr val="000000"/>
                </a:solidFill>
                <a:latin typeface="Oswald"/>
              </a:rPr>
              <a:t>FREE PLAY</a:t>
            </a:r>
          </a:p>
        </p:txBody>
      </p:sp>
      <p:sp>
        <p:nvSpPr>
          <p:cNvPr id="5" name="TextBox 4"/>
          <p:cNvSpPr txBox="1"/>
          <p:nvPr/>
        </p:nvSpPr>
        <p:spPr>
          <a:xfrm>
            <a:off x="0" y="5029200"/>
            <a:ext cx="12191695" cy="548640"/>
          </a:xfrm>
          <a:prstGeom prst="rect">
            <a:avLst/>
          </a:prstGeom>
          <a:noFill/>
        </p:spPr>
        <p:txBody>
          <a:bodyPr wrap="square" anchor="t" lIns="36576" rIns="36576" tIns="18288" bIns="18288">
            <a:spAutoFit/>
          </a:bodyPr>
          <a:lstStyle/>
          <a:p>
            <a:pPr algn="ctr"/>
            <a:r>
              <a:rPr sz="2800" b="0">
                <a:solidFill>
                  <a:srgbClr val="000000"/>
                </a:solidFill>
                <a:latin typeface="Oswald"/>
              </a:rPr>
              <a:t>Make whatever you want. Finish it.</a:t>
            </a:r>
          </a:p>
        </p:txBody>
      </p:sp>
      <p:sp>
        <p:nvSpPr>
          <p:cNvPr id="6" name="Rectangle 5"/>
          <p:cNvSpPr/>
          <p:nvPr/>
        </p:nvSpPr>
        <p:spPr>
          <a:xfrm>
            <a:off x="0" y="5989320"/>
            <a:ext cx="12191695" cy="8686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6108192"/>
            <a:ext cx="12191695" cy="548640"/>
          </a:xfrm>
          <a:prstGeom prst="rect">
            <a:avLst/>
          </a:prstGeom>
          <a:noFill/>
        </p:spPr>
        <p:txBody>
          <a:bodyPr wrap="square" anchor="t" lIns="36576" rIns="36576" tIns="18288" bIns="18288">
            <a:spAutoFit/>
          </a:bodyPr>
          <a:lstStyle/>
          <a:p>
            <a:pPr algn="ctr"/>
            <a:r>
              <a:rPr sz="2000" b="0" spc="200">
                <a:solidFill>
                  <a:srgbClr val="FFFFFF"/>
                </a:solidFill>
                <a:latin typeface="Oswald"/>
              </a:rPr>
              <a:t>DIGITAL MUSIC PRODUCTION 2 · CLASS 1 · MAKE WHATEVER YOU WANT IN LOGIC PRO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THINK: WHAT WOULD YOU MAKE?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Free Play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a:t>
            </a:r>
          </a:p>
        </p:txBody>
      </p:sp>
      <p:sp>
        <p:nvSpPr>
          <p:cNvPr id="10" name="Rounded Rectangle 9"/>
          <p:cNvSpPr/>
          <p:nvPr/>
        </p:nvSpPr>
        <p:spPr>
          <a:xfrm>
            <a:off x="548640" y="1828800"/>
            <a:ext cx="11091672"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20240"/>
            <a:ext cx="10515600" cy="640080"/>
          </a:xfrm>
          <a:prstGeom prst="rect">
            <a:avLst/>
          </a:prstGeom>
          <a:noFill/>
        </p:spPr>
        <p:txBody>
          <a:bodyPr wrap="square" anchor="t" lIns="36576" rIns="36576" tIns="18288" bIns="18288">
            <a:spAutoFit/>
          </a:bodyPr>
          <a:lstStyle/>
          <a:p>
            <a:pPr algn="l"/>
            <a:r>
              <a:rPr sz="3600" b="1">
                <a:solidFill>
                  <a:srgbClr val="FFFFFF"/>
                </a:solidFill>
                <a:latin typeface="Oswald"/>
              </a:rPr>
              <a:t>IF ANYTHING WERE ALLOWED</a:t>
            </a:r>
          </a:p>
        </p:txBody>
      </p:sp>
      <p:sp>
        <p:nvSpPr>
          <p:cNvPr id="12" name="TextBox 11"/>
          <p:cNvSpPr txBox="1"/>
          <p:nvPr/>
        </p:nvSpPr>
        <p:spPr>
          <a:xfrm>
            <a:off x="822960" y="2578608"/>
            <a:ext cx="10515600" cy="457200"/>
          </a:xfrm>
          <a:prstGeom prst="rect">
            <a:avLst/>
          </a:prstGeom>
          <a:noFill/>
        </p:spPr>
        <p:txBody>
          <a:bodyPr wrap="square" anchor="t" lIns="36576" rIns="36576" tIns="18288" bIns="18288">
            <a:spAutoFit/>
          </a:bodyPr>
          <a:lstStyle/>
          <a:p>
            <a:pPr algn="l"/>
            <a:r>
              <a:rPr sz="2400" b="0">
                <a:solidFill>
                  <a:srgbClr val="D5D6F0"/>
                </a:solidFill>
                <a:latin typeface="Oswald"/>
              </a:rPr>
              <a:t>Think, then share</a:t>
            </a:r>
          </a:p>
        </p:txBody>
      </p:sp>
      <p:sp>
        <p:nvSpPr>
          <p:cNvPr id="13" name="TextBox 12"/>
          <p:cNvSpPr txBox="1"/>
          <p:nvPr/>
        </p:nvSpPr>
        <p:spPr>
          <a:xfrm>
            <a:off x="822960" y="3090672"/>
            <a:ext cx="10515600" cy="457200"/>
          </a:xfrm>
          <a:prstGeom prst="rect">
            <a:avLst/>
          </a:prstGeom>
          <a:noFill/>
        </p:spPr>
        <p:txBody>
          <a:bodyPr wrap="square" anchor="t" lIns="36576" rIns="36576" tIns="18288" bIns="18288">
            <a:spAutoFit/>
          </a:bodyPr>
          <a:lstStyle/>
          <a:p>
            <a:pPr algn="l"/>
            <a:r>
              <a:rPr sz="1800" b="0">
                <a:solidFill>
                  <a:srgbClr val="FFFFFF"/>
                </a:solidFill>
                <a:latin typeface="Source Sans 3"/>
              </a:rPr>
              <a:t>Teacher: no audio is needed. Ask the questions aloud and take a few answers.</a:t>
            </a:r>
          </a:p>
        </p:txBody>
      </p:sp>
      <p:sp>
        <p:nvSpPr>
          <p:cNvPr id="14" name="Oval 13"/>
          <p:cNvSpPr/>
          <p:nvPr/>
        </p:nvSpPr>
        <p:spPr>
          <a:xfrm>
            <a:off x="548640" y="4069080"/>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319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If nobody could say no, what would you make?</a:t>
            </a:r>
          </a:p>
        </p:txBody>
      </p:sp>
      <p:sp>
        <p:nvSpPr>
          <p:cNvPr id="16" name="Oval 15"/>
          <p:cNvSpPr/>
          <p:nvPr/>
        </p:nvSpPr>
        <p:spPr>
          <a:xfrm>
            <a:off x="548640" y="4678680"/>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5415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style or sound do you keep coming back to?</a:t>
            </a:r>
          </a:p>
        </p:txBody>
      </p:sp>
      <p:sp>
        <p:nvSpPr>
          <p:cNvPr id="18" name="Oval 17"/>
          <p:cNvSpPr/>
          <p:nvPr/>
        </p:nvSpPr>
        <p:spPr>
          <a:xfrm>
            <a:off x="548640" y="5288280"/>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1511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is one thing you want to try in Logic?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IS FREE PLAY?</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Free Play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3</a:t>
            </a:r>
          </a:p>
        </p:txBody>
      </p:sp>
      <p:sp>
        <p:nvSpPr>
          <p:cNvPr id="10" name="Oval 9"/>
          <p:cNvSpPr/>
          <p:nvPr/>
        </p:nvSpPr>
        <p:spPr>
          <a:xfrm>
            <a:off x="548640" y="216712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Any style, technique or idea that excites you</a:t>
            </a:r>
          </a:p>
        </p:txBody>
      </p:sp>
      <p:sp>
        <p:nvSpPr>
          <p:cNvPr id="12" name="Oval 11"/>
          <p:cNvSpPr/>
          <p:nvPr/>
        </p:nvSpPr>
        <p:spPr>
          <a:xfrm>
            <a:off x="548640" y="311708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One rule: have a plan and follow through</a:t>
            </a:r>
          </a:p>
        </p:txBody>
      </p:sp>
      <p:sp>
        <p:nvSpPr>
          <p:cNvPr id="14" name="Oval 13"/>
          <p:cNvSpPr/>
          <p:nvPr/>
        </p:nvSpPr>
        <p:spPr>
          <a:xfrm>
            <a:off x="548640" y="406704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Show you can manage a project from start to finish</a:t>
            </a:r>
          </a:p>
        </p:txBody>
      </p:sp>
      <p:sp>
        <p:nvSpPr>
          <p:cNvPr id="16" name="Oval 15"/>
          <p:cNvSpPr/>
          <p:nvPr/>
        </p:nvSpPr>
        <p:spPr>
          <a:xfrm>
            <a:off x="548640" y="501700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Goal: build confidence in your own creative decisions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SEVEN CLASSES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Free Play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4</a:t>
            </a:r>
          </a:p>
        </p:txBody>
      </p:sp>
      <p:sp>
        <p:nvSpPr>
          <p:cNvPr id="10" name="Rounded Rectangle 9"/>
          <p:cNvSpPr/>
          <p:nvPr/>
        </p:nvSpPr>
        <p:spPr>
          <a:xfrm>
            <a:off x="548640" y="1810512"/>
            <a:ext cx="1554480" cy="523820"/>
          </a:xfrm>
          <a:prstGeom prst="roundRect">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10512"/>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1</a:t>
            </a:r>
          </a:p>
        </p:txBody>
      </p:sp>
      <p:sp>
        <p:nvSpPr>
          <p:cNvPr id="12" name="TextBox 11"/>
          <p:cNvSpPr txBox="1"/>
          <p:nvPr/>
        </p:nvSpPr>
        <p:spPr>
          <a:xfrm>
            <a:off x="2286000" y="1810512"/>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What would you make? · production cycle · explore · commit early</a:t>
            </a:r>
          </a:p>
        </p:txBody>
      </p:sp>
      <p:sp>
        <p:nvSpPr>
          <p:cNvPr id="13" name="Rounded Rectangle 12"/>
          <p:cNvSpPr/>
          <p:nvPr/>
        </p:nvSpPr>
        <p:spPr>
          <a:xfrm>
            <a:off x="548640" y="2444060"/>
            <a:ext cx="1554480" cy="523820"/>
          </a:xfrm>
          <a:prstGeom prst="roundRect">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444060"/>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2</a:t>
            </a:r>
          </a:p>
        </p:txBody>
      </p:sp>
      <p:sp>
        <p:nvSpPr>
          <p:cNvPr id="15" name="TextBox 14"/>
          <p:cNvSpPr txBox="1"/>
          <p:nvPr/>
        </p:nvSpPr>
        <p:spPr>
          <a:xfrm>
            <a:off x="2286000" y="2444060"/>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Three parts of a proposal · vague or clear · before you submit</a:t>
            </a:r>
          </a:p>
        </p:txBody>
      </p:sp>
      <p:sp>
        <p:nvSpPr>
          <p:cNvPr id="16" name="Rounded Rectangle 15"/>
          <p:cNvSpPr/>
          <p:nvPr/>
        </p:nvSpPr>
        <p:spPr>
          <a:xfrm>
            <a:off x="548640" y="3077609"/>
            <a:ext cx="1554480" cy="523820"/>
          </a:xfrm>
          <a:prstGeom prst="roundRect">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077609"/>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3</a:t>
            </a:r>
          </a:p>
        </p:txBody>
      </p:sp>
      <p:sp>
        <p:nvSpPr>
          <p:cNvPr id="18" name="TextBox 17"/>
          <p:cNvSpPr txBox="1"/>
          <p:nvPr/>
        </p:nvSpPr>
        <p:spPr>
          <a:xfrm>
            <a:off x="2286000" y="3077609"/>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build, develop, worked example</a:t>
            </a:r>
          </a:p>
        </p:txBody>
      </p:sp>
      <p:sp>
        <p:nvSpPr>
          <p:cNvPr id="19" name="Rounded Rectangle 18"/>
          <p:cNvSpPr/>
          <p:nvPr/>
        </p:nvSpPr>
        <p:spPr>
          <a:xfrm>
            <a:off x="548640" y="3711157"/>
            <a:ext cx="1554480" cy="523820"/>
          </a:xfrm>
          <a:prstGeom prst="roundRect">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711157"/>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4</a:t>
            </a:r>
          </a:p>
        </p:txBody>
      </p:sp>
      <p:sp>
        <p:nvSpPr>
          <p:cNvPr id="21" name="TextBox 20"/>
          <p:cNvSpPr txBox="1"/>
          <p:nvPr/>
        </p:nvSpPr>
        <p:spPr>
          <a:xfrm>
            <a:off x="2286000" y="3711157"/>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keep building, protect your mix time</a:t>
            </a:r>
          </a:p>
        </p:txBody>
      </p:sp>
      <p:sp>
        <p:nvSpPr>
          <p:cNvPr id="22" name="Rounded Rectangle 21"/>
          <p:cNvSpPr/>
          <p:nvPr/>
        </p:nvSpPr>
        <p:spPr>
          <a:xfrm>
            <a:off x="548640" y="4344706"/>
            <a:ext cx="1554480" cy="52382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344706"/>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5</a:t>
            </a:r>
          </a:p>
        </p:txBody>
      </p:sp>
      <p:sp>
        <p:nvSpPr>
          <p:cNvPr id="24" name="TextBox 23"/>
          <p:cNvSpPr txBox="1"/>
          <p:nvPr/>
        </p:nvSpPr>
        <p:spPr>
          <a:xfrm>
            <a:off x="2286000" y="4344706"/>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compose, build, refine</a:t>
            </a:r>
          </a:p>
        </p:txBody>
      </p:sp>
      <p:sp>
        <p:nvSpPr>
          <p:cNvPr id="25" name="Rounded Rectangle 24"/>
          <p:cNvSpPr/>
          <p:nvPr/>
        </p:nvSpPr>
        <p:spPr>
          <a:xfrm>
            <a:off x="548640" y="4978254"/>
            <a:ext cx="1554480" cy="523820"/>
          </a:xfrm>
          <a:prstGeom prst="roundRect">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978254"/>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6</a:t>
            </a:r>
          </a:p>
        </p:txBody>
      </p:sp>
      <p:sp>
        <p:nvSpPr>
          <p:cNvPr id="27" name="TextBox 26"/>
          <p:cNvSpPr txBox="1"/>
          <p:nvPr/>
        </p:nvSpPr>
        <p:spPr>
          <a:xfrm>
            <a:off x="2286000" y="4978254"/>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Mix · bounce · checklist · rubric</a:t>
            </a:r>
          </a:p>
        </p:txBody>
      </p:sp>
      <p:sp>
        <p:nvSpPr>
          <p:cNvPr id="28" name="Rounded Rectangle 27"/>
          <p:cNvSpPr/>
          <p:nvPr/>
        </p:nvSpPr>
        <p:spPr>
          <a:xfrm>
            <a:off x="548640" y="5611803"/>
            <a:ext cx="1554480" cy="523820"/>
          </a:xfrm>
          <a:prstGeom prst="roundRect">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611803"/>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7</a:t>
            </a:r>
          </a:p>
        </p:txBody>
      </p:sp>
      <p:sp>
        <p:nvSpPr>
          <p:cNvPr id="30" name="TextBox 29"/>
          <p:cNvSpPr txBox="1"/>
          <p:nvPr/>
        </p:nvSpPr>
        <p:spPr>
          <a:xfrm>
            <a:off x="2286000" y="5611803"/>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Presentations with Padlet Q&amp;A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THE PRODUCTION CYCLE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Free Play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5</a:t>
            </a:r>
          </a:p>
        </p:txBody>
      </p:sp>
      <p:pic>
        <p:nvPicPr>
          <p:cNvPr id="10" name="Picture 9" descr="deck-cycle.png"/>
          <p:cNvPicPr>
            <a:picLocks noChangeAspect="1"/>
          </p:cNvPicPr>
          <p:nvPr/>
        </p:nvPicPr>
        <p:blipFill>
          <a:blip r:embed="rId2"/>
          <a:stretch>
            <a:fillRect/>
          </a:stretch>
        </p:blipFill>
        <p:spPr>
          <a:xfrm>
            <a:off x="548640" y="1810512"/>
            <a:ext cx="11091672" cy="1830126"/>
          </a:xfrm>
          <a:prstGeom prst="rect">
            <a:avLst/>
          </a:prstGeom>
        </p:spPr>
      </p:pic>
      <p:sp>
        <p:nvSpPr>
          <p:cNvPr id="11" name="Oval 10"/>
          <p:cNvSpPr/>
          <p:nvPr/>
        </p:nvSpPr>
        <p:spPr>
          <a:xfrm>
            <a:off x="548640" y="495604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Idea: explore and brainstorm</a:t>
            </a:r>
          </a:p>
        </p:txBody>
      </p:sp>
      <p:sp>
        <p:nvSpPr>
          <p:cNvPr id="13" name="Oval 12"/>
          <p:cNvSpPr/>
          <p:nvPr/>
        </p:nvSpPr>
        <p:spPr>
          <a:xfrm>
            <a:off x="6190488" y="495604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Composition: build and refine</a:t>
            </a:r>
          </a:p>
        </p:txBody>
      </p:sp>
      <p:sp>
        <p:nvSpPr>
          <p:cNvPr id="15" name="Oval 14"/>
          <p:cNvSpPr/>
          <p:nvPr/>
        </p:nvSpPr>
        <p:spPr>
          <a:xfrm>
            <a:off x="548640" y="564184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Mix: balance every track</a:t>
            </a:r>
          </a:p>
        </p:txBody>
      </p:sp>
      <p:sp>
        <p:nvSpPr>
          <p:cNvPr id="17" name="Oval 16"/>
          <p:cNvSpPr/>
          <p:nvPr/>
        </p:nvSpPr>
        <p:spPr>
          <a:xfrm>
            <a:off x="6190488" y="564184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Present and get feedback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 1: EXPLORE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Free Play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6</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Open Logic and experiment with sounds</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Brainstorm ideas</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Write down two or three, not just one</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Pick one before the end of class</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Fill in the Idea sketchpad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COMMIT EARLY</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Free Play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7</a:t>
            </a:r>
          </a:p>
        </p:txBody>
      </p:sp>
      <p:sp>
        <p:nvSpPr>
          <p:cNvPr id="10" name="Oval 9"/>
          <p:cNvSpPr/>
          <p:nvPr/>
        </p:nvSpPr>
        <p:spPr>
          <a:xfrm>
            <a:off x="548640" y="216712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Get something down early, then refine as you go</a:t>
            </a:r>
          </a:p>
        </p:txBody>
      </p:sp>
      <p:sp>
        <p:nvSpPr>
          <p:cNvPr id="12" name="Oval 11"/>
          <p:cNvSpPr/>
          <p:nvPr/>
        </p:nvSpPr>
        <p:spPr>
          <a:xfrm>
            <a:off x="548640" y="311708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Don't spend 3 days picking sounds</a:t>
            </a:r>
          </a:p>
        </p:txBody>
      </p:sp>
      <p:sp>
        <p:nvSpPr>
          <p:cNvPr id="14" name="Oval 13"/>
          <p:cNvSpPr/>
          <p:nvPr/>
        </p:nvSpPr>
        <p:spPr>
          <a:xfrm>
            <a:off x="548640" y="406704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Ideas can shift while you work</a:t>
            </a:r>
          </a:p>
        </p:txBody>
      </p:sp>
      <p:sp>
        <p:nvSpPr>
          <p:cNvPr id="16" name="Oval 15"/>
          <p:cNvSpPr/>
          <p:nvPr/>
        </p:nvSpPr>
        <p:spPr>
          <a:xfrm>
            <a:off x="548640" y="501700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Stuck? Listen to music that inspires you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A PROPOSAL HAS THREE PARTS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Free Play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8</a:t>
            </a:r>
          </a:p>
        </p:txBody>
      </p:sp>
      <p:pic>
        <p:nvPicPr>
          <p:cNvPr id="10" name="Picture 9" descr="deck-proposal.png"/>
          <p:cNvPicPr>
            <a:picLocks noChangeAspect="1"/>
          </p:cNvPicPr>
          <p:nvPr/>
        </p:nvPicPr>
        <p:blipFill>
          <a:blip r:embed="rId2"/>
          <a:stretch>
            <a:fillRect/>
          </a:stretch>
        </p:blipFill>
        <p:spPr>
          <a:xfrm>
            <a:off x="548640" y="1810512"/>
            <a:ext cx="11091672" cy="1830126"/>
          </a:xfrm>
          <a:prstGeom prst="rect">
            <a:avLst/>
          </a:prstGeom>
        </p:spPr>
      </p:pic>
      <p:sp>
        <p:nvSpPr>
          <p:cNvPr id="11" name="Oval 10"/>
          <p:cNvSpPr/>
          <p:nvPr/>
        </p:nvSpPr>
        <p:spPr>
          <a:xfrm>
            <a:off x="548640" y="495604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Concept: what it is</a:t>
            </a:r>
          </a:p>
        </p:txBody>
      </p:sp>
      <p:sp>
        <p:nvSpPr>
          <p:cNvPr id="13" name="Oval 12"/>
          <p:cNvSpPr/>
          <p:nvPr/>
        </p:nvSpPr>
        <p:spPr>
          <a:xfrm>
            <a:off x="6190488" y="495604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Tools: what you will use</a:t>
            </a:r>
          </a:p>
        </p:txBody>
      </p:sp>
      <p:sp>
        <p:nvSpPr>
          <p:cNvPr id="15" name="Oval 14"/>
          <p:cNvSpPr/>
          <p:nvPr/>
        </p:nvSpPr>
        <p:spPr>
          <a:xfrm>
            <a:off x="548640" y="564184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Sound: what it will be like</a:t>
            </a:r>
          </a:p>
        </p:txBody>
      </p:sp>
      <p:sp>
        <p:nvSpPr>
          <p:cNvPr id="17" name="Oval 16"/>
          <p:cNvSpPr/>
          <p:nvPr/>
        </p:nvSpPr>
        <p:spPr>
          <a:xfrm>
            <a:off x="6190488" y="564184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More than one sentence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VAGUE OR CLEAR?</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Free Play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9</a:t>
            </a:r>
          </a:p>
        </p:txBody>
      </p:sp>
      <p:sp>
        <p:nvSpPr>
          <p:cNvPr id="10" name="Oval 9"/>
          <p:cNvSpPr/>
          <p:nvPr/>
        </p:nvSpPr>
        <p:spPr>
          <a:xfrm>
            <a:off x="548640" y="216712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Vague: “I will make a chill beat.”</a:t>
            </a:r>
          </a:p>
        </p:txBody>
      </p:sp>
      <p:sp>
        <p:nvSpPr>
          <p:cNvPr id="12" name="Oval 11"/>
          <p:cNvSpPr/>
          <p:nvPr/>
        </p:nvSpPr>
        <p:spPr>
          <a:xfrm>
            <a:off x="548640" y="311708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Clear: what it is, which tools, what it sounds like</a:t>
            </a:r>
          </a:p>
        </p:txBody>
      </p:sp>
      <p:sp>
        <p:nvSpPr>
          <p:cNvPr id="14" name="Oval 13"/>
          <p:cNvSpPr/>
          <p:nvPr/>
        </p:nvSpPr>
        <p:spPr>
          <a:xfrm>
            <a:off x="548640" y="406704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Say the tempo, the mood and the instruments</a:t>
            </a:r>
          </a:p>
        </p:txBody>
      </p:sp>
      <p:sp>
        <p:nvSpPr>
          <p:cNvPr id="16" name="Oval 15"/>
          <p:cNvSpPr/>
          <p:nvPr/>
        </p:nvSpPr>
        <p:spPr>
          <a:xfrm>
            <a:off x="548640" y="501700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Name the Logic tools you will use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BEFORE YOU SUBMIT</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Free Play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10</a:t>
            </a:r>
          </a:p>
        </p:txBody>
      </p:sp>
      <p:sp>
        <p:nvSpPr>
          <p:cNvPr id="10" name="Rounded Rectangle 9"/>
          <p:cNvSpPr/>
          <p:nvPr/>
        </p:nvSpPr>
        <p:spPr>
          <a:xfrm>
            <a:off x="54864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9202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A concept: what you are making</a:t>
            </a:r>
          </a:p>
        </p:txBody>
      </p:sp>
      <p:sp>
        <p:nvSpPr>
          <p:cNvPr id="12" name="Rounded Rectangle 11"/>
          <p:cNvSpPr/>
          <p:nvPr/>
        </p:nvSpPr>
        <p:spPr>
          <a:xfrm>
            <a:off x="617220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19202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Tools: what you will use in Logic</a:t>
            </a:r>
          </a:p>
        </p:txBody>
      </p:sp>
      <p:sp>
        <p:nvSpPr>
          <p:cNvPr id="14" name="Rounded Rectangle 13"/>
          <p:cNvSpPr/>
          <p:nvPr/>
        </p:nvSpPr>
        <p:spPr>
          <a:xfrm>
            <a:off x="548640" y="33467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2918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What it will sound like</a:t>
            </a:r>
          </a:p>
        </p:txBody>
      </p:sp>
      <p:sp>
        <p:nvSpPr>
          <p:cNvPr id="16" name="Rounded Rectangle 15"/>
          <p:cNvSpPr/>
          <p:nvPr/>
        </p:nvSpPr>
        <p:spPr>
          <a:xfrm>
            <a:off x="6172200" y="33467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32918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A paragraph, not one sentence</a:t>
            </a:r>
          </a:p>
        </p:txBody>
      </p:sp>
      <p:sp>
        <p:nvSpPr>
          <p:cNvPr id="18" name="Rounded Rectangle 17"/>
          <p:cNvSpPr/>
          <p:nvPr/>
        </p:nvSpPr>
        <p:spPr>
          <a:xfrm>
            <a:off x="548640" y="4718303"/>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6634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Submitted on your class page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STEPS 3 AND 4: BUILD, DEVELOP</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Free Play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11</a:t>
            </a:r>
          </a:p>
        </p:txBody>
      </p:sp>
      <p:sp>
        <p:nvSpPr>
          <p:cNvPr id="10" name="Oval 9"/>
          <p:cNvSpPr/>
          <p:nvPr/>
        </p:nvSpPr>
        <p:spPr>
          <a:xfrm>
            <a:off x="548640" y="216712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Lay down the foundation: drums, chords, bass</a:t>
            </a:r>
          </a:p>
        </p:txBody>
      </p:sp>
      <p:sp>
        <p:nvSpPr>
          <p:cNvPr id="12" name="Oval 11"/>
          <p:cNvSpPr/>
          <p:nvPr/>
        </p:nvSpPr>
        <p:spPr>
          <a:xfrm>
            <a:off x="548640" y="311708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Begin shaping the arrangement</a:t>
            </a:r>
          </a:p>
        </p:txBody>
      </p:sp>
      <p:sp>
        <p:nvSpPr>
          <p:cNvPr id="14" name="Oval 13"/>
          <p:cNvSpPr/>
          <p:nvPr/>
        </p:nvSpPr>
        <p:spPr>
          <a:xfrm>
            <a:off x="548640" y="406704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Add layers, melodies, FX and transitions</a:t>
            </a:r>
          </a:p>
        </p:txBody>
      </p:sp>
      <p:sp>
        <p:nvSpPr>
          <p:cNvPr id="16" name="Oval 15"/>
          <p:cNvSpPr/>
          <p:nvPr/>
        </p:nvSpPr>
        <p:spPr>
          <a:xfrm>
            <a:off x="548640" y="501700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Refine your sound and structure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WORKED EXAMPLE: 2:30 ON PAPER</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Free Play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12</a:t>
            </a:r>
          </a:p>
        </p:txBody>
      </p:sp>
      <p:pic>
        <p:nvPicPr>
          <p:cNvPr id="10" name="Picture 9" descr="deck-arrange.png"/>
          <p:cNvPicPr>
            <a:picLocks noChangeAspect="1"/>
          </p:cNvPicPr>
          <p:nvPr/>
        </p:nvPicPr>
        <p:blipFill>
          <a:blip r:embed="rId2"/>
          <a:stretch>
            <a:fillRect/>
          </a:stretch>
        </p:blipFill>
        <p:spPr>
          <a:xfrm>
            <a:off x="772571" y="1810512"/>
            <a:ext cx="10643809" cy="3017520"/>
          </a:xfrm>
          <a:prstGeom prst="rect">
            <a:avLst/>
          </a:prstGeom>
        </p:spPr>
      </p:pic>
      <p:sp>
        <p:nvSpPr>
          <p:cNvPr id="11" name="Oval 10"/>
          <p:cNvSpPr/>
          <p:nvPr/>
        </p:nvSpPr>
        <p:spPr>
          <a:xfrm>
            <a:off x="548640" y="5212079"/>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An invented 2:30 piece on paper</a:t>
            </a:r>
          </a:p>
        </p:txBody>
      </p:sp>
      <p:sp>
        <p:nvSpPr>
          <p:cNvPr id="13" name="Oval 12"/>
          <p:cNvSpPr/>
          <p:nvPr/>
        </p:nvSpPr>
        <p:spPr>
          <a:xfrm>
            <a:off x="6190488" y="5212079"/>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Sections you can name</a:t>
            </a:r>
          </a:p>
        </p:txBody>
      </p:sp>
      <p:sp>
        <p:nvSpPr>
          <p:cNvPr id="15" name="Oval 14"/>
          <p:cNvSpPr/>
          <p:nvPr/>
        </p:nvSpPr>
        <p:spPr>
          <a:xfrm>
            <a:off x="548640" y="5897879"/>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Layers that come and go</a:t>
            </a:r>
          </a:p>
        </p:txBody>
      </p:sp>
      <p:sp>
        <p:nvSpPr>
          <p:cNvPr id="17" name="Oval 16"/>
          <p:cNvSpPr/>
          <p:nvPr/>
        </p:nvSpPr>
        <p:spPr>
          <a:xfrm>
            <a:off x="6190488" y="5897879"/>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Plan it, then follow through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4</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KEEP BUILDING</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Free Play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13</a:t>
            </a:r>
          </a:p>
        </p:txBody>
      </p:sp>
      <p:sp>
        <p:nvSpPr>
          <p:cNvPr id="10" name="Oval 9"/>
          <p:cNvSpPr/>
          <p:nvPr/>
        </p:nvSpPr>
        <p:spPr>
          <a:xfrm>
            <a:off x="548640" y="216712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Check your track against your proposal</a:t>
            </a:r>
          </a:p>
        </p:txBody>
      </p:sp>
      <p:sp>
        <p:nvSpPr>
          <p:cNvPr id="12" name="Oval 11"/>
          <p:cNvSpPr/>
          <p:nvPr/>
        </p:nvSpPr>
        <p:spPr>
          <a:xfrm>
            <a:off x="548640" y="311708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Add one new thing every class</a:t>
            </a:r>
          </a:p>
        </p:txBody>
      </p:sp>
      <p:sp>
        <p:nvSpPr>
          <p:cNvPr id="14" name="Oval 13"/>
          <p:cNvSpPr/>
          <p:nvPr/>
        </p:nvSpPr>
        <p:spPr>
          <a:xfrm>
            <a:off x="548640" y="406704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Try a transition between sections</a:t>
            </a:r>
          </a:p>
        </p:txBody>
      </p:sp>
      <p:sp>
        <p:nvSpPr>
          <p:cNvPr id="16" name="Oval 15"/>
          <p:cNvSpPr/>
          <p:nvPr/>
        </p:nvSpPr>
        <p:spPr>
          <a:xfrm>
            <a:off x="548640" y="501700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Save a new version before big changes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4</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MIX TIME IS NOT OPTIONAL</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Free Play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14</a:t>
            </a:r>
          </a:p>
        </p:txBody>
      </p:sp>
      <p:sp>
        <p:nvSpPr>
          <p:cNvPr id="10" name="Oval 9"/>
          <p:cNvSpPr/>
          <p:nvPr/>
        </p:nvSpPr>
        <p:spPr>
          <a:xfrm>
            <a:off x="548640" y="216712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Leave at least one full class for the final mix</a:t>
            </a:r>
          </a:p>
        </p:txBody>
      </p:sp>
      <p:sp>
        <p:nvSpPr>
          <p:cNvPr id="12" name="Oval 11"/>
          <p:cNvSpPr/>
          <p:nvPr/>
        </p:nvSpPr>
        <p:spPr>
          <a:xfrm>
            <a:off x="548640" y="311708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Balance levels, EQ and panning on all tracks</a:t>
            </a:r>
          </a:p>
        </p:txBody>
      </p:sp>
      <p:sp>
        <p:nvSpPr>
          <p:cNvPr id="14" name="Oval 13"/>
          <p:cNvSpPr/>
          <p:nvPr/>
        </p:nvSpPr>
        <p:spPr>
          <a:xfrm>
            <a:off x="548640" y="406704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Listen on headphones AND speakers</a:t>
            </a:r>
          </a:p>
        </p:txBody>
      </p:sp>
      <p:sp>
        <p:nvSpPr>
          <p:cNvPr id="16" name="Oval 15"/>
          <p:cNvSpPr/>
          <p:nvPr/>
        </p:nvSpPr>
        <p:spPr>
          <a:xfrm>
            <a:off x="548640" y="501700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Mixing takes longer than you think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STEPS 5 AND 6: MIX, FINALIZE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Free Play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15</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Balance levels, apply EQ and panning</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Clean up your project</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Bounce your final track</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Prepare your presentation</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Write your 3 Padlet questions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YOU TURN IN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Free Play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16</a:t>
            </a:r>
          </a:p>
        </p:txBody>
      </p:sp>
      <p:sp>
        <p:nvSpPr>
          <p:cNvPr id="10" name="Rounded Rectangle 9"/>
          <p:cNvSpPr/>
          <p:nvPr/>
        </p:nvSpPr>
        <p:spPr>
          <a:xfrm>
            <a:off x="54864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9202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Proposal paragraph on your class page</a:t>
            </a:r>
          </a:p>
        </p:txBody>
      </p:sp>
      <p:sp>
        <p:nvSpPr>
          <p:cNvPr id="12" name="Rounded Rectangle 11"/>
          <p:cNvSpPr/>
          <p:nvPr/>
        </p:nvSpPr>
        <p:spPr>
          <a:xfrm>
            <a:off x="617220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19202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Bounced .mp3 or .wav</a:t>
            </a:r>
          </a:p>
        </p:txBody>
      </p:sp>
      <p:sp>
        <p:nvSpPr>
          <p:cNvPr id="14" name="Rounded Rectangle 13"/>
          <p:cNvSpPr/>
          <p:nvPr/>
        </p:nvSpPr>
        <p:spPr>
          <a:xfrm>
            <a:off x="548640" y="33467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2918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Zipped .logicx project</a:t>
            </a:r>
          </a:p>
        </p:txBody>
      </p:sp>
      <p:sp>
        <p:nvSpPr>
          <p:cNvPr id="16" name="Rounded Rectangle 15"/>
          <p:cNvSpPr/>
          <p:nvPr/>
        </p:nvSpPr>
        <p:spPr>
          <a:xfrm>
            <a:off x="6172200" y="33467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32918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Named: Your Name – Free Play</a:t>
            </a:r>
          </a:p>
        </p:txBody>
      </p:sp>
      <p:sp>
        <p:nvSpPr>
          <p:cNvPr id="18" name="Rounded Rectangle 17"/>
          <p:cNvSpPr/>
          <p:nvPr/>
        </p:nvSpPr>
        <p:spPr>
          <a:xfrm>
            <a:off x="548640" y="4718303"/>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6634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Padlet post with your 3 questions</a:t>
            </a:r>
          </a:p>
        </p:txBody>
      </p:sp>
      <p:sp>
        <p:nvSpPr>
          <p:cNvPr id="20" name="Rounded Rectangle 19"/>
          <p:cNvSpPr/>
          <p:nvPr/>
        </p:nvSpPr>
        <p:spPr>
          <a:xfrm>
            <a:off x="6172200" y="4718303"/>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46634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Answer 2 questions on classmates’ posts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HOW IT’S SCORED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Free Play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17</a:t>
            </a:r>
          </a:p>
        </p:txBody>
      </p:sp>
      <p:sp>
        <p:nvSpPr>
          <p:cNvPr id="10" name="Rounded Rectangle 9"/>
          <p:cNvSpPr/>
          <p:nvPr/>
        </p:nvSpPr>
        <p:spPr>
          <a:xfrm>
            <a:off x="548640" y="181051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1051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CREATIVITY &amp; ORIGINALITY</a:t>
            </a:r>
          </a:p>
        </p:txBody>
      </p:sp>
      <p:sp>
        <p:nvSpPr>
          <p:cNvPr id="12" name="TextBox 11"/>
          <p:cNvSpPr txBox="1"/>
          <p:nvPr/>
        </p:nvSpPr>
        <p:spPr>
          <a:xfrm>
            <a:off x="4572000" y="181051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creativity; innovative, bold, and expressive</a:t>
            </a:r>
          </a:p>
        </p:txBody>
      </p:sp>
      <p:sp>
        <p:nvSpPr>
          <p:cNvPr id="13" name="TextBox 12"/>
          <p:cNvSpPr txBox="1"/>
          <p:nvPr/>
        </p:nvSpPr>
        <p:spPr>
          <a:xfrm>
            <a:off x="10744200" y="1810512"/>
            <a:ext cx="896112" cy="713232"/>
          </a:xfrm>
          <a:prstGeom prst="rect">
            <a:avLst/>
          </a:prstGeom>
          <a:noFill/>
        </p:spPr>
        <p:txBody>
          <a:bodyPr wrap="square" anchor="ctr" lIns="36576" rIns="36576" tIns="18288" bIns="18288">
            <a:spAutoFit/>
          </a:bodyPr>
          <a:lstStyle/>
          <a:p>
            <a:pPr algn="r"/>
            <a:r>
              <a:rPr sz="2400" b="1">
                <a:solidFill>
                  <a:srgbClr val="4B4FA8"/>
                </a:solidFill>
                <a:latin typeface="Oswald"/>
              </a:rPr>
              <a:t>/ 5</a:t>
            </a:r>
          </a:p>
        </p:txBody>
      </p:sp>
      <p:sp>
        <p:nvSpPr>
          <p:cNvPr id="14" name="Rounded Rectangle 13"/>
          <p:cNvSpPr/>
          <p:nvPr/>
        </p:nvSpPr>
        <p:spPr>
          <a:xfrm>
            <a:off x="548640" y="263347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63347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TECHNICAL SKILL / DAW USE</a:t>
            </a:r>
          </a:p>
        </p:txBody>
      </p:sp>
      <p:sp>
        <p:nvSpPr>
          <p:cNvPr id="16" name="TextBox 15"/>
          <p:cNvSpPr txBox="1"/>
          <p:nvPr/>
        </p:nvSpPr>
        <p:spPr>
          <a:xfrm>
            <a:off x="4572000" y="263347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Expert-level command of multiple Logic systems</a:t>
            </a:r>
          </a:p>
        </p:txBody>
      </p:sp>
      <p:sp>
        <p:nvSpPr>
          <p:cNvPr id="17" name="TextBox 16"/>
          <p:cNvSpPr txBox="1"/>
          <p:nvPr/>
        </p:nvSpPr>
        <p:spPr>
          <a:xfrm>
            <a:off x="10744200" y="2633472"/>
            <a:ext cx="896112" cy="713232"/>
          </a:xfrm>
          <a:prstGeom prst="rect">
            <a:avLst/>
          </a:prstGeom>
          <a:noFill/>
        </p:spPr>
        <p:txBody>
          <a:bodyPr wrap="square" anchor="ctr" lIns="36576" rIns="36576" tIns="18288" bIns="18288">
            <a:spAutoFit/>
          </a:bodyPr>
          <a:lstStyle/>
          <a:p>
            <a:pPr algn="r"/>
            <a:r>
              <a:rPr sz="2400" b="1">
                <a:solidFill>
                  <a:srgbClr val="4B4FA8"/>
                </a:solidFill>
                <a:latin typeface="Oswald"/>
              </a:rPr>
              <a:t>/ 5</a:t>
            </a:r>
          </a:p>
        </p:txBody>
      </p:sp>
      <p:sp>
        <p:nvSpPr>
          <p:cNvPr id="18" name="Rounded Rectangle 17"/>
          <p:cNvSpPr/>
          <p:nvPr/>
        </p:nvSpPr>
        <p:spPr>
          <a:xfrm>
            <a:off x="548640" y="345643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45643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COMPOSITION &amp; STRUCTURE</a:t>
            </a:r>
          </a:p>
        </p:txBody>
      </p:sp>
      <p:sp>
        <p:nvSpPr>
          <p:cNvPr id="20" name="TextBox 19"/>
          <p:cNvSpPr txBox="1"/>
          <p:nvPr/>
        </p:nvSpPr>
        <p:spPr>
          <a:xfrm>
            <a:off x="4572000" y="345643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Professional pacing, flow, and musical arc</a:t>
            </a:r>
          </a:p>
        </p:txBody>
      </p:sp>
      <p:sp>
        <p:nvSpPr>
          <p:cNvPr id="21" name="TextBox 20"/>
          <p:cNvSpPr txBox="1"/>
          <p:nvPr/>
        </p:nvSpPr>
        <p:spPr>
          <a:xfrm>
            <a:off x="10744200" y="3456432"/>
            <a:ext cx="896112" cy="713232"/>
          </a:xfrm>
          <a:prstGeom prst="rect">
            <a:avLst/>
          </a:prstGeom>
          <a:noFill/>
        </p:spPr>
        <p:txBody>
          <a:bodyPr wrap="square" anchor="ctr" lIns="36576" rIns="36576" tIns="18288" bIns="18288">
            <a:spAutoFit/>
          </a:bodyPr>
          <a:lstStyle/>
          <a:p>
            <a:pPr algn="r"/>
            <a:r>
              <a:rPr sz="2400" b="1">
                <a:solidFill>
                  <a:srgbClr val="4B4FA8"/>
                </a:solidFill>
                <a:latin typeface="Oswald"/>
              </a:rPr>
              <a:t>/ 5</a:t>
            </a:r>
          </a:p>
        </p:txBody>
      </p:sp>
      <p:sp>
        <p:nvSpPr>
          <p:cNvPr id="22" name="Rounded Rectangle 21"/>
          <p:cNvSpPr/>
          <p:nvPr/>
        </p:nvSpPr>
        <p:spPr>
          <a:xfrm>
            <a:off x="548640" y="427939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27939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SOUND DESIGN &amp; MIX QUALITY</a:t>
            </a:r>
          </a:p>
        </p:txBody>
      </p:sp>
      <p:sp>
        <p:nvSpPr>
          <p:cNvPr id="24" name="TextBox 23"/>
          <p:cNvSpPr txBox="1"/>
          <p:nvPr/>
        </p:nvSpPr>
        <p:spPr>
          <a:xfrm>
            <a:off x="4572000" y="427939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sound design; professional-quality mix</a:t>
            </a:r>
          </a:p>
        </p:txBody>
      </p:sp>
      <p:sp>
        <p:nvSpPr>
          <p:cNvPr id="25" name="TextBox 24"/>
          <p:cNvSpPr txBox="1"/>
          <p:nvPr/>
        </p:nvSpPr>
        <p:spPr>
          <a:xfrm>
            <a:off x="10744200" y="4279392"/>
            <a:ext cx="896112" cy="713232"/>
          </a:xfrm>
          <a:prstGeom prst="rect">
            <a:avLst/>
          </a:prstGeom>
          <a:noFill/>
        </p:spPr>
        <p:txBody>
          <a:bodyPr wrap="square" anchor="ctr" lIns="36576" rIns="36576" tIns="18288" bIns="18288">
            <a:spAutoFit/>
          </a:bodyPr>
          <a:lstStyle/>
          <a:p>
            <a:pPr algn="r"/>
            <a:r>
              <a:rPr sz="2400" b="1">
                <a:solidFill>
                  <a:srgbClr val="4B4FA8"/>
                </a:solidFill>
                <a:latin typeface="Oswald"/>
              </a:rPr>
              <a:t>/ 5</a:t>
            </a:r>
          </a:p>
        </p:txBody>
      </p:sp>
      <p:sp>
        <p:nvSpPr>
          <p:cNvPr id="26" name="Rounded Rectangle 25"/>
          <p:cNvSpPr/>
          <p:nvPr/>
        </p:nvSpPr>
        <p:spPr>
          <a:xfrm>
            <a:off x="548640" y="510235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10235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DOCUMENTATION &amp; PRESENTATION</a:t>
            </a:r>
          </a:p>
        </p:txBody>
      </p:sp>
      <p:sp>
        <p:nvSpPr>
          <p:cNvPr id="28" name="TextBox 27"/>
          <p:cNvSpPr txBox="1"/>
          <p:nvPr/>
        </p:nvSpPr>
        <p:spPr>
          <a:xfrm>
            <a:off x="4572000" y="510235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thorough insight and polished delivery</a:t>
            </a:r>
          </a:p>
        </p:txBody>
      </p:sp>
      <p:sp>
        <p:nvSpPr>
          <p:cNvPr id="29" name="TextBox 28"/>
          <p:cNvSpPr txBox="1"/>
          <p:nvPr/>
        </p:nvSpPr>
        <p:spPr>
          <a:xfrm>
            <a:off x="10744200" y="5102352"/>
            <a:ext cx="896112" cy="713232"/>
          </a:xfrm>
          <a:prstGeom prst="rect">
            <a:avLst/>
          </a:prstGeom>
          <a:noFill/>
        </p:spPr>
        <p:txBody>
          <a:bodyPr wrap="square" anchor="ctr" lIns="36576" rIns="36576" tIns="18288" bIns="18288">
            <a:spAutoFit/>
          </a:bodyPr>
          <a:lstStyle/>
          <a:p>
            <a:pPr algn="r"/>
            <a:r>
              <a:rPr sz="2400" b="1">
                <a:solidFill>
                  <a:srgbClr val="4B4FA8"/>
                </a:solidFill>
                <a:latin typeface="Oswald"/>
              </a:rPr>
              <a:t>/ 5</a:t>
            </a:r>
          </a:p>
        </p:txBody>
      </p:sp>
      <p:sp>
        <p:nvSpPr>
          <p:cNvPr id="30" name="TextBox 29"/>
          <p:cNvSpPr txBox="1"/>
          <p:nvPr/>
        </p:nvSpPr>
        <p:spPr>
          <a:xfrm>
            <a:off x="548640" y="5943600"/>
            <a:ext cx="11091672" cy="411480"/>
          </a:xfrm>
          <a:prstGeom prst="rect">
            <a:avLst/>
          </a:prstGeom>
          <a:noFill/>
        </p:spPr>
        <p:txBody>
          <a:bodyPr wrap="square" anchor="t" lIns="36576" rIns="36576" tIns="18288" bIns="18288">
            <a:spAutoFit/>
          </a:bodyPr>
          <a:lstStyle/>
          <a:p>
            <a:pPr algn="r"/>
            <a:r>
              <a:rPr sz="2000" b="1">
                <a:solidFill>
                  <a:srgbClr val="000000"/>
                </a:solidFill>
                <a:latin typeface="Oswald"/>
              </a:rPr>
              <a:t>SCORED 1–5 · FINAL GRADE = AVERAGE OF YOUR SCORE AND MINE · / 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7</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PRESENTATION DAY</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Free Play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18</a:t>
            </a:r>
          </a:p>
        </p:txBody>
      </p:sp>
      <p:sp>
        <p:nvSpPr>
          <p:cNvPr id="10" name="Oval 9"/>
          <p:cNvSpPr/>
          <p:nvPr/>
        </p:nvSpPr>
        <p:spPr>
          <a:xfrm>
            <a:off x="548640" y="216712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Play your track</a:t>
            </a:r>
          </a:p>
        </p:txBody>
      </p:sp>
      <p:sp>
        <p:nvSpPr>
          <p:cNvPr id="12" name="Oval 11"/>
          <p:cNvSpPr/>
          <p:nvPr/>
        </p:nvSpPr>
        <p:spPr>
          <a:xfrm>
            <a:off x="548640" y="311708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Say what you set out to make, and what changed</a:t>
            </a:r>
          </a:p>
        </p:txBody>
      </p:sp>
      <p:sp>
        <p:nvSpPr>
          <p:cNvPr id="14" name="Oval 13"/>
          <p:cNvSpPr/>
          <p:nvPr/>
        </p:nvSpPr>
        <p:spPr>
          <a:xfrm>
            <a:off x="548640" y="406704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Your Padlet post: 3 questions about your project</a:t>
            </a:r>
          </a:p>
        </p:txBody>
      </p:sp>
      <p:sp>
        <p:nvSpPr>
          <p:cNvPr id="16" name="Oval 15"/>
          <p:cNvSpPr/>
          <p:nvPr/>
        </p:nvSpPr>
        <p:spPr>
          <a:xfrm>
            <a:off x="548640" y="5017008"/>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Answer at least 2 of each classmate’s 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7</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ONE LAST THING…</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Free Play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19</a:t>
            </a:r>
          </a:p>
        </p:txBody>
      </p:sp>
      <p:sp>
        <p:nvSpPr>
          <p:cNvPr id="10" name="Oval 9"/>
          <p:cNvSpPr/>
          <p:nvPr/>
        </p:nvSpPr>
        <p:spPr>
          <a:xfrm>
            <a:off x="548640" y="2057400"/>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202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had a plan.</a:t>
            </a:r>
          </a:p>
        </p:txBody>
      </p:sp>
      <p:sp>
        <p:nvSpPr>
          <p:cNvPr id="12" name="Oval 11"/>
          <p:cNvSpPr/>
          <p:nvPr/>
        </p:nvSpPr>
        <p:spPr>
          <a:xfrm>
            <a:off x="548640" y="2781300"/>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6441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followed through.</a:t>
            </a:r>
          </a:p>
        </p:txBody>
      </p:sp>
      <p:sp>
        <p:nvSpPr>
          <p:cNvPr id="14" name="Oval 13"/>
          <p:cNvSpPr/>
          <p:nvPr/>
        </p:nvSpPr>
        <p:spPr>
          <a:xfrm>
            <a:off x="548640" y="3505200"/>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3680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made it your way.</a:t>
            </a:r>
          </a:p>
        </p:txBody>
      </p:sp>
      <p:sp>
        <p:nvSpPr>
          <p:cNvPr id="16" name="Oval 15"/>
          <p:cNvSpPr/>
          <p:nvPr/>
        </p:nvSpPr>
        <p:spPr>
          <a:xfrm>
            <a:off x="548640" y="4229100"/>
            <a:ext cx="146304" cy="146304"/>
          </a:xfrm>
          <a:prstGeom prst="ellipse">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091939"/>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Now play it.</a:t>
            </a:r>
          </a:p>
        </p:txBody>
      </p:sp>
      <p:pic>
        <p:nvPicPr>
          <p:cNvPr id="18" name="Picture 17" descr="deck-hero.png"/>
          <p:cNvPicPr>
            <a:picLocks noChangeAspect="1"/>
          </p:cNvPicPr>
          <p:nvPr/>
        </p:nvPicPr>
        <p:blipFill>
          <a:blip r:embed="rId2"/>
          <a:stretch>
            <a:fillRect/>
          </a:stretch>
        </p:blipFill>
        <p:spPr>
          <a:xfrm>
            <a:off x="6519672" y="2103120"/>
            <a:ext cx="5120640" cy="2611526"/>
          </a:xfrm>
          <a:prstGeom prst="rect">
            <a:avLst/>
          </a:prstGeom>
        </p:spPr>
      </p:pic>
      <p:sp>
        <p:nvSpPr>
          <p:cNvPr id="19" name="Rounded Rectangle 18"/>
          <p:cNvSpPr/>
          <p:nvPr/>
        </p:nvSpPr>
        <p:spPr>
          <a:xfrm>
            <a:off x="548640" y="5349240"/>
            <a:ext cx="5852160" cy="960120"/>
          </a:xfrm>
          <a:prstGeom prst="roundRect">
            <a:avLst/>
          </a:prstGeom>
          <a:solidFill>
            <a:srgbClr val="4B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394960"/>
            <a:ext cx="5486400" cy="365760"/>
          </a:xfrm>
          <a:prstGeom prst="rect">
            <a:avLst/>
          </a:prstGeom>
          <a:noFill/>
        </p:spPr>
        <p:txBody>
          <a:bodyPr wrap="square" anchor="t" lIns="36576" rIns="36576" tIns="18288" bIns="18288">
            <a:spAutoFit/>
          </a:bodyPr>
          <a:lstStyle/>
          <a:p>
            <a:pPr algn="l"/>
            <a:r>
              <a:rPr sz="2000" b="1">
                <a:solidFill>
                  <a:srgbClr val="FFFFFF"/>
                </a:solidFill>
                <a:latin typeface="Oswald"/>
              </a:rPr>
              <a:t>REFLECTION · PAGE 21</a:t>
            </a:r>
          </a:p>
        </p:txBody>
      </p:sp>
      <p:sp>
        <p:nvSpPr>
          <p:cNvPr id="21" name="TextBox 20"/>
          <p:cNvSpPr txBox="1"/>
          <p:nvPr/>
        </p:nvSpPr>
        <p:spPr>
          <a:xfrm>
            <a:off x="731520" y="5760720"/>
            <a:ext cx="5486400" cy="502920"/>
          </a:xfrm>
          <a:prstGeom prst="rect">
            <a:avLst/>
          </a:prstGeom>
          <a:noFill/>
        </p:spPr>
        <p:txBody>
          <a:bodyPr wrap="square" anchor="t" lIns="36576" rIns="36576" tIns="18288" bIns="18288">
            <a:spAutoFit/>
          </a:bodyPr>
          <a:lstStyle/>
          <a:p>
            <a:pPr algn="l"/>
            <a:r>
              <a:rPr sz="1500" b="0">
                <a:solidFill>
                  <a:srgbClr val="FFFFFF"/>
                </a:solidFill>
                <a:latin typeface="Source Sans 3"/>
              </a:rPr>
              <a:t>Write it or talk it through: what went well, what was hard, what you would change.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Free Play · Intro deck</dc:title>
  <dc:subject/>
  <dc:creator>Brian Lotze · Hudson Beat</dc:creator>
  <cp:keywords/>
  <dc:description>Designed with the help of digital and AI tools, and checked by hand.</dc:description>
  <cp:lastModifiedBy>Steve Canny</cp:lastModifiedBy>
  <cp:revision>1</cp:revision>
  <dcterms:created xsi:type="dcterms:W3CDTF">2013-01-27T09:14:16Z</dcterms:created>
  <dcterms:modified xsi:type="dcterms:W3CDTF">2013-01-27T09:15:58Z</dcterms:modified>
  <cp:category/>
</cp:coreProperties>
</file>