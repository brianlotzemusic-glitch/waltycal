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before anything else. Welcome students to their first project: by the end of the week every one of them will have built an original drum beat from scratch in Logic. No loops, no pre-made grooves. Tell them today is about listening and naming; nobody touches Logic until tomorrow. Have Billie Jean by Michael Jackson cued up on YouTube or Spotify (your own account; no audio is included in this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roughly the first minute. Ask the three questions and collect answers on the board, but do not confirm anything yet: this is ‘feel it before you name it’. Students usually say ‘the drums start alone’, ‘the bass comes in’, ‘it keeps going round’. Keep their words; you will name them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 a loop is a musical idea that repeats. It can be one drum hit or a whole groove. Each new loop builds on what came before. Point back to their answers: ‘it keeps going round’ is exactly this. Ask: where else have you heard loops? (Almost every song they know.)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Replay the opening of Billie Jean and have students raise a hand each time they hear a new looping layer. Reveal the list: drums (hi-hat, snare, kick), shaker, bass, synth. Point out that the drum part alone is just three sounds: kick, snare and hi-hat. That is what they will build this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Billie Jean again and have the class clap the pulse. Each clap is a beat; four beats make a measure. Then ask how long the drums play alone before the bass enters, and have students count it in measures while it plays. Let them count it themselves rather than giving the number; replay as many times as needed. Counting in measures is the skill they need for AABA later in the week.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worked example of how a song intro is built from loops. Walk through it like a timeline: the drums start alone, then each new layer enters at the start of a 4-measure block and keeps looping. In Logic, each block would be a region on its own track. Ask: what would it sound like if everything entered at once? (No build, nothing to look forward to.) This chart is a model, not a transcription: it shows the idea of staggered entrances.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Pairs with the Parts of the Drum Set worksheet. Focus on the three building blocks and their jobs: the kick grounds the beat, the snare drives it, the hi-hat makes it breathe. Mention the toms, crash and ride exist too; students can use them as their extra element.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close or Day 2 launch. This is the same grid students used on the listening sheet and the one they will see in Logic’s Step Sequencer. The shaded squares are the four beats. Have students clap the hi-hat row (eighths), then sixteenths, and feel the energy change.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This is the pattern from the Famous Drum Patterns page: hi-hat in eighth notes, snare on 2 and 4, kick on 1 and 3, at 116 BPM. Copying it is not busywork: it trains the ear to recognize what ‘correct’ feels like with a specific kick-snare-hi-hat relationship. Build it live in Logic while students watch, then play the song again (YouTube or Spotify) and compare.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each step on the projector while students follow. Watch for the most common Day 2 error: double-clicking a blank space opens an empty piano roll. The correct move is Control-click, Create Pattern Region. After the demo, students mess around with no requirements, then copy ONE famous pattern exactly and call you over. Use that check-in to show them how to change the tempo.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project at the end of Day 2. Hand out the project sheet and rubric. Hold the line on ‘no loops’: some students will be frustrated they can’t just drag a loop. By the end of the unit they will feel more pride in four bars they built than in four minutes they assembled.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plan: Day 3 they build an A section (start from kick 1 and 3, snare 2 and 4, hi-hat in eighths, then make it theirs), a B section (one change: remove one element, add one sound, or change the hi-hat rhythm), arrange A A B A at 4 measures each, and mix. Day 4 they present. The best B sections are about 80% the same as 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deliverables from the submission checklist. Show where students submit (your class page) and where the feedback questions go (Padlet or any class feedback board). Export: File &gt; Bounce &gt; Project or Section, MP3. Compress: in Finder, Control-click the .logicx file &gt; Compress.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categories, each scored 2 to 5, for a total out of 25. Read the 5 column aloud for each category so students know what great looks like: distinct feel, confident use of Drum Machine Designer, a clear AABA that locks in, every sound with its own space, and a confident presentation with three thoughtful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launch with the one question you will ask all week while circulating. It works for every student at every level, and it is the heart of the rubric’s Composition &amp; Structure row. Then: turn things down, not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502920"/>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sp>
        <p:nvSpPr>
          <p:cNvPr id="3" name="TextBox 2"/>
          <p:cNvSpPr txBox="1"/>
          <p:nvPr/>
        </p:nvSpPr>
        <p:spPr>
          <a:xfrm>
            <a:off x="3657599" y="1271016"/>
            <a:ext cx="538924" cy="292608"/>
          </a:xfrm>
          <a:prstGeom prst="rect">
            <a:avLst/>
          </a:prstGeom>
          <a:noFill/>
        </p:spPr>
        <p:txBody>
          <a:bodyPr wrap="square" anchor="t" lIns="36576" rIns="36576" tIns="18288" bIns="18288">
            <a:spAutoFit/>
          </a:bodyPr>
          <a:lstStyle/>
          <a:p>
            <a:pPr algn="ctr"/>
            <a:r>
              <a:rPr sz="1400" b="1">
                <a:solidFill>
                  <a:srgbClr val="000000"/>
                </a:solidFill>
                <a:latin typeface="Oswald"/>
              </a:rPr>
              <a:t>1</a:t>
            </a:r>
          </a:p>
        </p:txBody>
      </p:sp>
      <p:sp>
        <p:nvSpPr>
          <p:cNvPr id="4" name="TextBox 3"/>
          <p:cNvSpPr txBox="1"/>
          <p:nvPr/>
        </p:nvSpPr>
        <p:spPr>
          <a:xfrm>
            <a:off x="4013644"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1.2</a:t>
            </a:r>
          </a:p>
        </p:txBody>
      </p:sp>
      <p:sp>
        <p:nvSpPr>
          <p:cNvPr id="5" name="TextBox 4"/>
          <p:cNvSpPr txBox="1"/>
          <p:nvPr/>
        </p:nvSpPr>
        <p:spPr>
          <a:xfrm>
            <a:off x="4369689"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1.3</a:t>
            </a:r>
          </a:p>
        </p:txBody>
      </p:sp>
      <p:sp>
        <p:nvSpPr>
          <p:cNvPr id="6" name="TextBox 5"/>
          <p:cNvSpPr txBox="1"/>
          <p:nvPr/>
        </p:nvSpPr>
        <p:spPr>
          <a:xfrm>
            <a:off x="4725733"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1.4</a:t>
            </a:r>
          </a:p>
        </p:txBody>
      </p:sp>
      <p:sp>
        <p:nvSpPr>
          <p:cNvPr id="7" name="TextBox 6"/>
          <p:cNvSpPr txBox="1"/>
          <p:nvPr/>
        </p:nvSpPr>
        <p:spPr>
          <a:xfrm>
            <a:off x="5081778" y="1271016"/>
            <a:ext cx="538924" cy="292608"/>
          </a:xfrm>
          <a:prstGeom prst="rect">
            <a:avLst/>
          </a:prstGeom>
          <a:noFill/>
        </p:spPr>
        <p:txBody>
          <a:bodyPr wrap="square" anchor="t" lIns="36576" rIns="36576" tIns="18288" bIns="18288">
            <a:spAutoFit/>
          </a:bodyPr>
          <a:lstStyle/>
          <a:p>
            <a:pPr algn="ctr"/>
            <a:r>
              <a:rPr sz="1400" b="1">
                <a:solidFill>
                  <a:srgbClr val="000000"/>
                </a:solidFill>
                <a:latin typeface="Oswald"/>
              </a:rPr>
              <a:t>2</a:t>
            </a:r>
          </a:p>
        </p:txBody>
      </p:sp>
      <p:sp>
        <p:nvSpPr>
          <p:cNvPr id="8" name="TextBox 7"/>
          <p:cNvSpPr txBox="1"/>
          <p:nvPr/>
        </p:nvSpPr>
        <p:spPr>
          <a:xfrm>
            <a:off x="5437822"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2.2</a:t>
            </a:r>
          </a:p>
        </p:txBody>
      </p:sp>
      <p:sp>
        <p:nvSpPr>
          <p:cNvPr id="9" name="TextBox 8"/>
          <p:cNvSpPr txBox="1"/>
          <p:nvPr/>
        </p:nvSpPr>
        <p:spPr>
          <a:xfrm>
            <a:off x="5793867"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2.3</a:t>
            </a:r>
          </a:p>
        </p:txBody>
      </p:sp>
      <p:sp>
        <p:nvSpPr>
          <p:cNvPr id="10" name="TextBox 9"/>
          <p:cNvSpPr txBox="1"/>
          <p:nvPr/>
        </p:nvSpPr>
        <p:spPr>
          <a:xfrm>
            <a:off x="6149911"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2.4</a:t>
            </a:r>
          </a:p>
        </p:txBody>
      </p:sp>
      <p:sp>
        <p:nvSpPr>
          <p:cNvPr id="11" name="TextBox 10"/>
          <p:cNvSpPr txBox="1"/>
          <p:nvPr/>
        </p:nvSpPr>
        <p:spPr>
          <a:xfrm>
            <a:off x="6505956" y="1271016"/>
            <a:ext cx="538924" cy="292608"/>
          </a:xfrm>
          <a:prstGeom prst="rect">
            <a:avLst/>
          </a:prstGeom>
          <a:noFill/>
        </p:spPr>
        <p:txBody>
          <a:bodyPr wrap="square" anchor="t" lIns="36576" rIns="36576" tIns="18288" bIns="18288">
            <a:spAutoFit/>
          </a:bodyPr>
          <a:lstStyle/>
          <a:p>
            <a:pPr algn="ctr"/>
            <a:r>
              <a:rPr sz="1400" b="1">
                <a:solidFill>
                  <a:srgbClr val="000000"/>
                </a:solidFill>
                <a:latin typeface="Oswald"/>
              </a:rPr>
              <a:t>3</a:t>
            </a:r>
          </a:p>
        </p:txBody>
      </p:sp>
      <p:sp>
        <p:nvSpPr>
          <p:cNvPr id="12" name="TextBox 11"/>
          <p:cNvSpPr txBox="1"/>
          <p:nvPr/>
        </p:nvSpPr>
        <p:spPr>
          <a:xfrm>
            <a:off x="6862000"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3.2</a:t>
            </a:r>
          </a:p>
        </p:txBody>
      </p:sp>
      <p:sp>
        <p:nvSpPr>
          <p:cNvPr id="13" name="TextBox 12"/>
          <p:cNvSpPr txBox="1"/>
          <p:nvPr/>
        </p:nvSpPr>
        <p:spPr>
          <a:xfrm>
            <a:off x="7218045"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3.3</a:t>
            </a:r>
          </a:p>
        </p:txBody>
      </p:sp>
      <p:sp>
        <p:nvSpPr>
          <p:cNvPr id="14" name="TextBox 13"/>
          <p:cNvSpPr txBox="1"/>
          <p:nvPr/>
        </p:nvSpPr>
        <p:spPr>
          <a:xfrm>
            <a:off x="7574089"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3.4</a:t>
            </a:r>
          </a:p>
        </p:txBody>
      </p:sp>
      <p:sp>
        <p:nvSpPr>
          <p:cNvPr id="15" name="TextBox 14"/>
          <p:cNvSpPr txBox="1"/>
          <p:nvPr/>
        </p:nvSpPr>
        <p:spPr>
          <a:xfrm>
            <a:off x="7930134" y="1271016"/>
            <a:ext cx="538924" cy="292608"/>
          </a:xfrm>
          <a:prstGeom prst="rect">
            <a:avLst/>
          </a:prstGeom>
          <a:noFill/>
        </p:spPr>
        <p:txBody>
          <a:bodyPr wrap="square" anchor="t" lIns="36576" rIns="36576" tIns="18288" bIns="18288">
            <a:spAutoFit/>
          </a:bodyPr>
          <a:lstStyle/>
          <a:p>
            <a:pPr algn="ctr"/>
            <a:r>
              <a:rPr sz="1400" b="1">
                <a:solidFill>
                  <a:srgbClr val="000000"/>
                </a:solidFill>
                <a:latin typeface="Oswald"/>
              </a:rPr>
              <a:t>4</a:t>
            </a:r>
          </a:p>
        </p:txBody>
      </p:sp>
      <p:sp>
        <p:nvSpPr>
          <p:cNvPr id="16" name="TextBox 15"/>
          <p:cNvSpPr txBox="1"/>
          <p:nvPr/>
        </p:nvSpPr>
        <p:spPr>
          <a:xfrm>
            <a:off x="8286178"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4.2</a:t>
            </a:r>
          </a:p>
        </p:txBody>
      </p:sp>
      <p:sp>
        <p:nvSpPr>
          <p:cNvPr id="17" name="TextBox 16"/>
          <p:cNvSpPr txBox="1"/>
          <p:nvPr/>
        </p:nvSpPr>
        <p:spPr>
          <a:xfrm>
            <a:off x="8642223"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4.3</a:t>
            </a:r>
          </a:p>
        </p:txBody>
      </p:sp>
      <p:sp>
        <p:nvSpPr>
          <p:cNvPr id="18" name="TextBox 17"/>
          <p:cNvSpPr txBox="1"/>
          <p:nvPr/>
        </p:nvSpPr>
        <p:spPr>
          <a:xfrm>
            <a:off x="8998267" y="1271016"/>
            <a:ext cx="538924" cy="292608"/>
          </a:xfrm>
          <a:prstGeom prst="rect">
            <a:avLst/>
          </a:prstGeom>
          <a:noFill/>
        </p:spPr>
        <p:txBody>
          <a:bodyPr wrap="square" anchor="t" lIns="36576" rIns="36576" tIns="18288" bIns="18288">
            <a:spAutoFit/>
          </a:bodyPr>
          <a:lstStyle/>
          <a:p>
            <a:pPr algn="ctr"/>
            <a:r>
              <a:rPr sz="1100" b="0">
                <a:solidFill>
                  <a:srgbClr val="000000"/>
                </a:solidFill>
                <a:latin typeface="Oswald"/>
              </a:rPr>
              <a:t>4.4</a:t>
            </a:r>
          </a:p>
        </p:txBody>
      </p:sp>
      <p:sp>
        <p:nvSpPr>
          <p:cNvPr id="19" name="TextBox 18"/>
          <p:cNvSpPr txBox="1"/>
          <p:nvPr/>
        </p:nvSpPr>
        <p:spPr>
          <a:xfrm>
            <a:off x="2743200" y="1600200"/>
            <a:ext cx="896112" cy="384048"/>
          </a:xfrm>
          <a:prstGeom prst="rect">
            <a:avLst/>
          </a:prstGeom>
          <a:noFill/>
        </p:spPr>
        <p:txBody>
          <a:bodyPr wrap="square" anchor="ctr" lIns="36576" rIns="36576" tIns="18288" bIns="18288">
            <a:spAutoFit/>
          </a:bodyPr>
          <a:lstStyle/>
          <a:p>
            <a:pPr algn="r"/>
            <a:r>
              <a:rPr sz="1800" b="1">
                <a:solidFill>
                  <a:srgbClr val="000000"/>
                </a:solidFill>
                <a:latin typeface="Oswald"/>
              </a:rPr>
              <a:t>Hi-hat</a:t>
            </a:r>
          </a:p>
        </p:txBody>
      </p:sp>
      <p:sp>
        <p:nvSpPr>
          <p:cNvPr id="20" name="Rectangle 19"/>
          <p:cNvSpPr/>
          <p:nvPr/>
        </p:nvSpPr>
        <p:spPr>
          <a:xfrm>
            <a:off x="3749039" y="1600200"/>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803903"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05084"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61129"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15993"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17173"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173218" y="1600200"/>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28081"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29262"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85306"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40170"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1351"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97396" y="1600200"/>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52259"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53440"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09485"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364349"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665529"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21574" y="1600200"/>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76438"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77618"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733663"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788527" y="1655064"/>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89707" y="1600200"/>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43200" y="1984248"/>
            <a:ext cx="896112" cy="384048"/>
          </a:xfrm>
          <a:prstGeom prst="rect">
            <a:avLst/>
          </a:prstGeom>
          <a:noFill/>
        </p:spPr>
        <p:txBody>
          <a:bodyPr wrap="square" anchor="ctr" lIns="36576" rIns="36576" tIns="18288" bIns="18288">
            <a:spAutoFit/>
          </a:bodyPr>
          <a:lstStyle/>
          <a:p>
            <a:pPr algn="r"/>
            <a:r>
              <a:rPr sz="1800" b="1">
                <a:solidFill>
                  <a:srgbClr val="000000"/>
                </a:solidFill>
                <a:latin typeface="Oswald"/>
              </a:rPr>
              <a:t>Clap</a:t>
            </a:r>
          </a:p>
        </p:txBody>
      </p:sp>
      <p:sp>
        <p:nvSpPr>
          <p:cNvPr id="45" name="Rectangle 44"/>
          <p:cNvSpPr/>
          <p:nvPr/>
        </p:nvSpPr>
        <p:spPr>
          <a:xfrm>
            <a:off x="3749039" y="1984248"/>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105084"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461129"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817173"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173218" y="1984248"/>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529262"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885306"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41351"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97396" y="1984248"/>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953440"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309485"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665529"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021574" y="1984248"/>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076438" y="2039112"/>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377618"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733663"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089707" y="1984248"/>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43200" y="2368296"/>
            <a:ext cx="896112" cy="384048"/>
          </a:xfrm>
          <a:prstGeom prst="rect">
            <a:avLst/>
          </a:prstGeom>
          <a:noFill/>
        </p:spPr>
        <p:txBody>
          <a:bodyPr wrap="square" anchor="ctr" lIns="36576" rIns="36576" tIns="18288" bIns="18288">
            <a:spAutoFit/>
          </a:bodyPr>
          <a:lstStyle/>
          <a:p>
            <a:pPr algn="r"/>
            <a:r>
              <a:rPr sz="1800" b="1">
                <a:solidFill>
                  <a:srgbClr val="000000"/>
                </a:solidFill>
                <a:latin typeface="Oswald"/>
              </a:rPr>
              <a:t>Snare</a:t>
            </a:r>
          </a:p>
        </p:txBody>
      </p:sp>
      <p:sp>
        <p:nvSpPr>
          <p:cNvPr id="63" name="Rectangle 62"/>
          <p:cNvSpPr/>
          <p:nvPr/>
        </p:nvSpPr>
        <p:spPr>
          <a:xfrm>
            <a:off x="3749039" y="2368296"/>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105084"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461129"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817173"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173218" y="2368296"/>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5228081" y="2423160"/>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529262"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885306"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241351"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597396" y="2368296"/>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953440"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309485"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65529"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021574" y="2368296"/>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076438" y="2423160"/>
            <a:ext cx="246316" cy="274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377618"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733663"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089707" y="2368296"/>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743200" y="2752344"/>
            <a:ext cx="896112" cy="384048"/>
          </a:xfrm>
          <a:prstGeom prst="rect">
            <a:avLst/>
          </a:prstGeom>
          <a:noFill/>
        </p:spPr>
        <p:txBody>
          <a:bodyPr wrap="square" anchor="ctr" lIns="36576" rIns="36576" tIns="18288" bIns="18288">
            <a:spAutoFit/>
          </a:bodyPr>
          <a:lstStyle/>
          <a:p>
            <a:pPr algn="r"/>
            <a:r>
              <a:rPr sz="1800" b="1">
                <a:solidFill>
                  <a:srgbClr val="000000"/>
                </a:solidFill>
                <a:latin typeface="Oswald"/>
              </a:rPr>
              <a:t>Kick</a:t>
            </a:r>
          </a:p>
        </p:txBody>
      </p:sp>
      <p:sp>
        <p:nvSpPr>
          <p:cNvPr id="82" name="Rectangle 81"/>
          <p:cNvSpPr/>
          <p:nvPr/>
        </p:nvSpPr>
        <p:spPr>
          <a:xfrm>
            <a:off x="3749039" y="2752344"/>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3803903" y="2807208"/>
            <a:ext cx="246316" cy="274320"/>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105084"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461129"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817173"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173218" y="2752344"/>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529262"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885306"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41351"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597396" y="2752344"/>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6652259" y="2807208"/>
            <a:ext cx="246316" cy="274320"/>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6953440"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309485"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665529"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021574" y="2752344"/>
            <a:ext cx="356044" cy="38404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377618"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8733663"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089707" y="2752344"/>
            <a:ext cx="356044" cy="38404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0" y="3246120"/>
            <a:ext cx="12191695" cy="1188720"/>
          </a:xfrm>
          <a:prstGeom prst="rect">
            <a:avLst/>
          </a:prstGeom>
          <a:noFill/>
        </p:spPr>
        <p:txBody>
          <a:bodyPr wrap="square" anchor="t" lIns="36576" rIns="36576" tIns="18288" bIns="18288">
            <a:spAutoFit/>
          </a:bodyPr>
          <a:lstStyle/>
          <a:p>
            <a:pPr algn="ctr"/>
            <a:r>
              <a:rPr sz="8800" b="1">
                <a:solidFill>
                  <a:srgbClr val="000000"/>
                </a:solidFill>
                <a:latin typeface="Oswald"/>
              </a:rPr>
              <a:t>BEAT FROM NOTHING</a:t>
            </a:r>
          </a:p>
        </p:txBody>
      </p:sp>
      <p:sp>
        <p:nvSpPr>
          <p:cNvPr id="101" name="TextBox 100"/>
          <p:cNvSpPr txBox="1"/>
          <p:nvPr/>
        </p:nvSpPr>
        <p:spPr>
          <a:xfrm>
            <a:off x="0" y="4709160"/>
            <a:ext cx="12191695" cy="548640"/>
          </a:xfrm>
          <a:prstGeom prst="rect">
            <a:avLst/>
          </a:prstGeom>
          <a:noFill/>
        </p:spPr>
        <p:txBody>
          <a:bodyPr wrap="square" anchor="t" lIns="36576" rIns="36576" tIns="18288" bIns="18288">
            <a:spAutoFit/>
          </a:bodyPr>
          <a:lstStyle/>
          <a:p>
            <a:pPr algn="ctr"/>
            <a:r>
              <a:rPr sz="3000" b="0">
                <a:solidFill>
                  <a:srgbClr val="000000"/>
                </a:solidFill>
                <a:latin typeface="Oswald"/>
              </a:rPr>
              <a:t>Feat. Billie Jean</a:t>
            </a:r>
          </a:p>
        </p:txBody>
      </p:sp>
      <p:sp>
        <p:nvSpPr>
          <p:cNvPr id="102" name="Rectangle 101"/>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 UNIT 1 · DRUM PROGRAMMING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FIRST</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8" name="Rounded Rectangle 7"/>
          <p:cNvSpPr/>
          <p:nvPr/>
        </p:nvSpPr>
        <p:spPr>
          <a:xfrm>
            <a:off x="548640" y="1920240"/>
            <a:ext cx="11091672" cy="14173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93392"/>
            <a:ext cx="10515600" cy="731520"/>
          </a:xfrm>
          <a:prstGeom prst="rect">
            <a:avLst/>
          </a:prstGeom>
          <a:noFill/>
        </p:spPr>
        <p:txBody>
          <a:bodyPr wrap="square" anchor="t" lIns="36576" rIns="36576" tIns="18288" bIns="18288">
            <a:spAutoFit/>
          </a:bodyPr>
          <a:lstStyle/>
          <a:p>
            <a:pPr algn="l"/>
            <a:r>
              <a:rPr sz="4000" b="1">
                <a:solidFill>
                  <a:srgbClr val="FFFFFF"/>
                </a:solidFill>
                <a:latin typeface="Oswald"/>
              </a:rPr>
              <a:t>BILLIE JEAN · MICHAEL JACKSON</a:t>
            </a:r>
          </a:p>
        </p:txBody>
      </p:sp>
      <p:sp>
        <p:nvSpPr>
          <p:cNvPr id="10" name="TextBox 9"/>
          <p:cNvSpPr txBox="1"/>
          <p:nvPr/>
        </p:nvSpPr>
        <p:spPr>
          <a:xfrm>
            <a:off x="822960" y="2697480"/>
            <a:ext cx="10515600" cy="548640"/>
          </a:xfrm>
          <a:prstGeom prst="rect">
            <a:avLst/>
          </a:prstGeom>
          <a:noFill/>
        </p:spPr>
        <p:txBody>
          <a:bodyPr wrap="square" anchor="t" lIns="36576" rIns="36576" tIns="18288" bIns="18288">
            <a:spAutoFit/>
          </a:bodyPr>
          <a:lstStyle/>
          <a:p>
            <a:pPr algn="l"/>
            <a:r>
              <a:rPr sz="2000" b="0">
                <a:solidFill>
                  <a:srgbClr val="FFFFFF"/>
                </a:solidFill>
                <a:latin typeface="Source Sans 3"/>
              </a:rPr>
              <a:t>Teacher: play about 60 seconds from YouTube or Spotify.</a:t>
            </a:r>
          </a:p>
        </p:txBody>
      </p:sp>
      <p:sp>
        <p:nvSpPr>
          <p:cNvPr id="11" name="Oval 10"/>
          <p:cNvSpPr/>
          <p:nvPr/>
        </p:nvSpPr>
        <p:spPr>
          <a:xfrm>
            <a:off x="548640" y="384962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70332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What do you hear?</a:t>
            </a:r>
          </a:p>
        </p:txBody>
      </p:sp>
      <p:sp>
        <p:nvSpPr>
          <p:cNvPr id="13" name="Oval 12"/>
          <p:cNvSpPr/>
          <p:nvPr/>
        </p:nvSpPr>
        <p:spPr>
          <a:xfrm>
            <a:off x="548640" y="456082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441452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What’s repeating?</a:t>
            </a:r>
          </a:p>
        </p:txBody>
      </p:sp>
      <p:sp>
        <p:nvSpPr>
          <p:cNvPr id="15" name="Oval 14"/>
          <p:cNvSpPr/>
          <p:nvPr/>
        </p:nvSpPr>
        <p:spPr>
          <a:xfrm>
            <a:off x="548640" y="527202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512572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What enters, and when?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A LOOP?</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8" name="Oval 7"/>
          <p:cNvSpPr/>
          <p:nvPr/>
        </p:nvSpPr>
        <p:spPr>
          <a:xfrm>
            <a:off x="548640" y="21579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116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A repeated musical idea</a:t>
            </a:r>
          </a:p>
        </p:txBody>
      </p:sp>
      <p:sp>
        <p:nvSpPr>
          <p:cNvPr id="10" name="Oval 9"/>
          <p:cNvSpPr/>
          <p:nvPr/>
        </p:nvSpPr>
        <p:spPr>
          <a:xfrm>
            <a:off x="548640" y="28691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7228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Simple or complex!</a:t>
            </a:r>
          </a:p>
        </p:txBody>
      </p:sp>
      <p:sp>
        <p:nvSpPr>
          <p:cNvPr id="12" name="Oval 11"/>
          <p:cNvSpPr/>
          <p:nvPr/>
        </p:nvSpPr>
        <p:spPr>
          <a:xfrm>
            <a:off x="548640" y="35803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4340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Builds on previous material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WHICH INSTRUMENTS LOOP?</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8" name="Rounded Rectangle 7"/>
          <p:cNvSpPr/>
          <p:nvPr/>
        </p:nvSpPr>
        <p:spPr>
          <a:xfrm>
            <a:off x="548640"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86000"/>
            <a:ext cx="2331720" cy="731520"/>
          </a:xfrm>
          <a:prstGeom prst="rect">
            <a:avLst/>
          </a:prstGeom>
          <a:noFill/>
        </p:spPr>
        <p:txBody>
          <a:bodyPr wrap="square" anchor="t" lIns="36576" rIns="36576" tIns="18288" bIns="18288">
            <a:spAutoFit/>
          </a:bodyPr>
          <a:lstStyle/>
          <a:p>
            <a:pPr algn="ctr"/>
            <a:r>
              <a:rPr sz="3000" b="1">
                <a:solidFill>
                  <a:srgbClr val="E03A3E"/>
                </a:solidFill>
                <a:latin typeface="Oswald"/>
              </a:rPr>
              <a:t>DRUMS</a:t>
            </a:r>
          </a:p>
        </p:txBody>
      </p:sp>
      <p:sp>
        <p:nvSpPr>
          <p:cNvPr id="10" name="TextBox 9"/>
          <p:cNvSpPr txBox="1"/>
          <p:nvPr/>
        </p:nvSpPr>
        <p:spPr>
          <a:xfrm>
            <a:off x="685800" y="3063240"/>
            <a:ext cx="2331720" cy="2286000"/>
          </a:xfrm>
          <a:prstGeom prst="rect">
            <a:avLst/>
          </a:prstGeom>
          <a:noFill/>
        </p:spPr>
        <p:txBody>
          <a:bodyPr wrap="square" anchor="t" lIns="36576" rIns="36576" tIns="18288" bIns="18288">
            <a:spAutoFit/>
          </a:bodyPr>
          <a:lstStyle/>
          <a:p>
            <a:pPr algn="ctr"/>
            <a:r>
              <a:rPr sz="2400" b="0">
                <a:solidFill>
                  <a:srgbClr val="000000"/>
                </a:solidFill>
                <a:latin typeface="Source Sans 3"/>
              </a:rPr>
              <a:t>hi-hat</a:t>
            </a:r>
          </a:p>
          <a:p>
            <a:pPr algn="ctr"/>
            <a:r>
              <a:rPr sz="2400" b="0">
                <a:solidFill>
                  <a:srgbClr val="000000"/>
                </a:solidFill>
                <a:latin typeface="Source Sans 3"/>
              </a:rPr>
              <a:t>snare</a:t>
            </a:r>
          </a:p>
          <a:p>
            <a:pPr algn="ctr"/>
            <a:r>
              <a:rPr sz="2400" b="0">
                <a:solidFill>
                  <a:srgbClr val="000000"/>
                </a:solidFill>
                <a:latin typeface="Source Sans 3"/>
              </a:rPr>
              <a:t>kick</a:t>
            </a:r>
          </a:p>
        </p:txBody>
      </p:sp>
      <p:sp>
        <p:nvSpPr>
          <p:cNvPr id="11" name="Rounded Rectangle 10"/>
          <p:cNvSpPr/>
          <p:nvPr/>
        </p:nvSpPr>
        <p:spPr>
          <a:xfrm>
            <a:off x="3364992"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2152" y="2286000"/>
            <a:ext cx="2331720" cy="731520"/>
          </a:xfrm>
          <a:prstGeom prst="rect">
            <a:avLst/>
          </a:prstGeom>
          <a:noFill/>
        </p:spPr>
        <p:txBody>
          <a:bodyPr wrap="square" anchor="t" lIns="36576" rIns="36576" tIns="18288" bIns="18288">
            <a:spAutoFit/>
          </a:bodyPr>
          <a:lstStyle/>
          <a:p>
            <a:pPr algn="ctr"/>
            <a:r>
              <a:rPr sz="3000" b="1">
                <a:solidFill>
                  <a:srgbClr val="000000"/>
                </a:solidFill>
                <a:latin typeface="Oswald"/>
              </a:rPr>
              <a:t>PERCUSSION</a:t>
            </a:r>
          </a:p>
        </p:txBody>
      </p:sp>
      <p:sp>
        <p:nvSpPr>
          <p:cNvPr id="13" name="TextBox 12"/>
          <p:cNvSpPr txBox="1"/>
          <p:nvPr/>
        </p:nvSpPr>
        <p:spPr>
          <a:xfrm>
            <a:off x="3502152" y="3063240"/>
            <a:ext cx="2331720" cy="2286000"/>
          </a:xfrm>
          <a:prstGeom prst="rect">
            <a:avLst/>
          </a:prstGeom>
          <a:noFill/>
        </p:spPr>
        <p:txBody>
          <a:bodyPr wrap="square" anchor="t" lIns="36576" rIns="36576" tIns="18288" bIns="18288">
            <a:spAutoFit/>
          </a:bodyPr>
          <a:lstStyle/>
          <a:p>
            <a:pPr algn="ctr"/>
            <a:r>
              <a:rPr sz="2400" b="0">
                <a:solidFill>
                  <a:srgbClr val="000000"/>
                </a:solidFill>
                <a:latin typeface="Source Sans 3"/>
              </a:rPr>
              <a:t>shaker</a:t>
            </a:r>
          </a:p>
        </p:txBody>
      </p:sp>
      <p:sp>
        <p:nvSpPr>
          <p:cNvPr id="14" name="Rounded Rectangle 13"/>
          <p:cNvSpPr/>
          <p:nvPr/>
        </p:nvSpPr>
        <p:spPr>
          <a:xfrm>
            <a:off x="6181344"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2286000"/>
            <a:ext cx="2331720" cy="731520"/>
          </a:xfrm>
          <a:prstGeom prst="rect">
            <a:avLst/>
          </a:prstGeom>
          <a:noFill/>
        </p:spPr>
        <p:txBody>
          <a:bodyPr wrap="square" anchor="t" lIns="36576" rIns="36576" tIns="18288" bIns="18288">
            <a:spAutoFit/>
          </a:bodyPr>
          <a:lstStyle/>
          <a:p>
            <a:pPr algn="ctr"/>
            <a:r>
              <a:rPr sz="3000" b="1">
                <a:solidFill>
                  <a:srgbClr val="000000"/>
                </a:solidFill>
                <a:latin typeface="Oswald"/>
              </a:rPr>
              <a:t>BASS</a:t>
            </a:r>
          </a:p>
        </p:txBody>
      </p:sp>
      <p:sp>
        <p:nvSpPr>
          <p:cNvPr id="16" name="TextBox 15"/>
          <p:cNvSpPr txBox="1"/>
          <p:nvPr/>
        </p:nvSpPr>
        <p:spPr>
          <a:xfrm>
            <a:off x="6318504" y="3063240"/>
            <a:ext cx="2331720" cy="2286000"/>
          </a:xfrm>
          <a:prstGeom prst="rect">
            <a:avLst/>
          </a:prstGeom>
          <a:noFill/>
        </p:spPr>
        <p:txBody>
          <a:bodyPr wrap="square" anchor="t" lIns="36576" rIns="36576" tIns="18288" bIns="18288">
            <a:spAutoFit/>
          </a:bodyPr>
          <a:lstStyle/>
          <a:p>
            <a:pPr algn="ctr"/>
            <a:r>
              <a:rPr sz="2400" b="0">
                <a:solidFill>
                  <a:srgbClr val="000000"/>
                </a:solidFill>
                <a:latin typeface="Source Sans 3"/>
              </a:rPr>
              <a:t>the lowest sound</a:t>
            </a:r>
          </a:p>
        </p:txBody>
      </p:sp>
      <p:sp>
        <p:nvSpPr>
          <p:cNvPr id="17" name="Rounded Rectangle 16"/>
          <p:cNvSpPr/>
          <p:nvPr/>
        </p:nvSpPr>
        <p:spPr>
          <a:xfrm>
            <a:off x="8997696" y="2103120"/>
            <a:ext cx="2606040" cy="3566160"/>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4856" y="2286000"/>
            <a:ext cx="2331720" cy="731520"/>
          </a:xfrm>
          <a:prstGeom prst="rect">
            <a:avLst/>
          </a:prstGeom>
          <a:noFill/>
        </p:spPr>
        <p:txBody>
          <a:bodyPr wrap="square" anchor="t" lIns="36576" rIns="36576" tIns="18288" bIns="18288">
            <a:spAutoFit/>
          </a:bodyPr>
          <a:lstStyle/>
          <a:p>
            <a:pPr algn="ctr"/>
            <a:r>
              <a:rPr sz="3000" b="1">
                <a:solidFill>
                  <a:srgbClr val="000000"/>
                </a:solidFill>
                <a:latin typeface="Oswald"/>
              </a:rPr>
              <a:t>SYNTH</a:t>
            </a:r>
          </a:p>
        </p:txBody>
      </p:sp>
      <p:sp>
        <p:nvSpPr>
          <p:cNvPr id="19" name="TextBox 18"/>
          <p:cNvSpPr txBox="1"/>
          <p:nvPr/>
        </p:nvSpPr>
        <p:spPr>
          <a:xfrm>
            <a:off x="9134856" y="3063240"/>
            <a:ext cx="2331720" cy="2286000"/>
          </a:xfrm>
          <a:prstGeom prst="rect">
            <a:avLst/>
          </a:prstGeom>
          <a:noFill/>
        </p:spPr>
        <p:txBody>
          <a:bodyPr wrap="square" anchor="t" lIns="36576" rIns="36576" tIns="18288" bIns="18288">
            <a:spAutoFit/>
          </a:bodyPr>
          <a:lstStyle/>
          <a:p>
            <a:pPr algn="ctr"/>
            <a:r>
              <a:rPr sz="2400" b="0">
                <a:solidFill>
                  <a:srgbClr val="000000"/>
                </a:solidFill>
                <a:latin typeface="Source Sans 3"/>
              </a:rPr>
              <a:t>chords and color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LONG IS EACH LOOP?</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8" name="Oval 7"/>
          <p:cNvSpPr/>
          <p:nvPr/>
        </p:nvSpPr>
        <p:spPr>
          <a:xfrm>
            <a:off x="548640" y="21579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116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Clap along to the pulse: each clap is a BEAT</a:t>
            </a:r>
          </a:p>
        </p:txBody>
      </p:sp>
      <p:sp>
        <p:nvSpPr>
          <p:cNvPr id="10" name="Oval 9"/>
          <p:cNvSpPr/>
          <p:nvPr/>
        </p:nvSpPr>
        <p:spPr>
          <a:xfrm>
            <a:off x="548640" y="28691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7228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Most of the time there are 4 beats in a MEASURE (bar)</a:t>
            </a:r>
          </a:p>
        </p:txBody>
      </p:sp>
      <p:sp>
        <p:nvSpPr>
          <p:cNvPr id="12" name="Oval 11"/>
          <p:cNvSpPr/>
          <p:nvPr/>
        </p:nvSpPr>
        <p:spPr>
          <a:xfrm>
            <a:off x="548640" y="35803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4340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How many beats do the drums play by themselves?</a:t>
            </a:r>
          </a:p>
        </p:txBody>
      </p:sp>
      <p:sp>
        <p:nvSpPr>
          <p:cNvPr id="14" name="Oval 13"/>
          <p:cNvSpPr/>
          <p:nvPr/>
        </p:nvSpPr>
        <p:spPr>
          <a:xfrm>
            <a:off x="548640" y="42915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1452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How many measures is that?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MAPPING AN INTRO, LAYER BY LAYER</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8" name="TextBox 7"/>
          <p:cNvSpPr txBox="1"/>
          <p:nvPr/>
        </p:nvSpPr>
        <p:spPr>
          <a:xfrm>
            <a:off x="2103120" y="1828800"/>
            <a:ext cx="548640" cy="320040"/>
          </a:xfrm>
          <a:prstGeom prst="rect">
            <a:avLst/>
          </a:prstGeom>
          <a:noFill/>
        </p:spPr>
        <p:txBody>
          <a:bodyPr wrap="square" anchor="t" lIns="36576" rIns="36576" tIns="18288" bIns="18288">
            <a:spAutoFit/>
          </a:bodyPr>
          <a:lstStyle/>
          <a:p>
            <a:pPr algn="ctr"/>
            <a:r>
              <a:rPr sz="1400" b="1">
                <a:solidFill>
                  <a:srgbClr val="000000"/>
                </a:solidFill>
                <a:latin typeface="Oswald"/>
              </a:rPr>
              <a:t>1</a:t>
            </a:r>
          </a:p>
        </p:txBody>
      </p:sp>
      <p:sp>
        <p:nvSpPr>
          <p:cNvPr id="9" name="TextBox 8"/>
          <p:cNvSpPr txBox="1"/>
          <p:nvPr/>
        </p:nvSpPr>
        <p:spPr>
          <a:xfrm>
            <a:off x="4411980" y="1828800"/>
            <a:ext cx="548640" cy="320040"/>
          </a:xfrm>
          <a:prstGeom prst="rect">
            <a:avLst/>
          </a:prstGeom>
          <a:noFill/>
        </p:spPr>
        <p:txBody>
          <a:bodyPr wrap="square" anchor="t" lIns="36576" rIns="36576" tIns="18288" bIns="18288">
            <a:spAutoFit/>
          </a:bodyPr>
          <a:lstStyle/>
          <a:p>
            <a:pPr algn="ctr"/>
            <a:r>
              <a:rPr sz="1400" b="1">
                <a:solidFill>
                  <a:srgbClr val="000000"/>
                </a:solidFill>
                <a:latin typeface="Oswald"/>
              </a:rPr>
              <a:t>5</a:t>
            </a:r>
          </a:p>
        </p:txBody>
      </p:sp>
      <p:sp>
        <p:nvSpPr>
          <p:cNvPr id="10" name="TextBox 9"/>
          <p:cNvSpPr txBox="1"/>
          <p:nvPr/>
        </p:nvSpPr>
        <p:spPr>
          <a:xfrm>
            <a:off x="6720840" y="1828800"/>
            <a:ext cx="548640" cy="320040"/>
          </a:xfrm>
          <a:prstGeom prst="rect">
            <a:avLst/>
          </a:prstGeom>
          <a:noFill/>
        </p:spPr>
        <p:txBody>
          <a:bodyPr wrap="square" anchor="t" lIns="36576" rIns="36576" tIns="18288" bIns="18288">
            <a:spAutoFit/>
          </a:bodyPr>
          <a:lstStyle/>
          <a:p>
            <a:pPr algn="ctr"/>
            <a:r>
              <a:rPr sz="1400" b="1">
                <a:solidFill>
                  <a:srgbClr val="000000"/>
                </a:solidFill>
                <a:latin typeface="Oswald"/>
              </a:rPr>
              <a:t>9</a:t>
            </a:r>
          </a:p>
        </p:txBody>
      </p:sp>
      <p:sp>
        <p:nvSpPr>
          <p:cNvPr id="11" name="TextBox 10"/>
          <p:cNvSpPr txBox="1"/>
          <p:nvPr/>
        </p:nvSpPr>
        <p:spPr>
          <a:xfrm>
            <a:off x="9029699" y="1828800"/>
            <a:ext cx="548640" cy="320040"/>
          </a:xfrm>
          <a:prstGeom prst="rect">
            <a:avLst/>
          </a:prstGeom>
          <a:noFill/>
        </p:spPr>
        <p:txBody>
          <a:bodyPr wrap="square" anchor="t" lIns="36576" rIns="36576" tIns="18288" bIns="18288">
            <a:spAutoFit/>
          </a:bodyPr>
          <a:lstStyle/>
          <a:p>
            <a:pPr algn="ctr"/>
            <a:r>
              <a:rPr sz="1400" b="1">
                <a:solidFill>
                  <a:srgbClr val="000000"/>
                </a:solidFill>
                <a:latin typeface="Oswald"/>
              </a:rPr>
              <a:t>13</a:t>
            </a:r>
          </a:p>
        </p:txBody>
      </p:sp>
      <p:sp>
        <p:nvSpPr>
          <p:cNvPr id="12" name="TextBox 11"/>
          <p:cNvSpPr txBox="1"/>
          <p:nvPr/>
        </p:nvSpPr>
        <p:spPr>
          <a:xfrm>
            <a:off x="11338559" y="1828800"/>
            <a:ext cx="548640" cy="320040"/>
          </a:xfrm>
          <a:prstGeom prst="rect">
            <a:avLst/>
          </a:prstGeom>
          <a:noFill/>
        </p:spPr>
        <p:txBody>
          <a:bodyPr wrap="square" anchor="t" lIns="36576" rIns="36576" tIns="18288" bIns="18288">
            <a:spAutoFit/>
          </a:bodyPr>
          <a:lstStyle/>
          <a:p>
            <a:pPr algn="ctr"/>
            <a:r>
              <a:rPr sz="1400" b="1">
                <a:solidFill>
                  <a:srgbClr val="000000"/>
                </a:solidFill>
                <a:latin typeface="Oswald"/>
              </a:rPr>
              <a:t/>
            </a:r>
          </a:p>
        </p:txBody>
      </p:sp>
      <p:sp>
        <p:nvSpPr>
          <p:cNvPr id="13" name="TextBox 12"/>
          <p:cNvSpPr txBox="1"/>
          <p:nvPr/>
        </p:nvSpPr>
        <p:spPr>
          <a:xfrm>
            <a:off x="548640" y="2240280"/>
            <a:ext cx="1691640" cy="685800"/>
          </a:xfrm>
          <a:prstGeom prst="rect">
            <a:avLst/>
          </a:prstGeom>
          <a:noFill/>
        </p:spPr>
        <p:txBody>
          <a:bodyPr wrap="square" anchor="ctr" lIns="36576" rIns="36576" tIns="18288" bIns="18288">
            <a:spAutoFit/>
          </a:bodyPr>
          <a:lstStyle/>
          <a:p>
            <a:pPr algn="r"/>
            <a:r>
              <a:rPr sz="2400" b="1">
                <a:solidFill>
                  <a:srgbClr val="000000"/>
                </a:solidFill>
                <a:latin typeface="Oswald"/>
              </a:rPr>
              <a:t>DRUMS</a:t>
            </a:r>
          </a:p>
        </p:txBody>
      </p:sp>
      <p:sp>
        <p:nvSpPr>
          <p:cNvPr id="14" name="Rounded Rectangle 13"/>
          <p:cNvSpPr/>
          <p:nvPr/>
        </p:nvSpPr>
        <p:spPr>
          <a:xfrm>
            <a:off x="2414016" y="2286000"/>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8880" y="2331720"/>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16" name="Rounded Rectangle 15"/>
          <p:cNvSpPr/>
          <p:nvPr/>
        </p:nvSpPr>
        <p:spPr>
          <a:xfrm>
            <a:off x="4722876" y="2286000"/>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7740" y="2331720"/>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18" name="Rounded Rectangle 17"/>
          <p:cNvSpPr/>
          <p:nvPr/>
        </p:nvSpPr>
        <p:spPr>
          <a:xfrm>
            <a:off x="7031736" y="2286000"/>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2331720"/>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20" name="Rounded Rectangle 19"/>
          <p:cNvSpPr/>
          <p:nvPr/>
        </p:nvSpPr>
        <p:spPr>
          <a:xfrm>
            <a:off x="9340595" y="2286000"/>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95459" y="2331720"/>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22" name="TextBox 21"/>
          <p:cNvSpPr txBox="1"/>
          <p:nvPr/>
        </p:nvSpPr>
        <p:spPr>
          <a:xfrm>
            <a:off x="548640" y="3108960"/>
            <a:ext cx="1691640" cy="685800"/>
          </a:xfrm>
          <a:prstGeom prst="rect">
            <a:avLst/>
          </a:prstGeom>
          <a:noFill/>
        </p:spPr>
        <p:txBody>
          <a:bodyPr wrap="square" anchor="ctr" lIns="36576" rIns="36576" tIns="18288" bIns="18288">
            <a:spAutoFit/>
          </a:bodyPr>
          <a:lstStyle/>
          <a:p>
            <a:pPr algn="r"/>
            <a:r>
              <a:rPr sz="2400" b="1">
                <a:solidFill>
                  <a:srgbClr val="000000"/>
                </a:solidFill>
                <a:latin typeface="Oswald"/>
              </a:rPr>
              <a:t>BASS</a:t>
            </a:r>
          </a:p>
        </p:txBody>
      </p:sp>
      <p:sp>
        <p:nvSpPr>
          <p:cNvPr id="23" name="Rounded Rectangle 22"/>
          <p:cNvSpPr/>
          <p:nvPr/>
        </p:nvSpPr>
        <p:spPr>
          <a:xfrm>
            <a:off x="4722876" y="3154680"/>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7740" y="3200400"/>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25" name="Rounded Rectangle 24"/>
          <p:cNvSpPr/>
          <p:nvPr/>
        </p:nvSpPr>
        <p:spPr>
          <a:xfrm>
            <a:off x="7031736" y="3154680"/>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86600" y="3200400"/>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27" name="Rounded Rectangle 26"/>
          <p:cNvSpPr/>
          <p:nvPr/>
        </p:nvSpPr>
        <p:spPr>
          <a:xfrm>
            <a:off x="9340595" y="3154680"/>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95459" y="3200400"/>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29" name="TextBox 28"/>
          <p:cNvSpPr txBox="1"/>
          <p:nvPr/>
        </p:nvSpPr>
        <p:spPr>
          <a:xfrm>
            <a:off x="548640" y="3977639"/>
            <a:ext cx="1691640" cy="685800"/>
          </a:xfrm>
          <a:prstGeom prst="rect">
            <a:avLst/>
          </a:prstGeom>
          <a:noFill/>
        </p:spPr>
        <p:txBody>
          <a:bodyPr wrap="square" anchor="ctr" lIns="36576" rIns="36576" tIns="18288" bIns="18288">
            <a:spAutoFit/>
          </a:bodyPr>
          <a:lstStyle/>
          <a:p>
            <a:pPr algn="r"/>
            <a:r>
              <a:rPr sz="2400" b="1">
                <a:solidFill>
                  <a:srgbClr val="000000"/>
                </a:solidFill>
                <a:latin typeface="Oswald"/>
              </a:rPr>
              <a:t>SHAKER</a:t>
            </a:r>
          </a:p>
        </p:txBody>
      </p:sp>
      <p:sp>
        <p:nvSpPr>
          <p:cNvPr id="30" name="Rounded Rectangle 29"/>
          <p:cNvSpPr/>
          <p:nvPr/>
        </p:nvSpPr>
        <p:spPr>
          <a:xfrm>
            <a:off x="7031736" y="4023359"/>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6600" y="4069079"/>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32" name="Rounded Rectangle 31"/>
          <p:cNvSpPr/>
          <p:nvPr/>
        </p:nvSpPr>
        <p:spPr>
          <a:xfrm>
            <a:off x="9340595" y="4023359"/>
            <a:ext cx="2235708" cy="59436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95459" y="4069079"/>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34" name="TextBox 33"/>
          <p:cNvSpPr txBox="1"/>
          <p:nvPr/>
        </p:nvSpPr>
        <p:spPr>
          <a:xfrm>
            <a:off x="548640" y="4846320"/>
            <a:ext cx="1691640" cy="685800"/>
          </a:xfrm>
          <a:prstGeom prst="rect">
            <a:avLst/>
          </a:prstGeom>
          <a:noFill/>
        </p:spPr>
        <p:txBody>
          <a:bodyPr wrap="square" anchor="ctr" lIns="36576" rIns="36576" tIns="18288" bIns="18288">
            <a:spAutoFit/>
          </a:bodyPr>
          <a:lstStyle/>
          <a:p>
            <a:pPr algn="r"/>
            <a:r>
              <a:rPr sz="2400" b="1">
                <a:solidFill>
                  <a:srgbClr val="000000"/>
                </a:solidFill>
                <a:latin typeface="Oswald"/>
              </a:rPr>
              <a:t>SYNTH</a:t>
            </a:r>
          </a:p>
        </p:txBody>
      </p:sp>
      <p:sp>
        <p:nvSpPr>
          <p:cNvPr id="35" name="Rounded Rectangle 34"/>
          <p:cNvSpPr/>
          <p:nvPr/>
        </p:nvSpPr>
        <p:spPr>
          <a:xfrm>
            <a:off x="9340595" y="4892040"/>
            <a:ext cx="2235708" cy="594360"/>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95459" y="4937759"/>
            <a:ext cx="2011680" cy="502920"/>
          </a:xfrm>
          <a:prstGeom prst="rect">
            <a:avLst/>
          </a:prstGeom>
          <a:noFill/>
        </p:spPr>
        <p:txBody>
          <a:bodyPr wrap="square" anchor="ctr" lIns="36576" rIns="36576" tIns="18288" bIns="18288">
            <a:spAutoFit/>
          </a:bodyPr>
          <a:lstStyle/>
          <a:p>
            <a:pPr algn="l"/>
            <a:r>
              <a:rPr sz="1400" b="1">
                <a:solidFill>
                  <a:srgbClr val="FFFFFF"/>
                </a:solidFill>
                <a:latin typeface="Source Sans 3"/>
              </a:rPr>
              <a:t>4 measures</a:t>
            </a:r>
          </a:p>
        </p:txBody>
      </p:sp>
      <p:sp>
        <p:nvSpPr>
          <p:cNvPr id="37" name="TextBox 36"/>
          <p:cNvSpPr txBox="1"/>
          <p:nvPr/>
        </p:nvSpPr>
        <p:spPr>
          <a:xfrm>
            <a:off x="548640" y="5806440"/>
            <a:ext cx="11064240" cy="457200"/>
          </a:xfrm>
          <a:prstGeom prst="rect">
            <a:avLst/>
          </a:prstGeom>
          <a:noFill/>
        </p:spPr>
        <p:txBody>
          <a:bodyPr wrap="square" anchor="t" lIns="36576" rIns="36576" tIns="18288" bIns="18288">
            <a:spAutoFit/>
          </a:bodyPr>
          <a:lstStyle/>
          <a:p>
            <a:pPr algn="l"/>
            <a:r>
              <a:rPr sz="1800" b="0">
                <a:solidFill>
                  <a:srgbClr val="000000"/>
                </a:solidFill>
                <a:latin typeface="Source Sans 3"/>
              </a:rPr>
              <a:t>Each layer enters at the start of a 4-measure block and keeps looping. In Logic, every block is a region.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MEET THE KIT</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pic>
        <p:nvPicPr>
          <p:cNvPr id="8" name="Picture 7" descr="kit.png"/>
          <p:cNvPicPr>
            <a:picLocks noChangeAspect="1"/>
          </p:cNvPicPr>
          <p:nvPr/>
        </p:nvPicPr>
        <p:blipFill>
          <a:blip r:embed="rId2"/>
          <a:stretch>
            <a:fillRect/>
          </a:stretch>
        </p:blipFill>
        <p:spPr>
          <a:xfrm>
            <a:off x="548640" y="1828800"/>
            <a:ext cx="5852160" cy="3840480"/>
          </a:xfrm>
          <a:prstGeom prst="rect">
            <a:avLst/>
          </a:prstGeom>
        </p:spPr>
      </p:pic>
      <p:sp>
        <p:nvSpPr>
          <p:cNvPr id="9" name="Oval 8"/>
          <p:cNvSpPr/>
          <p:nvPr/>
        </p:nvSpPr>
        <p:spPr>
          <a:xfrm>
            <a:off x="6675120" y="2075688"/>
            <a:ext cx="182880" cy="182880"/>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1965960"/>
            <a:ext cx="4663440" cy="502920"/>
          </a:xfrm>
          <a:prstGeom prst="rect">
            <a:avLst/>
          </a:prstGeom>
          <a:noFill/>
        </p:spPr>
        <p:txBody>
          <a:bodyPr wrap="square" anchor="t" lIns="36576" rIns="36576" tIns="18288" bIns="18288">
            <a:spAutoFit/>
          </a:bodyPr>
          <a:lstStyle/>
          <a:p>
            <a:pPr algn="l"/>
            <a:r>
              <a:rPr sz="3000" b="1">
                <a:solidFill>
                  <a:srgbClr val="000000"/>
                </a:solidFill>
                <a:latin typeface="Oswald"/>
              </a:rPr>
              <a:t>KICK</a:t>
            </a:r>
          </a:p>
        </p:txBody>
      </p:sp>
      <p:sp>
        <p:nvSpPr>
          <p:cNvPr id="11" name="TextBox 10"/>
          <p:cNvSpPr txBox="1"/>
          <p:nvPr/>
        </p:nvSpPr>
        <p:spPr>
          <a:xfrm>
            <a:off x="6995160" y="2496312"/>
            <a:ext cx="4663440" cy="822960"/>
          </a:xfrm>
          <a:prstGeom prst="rect">
            <a:avLst/>
          </a:prstGeom>
          <a:noFill/>
        </p:spPr>
        <p:txBody>
          <a:bodyPr wrap="square" anchor="t" lIns="36576" rIns="36576" tIns="18288" bIns="18288">
            <a:spAutoFit/>
          </a:bodyPr>
          <a:lstStyle/>
          <a:p>
            <a:pPr algn="l"/>
            <a:r>
              <a:rPr sz="1900" b="0">
                <a:solidFill>
                  <a:srgbClr val="000000"/>
                </a:solidFill>
                <a:latin typeface="Source Sans 3"/>
              </a:rPr>
              <a:t>the lowest, heaviest hit; usually beats 1 and 3</a:t>
            </a:r>
          </a:p>
        </p:txBody>
      </p:sp>
      <p:sp>
        <p:nvSpPr>
          <p:cNvPr id="12" name="Oval 11"/>
          <p:cNvSpPr/>
          <p:nvPr/>
        </p:nvSpPr>
        <p:spPr>
          <a:xfrm>
            <a:off x="6675120" y="3493008"/>
            <a:ext cx="182880" cy="182880"/>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3383280"/>
            <a:ext cx="4663440" cy="502920"/>
          </a:xfrm>
          <a:prstGeom prst="rect">
            <a:avLst/>
          </a:prstGeom>
          <a:noFill/>
        </p:spPr>
        <p:txBody>
          <a:bodyPr wrap="square" anchor="t" lIns="36576" rIns="36576" tIns="18288" bIns="18288">
            <a:spAutoFit/>
          </a:bodyPr>
          <a:lstStyle/>
          <a:p>
            <a:pPr algn="l"/>
            <a:r>
              <a:rPr sz="3000" b="1">
                <a:solidFill>
                  <a:srgbClr val="000000"/>
                </a:solidFill>
                <a:latin typeface="Oswald"/>
              </a:rPr>
              <a:t>SNARE</a:t>
            </a:r>
          </a:p>
        </p:txBody>
      </p:sp>
      <p:sp>
        <p:nvSpPr>
          <p:cNvPr id="14" name="TextBox 13"/>
          <p:cNvSpPr txBox="1"/>
          <p:nvPr/>
        </p:nvSpPr>
        <p:spPr>
          <a:xfrm>
            <a:off x="6995160" y="3913632"/>
            <a:ext cx="4663440" cy="822960"/>
          </a:xfrm>
          <a:prstGeom prst="rect">
            <a:avLst/>
          </a:prstGeom>
          <a:noFill/>
        </p:spPr>
        <p:txBody>
          <a:bodyPr wrap="square" anchor="t" lIns="36576" rIns="36576" tIns="18288" bIns="18288">
            <a:spAutoFit/>
          </a:bodyPr>
          <a:lstStyle/>
          <a:p>
            <a:pPr algn="l"/>
            <a:r>
              <a:rPr sz="1900" b="0">
                <a:solidFill>
                  <a:srgbClr val="000000"/>
                </a:solidFill>
                <a:latin typeface="Source Sans 3"/>
              </a:rPr>
              <a:t>the sharp crack; usually beats 2 and 4</a:t>
            </a:r>
          </a:p>
        </p:txBody>
      </p:sp>
      <p:sp>
        <p:nvSpPr>
          <p:cNvPr id="15" name="Oval 14"/>
          <p:cNvSpPr/>
          <p:nvPr/>
        </p:nvSpPr>
        <p:spPr>
          <a:xfrm>
            <a:off x="6675120" y="4910328"/>
            <a:ext cx="182880" cy="182880"/>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4800600"/>
            <a:ext cx="4663440" cy="502920"/>
          </a:xfrm>
          <a:prstGeom prst="rect">
            <a:avLst/>
          </a:prstGeom>
          <a:noFill/>
        </p:spPr>
        <p:txBody>
          <a:bodyPr wrap="square" anchor="t" lIns="36576" rIns="36576" tIns="18288" bIns="18288">
            <a:spAutoFit/>
          </a:bodyPr>
          <a:lstStyle/>
          <a:p>
            <a:pPr algn="l"/>
            <a:r>
              <a:rPr sz="3000" b="1">
                <a:solidFill>
                  <a:srgbClr val="000000"/>
                </a:solidFill>
                <a:latin typeface="Oswald"/>
              </a:rPr>
              <a:t>HI-HAT</a:t>
            </a:r>
          </a:p>
        </p:txBody>
      </p:sp>
      <p:sp>
        <p:nvSpPr>
          <p:cNvPr id="17" name="TextBox 16"/>
          <p:cNvSpPr txBox="1"/>
          <p:nvPr/>
        </p:nvSpPr>
        <p:spPr>
          <a:xfrm>
            <a:off x="6995160" y="5330952"/>
            <a:ext cx="4663440" cy="822960"/>
          </a:xfrm>
          <a:prstGeom prst="rect">
            <a:avLst/>
          </a:prstGeom>
          <a:noFill/>
        </p:spPr>
        <p:txBody>
          <a:bodyPr wrap="square" anchor="t" lIns="36576" rIns="36576" tIns="18288" bIns="18288">
            <a:spAutoFit/>
          </a:bodyPr>
          <a:lstStyle/>
          <a:p>
            <a:pPr algn="l"/>
            <a:r>
              <a:rPr sz="1900" b="0">
                <a:solidFill>
                  <a:srgbClr val="000000"/>
                </a:solidFill>
                <a:latin typeface="Source Sans 3"/>
              </a:rPr>
              <a:t>two cymbals that keep a steady pulse; closed (tight) or open (ringing)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READ THE GRID</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sp>
        <p:nvSpPr>
          <p:cNvPr id="8" name="TextBox 7"/>
          <p:cNvSpPr txBox="1"/>
          <p:nvPr/>
        </p:nvSpPr>
        <p:spPr>
          <a:xfrm>
            <a:off x="2194560" y="2002536"/>
            <a:ext cx="767524" cy="292608"/>
          </a:xfrm>
          <a:prstGeom prst="rect">
            <a:avLst/>
          </a:prstGeom>
          <a:noFill/>
        </p:spPr>
        <p:txBody>
          <a:bodyPr wrap="square" anchor="t" lIns="36576" rIns="36576" tIns="18288" bIns="18288">
            <a:spAutoFit/>
          </a:bodyPr>
          <a:lstStyle/>
          <a:p>
            <a:pPr algn="ctr"/>
            <a:r>
              <a:rPr sz="1400" b="1">
                <a:solidFill>
                  <a:srgbClr val="000000"/>
                </a:solidFill>
                <a:latin typeface="Oswald"/>
              </a:rPr>
              <a:t>1</a:t>
            </a:r>
          </a:p>
        </p:txBody>
      </p:sp>
      <p:sp>
        <p:nvSpPr>
          <p:cNvPr id="9" name="TextBox 8"/>
          <p:cNvSpPr txBox="1"/>
          <p:nvPr/>
        </p:nvSpPr>
        <p:spPr>
          <a:xfrm>
            <a:off x="2779204"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1.2</a:t>
            </a:r>
          </a:p>
        </p:txBody>
      </p:sp>
      <p:sp>
        <p:nvSpPr>
          <p:cNvPr id="10" name="TextBox 9"/>
          <p:cNvSpPr txBox="1"/>
          <p:nvPr/>
        </p:nvSpPr>
        <p:spPr>
          <a:xfrm>
            <a:off x="3363849"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1.3</a:t>
            </a:r>
          </a:p>
        </p:txBody>
      </p:sp>
      <p:sp>
        <p:nvSpPr>
          <p:cNvPr id="11" name="TextBox 10"/>
          <p:cNvSpPr txBox="1"/>
          <p:nvPr/>
        </p:nvSpPr>
        <p:spPr>
          <a:xfrm>
            <a:off x="3948493"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1.4</a:t>
            </a:r>
          </a:p>
        </p:txBody>
      </p:sp>
      <p:sp>
        <p:nvSpPr>
          <p:cNvPr id="12" name="TextBox 11"/>
          <p:cNvSpPr txBox="1"/>
          <p:nvPr/>
        </p:nvSpPr>
        <p:spPr>
          <a:xfrm>
            <a:off x="4533138" y="2002536"/>
            <a:ext cx="767524" cy="292608"/>
          </a:xfrm>
          <a:prstGeom prst="rect">
            <a:avLst/>
          </a:prstGeom>
          <a:noFill/>
        </p:spPr>
        <p:txBody>
          <a:bodyPr wrap="square" anchor="t" lIns="36576" rIns="36576" tIns="18288" bIns="18288">
            <a:spAutoFit/>
          </a:bodyPr>
          <a:lstStyle/>
          <a:p>
            <a:pPr algn="ctr"/>
            <a:r>
              <a:rPr sz="1400" b="1">
                <a:solidFill>
                  <a:srgbClr val="000000"/>
                </a:solidFill>
                <a:latin typeface="Oswald"/>
              </a:rPr>
              <a:t>2</a:t>
            </a:r>
          </a:p>
        </p:txBody>
      </p:sp>
      <p:sp>
        <p:nvSpPr>
          <p:cNvPr id="13" name="TextBox 12"/>
          <p:cNvSpPr txBox="1"/>
          <p:nvPr/>
        </p:nvSpPr>
        <p:spPr>
          <a:xfrm>
            <a:off x="5117782"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2.2</a:t>
            </a:r>
          </a:p>
        </p:txBody>
      </p:sp>
      <p:sp>
        <p:nvSpPr>
          <p:cNvPr id="14" name="TextBox 13"/>
          <p:cNvSpPr txBox="1"/>
          <p:nvPr/>
        </p:nvSpPr>
        <p:spPr>
          <a:xfrm>
            <a:off x="5702427"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2.3</a:t>
            </a:r>
          </a:p>
        </p:txBody>
      </p:sp>
      <p:sp>
        <p:nvSpPr>
          <p:cNvPr id="15" name="TextBox 14"/>
          <p:cNvSpPr txBox="1"/>
          <p:nvPr/>
        </p:nvSpPr>
        <p:spPr>
          <a:xfrm>
            <a:off x="6287071"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2.4</a:t>
            </a:r>
          </a:p>
        </p:txBody>
      </p:sp>
      <p:sp>
        <p:nvSpPr>
          <p:cNvPr id="16" name="TextBox 15"/>
          <p:cNvSpPr txBox="1"/>
          <p:nvPr/>
        </p:nvSpPr>
        <p:spPr>
          <a:xfrm>
            <a:off x="6871716" y="2002536"/>
            <a:ext cx="767524" cy="292608"/>
          </a:xfrm>
          <a:prstGeom prst="rect">
            <a:avLst/>
          </a:prstGeom>
          <a:noFill/>
        </p:spPr>
        <p:txBody>
          <a:bodyPr wrap="square" anchor="t" lIns="36576" rIns="36576" tIns="18288" bIns="18288">
            <a:spAutoFit/>
          </a:bodyPr>
          <a:lstStyle/>
          <a:p>
            <a:pPr algn="ctr"/>
            <a:r>
              <a:rPr sz="1400" b="1">
                <a:solidFill>
                  <a:srgbClr val="000000"/>
                </a:solidFill>
                <a:latin typeface="Oswald"/>
              </a:rPr>
              <a:t>3</a:t>
            </a:r>
          </a:p>
        </p:txBody>
      </p:sp>
      <p:sp>
        <p:nvSpPr>
          <p:cNvPr id="17" name="TextBox 16"/>
          <p:cNvSpPr txBox="1"/>
          <p:nvPr/>
        </p:nvSpPr>
        <p:spPr>
          <a:xfrm>
            <a:off x="7456360"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3.2</a:t>
            </a:r>
          </a:p>
        </p:txBody>
      </p:sp>
      <p:sp>
        <p:nvSpPr>
          <p:cNvPr id="18" name="TextBox 17"/>
          <p:cNvSpPr txBox="1"/>
          <p:nvPr/>
        </p:nvSpPr>
        <p:spPr>
          <a:xfrm>
            <a:off x="8041005"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3.3</a:t>
            </a:r>
          </a:p>
        </p:txBody>
      </p:sp>
      <p:sp>
        <p:nvSpPr>
          <p:cNvPr id="19" name="TextBox 18"/>
          <p:cNvSpPr txBox="1"/>
          <p:nvPr/>
        </p:nvSpPr>
        <p:spPr>
          <a:xfrm>
            <a:off x="8625649"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3.4</a:t>
            </a:r>
          </a:p>
        </p:txBody>
      </p:sp>
      <p:sp>
        <p:nvSpPr>
          <p:cNvPr id="20" name="TextBox 19"/>
          <p:cNvSpPr txBox="1"/>
          <p:nvPr/>
        </p:nvSpPr>
        <p:spPr>
          <a:xfrm>
            <a:off x="9210294" y="2002536"/>
            <a:ext cx="767524" cy="292608"/>
          </a:xfrm>
          <a:prstGeom prst="rect">
            <a:avLst/>
          </a:prstGeom>
          <a:noFill/>
        </p:spPr>
        <p:txBody>
          <a:bodyPr wrap="square" anchor="t" lIns="36576" rIns="36576" tIns="18288" bIns="18288">
            <a:spAutoFit/>
          </a:bodyPr>
          <a:lstStyle/>
          <a:p>
            <a:pPr algn="ctr"/>
            <a:r>
              <a:rPr sz="1400" b="1">
                <a:solidFill>
                  <a:srgbClr val="000000"/>
                </a:solidFill>
                <a:latin typeface="Oswald"/>
              </a:rPr>
              <a:t>4</a:t>
            </a:r>
          </a:p>
        </p:txBody>
      </p:sp>
      <p:sp>
        <p:nvSpPr>
          <p:cNvPr id="21" name="TextBox 20"/>
          <p:cNvSpPr txBox="1"/>
          <p:nvPr/>
        </p:nvSpPr>
        <p:spPr>
          <a:xfrm>
            <a:off x="9794938"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4.2</a:t>
            </a:r>
          </a:p>
        </p:txBody>
      </p:sp>
      <p:sp>
        <p:nvSpPr>
          <p:cNvPr id="22" name="TextBox 21"/>
          <p:cNvSpPr txBox="1"/>
          <p:nvPr/>
        </p:nvSpPr>
        <p:spPr>
          <a:xfrm>
            <a:off x="10379583"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4.3</a:t>
            </a:r>
          </a:p>
        </p:txBody>
      </p:sp>
      <p:sp>
        <p:nvSpPr>
          <p:cNvPr id="23" name="TextBox 22"/>
          <p:cNvSpPr txBox="1"/>
          <p:nvPr/>
        </p:nvSpPr>
        <p:spPr>
          <a:xfrm>
            <a:off x="10964227" y="2002536"/>
            <a:ext cx="767524" cy="292608"/>
          </a:xfrm>
          <a:prstGeom prst="rect">
            <a:avLst/>
          </a:prstGeom>
          <a:noFill/>
        </p:spPr>
        <p:txBody>
          <a:bodyPr wrap="square" anchor="t" lIns="36576" rIns="36576" tIns="18288" bIns="18288">
            <a:spAutoFit/>
          </a:bodyPr>
          <a:lstStyle/>
          <a:p>
            <a:pPr algn="ctr"/>
            <a:r>
              <a:rPr sz="1100" b="0">
                <a:solidFill>
                  <a:srgbClr val="000000"/>
                </a:solidFill>
                <a:latin typeface="Oswald"/>
              </a:rPr>
              <a:t>4.4</a:t>
            </a:r>
          </a:p>
        </p:txBody>
      </p:sp>
      <p:sp>
        <p:nvSpPr>
          <p:cNvPr id="24" name="TextBox 23"/>
          <p:cNvSpPr txBox="1"/>
          <p:nvPr/>
        </p:nvSpPr>
        <p:spPr>
          <a:xfrm>
            <a:off x="548640" y="2331720"/>
            <a:ext cx="1627631" cy="566928"/>
          </a:xfrm>
          <a:prstGeom prst="rect">
            <a:avLst/>
          </a:prstGeom>
          <a:noFill/>
        </p:spPr>
        <p:txBody>
          <a:bodyPr wrap="square" anchor="ctr" lIns="36576" rIns="36576" tIns="18288" bIns="18288">
            <a:spAutoFit/>
          </a:bodyPr>
          <a:lstStyle/>
          <a:p>
            <a:pPr algn="r"/>
            <a:r>
              <a:rPr sz="1800" b="1">
                <a:solidFill>
                  <a:srgbClr val="000000"/>
                </a:solidFill>
                <a:latin typeface="Oswald"/>
              </a:rPr>
              <a:t>Eighths</a:t>
            </a:r>
          </a:p>
        </p:txBody>
      </p:sp>
      <p:sp>
        <p:nvSpPr>
          <p:cNvPr id="25" name="Rectangle 24"/>
          <p:cNvSpPr/>
          <p:nvPr/>
        </p:nvSpPr>
        <p:spPr>
          <a:xfrm>
            <a:off x="2286000" y="2331720"/>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340864"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70644"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55289"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510153"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39933"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24578" y="2331720"/>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679442"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09222"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93867"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848730"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8511"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963156" y="2331720"/>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018020"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547800"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32445"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187309"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717089"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301734" y="2331720"/>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356598"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86378"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71023"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0525887" y="2386584"/>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055667" y="2331720"/>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2898648"/>
            <a:ext cx="1627631" cy="566928"/>
          </a:xfrm>
          <a:prstGeom prst="rect">
            <a:avLst/>
          </a:prstGeom>
          <a:noFill/>
        </p:spPr>
        <p:txBody>
          <a:bodyPr wrap="square" anchor="ctr" lIns="36576" rIns="36576" tIns="18288" bIns="18288">
            <a:spAutoFit/>
          </a:bodyPr>
          <a:lstStyle/>
          <a:p>
            <a:pPr algn="r"/>
            <a:r>
              <a:rPr sz="1800" b="1">
                <a:solidFill>
                  <a:srgbClr val="000000"/>
                </a:solidFill>
                <a:latin typeface="Oswald"/>
              </a:rPr>
              <a:t>Sixteenths</a:t>
            </a:r>
          </a:p>
        </p:txBody>
      </p:sp>
      <p:sp>
        <p:nvSpPr>
          <p:cNvPr id="50" name="Rectangle 49"/>
          <p:cNvSpPr/>
          <p:nvPr/>
        </p:nvSpPr>
        <p:spPr>
          <a:xfrm>
            <a:off x="2286000" y="2898648"/>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2340864"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870644"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2925508"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455289"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510153"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039933"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4094797"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624578" y="2898648"/>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679442"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209222"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264086"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793867"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5848730"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78511"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6433375"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963156" y="2898648"/>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7018020"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547800"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7602664"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132445"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8187309"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717089"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8771953"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301734" y="2898648"/>
            <a:ext cx="584644" cy="566928"/>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9356598"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886378"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9941242"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471023"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10525887"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1055667" y="2898648"/>
            <a:ext cx="584644" cy="566928"/>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11110531" y="2953512"/>
            <a:ext cx="474916" cy="4572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548640" y="4005072"/>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96112" y="3886200"/>
            <a:ext cx="10698480" cy="528320"/>
          </a:xfrm>
          <a:prstGeom prst="rect">
            <a:avLst/>
          </a:prstGeom>
          <a:noFill/>
        </p:spPr>
        <p:txBody>
          <a:bodyPr wrap="square" anchor="t" lIns="36576" rIns="36576" tIns="18288" bIns="18288">
            <a:spAutoFit/>
          </a:bodyPr>
          <a:lstStyle/>
          <a:p>
            <a:pPr algn="l"/>
            <a:r>
              <a:rPr sz="2600" b="0">
                <a:solidFill>
                  <a:srgbClr val="000000"/>
                </a:solidFill>
                <a:latin typeface="Source Sans 3"/>
              </a:rPr>
              <a:t>16 squares = 1 measure of sixteenth notes</a:t>
            </a:r>
          </a:p>
        </p:txBody>
      </p:sp>
      <p:sp>
        <p:nvSpPr>
          <p:cNvPr id="84" name="Oval 83"/>
          <p:cNvSpPr/>
          <p:nvPr/>
        </p:nvSpPr>
        <p:spPr>
          <a:xfrm>
            <a:off x="548640" y="4582922"/>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96112" y="4464050"/>
            <a:ext cx="10698480" cy="528320"/>
          </a:xfrm>
          <a:prstGeom prst="rect">
            <a:avLst/>
          </a:prstGeom>
          <a:noFill/>
        </p:spPr>
        <p:txBody>
          <a:bodyPr wrap="square" anchor="t" lIns="36576" rIns="36576" tIns="18288" bIns="18288">
            <a:spAutoFit/>
          </a:bodyPr>
          <a:lstStyle/>
          <a:p>
            <a:pPr algn="l"/>
            <a:r>
              <a:rPr sz="2600" b="0">
                <a:solidFill>
                  <a:srgbClr val="000000"/>
                </a:solidFill>
                <a:latin typeface="Source Sans 3"/>
              </a:rPr>
              <a:t>Every other square = eighth notes (the default groove)</a:t>
            </a:r>
          </a:p>
        </p:txBody>
      </p:sp>
      <p:sp>
        <p:nvSpPr>
          <p:cNvPr id="86" name="Oval 85"/>
          <p:cNvSpPr/>
          <p:nvPr/>
        </p:nvSpPr>
        <p:spPr>
          <a:xfrm>
            <a:off x="548640" y="5160772"/>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96112" y="5041900"/>
            <a:ext cx="10698480" cy="528320"/>
          </a:xfrm>
          <a:prstGeom prst="rect">
            <a:avLst/>
          </a:prstGeom>
          <a:noFill/>
        </p:spPr>
        <p:txBody>
          <a:bodyPr wrap="square" anchor="t" lIns="36576" rIns="36576" tIns="18288" bIns="18288">
            <a:spAutoFit/>
          </a:bodyPr>
          <a:lstStyle/>
          <a:p>
            <a:pPr algn="l"/>
            <a:r>
              <a:rPr sz="2600" b="0">
                <a:solidFill>
                  <a:srgbClr val="000000"/>
                </a:solidFill>
                <a:latin typeface="Source Sans 3"/>
              </a:rPr>
              <a:t>Every square = sixteenth notes (busier, more energy)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BILLIE JEAN’S DRUMS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8" name="TextBox 7"/>
          <p:cNvSpPr txBox="1"/>
          <p:nvPr/>
        </p:nvSpPr>
        <p:spPr>
          <a:xfrm>
            <a:off x="1920240" y="2002536"/>
            <a:ext cx="784669" cy="292608"/>
          </a:xfrm>
          <a:prstGeom prst="rect">
            <a:avLst/>
          </a:prstGeom>
          <a:noFill/>
        </p:spPr>
        <p:txBody>
          <a:bodyPr wrap="square" anchor="t" lIns="36576" rIns="36576" tIns="18288" bIns="18288">
            <a:spAutoFit/>
          </a:bodyPr>
          <a:lstStyle/>
          <a:p>
            <a:pPr algn="ctr"/>
            <a:r>
              <a:rPr sz="1400" b="1">
                <a:solidFill>
                  <a:srgbClr val="000000"/>
                </a:solidFill>
                <a:latin typeface="Oswald"/>
              </a:rPr>
              <a:t>1</a:t>
            </a:r>
          </a:p>
        </p:txBody>
      </p:sp>
      <p:sp>
        <p:nvSpPr>
          <p:cNvPr id="9" name="TextBox 8"/>
          <p:cNvSpPr txBox="1"/>
          <p:nvPr/>
        </p:nvSpPr>
        <p:spPr>
          <a:xfrm>
            <a:off x="2522029"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1.2</a:t>
            </a:r>
          </a:p>
        </p:txBody>
      </p:sp>
      <p:sp>
        <p:nvSpPr>
          <p:cNvPr id="10" name="TextBox 9"/>
          <p:cNvSpPr txBox="1"/>
          <p:nvPr/>
        </p:nvSpPr>
        <p:spPr>
          <a:xfrm>
            <a:off x="3123819"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1.3</a:t>
            </a:r>
          </a:p>
        </p:txBody>
      </p:sp>
      <p:sp>
        <p:nvSpPr>
          <p:cNvPr id="11" name="TextBox 10"/>
          <p:cNvSpPr txBox="1"/>
          <p:nvPr/>
        </p:nvSpPr>
        <p:spPr>
          <a:xfrm>
            <a:off x="3725608"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1.4</a:t>
            </a:r>
          </a:p>
        </p:txBody>
      </p:sp>
      <p:sp>
        <p:nvSpPr>
          <p:cNvPr id="12" name="TextBox 11"/>
          <p:cNvSpPr txBox="1"/>
          <p:nvPr/>
        </p:nvSpPr>
        <p:spPr>
          <a:xfrm>
            <a:off x="4327398" y="2002536"/>
            <a:ext cx="784669" cy="292608"/>
          </a:xfrm>
          <a:prstGeom prst="rect">
            <a:avLst/>
          </a:prstGeom>
          <a:noFill/>
        </p:spPr>
        <p:txBody>
          <a:bodyPr wrap="square" anchor="t" lIns="36576" rIns="36576" tIns="18288" bIns="18288">
            <a:spAutoFit/>
          </a:bodyPr>
          <a:lstStyle/>
          <a:p>
            <a:pPr algn="ctr"/>
            <a:r>
              <a:rPr sz="1400" b="1">
                <a:solidFill>
                  <a:srgbClr val="000000"/>
                </a:solidFill>
                <a:latin typeface="Oswald"/>
              </a:rPr>
              <a:t>2</a:t>
            </a:r>
          </a:p>
        </p:txBody>
      </p:sp>
      <p:sp>
        <p:nvSpPr>
          <p:cNvPr id="13" name="TextBox 12"/>
          <p:cNvSpPr txBox="1"/>
          <p:nvPr/>
        </p:nvSpPr>
        <p:spPr>
          <a:xfrm>
            <a:off x="4929187"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2.2</a:t>
            </a:r>
          </a:p>
        </p:txBody>
      </p:sp>
      <p:sp>
        <p:nvSpPr>
          <p:cNvPr id="14" name="TextBox 13"/>
          <p:cNvSpPr txBox="1"/>
          <p:nvPr/>
        </p:nvSpPr>
        <p:spPr>
          <a:xfrm>
            <a:off x="5530977"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2.3</a:t>
            </a:r>
          </a:p>
        </p:txBody>
      </p:sp>
      <p:sp>
        <p:nvSpPr>
          <p:cNvPr id="15" name="TextBox 14"/>
          <p:cNvSpPr txBox="1"/>
          <p:nvPr/>
        </p:nvSpPr>
        <p:spPr>
          <a:xfrm>
            <a:off x="6132766"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2.4</a:t>
            </a:r>
          </a:p>
        </p:txBody>
      </p:sp>
      <p:sp>
        <p:nvSpPr>
          <p:cNvPr id="16" name="TextBox 15"/>
          <p:cNvSpPr txBox="1"/>
          <p:nvPr/>
        </p:nvSpPr>
        <p:spPr>
          <a:xfrm>
            <a:off x="6734556" y="2002536"/>
            <a:ext cx="784669" cy="292608"/>
          </a:xfrm>
          <a:prstGeom prst="rect">
            <a:avLst/>
          </a:prstGeom>
          <a:noFill/>
        </p:spPr>
        <p:txBody>
          <a:bodyPr wrap="square" anchor="t" lIns="36576" rIns="36576" tIns="18288" bIns="18288">
            <a:spAutoFit/>
          </a:bodyPr>
          <a:lstStyle/>
          <a:p>
            <a:pPr algn="ctr"/>
            <a:r>
              <a:rPr sz="1400" b="1">
                <a:solidFill>
                  <a:srgbClr val="000000"/>
                </a:solidFill>
                <a:latin typeface="Oswald"/>
              </a:rPr>
              <a:t>3</a:t>
            </a:r>
          </a:p>
        </p:txBody>
      </p:sp>
      <p:sp>
        <p:nvSpPr>
          <p:cNvPr id="17" name="TextBox 16"/>
          <p:cNvSpPr txBox="1"/>
          <p:nvPr/>
        </p:nvSpPr>
        <p:spPr>
          <a:xfrm>
            <a:off x="7336345"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3.2</a:t>
            </a:r>
          </a:p>
        </p:txBody>
      </p:sp>
      <p:sp>
        <p:nvSpPr>
          <p:cNvPr id="18" name="TextBox 17"/>
          <p:cNvSpPr txBox="1"/>
          <p:nvPr/>
        </p:nvSpPr>
        <p:spPr>
          <a:xfrm>
            <a:off x="7938135"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3.3</a:t>
            </a:r>
          </a:p>
        </p:txBody>
      </p:sp>
      <p:sp>
        <p:nvSpPr>
          <p:cNvPr id="19" name="TextBox 18"/>
          <p:cNvSpPr txBox="1"/>
          <p:nvPr/>
        </p:nvSpPr>
        <p:spPr>
          <a:xfrm>
            <a:off x="8539924"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3.4</a:t>
            </a:r>
          </a:p>
        </p:txBody>
      </p:sp>
      <p:sp>
        <p:nvSpPr>
          <p:cNvPr id="20" name="TextBox 19"/>
          <p:cNvSpPr txBox="1"/>
          <p:nvPr/>
        </p:nvSpPr>
        <p:spPr>
          <a:xfrm>
            <a:off x="9141714" y="2002536"/>
            <a:ext cx="784669" cy="292608"/>
          </a:xfrm>
          <a:prstGeom prst="rect">
            <a:avLst/>
          </a:prstGeom>
          <a:noFill/>
        </p:spPr>
        <p:txBody>
          <a:bodyPr wrap="square" anchor="t" lIns="36576" rIns="36576" tIns="18288" bIns="18288">
            <a:spAutoFit/>
          </a:bodyPr>
          <a:lstStyle/>
          <a:p>
            <a:pPr algn="ctr"/>
            <a:r>
              <a:rPr sz="1400" b="1">
                <a:solidFill>
                  <a:srgbClr val="000000"/>
                </a:solidFill>
                <a:latin typeface="Oswald"/>
              </a:rPr>
              <a:t>4</a:t>
            </a:r>
          </a:p>
        </p:txBody>
      </p:sp>
      <p:sp>
        <p:nvSpPr>
          <p:cNvPr id="21" name="TextBox 20"/>
          <p:cNvSpPr txBox="1"/>
          <p:nvPr/>
        </p:nvSpPr>
        <p:spPr>
          <a:xfrm>
            <a:off x="9743503"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4.2</a:t>
            </a:r>
          </a:p>
        </p:txBody>
      </p:sp>
      <p:sp>
        <p:nvSpPr>
          <p:cNvPr id="22" name="TextBox 21"/>
          <p:cNvSpPr txBox="1"/>
          <p:nvPr/>
        </p:nvSpPr>
        <p:spPr>
          <a:xfrm>
            <a:off x="10345293"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4.3</a:t>
            </a:r>
          </a:p>
        </p:txBody>
      </p:sp>
      <p:sp>
        <p:nvSpPr>
          <p:cNvPr id="23" name="TextBox 22"/>
          <p:cNvSpPr txBox="1"/>
          <p:nvPr/>
        </p:nvSpPr>
        <p:spPr>
          <a:xfrm>
            <a:off x="10947082" y="2002536"/>
            <a:ext cx="784669" cy="292608"/>
          </a:xfrm>
          <a:prstGeom prst="rect">
            <a:avLst/>
          </a:prstGeom>
          <a:noFill/>
        </p:spPr>
        <p:txBody>
          <a:bodyPr wrap="square" anchor="t" lIns="36576" rIns="36576" tIns="18288" bIns="18288">
            <a:spAutoFit/>
          </a:bodyPr>
          <a:lstStyle/>
          <a:p>
            <a:pPr algn="ctr"/>
            <a:r>
              <a:rPr sz="1100" b="0">
                <a:solidFill>
                  <a:srgbClr val="000000"/>
                </a:solidFill>
                <a:latin typeface="Oswald"/>
              </a:rPr>
              <a:t>4.4</a:t>
            </a:r>
          </a:p>
        </p:txBody>
      </p:sp>
      <p:sp>
        <p:nvSpPr>
          <p:cNvPr id="24" name="TextBox 23"/>
          <p:cNvSpPr txBox="1"/>
          <p:nvPr/>
        </p:nvSpPr>
        <p:spPr>
          <a:xfrm>
            <a:off x="548640" y="2331720"/>
            <a:ext cx="1353312" cy="713232"/>
          </a:xfrm>
          <a:prstGeom prst="rect">
            <a:avLst/>
          </a:prstGeom>
          <a:noFill/>
        </p:spPr>
        <p:txBody>
          <a:bodyPr wrap="square" anchor="ctr" lIns="36576" rIns="36576" tIns="18288" bIns="18288">
            <a:spAutoFit/>
          </a:bodyPr>
          <a:lstStyle/>
          <a:p>
            <a:pPr algn="r"/>
            <a:r>
              <a:rPr sz="1800" b="1">
                <a:solidFill>
                  <a:srgbClr val="000000"/>
                </a:solidFill>
                <a:latin typeface="Oswald"/>
              </a:rPr>
              <a:t>Hi-hat</a:t>
            </a:r>
          </a:p>
        </p:txBody>
      </p:sp>
      <p:sp>
        <p:nvSpPr>
          <p:cNvPr id="25" name="Rectangle 24"/>
          <p:cNvSpPr/>
          <p:nvPr/>
        </p:nvSpPr>
        <p:spPr>
          <a:xfrm>
            <a:off x="2011680" y="2331720"/>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066544"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613469"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15259"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270123"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817048"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418838" y="2331720"/>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473702"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0627"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22417"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677281"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24206"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25996" y="2331720"/>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880860"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27785"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29575"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84439"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31364"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33154" y="2331720"/>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88018"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4943"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36733"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0491597" y="2386584"/>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038522" y="2331720"/>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 y="3044952"/>
            <a:ext cx="1353312" cy="713232"/>
          </a:xfrm>
          <a:prstGeom prst="rect">
            <a:avLst/>
          </a:prstGeom>
          <a:noFill/>
        </p:spPr>
        <p:txBody>
          <a:bodyPr wrap="square" anchor="ctr" lIns="36576" rIns="36576" tIns="18288" bIns="18288">
            <a:spAutoFit/>
          </a:bodyPr>
          <a:lstStyle/>
          <a:p>
            <a:pPr algn="r"/>
            <a:r>
              <a:rPr sz="1800" b="1">
                <a:solidFill>
                  <a:srgbClr val="000000"/>
                </a:solidFill>
                <a:latin typeface="Oswald"/>
              </a:rPr>
              <a:t>Snare</a:t>
            </a:r>
          </a:p>
        </p:txBody>
      </p:sp>
      <p:sp>
        <p:nvSpPr>
          <p:cNvPr id="50" name="Rectangle 49"/>
          <p:cNvSpPr/>
          <p:nvPr/>
        </p:nvSpPr>
        <p:spPr>
          <a:xfrm>
            <a:off x="2011680" y="3044952"/>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613469"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15259"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817048"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18838" y="3044952"/>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4473702" y="3099816"/>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020627"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622417"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224206"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25996" y="3044952"/>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27785"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029575"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31364"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233154" y="3044952"/>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288018" y="3099816"/>
            <a:ext cx="492061" cy="603504"/>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834943"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436733"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1038522" y="3044952"/>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3758183"/>
            <a:ext cx="1353312" cy="713232"/>
          </a:xfrm>
          <a:prstGeom prst="rect">
            <a:avLst/>
          </a:prstGeom>
          <a:noFill/>
        </p:spPr>
        <p:txBody>
          <a:bodyPr wrap="square" anchor="ctr" lIns="36576" rIns="36576" tIns="18288" bIns="18288">
            <a:spAutoFit/>
          </a:bodyPr>
          <a:lstStyle/>
          <a:p>
            <a:pPr algn="r"/>
            <a:r>
              <a:rPr sz="1800" b="1">
                <a:solidFill>
                  <a:srgbClr val="000000"/>
                </a:solidFill>
                <a:latin typeface="Oswald"/>
              </a:rPr>
              <a:t>Kick</a:t>
            </a:r>
          </a:p>
        </p:txBody>
      </p:sp>
      <p:sp>
        <p:nvSpPr>
          <p:cNvPr id="69" name="Rectangle 68"/>
          <p:cNvSpPr/>
          <p:nvPr/>
        </p:nvSpPr>
        <p:spPr>
          <a:xfrm>
            <a:off x="2011680" y="3758183"/>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2066544" y="3813047"/>
            <a:ext cx="492061" cy="603504"/>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613469"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215259"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817048"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418838" y="3758183"/>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020627"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622417"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224206"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825996" y="3758183"/>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6880860" y="3813047"/>
            <a:ext cx="492061" cy="603504"/>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427785"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029575"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631364"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233154" y="3758183"/>
            <a:ext cx="601789" cy="713232"/>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834943"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0436733"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038522" y="3758183"/>
            <a:ext cx="601789" cy="713232"/>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48640" y="4617720"/>
            <a:ext cx="11064240" cy="548640"/>
          </a:xfrm>
          <a:prstGeom prst="rect">
            <a:avLst/>
          </a:prstGeom>
          <a:noFill/>
        </p:spPr>
        <p:txBody>
          <a:bodyPr wrap="square" anchor="t" lIns="36576" rIns="36576" tIns="18288" bIns="18288">
            <a:spAutoFit/>
          </a:bodyPr>
          <a:lstStyle/>
          <a:p>
            <a:pPr algn="l"/>
            <a:r>
              <a:rPr sz="3000" b="1">
                <a:solidFill>
                  <a:srgbClr val="000000"/>
                </a:solidFill>
                <a:latin typeface="Oswald"/>
              </a:rPr>
              <a:t>BILLIE JEAN · MICHAEL JACKSON · 116 BPM</a:t>
            </a:r>
          </a:p>
        </p:txBody>
      </p:sp>
      <p:sp>
        <p:nvSpPr>
          <p:cNvPr id="88" name="TextBox 87"/>
          <p:cNvSpPr txBox="1"/>
          <p:nvPr/>
        </p:nvSpPr>
        <p:spPr>
          <a:xfrm>
            <a:off x="548640" y="5212080"/>
            <a:ext cx="11064240" cy="914400"/>
          </a:xfrm>
          <a:prstGeom prst="rect">
            <a:avLst/>
          </a:prstGeom>
          <a:noFill/>
        </p:spPr>
        <p:txBody>
          <a:bodyPr wrap="square" anchor="t" lIns="36576" rIns="36576" tIns="18288" bIns="18288">
            <a:spAutoFit/>
          </a:bodyPr>
          <a:lstStyle/>
          <a:p>
            <a:pPr algn="l"/>
            <a:r>
              <a:rPr sz="2000" b="0">
                <a:solidFill>
                  <a:srgbClr val="000000"/>
                </a:solidFill>
                <a:latin typeface="Source Sans 3"/>
              </a:rPr>
              <a:t>Hi-hat in eighth notes · snare on 2 and 4 · kick on 1 and 3</a:t>
            </a:r>
          </a:p>
          <a:p>
            <a:pPr algn="l"/>
            <a:r>
              <a:rPr sz="2000" b="0">
                <a:solidFill>
                  <a:srgbClr val="000000"/>
                </a:solidFill>
                <a:latin typeface="Source Sans 3"/>
              </a:rPr>
              <a:t>Teacher: play the song from YouTube or Spotify and compare.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IN LOGIC</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8" name="Oval 7"/>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0" name="TextBox 9"/>
          <p:cNvSpPr txBox="1"/>
          <p:nvPr/>
        </p:nvSpPr>
        <p:spPr>
          <a:xfrm>
            <a:off x="1325880" y="1874519"/>
            <a:ext cx="10241280" cy="731520"/>
          </a:xfrm>
          <a:prstGeom prst="rect">
            <a:avLst/>
          </a:prstGeom>
          <a:noFill/>
        </p:spPr>
        <p:txBody>
          <a:bodyPr wrap="square" anchor="ctr" lIns="36576" rIns="36576" tIns="18288" bIns="18288">
            <a:spAutoFit/>
          </a:bodyPr>
          <a:lstStyle/>
          <a:p>
            <a:pPr algn="l"/>
            <a:r>
              <a:rPr sz="2400" b="0">
                <a:solidFill>
                  <a:srgbClr val="000000"/>
                </a:solidFill>
                <a:latin typeface="Source Sans 3"/>
              </a:rPr>
              <a:t>Create a Software Instrument track and choose any Electronic Drum Kit (this loads Drum Machine Designer)</a:t>
            </a:r>
          </a:p>
        </p:txBody>
      </p:sp>
      <p:sp>
        <p:nvSpPr>
          <p:cNvPr id="11" name="Oval 10"/>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3" name="TextBox 12"/>
          <p:cNvSpPr txBox="1"/>
          <p:nvPr/>
        </p:nvSpPr>
        <p:spPr>
          <a:xfrm>
            <a:off x="1325880" y="2743200"/>
            <a:ext cx="10241280" cy="731520"/>
          </a:xfrm>
          <a:prstGeom prst="rect">
            <a:avLst/>
          </a:prstGeom>
          <a:noFill/>
        </p:spPr>
        <p:txBody>
          <a:bodyPr wrap="square" anchor="ctr" lIns="36576" rIns="36576" tIns="18288" bIns="18288">
            <a:spAutoFit/>
          </a:bodyPr>
          <a:lstStyle/>
          <a:p>
            <a:pPr algn="l"/>
            <a:r>
              <a:rPr sz="2400" b="0">
                <a:solidFill>
                  <a:srgbClr val="000000"/>
                </a:solidFill>
                <a:latin typeface="Source Sans 3"/>
              </a:rPr>
              <a:t>Control-click (right-click) in the track at bar 1, then choose Create Pattern Region</a:t>
            </a:r>
          </a:p>
        </p:txBody>
      </p:sp>
      <p:sp>
        <p:nvSpPr>
          <p:cNvPr id="14" name="Oval 13"/>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6" name="TextBox 15"/>
          <p:cNvSpPr txBox="1"/>
          <p:nvPr/>
        </p:nvSpPr>
        <p:spPr>
          <a:xfrm>
            <a:off x="1325880" y="3611879"/>
            <a:ext cx="10241280" cy="731520"/>
          </a:xfrm>
          <a:prstGeom prst="rect">
            <a:avLst/>
          </a:prstGeom>
          <a:noFill/>
        </p:spPr>
        <p:txBody>
          <a:bodyPr wrap="square" anchor="ctr" lIns="36576" rIns="36576" tIns="18288" bIns="18288">
            <a:spAutoFit/>
          </a:bodyPr>
          <a:lstStyle/>
          <a:p>
            <a:pPr algn="l"/>
            <a:r>
              <a:rPr sz="2400" b="0">
                <a:solidFill>
                  <a:srgbClr val="000000"/>
                </a:solidFill>
                <a:latin typeface="Source Sans 3"/>
              </a:rPr>
              <a:t>Double-click the region to open the Step Sequencer</a:t>
            </a:r>
          </a:p>
        </p:txBody>
      </p:sp>
      <p:sp>
        <p:nvSpPr>
          <p:cNvPr id="17" name="Oval 16"/>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19" name="TextBox 18"/>
          <p:cNvSpPr txBox="1"/>
          <p:nvPr/>
        </p:nvSpPr>
        <p:spPr>
          <a:xfrm>
            <a:off x="1325880" y="4480559"/>
            <a:ext cx="10241280" cy="731520"/>
          </a:xfrm>
          <a:prstGeom prst="rect">
            <a:avLst/>
          </a:prstGeom>
          <a:noFill/>
        </p:spPr>
        <p:txBody>
          <a:bodyPr wrap="square" anchor="ctr" lIns="36576" rIns="36576" tIns="18288" bIns="18288">
            <a:spAutoFit/>
          </a:bodyPr>
          <a:lstStyle/>
          <a:p>
            <a:pPr algn="l"/>
            <a:r>
              <a:rPr sz="2400" b="0">
                <a:solidFill>
                  <a:srgbClr val="000000"/>
                </a:solidFill>
                <a:latin typeface="Source Sans 3"/>
              </a:rPr>
              <a:t>Click squares to place hits; press C to Cycle the measure</a:t>
            </a:r>
          </a:p>
        </p:txBody>
      </p:sp>
      <p:sp>
        <p:nvSpPr>
          <p:cNvPr id="20" name="Oval 19"/>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2" name="TextBox 21"/>
          <p:cNvSpPr txBox="1"/>
          <p:nvPr/>
        </p:nvSpPr>
        <p:spPr>
          <a:xfrm>
            <a:off x="1325880" y="5349240"/>
            <a:ext cx="10241280" cy="731520"/>
          </a:xfrm>
          <a:prstGeom prst="rect">
            <a:avLst/>
          </a:prstGeom>
          <a:noFill/>
        </p:spPr>
        <p:txBody>
          <a:bodyPr wrap="square" anchor="ctr" lIns="36576" rIns="36576" tIns="18288" bIns="18288">
            <a:spAutoFit/>
          </a:bodyPr>
          <a:lstStyle/>
          <a:p>
            <a:pPr algn="l"/>
            <a:r>
              <a:rPr sz="2400" b="0">
                <a:solidFill>
                  <a:srgbClr val="000000"/>
                </a:solidFill>
                <a:latin typeface="Source Sans 3"/>
              </a:rPr>
              <a:t>Set the tempo in the control bar (116 for Billie Jean)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YOUR PROJECT: BEAT FROM NOTHING</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8" name="Oval 7"/>
          <p:cNvSpPr/>
          <p:nvPr/>
        </p:nvSpPr>
        <p:spPr>
          <a:xfrm>
            <a:off x="548640" y="21579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0116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An original drum beat, built from nothing</a:t>
            </a:r>
          </a:p>
        </p:txBody>
      </p:sp>
      <p:sp>
        <p:nvSpPr>
          <p:cNvPr id="10" name="Oval 9"/>
          <p:cNvSpPr/>
          <p:nvPr/>
        </p:nvSpPr>
        <p:spPr>
          <a:xfrm>
            <a:off x="548640" y="28691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7228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No loops, no pre-made grooves</a:t>
            </a:r>
          </a:p>
        </p:txBody>
      </p:sp>
      <p:sp>
        <p:nvSpPr>
          <p:cNvPr id="12" name="Oval 11"/>
          <p:cNvSpPr/>
          <p:nvPr/>
        </p:nvSpPr>
        <p:spPr>
          <a:xfrm>
            <a:off x="548640" y="35803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4340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Kick, snare, closed hi-hat + at least one extra sound</a:t>
            </a:r>
          </a:p>
        </p:txBody>
      </p:sp>
      <p:sp>
        <p:nvSpPr>
          <p:cNvPr id="14" name="Oval 13"/>
          <p:cNvSpPr/>
          <p:nvPr/>
        </p:nvSpPr>
        <p:spPr>
          <a:xfrm>
            <a:off x="548640" y="4291584"/>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145280"/>
            <a:ext cx="10698480" cy="650240"/>
          </a:xfrm>
          <a:prstGeom prst="rect">
            <a:avLst/>
          </a:prstGeom>
          <a:noFill/>
        </p:spPr>
        <p:txBody>
          <a:bodyPr wrap="square" anchor="t" lIns="36576" rIns="36576" tIns="18288" bIns="18288">
            <a:spAutoFit/>
          </a:bodyPr>
          <a:lstStyle/>
          <a:p>
            <a:pPr algn="l"/>
            <a:r>
              <a:rPr sz="3200" b="0">
                <a:solidFill>
                  <a:srgbClr val="000000"/>
                </a:solidFill>
                <a:latin typeface="Source Sans 3"/>
              </a:rPr>
              <a:t>16 measures in AABA form, mixed with volume and panning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THE STEPS</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sp>
        <p:nvSpPr>
          <p:cNvPr id="8" name="Rounded Rectangle 7"/>
          <p:cNvSpPr/>
          <p:nvPr/>
        </p:nvSpPr>
        <p:spPr>
          <a:xfrm>
            <a:off x="548640" y="1874519"/>
            <a:ext cx="1234440" cy="5029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74519"/>
            <a:ext cx="1234440" cy="502920"/>
          </a:xfrm>
          <a:prstGeom prst="rect">
            <a:avLst/>
          </a:prstGeom>
          <a:noFill/>
        </p:spPr>
        <p:txBody>
          <a:bodyPr wrap="square" anchor="ctr" lIns="36576" rIns="36576" tIns="18288" bIns="18288">
            <a:spAutoFit/>
          </a:bodyPr>
          <a:lstStyle/>
          <a:p>
            <a:pPr algn="ctr"/>
            <a:r>
              <a:rPr sz="2000" b="1">
                <a:solidFill>
                  <a:srgbClr val="FFFFFF"/>
                </a:solidFill>
                <a:latin typeface="Oswald"/>
              </a:rPr>
              <a:t>DAY 1</a:t>
            </a:r>
          </a:p>
        </p:txBody>
      </p:sp>
      <p:sp>
        <p:nvSpPr>
          <p:cNvPr id="10" name="TextBox 9"/>
          <p:cNvSpPr txBox="1"/>
          <p:nvPr/>
        </p:nvSpPr>
        <p:spPr>
          <a:xfrm>
            <a:off x="1965960" y="1874519"/>
            <a:ext cx="9601200" cy="502920"/>
          </a:xfrm>
          <a:prstGeom prst="rect">
            <a:avLst/>
          </a:prstGeom>
          <a:noFill/>
        </p:spPr>
        <p:txBody>
          <a:bodyPr wrap="square" anchor="ctr" lIns="36576" rIns="36576" tIns="18288" bIns="18288">
            <a:spAutoFit/>
          </a:bodyPr>
          <a:lstStyle/>
          <a:p>
            <a:pPr algn="l"/>
            <a:r>
              <a:rPr sz="2400" b="0">
                <a:solidFill>
                  <a:srgbClr val="000000"/>
                </a:solidFill>
                <a:latin typeface="Source Sans 3"/>
              </a:rPr>
              <a:t>Name the kit · loops · listening</a:t>
            </a:r>
          </a:p>
        </p:txBody>
      </p:sp>
      <p:sp>
        <p:nvSpPr>
          <p:cNvPr id="11" name="Rounded Rectangle 10"/>
          <p:cNvSpPr/>
          <p:nvPr/>
        </p:nvSpPr>
        <p:spPr>
          <a:xfrm>
            <a:off x="548640" y="2532887"/>
            <a:ext cx="1234440" cy="5029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32887"/>
            <a:ext cx="1234440" cy="502920"/>
          </a:xfrm>
          <a:prstGeom prst="rect">
            <a:avLst/>
          </a:prstGeom>
          <a:noFill/>
        </p:spPr>
        <p:txBody>
          <a:bodyPr wrap="square" anchor="ctr" lIns="36576" rIns="36576" tIns="18288" bIns="18288">
            <a:spAutoFit/>
          </a:bodyPr>
          <a:lstStyle/>
          <a:p>
            <a:pPr algn="ctr"/>
            <a:r>
              <a:rPr sz="2000" b="1">
                <a:solidFill>
                  <a:srgbClr val="FFFFFF"/>
                </a:solidFill>
                <a:latin typeface="Oswald"/>
              </a:rPr>
              <a:t>DAY 2</a:t>
            </a:r>
          </a:p>
        </p:txBody>
      </p:sp>
      <p:sp>
        <p:nvSpPr>
          <p:cNvPr id="13" name="TextBox 12"/>
          <p:cNvSpPr txBox="1"/>
          <p:nvPr/>
        </p:nvSpPr>
        <p:spPr>
          <a:xfrm>
            <a:off x="1965960" y="2532887"/>
            <a:ext cx="9601200" cy="502920"/>
          </a:xfrm>
          <a:prstGeom prst="rect">
            <a:avLst/>
          </a:prstGeom>
          <a:noFill/>
        </p:spPr>
        <p:txBody>
          <a:bodyPr wrap="square" anchor="ctr" lIns="36576" rIns="36576" tIns="18288" bIns="18288">
            <a:spAutoFit/>
          </a:bodyPr>
          <a:lstStyle/>
          <a:p>
            <a:pPr algn="l"/>
            <a:r>
              <a:rPr sz="2400" b="0">
                <a:solidFill>
                  <a:srgbClr val="000000"/>
                </a:solidFill>
                <a:latin typeface="Source Sans 3"/>
              </a:rPr>
              <a:t>Copy a famous pattern</a:t>
            </a:r>
          </a:p>
        </p:txBody>
      </p:sp>
      <p:sp>
        <p:nvSpPr>
          <p:cNvPr id="14" name="Rounded Rectangle 13"/>
          <p:cNvSpPr/>
          <p:nvPr/>
        </p:nvSpPr>
        <p:spPr>
          <a:xfrm>
            <a:off x="548640" y="3191256"/>
            <a:ext cx="1234440" cy="502920"/>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91256"/>
            <a:ext cx="1234440" cy="502920"/>
          </a:xfrm>
          <a:prstGeom prst="rect">
            <a:avLst/>
          </a:prstGeom>
          <a:noFill/>
        </p:spPr>
        <p:txBody>
          <a:bodyPr wrap="square" anchor="ctr" lIns="36576" rIns="36576" tIns="18288" bIns="18288">
            <a:spAutoFit/>
          </a:bodyPr>
          <a:lstStyle/>
          <a:p>
            <a:pPr algn="ctr"/>
            <a:r>
              <a:rPr sz="2000" b="1">
                <a:solidFill>
                  <a:srgbClr val="FFFFFF"/>
                </a:solidFill>
                <a:latin typeface="Oswald"/>
              </a:rPr>
              <a:t>DAY 3</a:t>
            </a:r>
          </a:p>
        </p:txBody>
      </p:sp>
      <p:sp>
        <p:nvSpPr>
          <p:cNvPr id="16" name="TextBox 15"/>
          <p:cNvSpPr txBox="1"/>
          <p:nvPr/>
        </p:nvSpPr>
        <p:spPr>
          <a:xfrm>
            <a:off x="1965960" y="3191256"/>
            <a:ext cx="9601200" cy="502920"/>
          </a:xfrm>
          <a:prstGeom prst="rect">
            <a:avLst/>
          </a:prstGeom>
          <a:noFill/>
        </p:spPr>
        <p:txBody>
          <a:bodyPr wrap="square" anchor="ctr" lIns="36576" rIns="36576" tIns="18288" bIns="18288">
            <a:spAutoFit/>
          </a:bodyPr>
          <a:lstStyle/>
          <a:p>
            <a:pPr algn="l"/>
            <a:r>
              <a:rPr sz="2400" b="0">
                <a:solidFill>
                  <a:srgbClr val="000000"/>
                </a:solidFill>
                <a:latin typeface="Source Sans 3"/>
              </a:rPr>
              <a:t>Build A · build B · arrange AABA · mix · submit</a:t>
            </a:r>
          </a:p>
        </p:txBody>
      </p:sp>
      <p:sp>
        <p:nvSpPr>
          <p:cNvPr id="17" name="Rounded Rectangle 16"/>
          <p:cNvSpPr/>
          <p:nvPr/>
        </p:nvSpPr>
        <p:spPr>
          <a:xfrm>
            <a:off x="548640" y="3849624"/>
            <a:ext cx="1234440" cy="50292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849624"/>
            <a:ext cx="1234440" cy="502920"/>
          </a:xfrm>
          <a:prstGeom prst="rect">
            <a:avLst/>
          </a:prstGeom>
          <a:noFill/>
        </p:spPr>
        <p:txBody>
          <a:bodyPr wrap="square" anchor="ctr" lIns="36576" rIns="36576" tIns="18288" bIns="18288">
            <a:spAutoFit/>
          </a:bodyPr>
          <a:lstStyle/>
          <a:p>
            <a:pPr algn="ctr"/>
            <a:r>
              <a:rPr sz="2000" b="1">
                <a:solidFill>
                  <a:srgbClr val="FFFFFF"/>
                </a:solidFill>
                <a:latin typeface="Oswald"/>
              </a:rPr>
              <a:t>DAY 4</a:t>
            </a:r>
          </a:p>
        </p:txBody>
      </p:sp>
      <p:sp>
        <p:nvSpPr>
          <p:cNvPr id="19" name="TextBox 18"/>
          <p:cNvSpPr txBox="1"/>
          <p:nvPr/>
        </p:nvSpPr>
        <p:spPr>
          <a:xfrm>
            <a:off x="1965960" y="3849624"/>
            <a:ext cx="9601200" cy="502920"/>
          </a:xfrm>
          <a:prstGeom prst="rect">
            <a:avLst/>
          </a:prstGeom>
          <a:noFill/>
        </p:spPr>
        <p:txBody>
          <a:bodyPr wrap="square" anchor="ctr" lIns="36576" rIns="36576" tIns="18288" bIns="18288">
            <a:spAutoFit/>
          </a:bodyPr>
          <a:lstStyle/>
          <a:p>
            <a:pPr algn="l"/>
            <a:r>
              <a:rPr sz="2400" b="0">
                <a:solidFill>
                  <a:srgbClr val="000000"/>
                </a:solidFill>
                <a:latin typeface="Source Sans 3"/>
              </a:rPr>
              <a:t>Present + feedback</a:t>
            </a:r>
          </a:p>
        </p:txBody>
      </p:sp>
      <p:sp>
        <p:nvSpPr>
          <p:cNvPr id="20" name="Rounded Rectangle 19"/>
          <p:cNvSpPr/>
          <p:nvPr/>
        </p:nvSpPr>
        <p:spPr>
          <a:xfrm>
            <a:off x="585216" y="4800600"/>
            <a:ext cx="2699766" cy="7772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800600"/>
            <a:ext cx="2772918" cy="777240"/>
          </a:xfrm>
          <a:prstGeom prst="rect">
            <a:avLst/>
          </a:prstGeom>
          <a:noFill/>
        </p:spPr>
        <p:txBody>
          <a:bodyPr wrap="square" anchor="ctr" lIns="36576" rIns="36576" tIns="18288" bIns="18288">
            <a:spAutoFit/>
          </a:bodyPr>
          <a:lstStyle/>
          <a:p>
            <a:pPr algn="ctr"/>
            <a:r>
              <a:rPr sz="3600" b="1">
                <a:solidFill>
                  <a:srgbClr val="FFFFFF"/>
                </a:solidFill>
                <a:latin typeface="Oswald"/>
              </a:rPr>
              <a:t>A</a:t>
            </a:r>
          </a:p>
        </p:txBody>
      </p:sp>
      <p:sp>
        <p:nvSpPr>
          <p:cNvPr id="22" name="TextBox 21"/>
          <p:cNvSpPr txBox="1"/>
          <p:nvPr/>
        </p:nvSpPr>
        <p:spPr>
          <a:xfrm>
            <a:off x="548640" y="5596128"/>
            <a:ext cx="2743200" cy="320040"/>
          </a:xfrm>
          <a:prstGeom prst="rect">
            <a:avLst/>
          </a:prstGeom>
          <a:noFill/>
        </p:spPr>
        <p:txBody>
          <a:bodyPr wrap="square" anchor="t" lIns="36576" rIns="36576" tIns="18288" bIns="18288">
            <a:spAutoFit/>
          </a:bodyPr>
          <a:lstStyle/>
          <a:p>
            <a:pPr algn="l"/>
            <a:r>
              <a:rPr sz="1400" b="0">
                <a:solidFill>
                  <a:srgbClr val="000000"/>
                </a:solidFill>
                <a:latin typeface="Source Sans 3"/>
              </a:rPr>
              <a:t>measures 1–4</a:t>
            </a:r>
          </a:p>
        </p:txBody>
      </p:sp>
      <p:sp>
        <p:nvSpPr>
          <p:cNvPr id="23" name="Rounded Rectangle 22"/>
          <p:cNvSpPr/>
          <p:nvPr/>
        </p:nvSpPr>
        <p:spPr>
          <a:xfrm>
            <a:off x="3358134" y="4800600"/>
            <a:ext cx="2699766" cy="7772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21558" y="4800600"/>
            <a:ext cx="2772918" cy="777240"/>
          </a:xfrm>
          <a:prstGeom prst="rect">
            <a:avLst/>
          </a:prstGeom>
          <a:noFill/>
        </p:spPr>
        <p:txBody>
          <a:bodyPr wrap="square" anchor="ctr" lIns="36576" rIns="36576" tIns="18288" bIns="18288">
            <a:spAutoFit/>
          </a:bodyPr>
          <a:lstStyle/>
          <a:p>
            <a:pPr algn="ctr"/>
            <a:r>
              <a:rPr sz="3600" b="1">
                <a:solidFill>
                  <a:srgbClr val="FFFFFF"/>
                </a:solidFill>
                <a:latin typeface="Oswald"/>
              </a:rPr>
              <a:t>A</a:t>
            </a:r>
          </a:p>
        </p:txBody>
      </p:sp>
      <p:sp>
        <p:nvSpPr>
          <p:cNvPr id="25" name="TextBox 24"/>
          <p:cNvSpPr txBox="1"/>
          <p:nvPr/>
        </p:nvSpPr>
        <p:spPr>
          <a:xfrm>
            <a:off x="3321558" y="5596128"/>
            <a:ext cx="2743200" cy="320040"/>
          </a:xfrm>
          <a:prstGeom prst="rect">
            <a:avLst/>
          </a:prstGeom>
          <a:noFill/>
        </p:spPr>
        <p:txBody>
          <a:bodyPr wrap="square" anchor="t" lIns="36576" rIns="36576" tIns="18288" bIns="18288">
            <a:spAutoFit/>
          </a:bodyPr>
          <a:lstStyle/>
          <a:p>
            <a:pPr algn="l"/>
            <a:r>
              <a:rPr sz="1400" b="0">
                <a:solidFill>
                  <a:srgbClr val="000000"/>
                </a:solidFill>
                <a:latin typeface="Source Sans 3"/>
              </a:rPr>
              <a:t>measures 5–8</a:t>
            </a:r>
          </a:p>
        </p:txBody>
      </p:sp>
      <p:sp>
        <p:nvSpPr>
          <p:cNvPr id="26" name="Rounded Rectangle 25"/>
          <p:cNvSpPr/>
          <p:nvPr/>
        </p:nvSpPr>
        <p:spPr>
          <a:xfrm>
            <a:off x="6131052" y="4800600"/>
            <a:ext cx="2699766" cy="777240"/>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4476" y="4800600"/>
            <a:ext cx="2772918" cy="777240"/>
          </a:xfrm>
          <a:prstGeom prst="rect">
            <a:avLst/>
          </a:prstGeom>
          <a:noFill/>
        </p:spPr>
        <p:txBody>
          <a:bodyPr wrap="square" anchor="ctr" lIns="36576" rIns="36576" tIns="18288" bIns="18288">
            <a:spAutoFit/>
          </a:bodyPr>
          <a:lstStyle/>
          <a:p>
            <a:pPr algn="ctr"/>
            <a:r>
              <a:rPr sz="3600" b="1">
                <a:solidFill>
                  <a:srgbClr val="FFFFFF"/>
                </a:solidFill>
                <a:latin typeface="Oswald"/>
              </a:rPr>
              <a:t>B</a:t>
            </a:r>
          </a:p>
        </p:txBody>
      </p:sp>
      <p:sp>
        <p:nvSpPr>
          <p:cNvPr id="28" name="TextBox 27"/>
          <p:cNvSpPr txBox="1"/>
          <p:nvPr/>
        </p:nvSpPr>
        <p:spPr>
          <a:xfrm>
            <a:off x="6094476" y="5596128"/>
            <a:ext cx="2743200" cy="320040"/>
          </a:xfrm>
          <a:prstGeom prst="rect">
            <a:avLst/>
          </a:prstGeom>
          <a:noFill/>
        </p:spPr>
        <p:txBody>
          <a:bodyPr wrap="square" anchor="t" lIns="36576" rIns="36576" tIns="18288" bIns="18288">
            <a:spAutoFit/>
          </a:bodyPr>
          <a:lstStyle/>
          <a:p>
            <a:pPr algn="l"/>
            <a:r>
              <a:rPr sz="1400" b="0">
                <a:solidFill>
                  <a:srgbClr val="000000"/>
                </a:solidFill>
                <a:latin typeface="Source Sans 3"/>
              </a:rPr>
              <a:t>measures 9–12</a:t>
            </a:r>
          </a:p>
        </p:txBody>
      </p:sp>
      <p:sp>
        <p:nvSpPr>
          <p:cNvPr id="29" name="Rounded Rectangle 28"/>
          <p:cNvSpPr/>
          <p:nvPr/>
        </p:nvSpPr>
        <p:spPr>
          <a:xfrm>
            <a:off x="8903969" y="4800600"/>
            <a:ext cx="2699766" cy="7772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7394" y="4800600"/>
            <a:ext cx="2772918" cy="777240"/>
          </a:xfrm>
          <a:prstGeom prst="rect">
            <a:avLst/>
          </a:prstGeom>
          <a:noFill/>
        </p:spPr>
        <p:txBody>
          <a:bodyPr wrap="square" anchor="ctr" lIns="36576" rIns="36576" tIns="18288" bIns="18288">
            <a:spAutoFit/>
          </a:bodyPr>
          <a:lstStyle/>
          <a:p>
            <a:pPr algn="ctr"/>
            <a:r>
              <a:rPr sz="3600" b="1">
                <a:solidFill>
                  <a:srgbClr val="FFFFFF"/>
                </a:solidFill>
                <a:latin typeface="Oswald"/>
              </a:rPr>
              <a:t>A</a:t>
            </a:r>
          </a:p>
        </p:txBody>
      </p:sp>
      <p:sp>
        <p:nvSpPr>
          <p:cNvPr id="31" name="TextBox 30"/>
          <p:cNvSpPr txBox="1"/>
          <p:nvPr/>
        </p:nvSpPr>
        <p:spPr>
          <a:xfrm>
            <a:off x="8867394" y="5596128"/>
            <a:ext cx="2743200" cy="320040"/>
          </a:xfrm>
          <a:prstGeom prst="rect">
            <a:avLst/>
          </a:prstGeom>
          <a:noFill/>
        </p:spPr>
        <p:txBody>
          <a:bodyPr wrap="square" anchor="t" lIns="36576" rIns="36576" tIns="18288" bIns="18288">
            <a:spAutoFit/>
          </a:bodyPr>
          <a:lstStyle/>
          <a:p>
            <a:pPr algn="l"/>
            <a:r>
              <a:rPr sz="1400" b="0">
                <a:solidFill>
                  <a:srgbClr val="000000"/>
                </a:solidFill>
                <a:latin typeface="Source Sans 3"/>
              </a:rPr>
              <a:t>measures 13–16</a:t>
            </a:r>
          </a:p>
        </p:txBody>
      </p:sp>
      <p:sp>
        <p:nvSpPr>
          <p:cNvPr id="32" name="TextBox 31"/>
          <p:cNvSpPr txBox="1"/>
          <p:nvPr/>
        </p:nvSpPr>
        <p:spPr>
          <a:xfrm>
            <a:off x="548640" y="5897880"/>
            <a:ext cx="11064240" cy="411480"/>
          </a:xfrm>
          <a:prstGeom prst="rect">
            <a:avLst/>
          </a:prstGeom>
          <a:noFill/>
        </p:spPr>
        <p:txBody>
          <a:bodyPr wrap="square" anchor="t" lIns="36576" rIns="36576" tIns="18288" bIns="18288">
            <a:spAutoFit/>
          </a:bodyPr>
          <a:lstStyle/>
          <a:p>
            <a:pPr algn="l"/>
            <a:r>
              <a:rPr sz="1600" b="1">
                <a:solidFill>
                  <a:srgbClr val="000000"/>
                </a:solidFill>
                <a:latin typeface="Source Sans 3"/>
              </a:rPr>
              <a:t>B = A with one change: remove one element, add one sound, or change the hi-hat rhythm.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YOU TURN IN</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sp>
        <p:nvSpPr>
          <p:cNvPr id="8" name="Rounded Rectangle 7"/>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65960"/>
            <a:ext cx="4892040" cy="1188720"/>
          </a:xfrm>
          <a:prstGeom prst="rect">
            <a:avLst/>
          </a:prstGeom>
          <a:noFill/>
        </p:spPr>
        <p:txBody>
          <a:bodyPr wrap="square" anchor="t" lIns="36576" rIns="36576" tIns="18288" bIns="18288">
            <a:spAutoFit/>
          </a:bodyPr>
          <a:lstStyle/>
          <a:p>
            <a:pPr algn="l"/>
            <a:r>
              <a:rPr sz="2200" b="0">
                <a:solidFill>
                  <a:srgbClr val="000000"/>
                </a:solidFill>
                <a:latin typeface="Source Sans 3"/>
              </a:rPr>
              <a:t>Beat built in Drum Machine Designer, no Apple Loops</a:t>
            </a:r>
          </a:p>
        </p:txBody>
      </p:sp>
      <p:sp>
        <p:nvSpPr>
          <p:cNvPr id="10" name="Rounded Rectangle 9"/>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965960"/>
            <a:ext cx="4892040" cy="1188720"/>
          </a:xfrm>
          <a:prstGeom prst="rect">
            <a:avLst/>
          </a:prstGeom>
          <a:noFill/>
        </p:spPr>
        <p:txBody>
          <a:bodyPr wrap="square" anchor="t" lIns="36576" rIns="36576" tIns="18288" bIns="18288">
            <a:spAutoFit/>
          </a:bodyPr>
          <a:lstStyle/>
          <a:p>
            <a:pPr algn="l"/>
            <a:r>
              <a:rPr sz="2200" b="0">
                <a:solidFill>
                  <a:srgbClr val="000000"/>
                </a:solidFill>
                <a:latin typeface="Source Sans 3"/>
              </a:rPr>
              <a:t>Volume set on every track, nothing at default</a:t>
            </a:r>
          </a:p>
        </p:txBody>
      </p:sp>
      <p:sp>
        <p:nvSpPr>
          <p:cNvPr id="12" name="Rounded Rectangle 11"/>
          <p:cNvSpPr/>
          <p:nvPr/>
        </p:nvSpPr>
        <p:spPr>
          <a:xfrm>
            <a:off x="54864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37560"/>
            <a:ext cx="4892040" cy="1188720"/>
          </a:xfrm>
          <a:prstGeom prst="rect">
            <a:avLst/>
          </a:prstGeom>
          <a:noFill/>
        </p:spPr>
        <p:txBody>
          <a:bodyPr wrap="square" anchor="t" lIns="36576" rIns="36576" tIns="18288" bIns="18288">
            <a:spAutoFit/>
          </a:bodyPr>
          <a:lstStyle/>
          <a:p>
            <a:pPr algn="l"/>
            <a:r>
              <a:rPr sz="2200" b="0">
                <a:solidFill>
                  <a:srgbClr val="000000"/>
                </a:solidFill>
                <a:latin typeface="Source Sans 3"/>
              </a:rPr>
              <a:t>Panning on at least 2 tracks</a:t>
            </a:r>
          </a:p>
        </p:txBody>
      </p:sp>
      <p:sp>
        <p:nvSpPr>
          <p:cNvPr id="14" name="Rounded Rectangle 13"/>
          <p:cNvSpPr/>
          <p:nvPr/>
        </p:nvSpPr>
        <p:spPr>
          <a:xfrm>
            <a:off x="617220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3337560"/>
            <a:ext cx="4892040" cy="1188720"/>
          </a:xfrm>
          <a:prstGeom prst="rect">
            <a:avLst/>
          </a:prstGeom>
          <a:noFill/>
        </p:spPr>
        <p:txBody>
          <a:bodyPr wrap="square" anchor="t" lIns="36576" rIns="36576" tIns="18288" bIns="18288">
            <a:spAutoFit/>
          </a:bodyPr>
          <a:lstStyle/>
          <a:p>
            <a:pPr algn="l"/>
            <a:r>
              <a:rPr sz="2200" b="0">
                <a:solidFill>
                  <a:srgbClr val="000000"/>
                </a:solidFill>
                <a:latin typeface="Source Sans 3"/>
              </a:rPr>
              <a:t>Named: Your Name – Beat From Nothing</a:t>
            </a:r>
          </a:p>
        </p:txBody>
      </p:sp>
      <p:sp>
        <p:nvSpPr>
          <p:cNvPr id="16" name="Rounded Rectangle 15"/>
          <p:cNvSpPr/>
          <p:nvPr/>
        </p:nvSpPr>
        <p:spPr>
          <a:xfrm>
            <a:off x="54864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4709160"/>
            <a:ext cx="4892040" cy="1188720"/>
          </a:xfrm>
          <a:prstGeom prst="rect">
            <a:avLst/>
          </a:prstGeom>
          <a:noFill/>
        </p:spPr>
        <p:txBody>
          <a:bodyPr wrap="square" anchor="t" lIns="36576" rIns="36576" tIns="18288" bIns="18288">
            <a:spAutoFit/>
          </a:bodyPr>
          <a:lstStyle/>
          <a:p>
            <a:pPr algn="l"/>
            <a:r>
              <a:rPr sz="2200" b="0">
                <a:solidFill>
                  <a:srgbClr val="000000"/>
                </a:solidFill>
                <a:latin typeface="Source Sans 3"/>
              </a:rPr>
              <a:t>MP3 + compressed .logicx, submitted before presenting</a:t>
            </a:r>
          </a:p>
        </p:txBody>
      </p:sp>
      <p:sp>
        <p:nvSpPr>
          <p:cNvPr id="18" name="Rounded Rectangle 17"/>
          <p:cNvSpPr/>
          <p:nvPr/>
        </p:nvSpPr>
        <p:spPr>
          <a:xfrm>
            <a:off x="617220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4709160"/>
            <a:ext cx="4892040" cy="1188720"/>
          </a:xfrm>
          <a:prstGeom prst="rect">
            <a:avLst/>
          </a:prstGeom>
          <a:noFill/>
        </p:spPr>
        <p:txBody>
          <a:bodyPr wrap="square" anchor="t" lIns="36576" rIns="36576" tIns="18288" bIns="18288">
            <a:spAutoFit/>
          </a:bodyPr>
          <a:lstStyle/>
          <a:p>
            <a:pPr algn="l"/>
            <a:r>
              <a:rPr sz="2200" b="0">
                <a:solidFill>
                  <a:srgbClr val="000000"/>
                </a:solidFill>
                <a:latin typeface="Source Sans 3"/>
              </a:rPr>
              <a:t>Three feedback questions posted before presenting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sp>
        <p:nvSpPr>
          <p:cNvPr id="8" name="Rounded Rectangle 7"/>
          <p:cNvSpPr/>
          <p:nvPr/>
        </p:nvSpPr>
        <p:spPr>
          <a:xfrm>
            <a:off x="548640" y="1874519"/>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74519"/>
            <a:ext cx="3657600" cy="713232"/>
          </a:xfrm>
          <a:prstGeom prst="rect">
            <a:avLst/>
          </a:prstGeom>
          <a:noFill/>
        </p:spPr>
        <p:txBody>
          <a:bodyPr wrap="square" anchor="ctr" lIns="36576" rIns="36576" tIns="18288" bIns="18288">
            <a:spAutoFit/>
          </a:bodyPr>
          <a:lstStyle/>
          <a:p>
            <a:pPr algn="l"/>
            <a:r>
              <a:rPr sz="2000" b="1">
                <a:solidFill>
                  <a:srgbClr val="FFFFFF"/>
                </a:solidFill>
                <a:latin typeface="Oswald"/>
              </a:rPr>
              <a:t>CREATIVITY &amp; ORIGINALITY</a:t>
            </a:r>
          </a:p>
        </p:txBody>
      </p:sp>
      <p:sp>
        <p:nvSpPr>
          <p:cNvPr id="10" name="TextBox 9"/>
          <p:cNvSpPr txBox="1"/>
          <p:nvPr/>
        </p:nvSpPr>
        <p:spPr>
          <a:xfrm>
            <a:off x="4663440" y="1874519"/>
            <a:ext cx="6035040" cy="713232"/>
          </a:xfrm>
          <a:prstGeom prst="rect">
            <a:avLst/>
          </a:prstGeom>
          <a:noFill/>
        </p:spPr>
        <p:txBody>
          <a:bodyPr wrap="square" anchor="ctr" lIns="36576" rIns="36576" tIns="18288" bIns="18288">
            <a:spAutoFit/>
          </a:bodyPr>
          <a:lstStyle/>
          <a:p>
            <a:pPr algn="l"/>
            <a:r>
              <a:rPr sz="1500" b="0">
                <a:solidFill>
                  <a:srgbClr val="000000"/>
                </a:solidFill>
                <a:latin typeface="Source Sans 3"/>
              </a:rPr>
              <a:t>5 = Beat has a distinct feel and personality. B section creates meaningful contrast. Goes beyond the obvious.</a:t>
            </a:r>
          </a:p>
        </p:txBody>
      </p:sp>
      <p:sp>
        <p:nvSpPr>
          <p:cNvPr id="11" name="TextBox 10"/>
          <p:cNvSpPr txBox="1"/>
          <p:nvPr/>
        </p:nvSpPr>
        <p:spPr>
          <a:xfrm>
            <a:off x="10698480" y="1874519"/>
            <a:ext cx="941832" cy="713232"/>
          </a:xfrm>
          <a:prstGeom prst="rect">
            <a:avLst/>
          </a:prstGeom>
          <a:noFill/>
        </p:spPr>
        <p:txBody>
          <a:bodyPr wrap="square" anchor="ctr" lIns="36576" rIns="36576" tIns="18288" bIns="18288">
            <a:spAutoFit/>
          </a:bodyPr>
          <a:lstStyle/>
          <a:p>
            <a:pPr algn="r"/>
            <a:r>
              <a:rPr sz="2200" b="1">
                <a:solidFill>
                  <a:srgbClr val="E03A3E"/>
                </a:solidFill>
                <a:latin typeface="Oswald"/>
              </a:rPr>
              <a:t>/ 5</a:t>
            </a:r>
          </a:p>
        </p:txBody>
      </p:sp>
      <p:sp>
        <p:nvSpPr>
          <p:cNvPr id="12" name="Rounded Rectangle 11"/>
          <p:cNvSpPr/>
          <p:nvPr/>
        </p:nvSpPr>
        <p:spPr>
          <a:xfrm>
            <a:off x="548640" y="2715768"/>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15768"/>
            <a:ext cx="3657600" cy="713232"/>
          </a:xfrm>
          <a:prstGeom prst="rect">
            <a:avLst/>
          </a:prstGeom>
          <a:noFill/>
        </p:spPr>
        <p:txBody>
          <a:bodyPr wrap="square" anchor="ctr" lIns="36576" rIns="36576" tIns="18288" bIns="18288">
            <a:spAutoFit/>
          </a:bodyPr>
          <a:lstStyle/>
          <a:p>
            <a:pPr algn="l"/>
            <a:r>
              <a:rPr sz="2000" b="1">
                <a:solidFill>
                  <a:srgbClr val="FFFFFF"/>
                </a:solidFill>
                <a:latin typeface="Oswald"/>
              </a:rPr>
              <a:t>TECHNICAL SKILL / DAW USE</a:t>
            </a:r>
          </a:p>
        </p:txBody>
      </p:sp>
      <p:sp>
        <p:nvSpPr>
          <p:cNvPr id="14" name="TextBox 13"/>
          <p:cNvSpPr txBox="1"/>
          <p:nvPr/>
        </p:nvSpPr>
        <p:spPr>
          <a:xfrm>
            <a:off x="4663440" y="2715768"/>
            <a:ext cx="6035040" cy="713232"/>
          </a:xfrm>
          <a:prstGeom prst="rect">
            <a:avLst/>
          </a:prstGeom>
          <a:noFill/>
        </p:spPr>
        <p:txBody>
          <a:bodyPr wrap="square" anchor="ctr" lIns="36576" rIns="36576" tIns="18288" bIns="18288">
            <a:spAutoFit/>
          </a:bodyPr>
          <a:lstStyle/>
          <a:p>
            <a:pPr algn="l"/>
            <a:r>
              <a:rPr sz="1500" b="0">
                <a:solidFill>
                  <a:srgbClr val="000000"/>
                </a:solidFill>
                <a:latin typeface="Source Sans 3"/>
              </a:rPr>
              <a:t>5 = Drum Machine Designer used confidently. Pattern regions, 64-step, or note repeat used with control.</a:t>
            </a:r>
          </a:p>
        </p:txBody>
      </p:sp>
      <p:sp>
        <p:nvSpPr>
          <p:cNvPr id="15" name="TextBox 14"/>
          <p:cNvSpPr txBox="1"/>
          <p:nvPr/>
        </p:nvSpPr>
        <p:spPr>
          <a:xfrm>
            <a:off x="10698480" y="2715768"/>
            <a:ext cx="941832" cy="713232"/>
          </a:xfrm>
          <a:prstGeom prst="rect">
            <a:avLst/>
          </a:prstGeom>
          <a:noFill/>
        </p:spPr>
        <p:txBody>
          <a:bodyPr wrap="square" anchor="ctr" lIns="36576" rIns="36576" tIns="18288" bIns="18288">
            <a:spAutoFit/>
          </a:bodyPr>
          <a:lstStyle/>
          <a:p>
            <a:pPr algn="r"/>
            <a:r>
              <a:rPr sz="2200" b="1">
                <a:solidFill>
                  <a:srgbClr val="E03A3E"/>
                </a:solidFill>
                <a:latin typeface="Oswald"/>
              </a:rPr>
              <a:t>/ 5</a:t>
            </a:r>
          </a:p>
        </p:txBody>
      </p:sp>
      <p:sp>
        <p:nvSpPr>
          <p:cNvPr id="16" name="Rounded Rectangle 15"/>
          <p:cNvSpPr/>
          <p:nvPr/>
        </p:nvSpPr>
        <p:spPr>
          <a:xfrm>
            <a:off x="548640" y="3557015"/>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557015"/>
            <a:ext cx="3657600" cy="713232"/>
          </a:xfrm>
          <a:prstGeom prst="rect">
            <a:avLst/>
          </a:prstGeom>
          <a:noFill/>
        </p:spPr>
        <p:txBody>
          <a:bodyPr wrap="square" anchor="ctr" lIns="36576" rIns="36576" tIns="18288" bIns="18288">
            <a:spAutoFit/>
          </a:bodyPr>
          <a:lstStyle/>
          <a:p>
            <a:pPr algn="l"/>
            <a:r>
              <a:rPr sz="2000" b="1">
                <a:solidFill>
                  <a:srgbClr val="FFFFFF"/>
                </a:solidFill>
                <a:latin typeface="Oswald"/>
              </a:rPr>
              <a:t>COMPOSITION &amp; STRUCTURE</a:t>
            </a:r>
          </a:p>
        </p:txBody>
      </p:sp>
      <p:sp>
        <p:nvSpPr>
          <p:cNvPr id="18" name="TextBox 17"/>
          <p:cNvSpPr txBox="1"/>
          <p:nvPr/>
        </p:nvSpPr>
        <p:spPr>
          <a:xfrm>
            <a:off x="4663440" y="3557015"/>
            <a:ext cx="6035040" cy="713232"/>
          </a:xfrm>
          <a:prstGeom prst="rect">
            <a:avLst/>
          </a:prstGeom>
          <a:noFill/>
        </p:spPr>
        <p:txBody>
          <a:bodyPr wrap="square" anchor="ctr" lIns="36576" rIns="36576" tIns="18288" bIns="18288">
            <a:spAutoFit/>
          </a:bodyPr>
          <a:lstStyle/>
          <a:p>
            <a:pPr algn="l"/>
            <a:r>
              <a:rPr sz="1500" b="0">
                <a:solidFill>
                  <a:srgbClr val="000000"/>
                </a:solidFill>
                <a:latin typeface="Source Sans 3"/>
              </a:rPr>
              <a:t>5 = AABA structure is clear and musically satisfying. Beat locks in and feels complete.</a:t>
            </a:r>
          </a:p>
        </p:txBody>
      </p:sp>
      <p:sp>
        <p:nvSpPr>
          <p:cNvPr id="19" name="TextBox 18"/>
          <p:cNvSpPr txBox="1"/>
          <p:nvPr/>
        </p:nvSpPr>
        <p:spPr>
          <a:xfrm>
            <a:off x="10698480" y="3557015"/>
            <a:ext cx="941832" cy="713232"/>
          </a:xfrm>
          <a:prstGeom prst="rect">
            <a:avLst/>
          </a:prstGeom>
          <a:noFill/>
        </p:spPr>
        <p:txBody>
          <a:bodyPr wrap="square" anchor="ctr" lIns="36576" rIns="36576" tIns="18288" bIns="18288">
            <a:spAutoFit/>
          </a:bodyPr>
          <a:lstStyle/>
          <a:p>
            <a:pPr algn="r"/>
            <a:r>
              <a:rPr sz="2200" b="1">
                <a:solidFill>
                  <a:srgbClr val="E03A3E"/>
                </a:solidFill>
                <a:latin typeface="Oswald"/>
              </a:rPr>
              <a:t>/ 5</a:t>
            </a:r>
          </a:p>
        </p:txBody>
      </p:sp>
      <p:sp>
        <p:nvSpPr>
          <p:cNvPr id="20" name="Rounded Rectangle 19"/>
          <p:cNvSpPr/>
          <p:nvPr/>
        </p:nvSpPr>
        <p:spPr>
          <a:xfrm>
            <a:off x="548640" y="4398264"/>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398264"/>
            <a:ext cx="3657600" cy="713232"/>
          </a:xfrm>
          <a:prstGeom prst="rect">
            <a:avLst/>
          </a:prstGeom>
          <a:noFill/>
        </p:spPr>
        <p:txBody>
          <a:bodyPr wrap="square" anchor="ctr" lIns="36576" rIns="36576" tIns="18288" bIns="18288">
            <a:spAutoFit/>
          </a:bodyPr>
          <a:lstStyle/>
          <a:p>
            <a:pPr algn="l"/>
            <a:r>
              <a:rPr sz="2000" b="1">
                <a:solidFill>
                  <a:srgbClr val="FFFFFF"/>
                </a:solidFill>
                <a:latin typeface="Oswald"/>
              </a:rPr>
              <a:t>VOLUME &amp; BALANCE</a:t>
            </a:r>
          </a:p>
        </p:txBody>
      </p:sp>
      <p:sp>
        <p:nvSpPr>
          <p:cNvPr id="22" name="TextBox 21"/>
          <p:cNvSpPr txBox="1"/>
          <p:nvPr/>
        </p:nvSpPr>
        <p:spPr>
          <a:xfrm>
            <a:off x="4663440" y="4398264"/>
            <a:ext cx="6035040" cy="713232"/>
          </a:xfrm>
          <a:prstGeom prst="rect">
            <a:avLst/>
          </a:prstGeom>
          <a:noFill/>
        </p:spPr>
        <p:txBody>
          <a:bodyPr wrap="square" anchor="ctr" lIns="36576" rIns="36576" tIns="18288" bIns="18288">
            <a:spAutoFit/>
          </a:bodyPr>
          <a:lstStyle/>
          <a:p>
            <a:pPr algn="l"/>
            <a:r>
              <a:rPr sz="1500" b="0">
                <a:solidFill>
                  <a:srgbClr val="000000"/>
                </a:solidFill>
                <a:latin typeface="Source Sans 3"/>
              </a:rPr>
              <a:t>5 = All elements are balanced with intention. Each drum sound has its own space. Panning adds width without distraction.</a:t>
            </a:r>
          </a:p>
        </p:txBody>
      </p:sp>
      <p:sp>
        <p:nvSpPr>
          <p:cNvPr id="23" name="TextBox 22"/>
          <p:cNvSpPr txBox="1"/>
          <p:nvPr/>
        </p:nvSpPr>
        <p:spPr>
          <a:xfrm>
            <a:off x="10698480" y="4398264"/>
            <a:ext cx="941832" cy="713232"/>
          </a:xfrm>
          <a:prstGeom prst="rect">
            <a:avLst/>
          </a:prstGeom>
          <a:noFill/>
        </p:spPr>
        <p:txBody>
          <a:bodyPr wrap="square" anchor="ctr" lIns="36576" rIns="36576" tIns="18288" bIns="18288">
            <a:spAutoFit/>
          </a:bodyPr>
          <a:lstStyle/>
          <a:p>
            <a:pPr algn="r"/>
            <a:r>
              <a:rPr sz="2200" b="1">
                <a:solidFill>
                  <a:srgbClr val="E03A3E"/>
                </a:solidFill>
                <a:latin typeface="Oswald"/>
              </a:rPr>
              <a:t>/ 5</a:t>
            </a:r>
          </a:p>
        </p:txBody>
      </p:sp>
      <p:sp>
        <p:nvSpPr>
          <p:cNvPr id="24" name="Rounded Rectangle 23"/>
          <p:cNvSpPr/>
          <p:nvPr/>
        </p:nvSpPr>
        <p:spPr>
          <a:xfrm>
            <a:off x="548640" y="5239512"/>
            <a:ext cx="393192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239512"/>
            <a:ext cx="3657600" cy="713232"/>
          </a:xfrm>
          <a:prstGeom prst="rect">
            <a:avLst/>
          </a:prstGeom>
          <a:noFill/>
        </p:spPr>
        <p:txBody>
          <a:bodyPr wrap="square" anchor="ctr" lIns="36576" rIns="36576" tIns="18288" bIns="18288">
            <a:spAutoFit/>
          </a:bodyPr>
          <a:lstStyle/>
          <a:p>
            <a:pPr algn="l"/>
            <a:r>
              <a:rPr sz="2000" b="1">
                <a:solidFill>
                  <a:srgbClr val="FFFFFF"/>
                </a:solidFill>
                <a:latin typeface="Oswald"/>
              </a:rPr>
              <a:t>DOCUMENTATION &amp; PRESENTATION</a:t>
            </a:r>
          </a:p>
        </p:txBody>
      </p:sp>
      <p:sp>
        <p:nvSpPr>
          <p:cNvPr id="26" name="TextBox 25"/>
          <p:cNvSpPr txBox="1"/>
          <p:nvPr/>
        </p:nvSpPr>
        <p:spPr>
          <a:xfrm>
            <a:off x="4663440" y="5239512"/>
            <a:ext cx="6035040" cy="713232"/>
          </a:xfrm>
          <a:prstGeom prst="rect">
            <a:avLst/>
          </a:prstGeom>
          <a:noFill/>
        </p:spPr>
        <p:txBody>
          <a:bodyPr wrap="square" anchor="ctr" lIns="36576" rIns="36576" tIns="18288" bIns="18288">
            <a:spAutoFit/>
          </a:bodyPr>
          <a:lstStyle/>
          <a:p>
            <a:pPr algn="l"/>
            <a:r>
              <a:rPr sz="1500" b="0">
                <a:solidFill>
                  <a:srgbClr val="000000"/>
                </a:solidFill>
                <a:latin typeface="Source Sans 3"/>
              </a:rPr>
              <a:t>5 = Project correctly named, submitted on time. Confident presentation. Three thoughtful feedback questions posted.</a:t>
            </a:r>
          </a:p>
        </p:txBody>
      </p:sp>
      <p:sp>
        <p:nvSpPr>
          <p:cNvPr id="27" name="TextBox 26"/>
          <p:cNvSpPr txBox="1"/>
          <p:nvPr/>
        </p:nvSpPr>
        <p:spPr>
          <a:xfrm>
            <a:off x="10698480" y="5239512"/>
            <a:ext cx="941832" cy="713232"/>
          </a:xfrm>
          <a:prstGeom prst="rect">
            <a:avLst/>
          </a:prstGeom>
          <a:noFill/>
        </p:spPr>
        <p:txBody>
          <a:bodyPr wrap="square" anchor="ctr" lIns="36576" rIns="36576" tIns="18288" bIns="18288">
            <a:spAutoFit/>
          </a:bodyPr>
          <a:lstStyle/>
          <a:p>
            <a:pPr algn="r"/>
            <a:r>
              <a:rPr sz="2200" b="1">
                <a:solidFill>
                  <a:srgbClr val="E03A3E"/>
                </a:solidFill>
                <a:latin typeface="Oswald"/>
              </a:rPr>
              <a:t>/ 5</a:t>
            </a:r>
          </a:p>
        </p:txBody>
      </p:sp>
      <p:sp>
        <p:nvSpPr>
          <p:cNvPr id="28" name="TextBox 27"/>
          <p:cNvSpPr txBox="1"/>
          <p:nvPr/>
        </p:nvSpPr>
        <p:spPr>
          <a:xfrm>
            <a:off x="8229600" y="6035040"/>
            <a:ext cx="3410712" cy="365760"/>
          </a:xfrm>
          <a:prstGeom prst="rect">
            <a:avLst/>
          </a:prstGeom>
          <a:noFill/>
        </p:spPr>
        <p:txBody>
          <a:bodyPr wrap="square" anchor="t" lIns="36576" rIns="36576" tIns="18288" bIns="18288">
            <a:spAutoFit/>
          </a:bodyPr>
          <a:lstStyle/>
          <a:p>
            <a:pPr algn="r"/>
            <a:r>
              <a:rPr sz="2000" b="1">
                <a:solidFill>
                  <a:srgbClr val="000000"/>
                </a:solidFill>
                <a:latin typeface="Oswald"/>
              </a:rPr>
              <a:t>TOTAL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TextBox 2"/>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4" name="Rectangle 3"/>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Beat From Nothing · Intro deck · © 2026 Brian Lotze · Hudson Beat</a:t>
            </a:r>
          </a:p>
        </p:txBody>
      </p:sp>
      <p:sp>
        <p:nvSpPr>
          <p:cNvPr id="7" name="TextBox 6"/>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8" name="Oval 7"/>
          <p:cNvSpPr/>
          <p:nvPr/>
        </p:nvSpPr>
        <p:spPr>
          <a:xfrm>
            <a:off x="548640" y="2560320"/>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77440"/>
            <a:ext cx="10698480" cy="812800"/>
          </a:xfrm>
          <a:prstGeom prst="rect">
            <a:avLst/>
          </a:prstGeom>
          <a:noFill/>
        </p:spPr>
        <p:txBody>
          <a:bodyPr wrap="square" anchor="t" lIns="36576" rIns="36576" tIns="18288" bIns="18288">
            <a:spAutoFit/>
          </a:bodyPr>
          <a:lstStyle/>
          <a:p>
            <a:pPr algn="l"/>
            <a:r>
              <a:rPr sz="4000" b="0">
                <a:solidFill>
                  <a:srgbClr val="000000"/>
                </a:solidFill>
                <a:latin typeface="Source Sans 3"/>
              </a:rPr>
              <a:t>Can you nod your head to it?</a:t>
            </a:r>
          </a:p>
        </p:txBody>
      </p:sp>
      <p:sp>
        <p:nvSpPr>
          <p:cNvPr id="10" name="Oval 9"/>
          <p:cNvSpPr/>
          <p:nvPr/>
        </p:nvSpPr>
        <p:spPr>
          <a:xfrm>
            <a:off x="548640" y="3449320"/>
            <a:ext cx="146304" cy="146304"/>
          </a:xfrm>
          <a:prstGeom prst="ellipse">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3266440"/>
            <a:ext cx="10698480" cy="812800"/>
          </a:xfrm>
          <a:prstGeom prst="rect">
            <a:avLst/>
          </a:prstGeom>
          <a:noFill/>
        </p:spPr>
        <p:txBody>
          <a:bodyPr wrap="square" anchor="t" lIns="36576" rIns="36576" tIns="18288" bIns="18288">
            <a:spAutoFit/>
          </a:bodyPr>
          <a:lstStyle/>
          <a:p>
            <a:pPr algn="l"/>
            <a:r>
              <a:rPr sz="4000" b="0">
                <a:solidFill>
                  <a:srgbClr val="000000"/>
                </a:solidFill>
                <a:latin typeface="Source Sans 3"/>
              </a:rPr>
              <a:t>If not, what one thing would you change?</a:t>
            </a:r>
          </a:p>
        </p:txBody>
      </p:sp>
      <p:sp>
        <p:nvSpPr>
          <p:cNvPr id="12" name="TextBox 11"/>
          <p:cNvSpPr txBox="1"/>
          <p:nvPr/>
        </p:nvSpPr>
        <p:spPr>
          <a:xfrm>
            <a:off x="3749040" y="3968496"/>
            <a:ext cx="556069" cy="292608"/>
          </a:xfrm>
          <a:prstGeom prst="rect">
            <a:avLst/>
          </a:prstGeom>
          <a:noFill/>
        </p:spPr>
        <p:txBody>
          <a:bodyPr wrap="square" anchor="t" lIns="36576" rIns="36576" tIns="18288" bIns="18288">
            <a:spAutoFit/>
          </a:bodyPr>
          <a:lstStyle/>
          <a:p>
            <a:pPr algn="ctr"/>
            <a:r>
              <a:rPr sz="1400" b="1">
                <a:solidFill>
                  <a:srgbClr val="000000"/>
                </a:solidFill>
                <a:latin typeface="Oswald"/>
              </a:rPr>
              <a:t>1</a:t>
            </a:r>
          </a:p>
        </p:txBody>
      </p:sp>
      <p:sp>
        <p:nvSpPr>
          <p:cNvPr id="13" name="TextBox 12"/>
          <p:cNvSpPr txBox="1"/>
          <p:nvPr/>
        </p:nvSpPr>
        <p:spPr>
          <a:xfrm>
            <a:off x="4122229"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1.2</a:t>
            </a:r>
          </a:p>
        </p:txBody>
      </p:sp>
      <p:sp>
        <p:nvSpPr>
          <p:cNvPr id="14" name="TextBox 13"/>
          <p:cNvSpPr txBox="1"/>
          <p:nvPr/>
        </p:nvSpPr>
        <p:spPr>
          <a:xfrm>
            <a:off x="4495419"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1.3</a:t>
            </a:r>
          </a:p>
        </p:txBody>
      </p:sp>
      <p:sp>
        <p:nvSpPr>
          <p:cNvPr id="15" name="TextBox 14"/>
          <p:cNvSpPr txBox="1"/>
          <p:nvPr/>
        </p:nvSpPr>
        <p:spPr>
          <a:xfrm>
            <a:off x="4868608"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1.4</a:t>
            </a:r>
          </a:p>
        </p:txBody>
      </p:sp>
      <p:sp>
        <p:nvSpPr>
          <p:cNvPr id="16" name="TextBox 15"/>
          <p:cNvSpPr txBox="1"/>
          <p:nvPr/>
        </p:nvSpPr>
        <p:spPr>
          <a:xfrm>
            <a:off x="5241798" y="3968496"/>
            <a:ext cx="556069" cy="292608"/>
          </a:xfrm>
          <a:prstGeom prst="rect">
            <a:avLst/>
          </a:prstGeom>
          <a:noFill/>
        </p:spPr>
        <p:txBody>
          <a:bodyPr wrap="square" anchor="t" lIns="36576" rIns="36576" tIns="18288" bIns="18288">
            <a:spAutoFit/>
          </a:bodyPr>
          <a:lstStyle/>
          <a:p>
            <a:pPr algn="ctr"/>
            <a:r>
              <a:rPr sz="1400" b="1">
                <a:solidFill>
                  <a:srgbClr val="000000"/>
                </a:solidFill>
                <a:latin typeface="Oswald"/>
              </a:rPr>
              <a:t>2</a:t>
            </a:r>
          </a:p>
        </p:txBody>
      </p:sp>
      <p:sp>
        <p:nvSpPr>
          <p:cNvPr id="17" name="TextBox 16"/>
          <p:cNvSpPr txBox="1"/>
          <p:nvPr/>
        </p:nvSpPr>
        <p:spPr>
          <a:xfrm>
            <a:off x="5614987"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2.2</a:t>
            </a:r>
          </a:p>
        </p:txBody>
      </p:sp>
      <p:sp>
        <p:nvSpPr>
          <p:cNvPr id="18" name="TextBox 17"/>
          <p:cNvSpPr txBox="1"/>
          <p:nvPr/>
        </p:nvSpPr>
        <p:spPr>
          <a:xfrm>
            <a:off x="5988177"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2.3</a:t>
            </a:r>
          </a:p>
        </p:txBody>
      </p:sp>
      <p:sp>
        <p:nvSpPr>
          <p:cNvPr id="19" name="TextBox 18"/>
          <p:cNvSpPr txBox="1"/>
          <p:nvPr/>
        </p:nvSpPr>
        <p:spPr>
          <a:xfrm>
            <a:off x="6361366"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2.4</a:t>
            </a:r>
          </a:p>
        </p:txBody>
      </p:sp>
      <p:sp>
        <p:nvSpPr>
          <p:cNvPr id="20" name="TextBox 19"/>
          <p:cNvSpPr txBox="1"/>
          <p:nvPr/>
        </p:nvSpPr>
        <p:spPr>
          <a:xfrm>
            <a:off x="6734556" y="3968496"/>
            <a:ext cx="556069" cy="292608"/>
          </a:xfrm>
          <a:prstGeom prst="rect">
            <a:avLst/>
          </a:prstGeom>
          <a:noFill/>
        </p:spPr>
        <p:txBody>
          <a:bodyPr wrap="square" anchor="t" lIns="36576" rIns="36576" tIns="18288" bIns="18288">
            <a:spAutoFit/>
          </a:bodyPr>
          <a:lstStyle/>
          <a:p>
            <a:pPr algn="ctr"/>
            <a:r>
              <a:rPr sz="1400" b="1">
                <a:solidFill>
                  <a:srgbClr val="000000"/>
                </a:solidFill>
                <a:latin typeface="Oswald"/>
              </a:rPr>
              <a:t>3</a:t>
            </a:r>
          </a:p>
        </p:txBody>
      </p:sp>
      <p:sp>
        <p:nvSpPr>
          <p:cNvPr id="21" name="TextBox 20"/>
          <p:cNvSpPr txBox="1"/>
          <p:nvPr/>
        </p:nvSpPr>
        <p:spPr>
          <a:xfrm>
            <a:off x="7107745"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3.2</a:t>
            </a:r>
          </a:p>
        </p:txBody>
      </p:sp>
      <p:sp>
        <p:nvSpPr>
          <p:cNvPr id="22" name="TextBox 21"/>
          <p:cNvSpPr txBox="1"/>
          <p:nvPr/>
        </p:nvSpPr>
        <p:spPr>
          <a:xfrm>
            <a:off x="7480935"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3.3</a:t>
            </a:r>
          </a:p>
        </p:txBody>
      </p:sp>
      <p:sp>
        <p:nvSpPr>
          <p:cNvPr id="23" name="TextBox 22"/>
          <p:cNvSpPr txBox="1"/>
          <p:nvPr/>
        </p:nvSpPr>
        <p:spPr>
          <a:xfrm>
            <a:off x="7854124"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3.4</a:t>
            </a:r>
          </a:p>
        </p:txBody>
      </p:sp>
      <p:sp>
        <p:nvSpPr>
          <p:cNvPr id="24" name="TextBox 23"/>
          <p:cNvSpPr txBox="1"/>
          <p:nvPr/>
        </p:nvSpPr>
        <p:spPr>
          <a:xfrm>
            <a:off x="8227314" y="3968496"/>
            <a:ext cx="556069" cy="292608"/>
          </a:xfrm>
          <a:prstGeom prst="rect">
            <a:avLst/>
          </a:prstGeom>
          <a:noFill/>
        </p:spPr>
        <p:txBody>
          <a:bodyPr wrap="square" anchor="t" lIns="36576" rIns="36576" tIns="18288" bIns="18288">
            <a:spAutoFit/>
          </a:bodyPr>
          <a:lstStyle/>
          <a:p>
            <a:pPr algn="ctr"/>
            <a:r>
              <a:rPr sz="1400" b="1">
                <a:solidFill>
                  <a:srgbClr val="000000"/>
                </a:solidFill>
                <a:latin typeface="Oswald"/>
              </a:rPr>
              <a:t>4</a:t>
            </a:r>
          </a:p>
        </p:txBody>
      </p:sp>
      <p:sp>
        <p:nvSpPr>
          <p:cNvPr id="25" name="TextBox 24"/>
          <p:cNvSpPr txBox="1"/>
          <p:nvPr/>
        </p:nvSpPr>
        <p:spPr>
          <a:xfrm>
            <a:off x="8600503"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4.2</a:t>
            </a:r>
          </a:p>
        </p:txBody>
      </p:sp>
      <p:sp>
        <p:nvSpPr>
          <p:cNvPr id="26" name="TextBox 25"/>
          <p:cNvSpPr txBox="1"/>
          <p:nvPr/>
        </p:nvSpPr>
        <p:spPr>
          <a:xfrm>
            <a:off x="8973693"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4.3</a:t>
            </a:r>
          </a:p>
        </p:txBody>
      </p:sp>
      <p:sp>
        <p:nvSpPr>
          <p:cNvPr id="27" name="TextBox 26"/>
          <p:cNvSpPr txBox="1"/>
          <p:nvPr/>
        </p:nvSpPr>
        <p:spPr>
          <a:xfrm>
            <a:off x="9346882" y="3968496"/>
            <a:ext cx="556069" cy="292608"/>
          </a:xfrm>
          <a:prstGeom prst="rect">
            <a:avLst/>
          </a:prstGeom>
          <a:noFill/>
        </p:spPr>
        <p:txBody>
          <a:bodyPr wrap="square" anchor="t" lIns="36576" rIns="36576" tIns="18288" bIns="18288">
            <a:spAutoFit/>
          </a:bodyPr>
          <a:lstStyle/>
          <a:p>
            <a:pPr algn="ctr"/>
            <a:r>
              <a:rPr sz="1100" b="0">
                <a:solidFill>
                  <a:srgbClr val="000000"/>
                </a:solidFill>
                <a:latin typeface="Oswald"/>
              </a:rPr>
              <a:t>4.4</a:t>
            </a:r>
          </a:p>
        </p:txBody>
      </p:sp>
      <p:sp>
        <p:nvSpPr>
          <p:cNvPr id="28" name="TextBox 27"/>
          <p:cNvSpPr txBox="1"/>
          <p:nvPr/>
        </p:nvSpPr>
        <p:spPr>
          <a:xfrm>
            <a:off x="2377440" y="4297680"/>
            <a:ext cx="1353312" cy="329184"/>
          </a:xfrm>
          <a:prstGeom prst="rect">
            <a:avLst/>
          </a:prstGeom>
          <a:noFill/>
        </p:spPr>
        <p:txBody>
          <a:bodyPr wrap="square" anchor="ctr" lIns="36576" rIns="36576" tIns="18288" bIns="18288">
            <a:spAutoFit/>
          </a:bodyPr>
          <a:lstStyle/>
          <a:p>
            <a:pPr algn="r"/>
            <a:r>
              <a:rPr sz="1800" b="1">
                <a:solidFill>
                  <a:srgbClr val="000000"/>
                </a:solidFill>
                <a:latin typeface="Oswald"/>
              </a:rPr>
              <a:t>Closed hi-hat</a:t>
            </a:r>
          </a:p>
        </p:txBody>
      </p:sp>
      <p:sp>
        <p:nvSpPr>
          <p:cNvPr id="29" name="Rectangle 28"/>
          <p:cNvSpPr/>
          <p:nvPr/>
        </p:nvSpPr>
        <p:spPr>
          <a:xfrm>
            <a:off x="3840480" y="4297680"/>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895344" y="4352544"/>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13669"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86859"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641723" y="4352544"/>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960048"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33238" y="4297680"/>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388102" y="4352544"/>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706427"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79617"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134481" y="4352544"/>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52806"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25996" y="4297680"/>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880860" y="4352544"/>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99185"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72375"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627239" y="4352544"/>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45564"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18754" y="4297680"/>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373618" y="4352544"/>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691943"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065133"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438322" y="4297680"/>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77440" y="4626864"/>
            <a:ext cx="1353312" cy="329184"/>
          </a:xfrm>
          <a:prstGeom prst="rect">
            <a:avLst/>
          </a:prstGeom>
          <a:noFill/>
        </p:spPr>
        <p:txBody>
          <a:bodyPr wrap="square" anchor="ctr" lIns="36576" rIns="36576" tIns="18288" bIns="18288">
            <a:spAutoFit/>
          </a:bodyPr>
          <a:lstStyle/>
          <a:p>
            <a:pPr algn="r"/>
            <a:r>
              <a:rPr sz="1800" b="1">
                <a:solidFill>
                  <a:srgbClr val="000000"/>
                </a:solidFill>
                <a:latin typeface="Oswald"/>
              </a:rPr>
              <a:t>Open hi-hat</a:t>
            </a:r>
          </a:p>
        </p:txBody>
      </p:sp>
      <p:sp>
        <p:nvSpPr>
          <p:cNvPr id="53" name="Rectangle 52"/>
          <p:cNvSpPr/>
          <p:nvPr/>
        </p:nvSpPr>
        <p:spPr>
          <a:xfrm>
            <a:off x="3840480" y="4626864"/>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213669"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86859"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960048"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333238" y="4626864"/>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706427"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079617"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452806"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825996" y="4626864"/>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99185"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7572375"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945564"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318754" y="4626864"/>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691943"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065133"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9119997" y="4681728"/>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438322" y="4626864"/>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77440" y="4956048"/>
            <a:ext cx="1353312" cy="329184"/>
          </a:xfrm>
          <a:prstGeom prst="rect">
            <a:avLst/>
          </a:prstGeom>
          <a:noFill/>
        </p:spPr>
        <p:txBody>
          <a:bodyPr wrap="square" anchor="ctr" lIns="36576" rIns="36576" tIns="18288" bIns="18288">
            <a:spAutoFit/>
          </a:bodyPr>
          <a:lstStyle/>
          <a:p>
            <a:pPr algn="r"/>
            <a:r>
              <a:rPr sz="1800" b="1">
                <a:solidFill>
                  <a:srgbClr val="000000"/>
                </a:solidFill>
                <a:latin typeface="Oswald"/>
              </a:rPr>
              <a:t>Snare</a:t>
            </a:r>
          </a:p>
        </p:txBody>
      </p:sp>
      <p:sp>
        <p:nvSpPr>
          <p:cNvPr id="71" name="Rectangle 70"/>
          <p:cNvSpPr/>
          <p:nvPr/>
        </p:nvSpPr>
        <p:spPr>
          <a:xfrm>
            <a:off x="3840480" y="4956048"/>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4213669"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586859"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4960048"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333238" y="4956048"/>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5388102" y="5010912"/>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706427"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079617"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452806"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825996" y="4956048"/>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7199185"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7572375"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7945564"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318754" y="4956048"/>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373618" y="5010912"/>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691943"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065133"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438322" y="4956048"/>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377440" y="5285232"/>
            <a:ext cx="1353312" cy="329184"/>
          </a:xfrm>
          <a:prstGeom prst="rect">
            <a:avLst/>
          </a:prstGeom>
          <a:noFill/>
        </p:spPr>
        <p:txBody>
          <a:bodyPr wrap="square" anchor="ctr" lIns="36576" rIns="36576" tIns="18288" bIns="18288">
            <a:spAutoFit/>
          </a:bodyPr>
          <a:lstStyle/>
          <a:p>
            <a:pPr algn="r"/>
            <a:r>
              <a:rPr sz="1800" b="1">
                <a:solidFill>
                  <a:srgbClr val="000000"/>
                </a:solidFill>
                <a:latin typeface="Oswald"/>
              </a:rPr>
              <a:t>Kick</a:t>
            </a:r>
          </a:p>
        </p:txBody>
      </p:sp>
      <p:sp>
        <p:nvSpPr>
          <p:cNvPr id="90" name="Rectangle 89"/>
          <p:cNvSpPr/>
          <p:nvPr/>
        </p:nvSpPr>
        <p:spPr>
          <a:xfrm>
            <a:off x="3840480" y="5285232"/>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3895344" y="5340096"/>
            <a:ext cx="263461" cy="219456"/>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4213669"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586859"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4960048"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333238" y="5285232"/>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5706427"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079617"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6134481" y="5340096"/>
            <a:ext cx="263461" cy="219456"/>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452806"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6825996" y="5285232"/>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6880860" y="5340096"/>
            <a:ext cx="263461" cy="219456"/>
          </a:xfrm>
          <a:prstGeom prst="roundRect">
            <a:avLst/>
          </a:prstGeom>
          <a:solidFill>
            <a:srgbClr val="E03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199185"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7572375"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945564"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8318754" y="5285232"/>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691943"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065133"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438322" y="5285232"/>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2377440" y="5614416"/>
            <a:ext cx="1353312" cy="329184"/>
          </a:xfrm>
          <a:prstGeom prst="rect">
            <a:avLst/>
          </a:prstGeom>
          <a:noFill/>
        </p:spPr>
        <p:txBody>
          <a:bodyPr wrap="square" anchor="ctr" lIns="36576" rIns="36576" tIns="18288" bIns="18288">
            <a:spAutoFit/>
          </a:bodyPr>
          <a:lstStyle/>
          <a:p>
            <a:pPr algn="r"/>
            <a:r>
              <a:rPr sz="1800" b="1">
                <a:solidFill>
                  <a:srgbClr val="000000"/>
                </a:solidFill>
                <a:latin typeface="Oswald"/>
              </a:rPr>
              <a:t>Clap</a:t>
            </a:r>
          </a:p>
        </p:txBody>
      </p:sp>
      <p:sp>
        <p:nvSpPr>
          <p:cNvPr id="110" name="Rectangle 109"/>
          <p:cNvSpPr/>
          <p:nvPr/>
        </p:nvSpPr>
        <p:spPr>
          <a:xfrm>
            <a:off x="3840480" y="5614416"/>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4213669"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586859"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4960048"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333238" y="5614416"/>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706427"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079617"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6452806"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6825996" y="5614416"/>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199185"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7572375"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7945564"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318754" y="5614416"/>
            <a:ext cx="373189" cy="329184"/>
          </a:xfrm>
          <a:prstGeom prst="rect">
            <a:avLst/>
          </a:prstGeom>
          <a:solidFill>
            <a:srgbClr val="E6E6E6"/>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8373618" y="5669280"/>
            <a:ext cx="263461" cy="219456"/>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8691943"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9065133"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438322" y="5614416"/>
            <a:ext cx="373189" cy="329184"/>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Beat From Nothing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