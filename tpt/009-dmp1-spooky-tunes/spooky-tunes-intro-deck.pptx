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Day 1, after you have played the woods video once with no comment. Tell students this is their first open-ended project: no chord progression, no song form, no right answer. Their brief is one minute of video and the job is to score it so the music makes the video feel the way it looks. Have the two listening examples cued up on YouTube or Spotify (your own account; no audio or video is included in this deck).</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Play roughly the first minute of the Halloween theme by John Carpenter. Ask the three questions and collect answers on the board, but do not confirm anything yet: feel it before you name it. Students usually notice the piano figure that keeps circling, that it never resolves, and that it is dark. Some will notice it is hard to count in 4: the piano pattern is famously counted in 5. Keep their words for slide 4.</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Play the opening of the Stranger Things theme by Kyle Dixon and Michael Stein. This time the question is about space rather than notes: does the sound feel close or far away, is there a room or echo around it? Ask a student to describe what it would sound like with no space at all. That is the difference between dry and wet, which they will name on slide 5.</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Connect their answers from the listening to four tools. Minor keys sound darker (they met major and minor earlier in the course; if not, the Minor Key Map covers it). Half steps are the smallest distance on the keyboard: play E and F together on the projector so they hear the rub. Space comes from reverb and delay. Silence is a sound too: a sound after silence feels enormous. These are tools, not rules: no key is required, and a score with no key at all is fine.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Plain-English definitions. Reverb simulates a space; decay is how long the tail lasts. Delay repeats the sound after a set time; feedback is how many repeats. Dry is the untouched sound; wet is only the effect. If you can, play one short sound in Logic dry, then with heavy reverb, then with a long delay. The unit's mixing concept is reverb and delay via a bus, and its big idea is the line on this slide: space is a sound.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bus is a shared channel. Instead of a reverb plugin on every track, you build one reverb on an Aux channel and each track sends some of its sound to it. Walk the diagram: each track still plays dry straight to the Stereo Out; the send knob decides how much of it also goes to Bus 1; the Aux adds only the wet reverb. Three reasons: consistency (one shared space), control (one fader for all the reverb) and efficiency (one plugin, less CPU).</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Guided listening in Logic: play one footstep or tap with a low reverb send, then a high one. Students will say the low send sounds close and the high send sounds far away. That is the whole idea of depth in a mix: near things are dry, far things are wet. The last question sets up the demo: separate reverbs on every track can’t be controlled together and don’t sound like one shared space.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worked example in Logic; do it live while students watch with laptops closed for building (the full 8-step demo script is in the teacher notes). After step 5 play the project and ask what changed. Then give two other tracks different send levels and ask which sounds nearer. Finish by having one student rebuild the reverb bus from scratch on their own computer while the class watches.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second setup goes faster because students now understand the pattern. Point out that a track can have two sends, one to each bus. Suggest delay on only one or two sounds: selective delay draws the ear. Turning off tempo sync lets the echoes float freely, which often feels more unsettling. Students set up the delay bus at the start of Day 2.</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Day 2. No key is required: students may work in any key, or in none, and atonal or sound-effect scores are fine. For anyone who wants a darker harmonic home, a minor key helps. The examples are A minor (white keys only) and D minor (one flat, B-flat). The orange keys are the first chord: root, third and fifth (A C E, D F A). The dots are the scale. The Minor Key Map and the reference card (eight minor keys) are optional reference pages. A student who changes key at a big moment should move the drone or bass too, or nobody hears the change.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score map for a 60-second clip at 128 BPM: 32 measures of 4/4 is exactly one minute, so every 4 measures is 7.5 seconds. Walk the numbered moments: the drone and wind fade in, close dry footsteps, a music-box melody with delay, a full measure of deliberate silence, then a visual cut at measure 17 where the drone moves (this example happens to change key there; that is a choice, not a rule), a swelling reverb send and one impact with a long tail. Your own clip’s moments will differ: that is what the cue sheet is for.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Hand out the project sheet and rubric. This is the brief: make it sound the way the video looks. Stress the three sound sources (at least one original microphone recording and one free download) and that both buses come before any composing. There is no chord progression, song form or key required: atonal and sound-effect scores are welcome.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six days: Day 1 the bus demo and a working reverb bus; Day 2 the delay bus and collecting at least 5 sounds; Days 3 and 4 importing the video, placing markers and composing to the whole video; Day 5 mix, reflection and submit; Day 6 presentations with the video. Students who need more time on routing get it on Day 2.</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deliverables from the submission checklist. Show where students submit (your class page) and where the feedback questions go (any class feedback board). Export: File › Bounce › Project or Section, MP3. Compress: in Finder, Control-click the .logicx project › Compress. The reflection names two specific techniques and why.</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categories, each scored 2 to 5, for a total out of 25. Read the 5 column aloud so students know what great looks like: an atmosphere that serves the video at every moment, a score where key moments are acknowledged and silence is a tool, buses used with intention, near sounds dry and far sounds wet, and a confident presentation that explains the sound choices.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the launch with the unit’s big idea. This project gives students permission to be weird. The student who uses nothing but silence and a single pitch-bent note may be doing something more sophisticated than the student who layered eight spooky loops. Tell them that out loud.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384048"/>
            <a:ext cx="12191695" cy="457200"/>
          </a:xfrm>
          <a:prstGeom prst="rect">
            <a:avLst/>
          </a:prstGeom>
          <a:noFill/>
        </p:spPr>
        <p:txBody>
          <a:bodyPr wrap="square" anchor="t" lIns="36576" rIns="36576" tIns="18288" bIns="18288">
            <a:spAutoFit/>
          </a:bodyPr>
          <a:lstStyle/>
          <a:p>
            <a:pPr algn="ctr"/>
            <a:r>
              <a:rPr sz="1600" b="0" spc="800">
                <a:solidFill>
                  <a:srgbClr val="000000"/>
                </a:solidFill>
                <a:latin typeface="Oswald"/>
              </a:rPr>
              <a:t>HUDSON BEAT</a:t>
            </a:r>
          </a:p>
        </p:txBody>
      </p:sp>
      <p:pic>
        <p:nvPicPr>
          <p:cNvPr id="3" name="Picture 2" descr="deck-woods.png"/>
          <p:cNvPicPr>
            <a:picLocks noChangeAspect="1"/>
          </p:cNvPicPr>
          <p:nvPr/>
        </p:nvPicPr>
        <p:blipFill>
          <a:blip r:embed="rId2"/>
          <a:stretch>
            <a:fillRect/>
          </a:stretch>
        </p:blipFill>
        <p:spPr>
          <a:xfrm>
            <a:off x="1828800" y="914400"/>
            <a:ext cx="8531352" cy="2701595"/>
          </a:xfrm>
          <a:prstGeom prst="rect">
            <a:avLst/>
          </a:prstGeom>
        </p:spPr>
      </p:pic>
      <p:sp>
        <p:nvSpPr>
          <p:cNvPr id="4" name="TextBox 3"/>
          <p:cNvSpPr txBox="1"/>
          <p:nvPr/>
        </p:nvSpPr>
        <p:spPr>
          <a:xfrm>
            <a:off x="0" y="3657600"/>
            <a:ext cx="12191695" cy="1188720"/>
          </a:xfrm>
          <a:prstGeom prst="rect">
            <a:avLst/>
          </a:prstGeom>
          <a:noFill/>
        </p:spPr>
        <p:txBody>
          <a:bodyPr wrap="square" anchor="t" lIns="36576" rIns="36576" tIns="18288" bIns="18288">
            <a:spAutoFit/>
          </a:bodyPr>
          <a:lstStyle/>
          <a:p>
            <a:pPr algn="ctr"/>
            <a:r>
              <a:rPr sz="8000" b="1">
                <a:solidFill>
                  <a:srgbClr val="000000"/>
                </a:solidFill>
                <a:latin typeface="Oswald"/>
              </a:rPr>
              <a:t>SPOOKY TUNES</a:t>
            </a:r>
          </a:p>
        </p:txBody>
      </p:sp>
      <p:sp>
        <p:nvSpPr>
          <p:cNvPr id="5" name="TextBox 4"/>
          <p:cNvSpPr txBox="1"/>
          <p:nvPr/>
        </p:nvSpPr>
        <p:spPr>
          <a:xfrm>
            <a:off x="0" y="4937760"/>
            <a:ext cx="12191695" cy="548640"/>
          </a:xfrm>
          <a:prstGeom prst="rect">
            <a:avLst/>
          </a:prstGeom>
          <a:noFill/>
        </p:spPr>
        <p:txBody>
          <a:bodyPr wrap="square" anchor="t" lIns="36576" rIns="36576" tIns="18288" bIns="18288">
            <a:spAutoFit/>
          </a:bodyPr>
          <a:lstStyle/>
          <a:p>
            <a:pPr algn="ctr"/>
            <a:r>
              <a:rPr sz="2800" b="0">
                <a:solidFill>
                  <a:srgbClr val="000000"/>
                </a:solidFill>
                <a:latin typeface="Oswald"/>
              </a:rPr>
              <a:t>Feat. the Halloween theme</a:t>
            </a:r>
          </a:p>
        </p:txBody>
      </p:sp>
      <p:sp>
        <p:nvSpPr>
          <p:cNvPr id="6" name="Rectangle 5"/>
          <p:cNvSpPr/>
          <p:nvPr/>
        </p:nvSpPr>
        <p:spPr>
          <a:xfrm>
            <a:off x="0" y="5989320"/>
            <a:ext cx="12191695" cy="86868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0" y="6108192"/>
            <a:ext cx="12191695" cy="548640"/>
          </a:xfrm>
          <a:prstGeom prst="rect">
            <a:avLst/>
          </a:prstGeom>
          <a:noFill/>
        </p:spPr>
        <p:txBody>
          <a:bodyPr wrap="square" anchor="t" lIns="36576" rIns="36576" tIns="18288" bIns="18288">
            <a:spAutoFit/>
          </a:bodyPr>
          <a:lstStyle/>
          <a:p>
            <a:pPr algn="ctr"/>
            <a:r>
              <a:rPr sz="2000" b="0" spc="200">
                <a:solidFill>
                  <a:srgbClr val="FFFFFF"/>
                </a:solidFill>
                <a:latin typeface="Oswald"/>
              </a:rPr>
              <a:t>DIGITAL MUSIC PRODUCTION · UNIT 6 · SCORING TO PICTURE IN LOGIC PRO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TextBox 2"/>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LISTEN FIRST</a:t>
            </a:r>
          </a:p>
        </p:txBody>
      </p:sp>
      <p:sp>
        <p:nvSpPr>
          <p:cNvPr id="4" name="Rectangle 3"/>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Spooky Tunes · Intro deck · © 2026 Brian Lotze · Hudson Beat</a:t>
            </a:r>
          </a:p>
        </p:txBody>
      </p:sp>
      <p:sp>
        <p:nvSpPr>
          <p:cNvPr id="7" name="TextBox 6"/>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2</a:t>
            </a:r>
          </a:p>
        </p:txBody>
      </p:sp>
      <p:sp>
        <p:nvSpPr>
          <p:cNvPr id="8" name="Rounded Rectangle 7"/>
          <p:cNvSpPr/>
          <p:nvPr/>
        </p:nvSpPr>
        <p:spPr>
          <a:xfrm>
            <a:off x="548640" y="1828800"/>
            <a:ext cx="11091672" cy="1828800"/>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1920240"/>
            <a:ext cx="10515600" cy="640080"/>
          </a:xfrm>
          <a:prstGeom prst="rect">
            <a:avLst/>
          </a:prstGeom>
          <a:noFill/>
        </p:spPr>
        <p:txBody>
          <a:bodyPr wrap="square" anchor="t" lIns="36576" rIns="36576" tIns="18288" bIns="18288">
            <a:spAutoFit/>
          </a:bodyPr>
          <a:lstStyle/>
          <a:p>
            <a:pPr algn="l"/>
            <a:r>
              <a:rPr sz="3600" b="1">
                <a:solidFill>
                  <a:srgbClr val="FFFFFF"/>
                </a:solidFill>
                <a:latin typeface="Oswald"/>
              </a:rPr>
              <a:t>HALLOWEEN (MAIN TITLE)</a:t>
            </a:r>
          </a:p>
        </p:txBody>
      </p:sp>
      <p:sp>
        <p:nvSpPr>
          <p:cNvPr id="10" name="TextBox 9"/>
          <p:cNvSpPr txBox="1"/>
          <p:nvPr/>
        </p:nvSpPr>
        <p:spPr>
          <a:xfrm>
            <a:off x="822960" y="2578608"/>
            <a:ext cx="10515600" cy="457200"/>
          </a:xfrm>
          <a:prstGeom prst="rect">
            <a:avLst/>
          </a:prstGeom>
          <a:noFill/>
        </p:spPr>
        <p:txBody>
          <a:bodyPr wrap="square" anchor="t" lIns="36576" rIns="36576" tIns="18288" bIns="18288">
            <a:spAutoFit/>
          </a:bodyPr>
          <a:lstStyle/>
          <a:p>
            <a:pPr algn="l"/>
            <a:r>
              <a:rPr sz="2400" b="0">
                <a:solidFill>
                  <a:srgbClr val="E8731A"/>
                </a:solidFill>
                <a:latin typeface="Oswald"/>
              </a:rPr>
              <a:t>John Carpenter</a:t>
            </a:r>
          </a:p>
        </p:txBody>
      </p:sp>
      <p:sp>
        <p:nvSpPr>
          <p:cNvPr id="11" name="TextBox 10"/>
          <p:cNvSpPr txBox="1"/>
          <p:nvPr/>
        </p:nvSpPr>
        <p:spPr>
          <a:xfrm>
            <a:off x="822960" y="3090672"/>
            <a:ext cx="10515600" cy="457200"/>
          </a:xfrm>
          <a:prstGeom prst="rect">
            <a:avLst/>
          </a:prstGeom>
          <a:noFill/>
        </p:spPr>
        <p:txBody>
          <a:bodyPr wrap="square" anchor="t" lIns="36576" rIns="36576" tIns="18288" bIns="18288">
            <a:spAutoFit/>
          </a:bodyPr>
          <a:lstStyle/>
          <a:p>
            <a:pPr algn="l"/>
            <a:r>
              <a:rPr sz="1800" b="0">
                <a:solidFill>
                  <a:srgbClr val="FFFFFF"/>
                </a:solidFill>
                <a:latin typeface="Source Sans 3"/>
              </a:rPr>
              <a:t>Teacher: play about 60 seconds from YouTube or Spotify.</a:t>
            </a:r>
          </a:p>
        </p:txBody>
      </p:sp>
      <p:sp>
        <p:nvSpPr>
          <p:cNvPr id="12" name="Oval 11"/>
          <p:cNvSpPr/>
          <p:nvPr/>
        </p:nvSpPr>
        <p:spPr>
          <a:xfrm>
            <a:off x="548640" y="4069080"/>
            <a:ext cx="146304" cy="146304"/>
          </a:xfrm>
          <a:prstGeom prst="ellipse">
            <a:avLst/>
          </a:prstGeom>
          <a:solidFill>
            <a:srgbClr val="E873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6112" y="3931920"/>
            <a:ext cx="10698480" cy="609600"/>
          </a:xfrm>
          <a:prstGeom prst="rect">
            <a:avLst/>
          </a:prstGeom>
          <a:noFill/>
        </p:spPr>
        <p:txBody>
          <a:bodyPr wrap="square" anchor="t" lIns="36576" rIns="36576" tIns="18288" bIns="18288">
            <a:spAutoFit/>
          </a:bodyPr>
          <a:lstStyle/>
          <a:p>
            <a:pPr algn="l"/>
            <a:r>
              <a:rPr sz="3000" b="0">
                <a:solidFill>
                  <a:srgbClr val="000000"/>
                </a:solidFill>
                <a:latin typeface="Source Sans 3"/>
              </a:rPr>
              <a:t>What makes it scary?</a:t>
            </a:r>
          </a:p>
        </p:txBody>
      </p:sp>
      <p:sp>
        <p:nvSpPr>
          <p:cNvPr id="14" name="Oval 13"/>
          <p:cNvSpPr/>
          <p:nvPr/>
        </p:nvSpPr>
        <p:spPr>
          <a:xfrm>
            <a:off x="548640" y="4735830"/>
            <a:ext cx="146304" cy="146304"/>
          </a:xfrm>
          <a:prstGeom prst="ellipse">
            <a:avLst/>
          </a:prstGeom>
          <a:solidFill>
            <a:srgbClr val="E873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4598670"/>
            <a:ext cx="10698480" cy="609600"/>
          </a:xfrm>
          <a:prstGeom prst="rect">
            <a:avLst/>
          </a:prstGeom>
          <a:noFill/>
        </p:spPr>
        <p:txBody>
          <a:bodyPr wrap="square" anchor="t" lIns="36576" rIns="36576" tIns="18288" bIns="18288">
            <a:spAutoFit/>
          </a:bodyPr>
          <a:lstStyle/>
          <a:p>
            <a:pPr algn="l"/>
            <a:r>
              <a:rPr sz="3000" b="0">
                <a:solidFill>
                  <a:srgbClr val="000000"/>
                </a:solidFill>
                <a:latin typeface="Source Sans 3"/>
              </a:rPr>
              <a:t>What keeps repeating?</a:t>
            </a:r>
          </a:p>
        </p:txBody>
      </p:sp>
      <p:sp>
        <p:nvSpPr>
          <p:cNvPr id="16" name="Oval 15"/>
          <p:cNvSpPr/>
          <p:nvPr/>
        </p:nvSpPr>
        <p:spPr>
          <a:xfrm>
            <a:off x="548640" y="5402580"/>
            <a:ext cx="146304" cy="146304"/>
          </a:xfrm>
          <a:prstGeom prst="ellipse">
            <a:avLst/>
          </a:prstGeom>
          <a:solidFill>
            <a:srgbClr val="E873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6112" y="5265420"/>
            <a:ext cx="10698480" cy="609600"/>
          </a:xfrm>
          <a:prstGeom prst="rect">
            <a:avLst/>
          </a:prstGeom>
          <a:noFill/>
        </p:spPr>
        <p:txBody>
          <a:bodyPr wrap="square" anchor="t" lIns="36576" rIns="36576" tIns="18288" bIns="18288">
            <a:spAutoFit/>
          </a:bodyPr>
          <a:lstStyle/>
          <a:p>
            <a:pPr algn="l"/>
            <a:r>
              <a:rPr sz="3000" b="0">
                <a:solidFill>
                  <a:srgbClr val="000000"/>
                </a:solidFill>
                <a:latin typeface="Source Sans 3"/>
              </a:rPr>
              <a:t>Does it feel bright or dark?</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TextBox 2"/>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LISTEN FOR THE SPACE</a:t>
            </a:r>
          </a:p>
        </p:txBody>
      </p:sp>
      <p:sp>
        <p:nvSpPr>
          <p:cNvPr id="4" name="Rectangle 3"/>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Spooky Tunes · Intro deck · © 2026 Brian Lotze · Hudson Beat</a:t>
            </a:r>
          </a:p>
        </p:txBody>
      </p:sp>
      <p:sp>
        <p:nvSpPr>
          <p:cNvPr id="7" name="TextBox 6"/>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3</a:t>
            </a:r>
          </a:p>
        </p:txBody>
      </p:sp>
      <p:sp>
        <p:nvSpPr>
          <p:cNvPr id="8" name="Rounded Rectangle 7"/>
          <p:cNvSpPr/>
          <p:nvPr/>
        </p:nvSpPr>
        <p:spPr>
          <a:xfrm>
            <a:off x="548640" y="1828800"/>
            <a:ext cx="11091672" cy="1828800"/>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1920240"/>
            <a:ext cx="10515600" cy="640080"/>
          </a:xfrm>
          <a:prstGeom prst="rect">
            <a:avLst/>
          </a:prstGeom>
          <a:noFill/>
        </p:spPr>
        <p:txBody>
          <a:bodyPr wrap="square" anchor="t" lIns="36576" rIns="36576" tIns="18288" bIns="18288">
            <a:spAutoFit/>
          </a:bodyPr>
          <a:lstStyle/>
          <a:p>
            <a:pPr algn="l"/>
            <a:r>
              <a:rPr sz="3600" b="1">
                <a:solidFill>
                  <a:srgbClr val="FFFFFF"/>
                </a:solidFill>
                <a:latin typeface="Oswald"/>
              </a:rPr>
              <a:t>STRANGER THINGS (MAIN THEME)</a:t>
            </a:r>
          </a:p>
        </p:txBody>
      </p:sp>
      <p:sp>
        <p:nvSpPr>
          <p:cNvPr id="10" name="TextBox 9"/>
          <p:cNvSpPr txBox="1"/>
          <p:nvPr/>
        </p:nvSpPr>
        <p:spPr>
          <a:xfrm>
            <a:off x="822960" y="2578608"/>
            <a:ext cx="10515600" cy="457200"/>
          </a:xfrm>
          <a:prstGeom prst="rect">
            <a:avLst/>
          </a:prstGeom>
          <a:noFill/>
        </p:spPr>
        <p:txBody>
          <a:bodyPr wrap="square" anchor="t" lIns="36576" rIns="36576" tIns="18288" bIns="18288">
            <a:spAutoFit/>
          </a:bodyPr>
          <a:lstStyle/>
          <a:p>
            <a:pPr algn="l"/>
            <a:r>
              <a:rPr sz="2400" b="0">
                <a:solidFill>
                  <a:srgbClr val="E8731A"/>
                </a:solidFill>
                <a:latin typeface="Oswald"/>
              </a:rPr>
              <a:t>Kyle Dixon &amp; Michael Stein</a:t>
            </a:r>
          </a:p>
        </p:txBody>
      </p:sp>
      <p:sp>
        <p:nvSpPr>
          <p:cNvPr id="11" name="TextBox 10"/>
          <p:cNvSpPr txBox="1"/>
          <p:nvPr/>
        </p:nvSpPr>
        <p:spPr>
          <a:xfrm>
            <a:off x="822960" y="3090672"/>
            <a:ext cx="10515600" cy="457200"/>
          </a:xfrm>
          <a:prstGeom prst="rect">
            <a:avLst/>
          </a:prstGeom>
          <a:noFill/>
        </p:spPr>
        <p:txBody>
          <a:bodyPr wrap="square" anchor="t" lIns="36576" rIns="36576" tIns="18288" bIns="18288">
            <a:spAutoFit/>
          </a:bodyPr>
          <a:lstStyle/>
          <a:p>
            <a:pPr algn="l"/>
            <a:r>
              <a:rPr sz="1800" b="0">
                <a:solidFill>
                  <a:srgbClr val="FFFFFF"/>
                </a:solidFill>
                <a:latin typeface="Source Sans 3"/>
              </a:rPr>
              <a:t>Teacher: play about 60 seconds from YouTube or Spotify.</a:t>
            </a:r>
          </a:p>
        </p:txBody>
      </p:sp>
      <p:sp>
        <p:nvSpPr>
          <p:cNvPr id="12" name="Oval 11"/>
          <p:cNvSpPr/>
          <p:nvPr/>
        </p:nvSpPr>
        <p:spPr>
          <a:xfrm>
            <a:off x="548640" y="4069080"/>
            <a:ext cx="146304" cy="146304"/>
          </a:xfrm>
          <a:prstGeom prst="ellipse">
            <a:avLst/>
          </a:prstGeom>
          <a:solidFill>
            <a:srgbClr val="E873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6112" y="3931920"/>
            <a:ext cx="10698480" cy="609600"/>
          </a:xfrm>
          <a:prstGeom prst="rect">
            <a:avLst/>
          </a:prstGeom>
          <a:noFill/>
        </p:spPr>
        <p:txBody>
          <a:bodyPr wrap="square" anchor="t" lIns="36576" rIns="36576" tIns="18288" bIns="18288">
            <a:spAutoFit/>
          </a:bodyPr>
          <a:lstStyle/>
          <a:p>
            <a:pPr algn="l"/>
            <a:r>
              <a:rPr sz="3000" b="0">
                <a:solidFill>
                  <a:srgbClr val="000000"/>
                </a:solidFill>
                <a:latin typeface="Source Sans 3"/>
              </a:rPr>
              <a:t>Does it sound close, or far away?</a:t>
            </a:r>
          </a:p>
        </p:txBody>
      </p:sp>
      <p:sp>
        <p:nvSpPr>
          <p:cNvPr id="14" name="Oval 13"/>
          <p:cNvSpPr/>
          <p:nvPr/>
        </p:nvSpPr>
        <p:spPr>
          <a:xfrm>
            <a:off x="548640" y="4735830"/>
            <a:ext cx="146304" cy="146304"/>
          </a:xfrm>
          <a:prstGeom prst="ellipse">
            <a:avLst/>
          </a:prstGeom>
          <a:solidFill>
            <a:srgbClr val="E873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4598670"/>
            <a:ext cx="10698480" cy="609600"/>
          </a:xfrm>
          <a:prstGeom prst="rect">
            <a:avLst/>
          </a:prstGeom>
          <a:noFill/>
        </p:spPr>
        <p:txBody>
          <a:bodyPr wrap="square" anchor="t" lIns="36576" rIns="36576" tIns="18288" bIns="18288">
            <a:spAutoFit/>
          </a:bodyPr>
          <a:lstStyle/>
          <a:p>
            <a:pPr algn="l"/>
            <a:r>
              <a:rPr sz="3000" b="0">
                <a:solidFill>
                  <a:srgbClr val="000000"/>
                </a:solidFill>
                <a:latin typeface="Source Sans 3"/>
              </a:rPr>
              <a:t>Can you hear echoes or a ‘room’ around the sound?</a:t>
            </a:r>
          </a:p>
        </p:txBody>
      </p:sp>
      <p:sp>
        <p:nvSpPr>
          <p:cNvPr id="16" name="Oval 15"/>
          <p:cNvSpPr/>
          <p:nvPr/>
        </p:nvSpPr>
        <p:spPr>
          <a:xfrm>
            <a:off x="548640" y="5402580"/>
            <a:ext cx="146304" cy="146304"/>
          </a:xfrm>
          <a:prstGeom prst="ellipse">
            <a:avLst/>
          </a:prstGeom>
          <a:solidFill>
            <a:srgbClr val="E873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6112" y="5265420"/>
            <a:ext cx="10698480" cy="609600"/>
          </a:xfrm>
          <a:prstGeom prst="rect">
            <a:avLst/>
          </a:prstGeom>
          <a:noFill/>
        </p:spPr>
        <p:txBody>
          <a:bodyPr wrap="square" anchor="t" lIns="36576" rIns="36576" tIns="18288" bIns="18288">
            <a:spAutoFit/>
          </a:bodyPr>
          <a:lstStyle/>
          <a:p>
            <a:pPr algn="l"/>
            <a:r>
              <a:rPr sz="3000" b="0">
                <a:solidFill>
                  <a:srgbClr val="000000"/>
                </a:solidFill>
                <a:latin typeface="Source Sans 3"/>
              </a:rPr>
              <a:t>What would it sound like totally dry?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TextBox 2"/>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WHAT MAKES MUSIC SPOOKY?</a:t>
            </a:r>
          </a:p>
        </p:txBody>
      </p:sp>
      <p:sp>
        <p:nvSpPr>
          <p:cNvPr id="4" name="Rectangle 3"/>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Spooky Tunes · Intro deck · © 2026 Brian Lotze · Hudson Beat</a:t>
            </a:r>
          </a:p>
        </p:txBody>
      </p:sp>
      <p:sp>
        <p:nvSpPr>
          <p:cNvPr id="7" name="TextBox 6"/>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4</a:t>
            </a:r>
          </a:p>
        </p:txBody>
      </p:sp>
      <p:sp>
        <p:nvSpPr>
          <p:cNvPr id="8" name="Oval 7"/>
          <p:cNvSpPr/>
          <p:nvPr/>
        </p:nvSpPr>
        <p:spPr>
          <a:xfrm>
            <a:off x="548640" y="2148840"/>
            <a:ext cx="146304" cy="146304"/>
          </a:xfrm>
          <a:prstGeom prst="ellipse">
            <a:avLst/>
          </a:prstGeom>
          <a:solidFill>
            <a:srgbClr val="E873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2011680"/>
            <a:ext cx="10698480" cy="609600"/>
          </a:xfrm>
          <a:prstGeom prst="rect">
            <a:avLst/>
          </a:prstGeom>
          <a:noFill/>
        </p:spPr>
        <p:txBody>
          <a:bodyPr wrap="square" anchor="t" lIns="36576" rIns="36576" tIns="18288" bIns="18288">
            <a:spAutoFit/>
          </a:bodyPr>
          <a:lstStyle/>
          <a:p>
            <a:pPr algn="l"/>
            <a:r>
              <a:rPr sz="3000" b="0">
                <a:solidFill>
                  <a:srgbClr val="000000"/>
                </a:solidFill>
                <a:latin typeface="Source Sans 3"/>
              </a:rPr>
              <a:t>Minor keys: darker than major</a:t>
            </a:r>
          </a:p>
        </p:txBody>
      </p:sp>
      <p:sp>
        <p:nvSpPr>
          <p:cNvPr id="10" name="Oval 9"/>
          <p:cNvSpPr/>
          <p:nvPr/>
        </p:nvSpPr>
        <p:spPr>
          <a:xfrm>
            <a:off x="548640" y="2815590"/>
            <a:ext cx="146304" cy="146304"/>
          </a:xfrm>
          <a:prstGeom prst="ellipse">
            <a:avLst/>
          </a:prstGeom>
          <a:solidFill>
            <a:srgbClr val="E873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2678430"/>
            <a:ext cx="10698480" cy="609600"/>
          </a:xfrm>
          <a:prstGeom prst="rect">
            <a:avLst/>
          </a:prstGeom>
          <a:noFill/>
        </p:spPr>
        <p:txBody>
          <a:bodyPr wrap="square" anchor="t" lIns="36576" rIns="36576" tIns="18288" bIns="18288">
            <a:spAutoFit/>
          </a:bodyPr>
          <a:lstStyle/>
          <a:p>
            <a:pPr algn="l"/>
            <a:r>
              <a:rPr sz="3000" b="0">
                <a:solidFill>
                  <a:srgbClr val="000000"/>
                </a:solidFill>
                <a:latin typeface="Source Sans 3"/>
              </a:rPr>
              <a:t>Half steps: two notes that rub</a:t>
            </a:r>
          </a:p>
        </p:txBody>
      </p:sp>
      <p:sp>
        <p:nvSpPr>
          <p:cNvPr id="12" name="Oval 11"/>
          <p:cNvSpPr/>
          <p:nvPr/>
        </p:nvSpPr>
        <p:spPr>
          <a:xfrm>
            <a:off x="548640" y="3482340"/>
            <a:ext cx="146304" cy="146304"/>
          </a:xfrm>
          <a:prstGeom prst="ellipse">
            <a:avLst/>
          </a:prstGeom>
          <a:solidFill>
            <a:srgbClr val="E873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6112" y="3345180"/>
            <a:ext cx="10698480" cy="609600"/>
          </a:xfrm>
          <a:prstGeom prst="rect">
            <a:avLst/>
          </a:prstGeom>
          <a:noFill/>
        </p:spPr>
        <p:txBody>
          <a:bodyPr wrap="square" anchor="t" lIns="36576" rIns="36576" tIns="18288" bIns="18288">
            <a:spAutoFit/>
          </a:bodyPr>
          <a:lstStyle/>
          <a:p>
            <a:pPr algn="l"/>
            <a:r>
              <a:rPr sz="3000" b="0">
                <a:solidFill>
                  <a:srgbClr val="000000"/>
                </a:solidFill>
                <a:latin typeface="Source Sans 3"/>
              </a:rPr>
              <a:t>Space: reverb and delay make it feel big and far away</a:t>
            </a:r>
          </a:p>
        </p:txBody>
      </p:sp>
      <p:sp>
        <p:nvSpPr>
          <p:cNvPr id="14" name="Oval 13"/>
          <p:cNvSpPr/>
          <p:nvPr/>
        </p:nvSpPr>
        <p:spPr>
          <a:xfrm>
            <a:off x="548640" y="4149090"/>
            <a:ext cx="146304" cy="146304"/>
          </a:xfrm>
          <a:prstGeom prst="ellipse">
            <a:avLst/>
          </a:prstGeom>
          <a:solidFill>
            <a:srgbClr val="E873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4011930"/>
            <a:ext cx="10698480" cy="609600"/>
          </a:xfrm>
          <a:prstGeom prst="rect">
            <a:avLst/>
          </a:prstGeom>
          <a:noFill/>
        </p:spPr>
        <p:txBody>
          <a:bodyPr wrap="square" anchor="t" lIns="36576" rIns="36576" tIns="18288" bIns="18288">
            <a:spAutoFit/>
          </a:bodyPr>
          <a:lstStyle/>
          <a:p>
            <a:pPr algn="l"/>
            <a:r>
              <a:rPr sz="3000" b="0">
                <a:solidFill>
                  <a:srgbClr val="000000"/>
                </a:solidFill>
                <a:latin typeface="Source Sans 3"/>
              </a:rPr>
              <a:t>Silence: the sound after it feels enormous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TextBox 2"/>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SPACE IS A SOUND</a:t>
            </a:r>
          </a:p>
        </p:txBody>
      </p:sp>
      <p:sp>
        <p:nvSpPr>
          <p:cNvPr id="4" name="Rectangle 3"/>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Spooky Tunes · Intro deck · © 2026 Brian Lotze · Hudson Beat</a:t>
            </a:r>
          </a:p>
        </p:txBody>
      </p:sp>
      <p:sp>
        <p:nvSpPr>
          <p:cNvPr id="7" name="TextBox 6"/>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5</a:t>
            </a:r>
          </a:p>
        </p:txBody>
      </p:sp>
      <p:sp>
        <p:nvSpPr>
          <p:cNvPr id="8" name="Rounded Rectangle 7"/>
          <p:cNvSpPr/>
          <p:nvPr/>
        </p:nvSpPr>
        <p:spPr>
          <a:xfrm>
            <a:off x="548640" y="2103120"/>
            <a:ext cx="2606040" cy="3566160"/>
          </a:xfrm>
          <a:prstGeom prst="roundRect">
            <a:avLst/>
          </a:prstGeom>
          <a:solidFill>
            <a:srgbClr val="FFFFFF"/>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2286000"/>
            <a:ext cx="2331720" cy="731520"/>
          </a:xfrm>
          <a:prstGeom prst="rect">
            <a:avLst/>
          </a:prstGeom>
          <a:noFill/>
        </p:spPr>
        <p:txBody>
          <a:bodyPr wrap="square" anchor="t" lIns="36576" rIns="36576" tIns="18288" bIns="18288">
            <a:spAutoFit/>
          </a:bodyPr>
          <a:lstStyle/>
          <a:p>
            <a:pPr algn="ctr"/>
            <a:r>
              <a:rPr sz="3000" b="1">
                <a:solidFill>
                  <a:srgbClr val="E8731A"/>
                </a:solidFill>
                <a:latin typeface="Oswald"/>
              </a:rPr>
              <a:t>REVERB</a:t>
            </a:r>
          </a:p>
        </p:txBody>
      </p:sp>
      <p:sp>
        <p:nvSpPr>
          <p:cNvPr id="10" name="TextBox 9"/>
          <p:cNvSpPr txBox="1"/>
          <p:nvPr/>
        </p:nvSpPr>
        <p:spPr>
          <a:xfrm>
            <a:off x="685800" y="3108960"/>
            <a:ext cx="2331720" cy="2377440"/>
          </a:xfrm>
          <a:prstGeom prst="rect">
            <a:avLst/>
          </a:prstGeom>
          <a:noFill/>
        </p:spPr>
        <p:txBody>
          <a:bodyPr wrap="square" anchor="t" lIns="36576" rIns="36576" tIns="18288" bIns="18288">
            <a:spAutoFit/>
          </a:bodyPr>
          <a:lstStyle/>
          <a:p>
            <a:pPr algn="ctr"/>
            <a:r>
              <a:rPr sz="2400" b="0">
                <a:solidFill>
                  <a:srgbClr val="000000"/>
                </a:solidFill>
                <a:latin typeface="Source Sans 3"/>
              </a:rPr>
              <a:t>a room, hall or cave around the sound</a:t>
            </a:r>
          </a:p>
        </p:txBody>
      </p:sp>
      <p:sp>
        <p:nvSpPr>
          <p:cNvPr id="11" name="Rounded Rectangle 10"/>
          <p:cNvSpPr/>
          <p:nvPr/>
        </p:nvSpPr>
        <p:spPr>
          <a:xfrm>
            <a:off x="3364992" y="2103120"/>
            <a:ext cx="2606040" cy="3566160"/>
          </a:xfrm>
          <a:prstGeom prst="roundRect">
            <a:avLst/>
          </a:prstGeom>
          <a:solidFill>
            <a:srgbClr val="FFFFFF"/>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502152" y="2286000"/>
            <a:ext cx="2331720" cy="731520"/>
          </a:xfrm>
          <a:prstGeom prst="rect">
            <a:avLst/>
          </a:prstGeom>
          <a:noFill/>
        </p:spPr>
        <p:txBody>
          <a:bodyPr wrap="square" anchor="t" lIns="36576" rIns="36576" tIns="18288" bIns="18288">
            <a:spAutoFit/>
          </a:bodyPr>
          <a:lstStyle/>
          <a:p>
            <a:pPr algn="ctr"/>
            <a:r>
              <a:rPr sz="3000" b="1">
                <a:solidFill>
                  <a:srgbClr val="E8731A"/>
                </a:solidFill>
                <a:latin typeface="Oswald"/>
              </a:rPr>
              <a:t>DELAY</a:t>
            </a:r>
          </a:p>
        </p:txBody>
      </p:sp>
      <p:sp>
        <p:nvSpPr>
          <p:cNvPr id="13" name="TextBox 12"/>
          <p:cNvSpPr txBox="1"/>
          <p:nvPr/>
        </p:nvSpPr>
        <p:spPr>
          <a:xfrm>
            <a:off x="3502152" y="3108960"/>
            <a:ext cx="2331720" cy="2377440"/>
          </a:xfrm>
          <a:prstGeom prst="rect">
            <a:avLst/>
          </a:prstGeom>
          <a:noFill/>
        </p:spPr>
        <p:txBody>
          <a:bodyPr wrap="square" anchor="t" lIns="36576" rIns="36576" tIns="18288" bIns="18288">
            <a:spAutoFit/>
          </a:bodyPr>
          <a:lstStyle/>
          <a:p>
            <a:pPr algn="ctr"/>
            <a:r>
              <a:rPr sz="2400" b="0">
                <a:solidFill>
                  <a:srgbClr val="000000"/>
                </a:solidFill>
                <a:latin typeface="Source Sans 3"/>
              </a:rPr>
              <a:t>an echo that repeats</a:t>
            </a:r>
          </a:p>
        </p:txBody>
      </p:sp>
      <p:sp>
        <p:nvSpPr>
          <p:cNvPr id="14" name="Rounded Rectangle 13"/>
          <p:cNvSpPr/>
          <p:nvPr/>
        </p:nvSpPr>
        <p:spPr>
          <a:xfrm>
            <a:off x="6181344" y="2103120"/>
            <a:ext cx="2606040" cy="3566160"/>
          </a:xfrm>
          <a:prstGeom prst="roundRect">
            <a:avLst/>
          </a:prstGeom>
          <a:solidFill>
            <a:srgbClr val="FFFFFF"/>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18504" y="2286000"/>
            <a:ext cx="2331720" cy="731520"/>
          </a:xfrm>
          <a:prstGeom prst="rect">
            <a:avLst/>
          </a:prstGeom>
          <a:noFill/>
        </p:spPr>
        <p:txBody>
          <a:bodyPr wrap="square" anchor="t" lIns="36576" rIns="36576" tIns="18288" bIns="18288">
            <a:spAutoFit/>
          </a:bodyPr>
          <a:lstStyle/>
          <a:p>
            <a:pPr algn="ctr"/>
            <a:r>
              <a:rPr sz="3000" b="1">
                <a:solidFill>
                  <a:srgbClr val="000000"/>
                </a:solidFill>
                <a:latin typeface="Oswald"/>
              </a:rPr>
              <a:t>DRY</a:t>
            </a:r>
          </a:p>
        </p:txBody>
      </p:sp>
      <p:sp>
        <p:nvSpPr>
          <p:cNvPr id="16" name="TextBox 15"/>
          <p:cNvSpPr txBox="1"/>
          <p:nvPr/>
        </p:nvSpPr>
        <p:spPr>
          <a:xfrm>
            <a:off x="6318504" y="3108960"/>
            <a:ext cx="2331720" cy="2377440"/>
          </a:xfrm>
          <a:prstGeom prst="rect">
            <a:avLst/>
          </a:prstGeom>
          <a:noFill/>
        </p:spPr>
        <p:txBody>
          <a:bodyPr wrap="square" anchor="t" lIns="36576" rIns="36576" tIns="18288" bIns="18288">
            <a:spAutoFit/>
          </a:bodyPr>
          <a:lstStyle/>
          <a:p>
            <a:pPr algn="ctr"/>
            <a:r>
              <a:rPr sz="2400" b="0">
                <a:solidFill>
                  <a:srgbClr val="000000"/>
                </a:solidFill>
                <a:latin typeface="Source Sans 3"/>
              </a:rPr>
              <a:t>the original sound</a:t>
            </a:r>
          </a:p>
        </p:txBody>
      </p:sp>
      <p:sp>
        <p:nvSpPr>
          <p:cNvPr id="17" name="Rounded Rectangle 16"/>
          <p:cNvSpPr/>
          <p:nvPr/>
        </p:nvSpPr>
        <p:spPr>
          <a:xfrm>
            <a:off x="8997696" y="2103120"/>
            <a:ext cx="2606040" cy="3566160"/>
          </a:xfrm>
          <a:prstGeom prst="roundRect">
            <a:avLst/>
          </a:prstGeom>
          <a:solidFill>
            <a:srgbClr val="FFFFFF"/>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34856" y="2286000"/>
            <a:ext cx="2331720" cy="731520"/>
          </a:xfrm>
          <a:prstGeom prst="rect">
            <a:avLst/>
          </a:prstGeom>
          <a:noFill/>
        </p:spPr>
        <p:txBody>
          <a:bodyPr wrap="square" anchor="t" lIns="36576" rIns="36576" tIns="18288" bIns="18288">
            <a:spAutoFit/>
          </a:bodyPr>
          <a:lstStyle/>
          <a:p>
            <a:pPr algn="ctr"/>
            <a:r>
              <a:rPr sz="3000" b="1">
                <a:solidFill>
                  <a:srgbClr val="000000"/>
                </a:solidFill>
                <a:latin typeface="Oswald"/>
              </a:rPr>
              <a:t>WET</a:t>
            </a:r>
          </a:p>
        </p:txBody>
      </p:sp>
      <p:sp>
        <p:nvSpPr>
          <p:cNvPr id="19" name="TextBox 18"/>
          <p:cNvSpPr txBox="1"/>
          <p:nvPr/>
        </p:nvSpPr>
        <p:spPr>
          <a:xfrm>
            <a:off x="9134856" y="3108960"/>
            <a:ext cx="2331720" cy="2377440"/>
          </a:xfrm>
          <a:prstGeom prst="rect">
            <a:avLst/>
          </a:prstGeom>
          <a:noFill/>
        </p:spPr>
        <p:txBody>
          <a:bodyPr wrap="square" anchor="t" lIns="36576" rIns="36576" tIns="18288" bIns="18288">
            <a:spAutoFit/>
          </a:bodyPr>
          <a:lstStyle/>
          <a:p>
            <a:pPr algn="ctr"/>
            <a:r>
              <a:rPr sz="2400" b="0">
                <a:solidFill>
                  <a:srgbClr val="000000"/>
                </a:solidFill>
                <a:latin typeface="Source Sans 3"/>
              </a:rPr>
              <a:t>the effect only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TextBox 2"/>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WHAT THE HECK IS A BUS?</a:t>
            </a:r>
          </a:p>
        </p:txBody>
      </p:sp>
      <p:sp>
        <p:nvSpPr>
          <p:cNvPr id="4" name="Rectangle 3"/>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Spooky Tunes · Intro deck · © 2026 Brian Lotze · Hudson Beat</a:t>
            </a:r>
          </a:p>
        </p:txBody>
      </p:sp>
      <p:sp>
        <p:nvSpPr>
          <p:cNvPr id="7" name="TextBox 6"/>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6</a:t>
            </a:r>
          </a:p>
        </p:txBody>
      </p:sp>
      <p:pic>
        <p:nvPicPr>
          <p:cNvPr id="8" name="Picture 7" descr="deck-bus.png"/>
          <p:cNvPicPr>
            <a:picLocks noChangeAspect="1"/>
          </p:cNvPicPr>
          <p:nvPr/>
        </p:nvPicPr>
        <p:blipFill>
          <a:blip r:embed="rId2"/>
          <a:stretch>
            <a:fillRect/>
          </a:stretch>
        </p:blipFill>
        <p:spPr>
          <a:xfrm>
            <a:off x="1252728" y="1783080"/>
            <a:ext cx="9692640" cy="430784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TextBox 2"/>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NEAR OR FAR?</a:t>
            </a:r>
          </a:p>
        </p:txBody>
      </p:sp>
      <p:sp>
        <p:nvSpPr>
          <p:cNvPr id="4" name="Rectangle 3"/>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Spooky Tunes · Intro deck · © 2026 Brian Lotze · Hudson Beat</a:t>
            </a:r>
          </a:p>
        </p:txBody>
      </p:sp>
      <p:sp>
        <p:nvSpPr>
          <p:cNvPr id="7" name="TextBox 6"/>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7</a:t>
            </a:r>
          </a:p>
        </p:txBody>
      </p:sp>
      <p:sp>
        <p:nvSpPr>
          <p:cNvPr id="8" name="Oval 7"/>
          <p:cNvSpPr/>
          <p:nvPr/>
        </p:nvSpPr>
        <p:spPr>
          <a:xfrm>
            <a:off x="548640" y="2148840"/>
            <a:ext cx="146304" cy="146304"/>
          </a:xfrm>
          <a:prstGeom prst="ellipse">
            <a:avLst/>
          </a:prstGeom>
          <a:solidFill>
            <a:srgbClr val="E873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2011680"/>
            <a:ext cx="10698480" cy="609600"/>
          </a:xfrm>
          <a:prstGeom prst="rect">
            <a:avLst/>
          </a:prstGeom>
          <a:noFill/>
        </p:spPr>
        <p:txBody>
          <a:bodyPr wrap="square" anchor="t" lIns="36576" rIns="36576" tIns="18288" bIns="18288">
            <a:spAutoFit/>
          </a:bodyPr>
          <a:lstStyle/>
          <a:p>
            <a:pPr algn="l"/>
            <a:r>
              <a:rPr sz="3000" b="0">
                <a:solidFill>
                  <a:srgbClr val="000000"/>
                </a:solidFill>
                <a:latin typeface="Source Sans 3"/>
              </a:rPr>
              <a:t>Same footstep: reverb send at –30 dB, then at –6 dB</a:t>
            </a:r>
          </a:p>
        </p:txBody>
      </p:sp>
      <p:sp>
        <p:nvSpPr>
          <p:cNvPr id="10" name="Oval 9"/>
          <p:cNvSpPr/>
          <p:nvPr/>
        </p:nvSpPr>
        <p:spPr>
          <a:xfrm>
            <a:off x="548640" y="2815590"/>
            <a:ext cx="146304" cy="146304"/>
          </a:xfrm>
          <a:prstGeom prst="ellipse">
            <a:avLst/>
          </a:prstGeom>
          <a:solidFill>
            <a:srgbClr val="E873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2678430"/>
            <a:ext cx="10698480" cy="609600"/>
          </a:xfrm>
          <a:prstGeom prst="rect">
            <a:avLst/>
          </a:prstGeom>
          <a:noFill/>
        </p:spPr>
        <p:txBody>
          <a:bodyPr wrap="square" anchor="t" lIns="36576" rIns="36576" tIns="18288" bIns="18288">
            <a:spAutoFit/>
          </a:bodyPr>
          <a:lstStyle/>
          <a:p>
            <a:pPr algn="l"/>
            <a:r>
              <a:rPr sz="3000" b="0">
                <a:solidFill>
                  <a:srgbClr val="000000"/>
                </a:solidFill>
                <a:latin typeface="Source Sans 3"/>
              </a:rPr>
              <a:t>Which one sounds closer?</a:t>
            </a:r>
          </a:p>
        </p:txBody>
      </p:sp>
      <p:sp>
        <p:nvSpPr>
          <p:cNvPr id="12" name="Oval 11"/>
          <p:cNvSpPr/>
          <p:nvPr/>
        </p:nvSpPr>
        <p:spPr>
          <a:xfrm>
            <a:off x="548640" y="3482340"/>
            <a:ext cx="146304" cy="146304"/>
          </a:xfrm>
          <a:prstGeom prst="ellipse">
            <a:avLst/>
          </a:prstGeom>
          <a:solidFill>
            <a:srgbClr val="E873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6112" y="3345180"/>
            <a:ext cx="10698480" cy="609600"/>
          </a:xfrm>
          <a:prstGeom prst="rect">
            <a:avLst/>
          </a:prstGeom>
          <a:noFill/>
        </p:spPr>
        <p:txBody>
          <a:bodyPr wrap="square" anchor="t" lIns="36576" rIns="36576" tIns="18288" bIns="18288">
            <a:spAutoFit/>
          </a:bodyPr>
          <a:lstStyle/>
          <a:p>
            <a:pPr algn="l"/>
            <a:r>
              <a:rPr sz="3000" b="0">
                <a:solidFill>
                  <a:srgbClr val="000000"/>
                </a:solidFill>
                <a:latin typeface="Source Sans 3"/>
              </a:rPr>
              <a:t>Which one sounds farther away?</a:t>
            </a:r>
          </a:p>
        </p:txBody>
      </p:sp>
      <p:sp>
        <p:nvSpPr>
          <p:cNvPr id="14" name="Oval 13"/>
          <p:cNvSpPr/>
          <p:nvPr/>
        </p:nvSpPr>
        <p:spPr>
          <a:xfrm>
            <a:off x="548640" y="4149090"/>
            <a:ext cx="146304" cy="146304"/>
          </a:xfrm>
          <a:prstGeom prst="ellipse">
            <a:avLst/>
          </a:prstGeom>
          <a:solidFill>
            <a:srgbClr val="E873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4011930"/>
            <a:ext cx="10698480" cy="609600"/>
          </a:xfrm>
          <a:prstGeom prst="rect">
            <a:avLst/>
          </a:prstGeom>
          <a:noFill/>
        </p:spPr>
        <p:txBody>
          <a:bodyPr wrap="square" anchor="t" lIns="36576" rIns="36576" tIns="18288" bIns="18288">
            <a:spAutoFit/>
          </a:bodyPr>
          <a:lstStyle/>
          <a:p>
            <a:pPr algn="l"/>
            <a:r>
              <a:rPr sz="3000" b="0">
                <a:solidFill>
                  <a:srgbClr val="000000"/>
                </a:solidFill>
                <a:latin typeface="Source Sans 3"/>
              </a:rPr>
              <a:t>Why not just put the reverb on every track?</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TextBox 2"/>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WATCH ME: THE REVERB BUS</a:t>
            </a:r>
          </a:p>
        </p:txBody>
      </p:sp>
      <p:sp>
        <p:nvSpPr>
          <p:cNvPr id="4" name="Rectangle 3"/>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Spooky Tunes · Intro deck · © 2026 Brian Lotze · Hudson Beat</a:t>
            </a:r>
          </a:p>
        </p:txBody>
      </p:sp>
      <p:sp>
        <p:nvSpPr>
          <p:cNvPr id="7" name="TextBox 6"/>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8</a:t>
            </a:r>
          </a:p>
        </p:txBody>
      </p:sp>
      <p:sp>
        <p:nvSpPr>
          <p:cNvPr id="8" name="Oval 7"/>
          <p:cNvSpPr/>
          <p:nvPr/>
        </p:nvSpPr>
        <p:spPr>
          <a:xfrm>
            <a:off x="548640" y="1920239"/>
            <a:ext cx="566928" cy="56692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920239"/>
            <a:ext cx="566928" cy="566928"/>
          </a:xfrm>
          <a:prstGeom prst="rect">
            <a:avLst/>
          </a:prstGeom>
          <a:noFill/>
        </p:spPr>
        <p:txBody>
          <a:bodyPr wrap="square" anchor="ctr" lIns="36576" rIns="36576" tIns="18288" bIns="18288">
            <a:spAutoFit/>
          </a:bodyPr>
          <a:lstStyle/>
          <a:p>
            <a:pPr algn="ctr"/>
            <a:r>
              <a:rPr sz="2400" b="1">
                <a:solidFill>
                  <a:srgbClr val="FFFFFF"/>
                </a:solidFill>
                <a:latin typeface="Oswald"/>
              </a:rPr>
              <a:t>1</a:t>
            </a:r>
          </a:p>
        </p:txBody>
      </p:sp>
      <p:sp>
        <p:nvSpPr>
          <p:cNvPr id="10" name="TextBox 9"/>
          <p:cNvSpPr txBox="1"/>
          <p:nvPr/>
        </p:nvSpPr>
        <p:spPr>
          <a:xfrm>
            <a:off x="1325880" y="1828799"/>
            <a:ext cx="10241280" cy="822960"/>
          </a:xfrm>
          <a:prstGeom prst="rect">
            <a:avLst/>
          </a:prstGeom>
          <a:noFill/>
        </p:spPr>
        <p:txBody>
          <a:bodyPr wrap="square" anchor="ctr" lIns="36576" rIns="36576" tIns="18288" bIns="18288">
            <a:spAutoFit/>
          </a:bodyPr>
          <a:lstStyle/>
          <a:p>
            <a:pPr algn="l"/>
            <a:r>
              <a:rPr sz="2200" b="0">
                <a:solidFill>
                  <a:srgbClr val="000000"/>
                </a:solidFill>
                <a:latin typeface="Source Sans 3"/>
              </a:rPr>
              <a:t>Mixer (X): on a track, click an empty Send slot, choose Bus 1</a:t>
            </a:r>
          </a:p>
        </p:txBody>
      </p:sp>
      <p:sp>
        <p:nvSpPr>
          <p:cNvPr id="11" name="Oval 10"/>
          <p:cNvSpPr/>
          <p:nvPr/>
        </p:nvSpPr>
        <p:spPr>
          <a:xfrm>
            <a:off x="548640" y="2788920"/>
            <a:ext cx="566928" cy="56692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2788920"/>
            <a:ext cx="566928" cy="566928"/>
          </a:xfrm>
          <a:prstGeom prst="rect">
            <a:avLst/>
          </a:prstGeom>
          <a:noFill/>
        </p:spPr>
        <p:txBody>
          <a:bodyPr wrap="square" anchor="ctr" lIns="36576" rIns="36576" tIns="18288" bIns="18288">
            <a:spAutoFit/>
          </a:bodyPr>
          <a:lstStyle/>
          <a:p>
            <a:pPr algn="ctr"/>
            <a:r>
              <a:rPr sz="2400" b="1">
                <a:solidFill>
                  <a:srgbClr val="FFFFFF"/>
                </a:solidFill>
                <a:latin typeface="Oswald"/>
              </a:rPr>
              <a:t>2</a:t>
            </a:r>
          </a:p>
        </p:txBody>
      </p:sp>
      <p:sp>
        <p:nvSpPr>
          <p:cNvPr id="13" name="TextBox 12"/>
          <p:cNvSpPr txBox="1"/>
          <p:nvPr/>
        </p:nvSpPr>
        <p:spPr>
          <a:xfrm>
            <a:off x="1325880" y="2697480"/>
            <a:ext cx="10241280" cy="822960"/>
          </a:xfrm>
          <a:prstGeom prst="rect">
            <a:avLst/>
          </a:prstGeom>
          <a:noFill/>
        </p:spPr>
        <p:txBody>
          <a:bodyPr wrap="square" anchor="ctr" lIns="36576" rIns="36576" tIns="18288" bIns="18288">
            <a:spAutoFit/>
          </a:bodyPr>
          <a:lstStyle/>
          <a:p>
            <a:pPr algn="l"/>
            <a:r>
              <a:rPr sz="2200" b="0">
                <a:solidFill>
                  <a:srgbClr val="000000"/>
                </a:solidFill>
                <a:latin typeface="Source Sans 3"/>
              </a:rPr>
              <a:t>Logic creates an Aux channel. Name it REVERB BUS</a:t>
            </a:r>
          </a:p>
        </p:txBody>
      </p:sp>
      <p:sp>
        <p:nvSpPr>
          <p:cNvPr id="14" name="Oval 13"/>
          <p:cNvSpPr/>
          <p:nvPr/>
        </p:nvSpPr>
        <p:spPr>
          <a:xfrm>
            <a:off x="548640" y="3657599"/>
            <a:ext cx="566928" cy="56692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8640" y="3657599"/>
            <a:ext cx="566928" cy="566928"/>
          </a:xfrm>
          <a:prstGeom prst="rect">
            <a:avLst/>
          </a:prstGeom>
          <a:noFill/>
        </p:spPr>
        <p:txBody>
          <a:bodyPr wrap="square" anchor="ctr" lIns="36576" rIns="36576" tIns="18288" bIns="18288">
            <a:spAutoFit/>
          </a:bodyPr>
          <a:lstStyle/>
          <a:p>
            <a:pPr algn="ctr"/>
            <a:r>
              <a:rPr sz="2400" b="1">
                <a:solidFill>
                  <a:srgbClr val="FFFFFF"/>
                </a:solidFill>
                <a:latin typeface="Oswald"/>
              </a:rPr>
              <a:t>3</a:t>
            </a:r>
          </a:p>
        </p:txBody>
      </p:sp>
      <p:sp>
        <p:nvSpPr>
          <p:cNvPr id="16" name="TextBox 15"/>
          <p:cNvSpPr txBox="1"/>
          <p:nvPr/>
        </p:nvSpPr>
        <p:spPr>
          <a:xfrm>
            <a:off x="1325880" y="3566160"/>
            <a:ext cx="10241280" cy="822960"/>
          </a:xfrm>
          <a:prstGeom prst="rect">
            <a:avLst/>
          </a:prstGeom>
          <a:noFill/>
        </p:spPr>
        <p:txBody>
          <a:bodyPr wrap="square" anchor="ctr" lIns="36576" rIns="36576" tIns="18288" bIns="18288">
            <a:spAutoFit/>
          </a:bodyPr>
          <a:lstStyle/>
          <a:p>
            <a:pPr algn="l"/>
            <a:r>
              <a:rPr sz="2200" b="0">
                <a:solidFill>
                  <a:srgbClr val="000000"/>
                </a:solidFill>
                <a:latin typeface="Source Sans 3"/>
              </a:rPr>
              <a:t>On the Aux insert: Reverb › Space Designer, a large-space preset</a:t>
            </a:r>
          </a:p>
        </p:txBody>
      </p:sp>
      <p:sp>
        <p:nvSpPr>
          <p:cNvPr id="17" name="Oval 16"/>
          <p:cNvSpPr/>
          <p:nvPr/>
        </p:nvSpPr>
        <p:spPr>
          <a:xfrm>
            <a:off x="548640" y="4526279"/>
            <a:ext cx="566928" cy="56692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8640" y="4526279"/>
            <a:ext cx="566928" cy="566928"/>
          </a:xfrm>
          <a:prstGeom prst="rect">
            <a:avLst/>
          </a:prstGeom>
          <a:noFill/>
        </p:spPr>
        <p:txBody>
          <a:bodyPr wrap="square" anchor="ctr" lIns="36576" rIns="36576" tIns="18288" bIns="18288">
            <a:spAutoFit/>
          </a:bodyPr>
          <a:lstStyle/>
          <a:p>
            <a:pPr algn="ctr"/>
            <a:r>
              <a:rPr sz="2400" b="1">
                <a:solidFill>
                  <a:srgbClr val="FFFFFF"/>
                </a:solidFill>
                <a:latin typeface="Oswald"/>
              </a:rPr>
              <a:t>4</a:t>
            </a:r>
          </a:p>
        </p:txBody>
      </p:sp>
      <p:sp>
        <p:nvSpPr>
          <p:cNvPr id="19" name="TextBox 18"/>
          <p:cNvSpPr txBox="1"/>
          <p:nvPr/>
        </p:nvSpPr>
        <p:spPr>
          <a:xfrm>
            <a:off x="1325880" y="4434840"/>
            <a:ext cx="10241280" cy="822960"/>
          </a:xfrm>
          <a:prstGeom prst="rect">
            <a:avLst/>
          </a:prstGeom>
          <a:noFill/>
        </p:spPr>
        <p:txBody>
          <a:bodyPr wrap="square" anchor="ctr" lIns="36576" rIns="36576" tIns="18288" bIns="18288">
            <a:spAutoFit/>
          </a:bodyPr>
          <a:lstStyle/>
          <a:p>
            <a:pPr algn="l"/>
            <a:r>
              <a:rPr sz="2200" b="0">
                <a:solidFill>
                  <a:srgbClr val="000000"/>
                </a:solidFill>
                <a:latin typeface="Source Sans 3"/>
              </a:rPr>
              <a:t>In Space Designer: Dry 0%, Wet 100%</a:t>
            </a:r>
          </a:p>
        </p:txBody>
      </p:sp>
      <p:sp>
        <p:nvSpPr>
          <p:cNvPr id="20" name="Oval 19"/>
          <p:cNvSpPr/>
          <p:nvPr/>
        </p:nvSpPr>
        <p:spPr>
          <a:xfrm>
            <a:off x="548640" y="5394959"/>
            <a:ext cx="566928" cy="56692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48640" y="5394959"/>
            <a:ext cx="566928" cy="566928"/>
          </a:xfrm>
          <a:prstGeom prst="rect">
            <a:avLst/>
          </a:prstGeom>
          <a:noFill/>
        </p:spPr>
        <p:txBody>
          <a:bodyPr wrap="square" anchor="ctr" lIns="36576" rIns="36576" tIns="18288" bIns="18288">
            <a:spAutoFit/>
          </a:bodyPr>
          <a:lstStyle/>
          <a:p>
            <a:pPr algn="ctr"/>
            <a:r>
              <a:rPr sz="2400" b="1">
                <a:solidFill>
                  <a:srgbClr val="FFFFFF"/>
                </a:solidFill>
                <a:latin typeface="Oswald"/>
              </a:rPr>
              <a:t>5</a:t>
            </a:r>
          </a:p>
        </p:txBody>
      </p:sp>
      <p:sp>
        <p:nvSpPr>
          <p:cNvPr id="22" name="TextBox 21"/>
          <p:cNvSpPr txBox="1"/>
          <p:nvPr/>
        </p:nvSpPr>
        <p:spPr>
          <a:xfrm>
            <a:off x="1325880" y="5303520"/>
            <a:ext cx="10241280" cy="822960"/>
          </a:xfrm>
          <a:prstGeom prst="rect">
            <a:avLst/>
          </a:prstGeom>
          <a:noFill/>
        </p:spPr>
        <p:txBody>
          <a:bodyPr wrap="square" anchor="ctr" lIns="36576" rIns="36576" tIns="18288" bIns="18288">
            <a:spAutoFit/>
          </a:bodyPr>
          <a:lstStyle/>
          <a:p>
            <a:pPr algn="l"/>
            <a:r>
              <a:rPr sz="2200" b="0">
                <a:solidFill>
                  <a:srgbClr val="000000"/>
                </a:solidFill>
                <a:latin typeface="Source Sans 3"/>
              </a:rPr>
              <a:t>Raise the track’s send (start around –15 dB), then send 2 more tracks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TextBox 2"/>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THEN THE DELAY BUS</a:t>
            </a:r>
          </a:p>
        </p:txBody>
      </p:sp>
      <p:sp>
        <p:nvSpPr>
          <p:cNvPr id="4" name="Rectangle 3"/>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Spooky Tunes · Intro deck · © 2026 Brian Lotze · Hudson Beat</a:t>
            </a:r>
          </a:p>
        </p:txBody>
      </p:sp>
      <p:sp>
        <p:nvSpPr>
          <p:cNvPr id="7" name="TextBox 6"/>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9</a:t>
            </a:r>
          </a:p>
        </p:txBody>
      </p:sp>
      <p:sp>
        <p:nvSpPr>
          <p:cNvPr id="8" name="Oval 7"/>
          <p:cNvSpPr/>
          <p:nvPr/>
        </p:nvSpPr>
        <p:spPr>
          <a:xfrm>
            <a:off x="548640" y="1920239"/>
            <a:ext cx="566928" cy="56692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920239"/>
            <a:ext cx="566928" cy="566928"/>
          </a:xfrm>
          <a:prstGeom prst="rect">
            <a:avLst/>
          </a:prstGeom>
          <a:noFill/>
        </p:spPr>
        <p:txBody>
          <a:bodyPr wrap="square" anchor="ctr" lIns="36576" rIns="36576" tIns="18288" bIns="18288">
            <a:spAutoFit/>
          </a:bodyPr>
          <a:lstStyle/>
          <a:p>
            <a:pPr algn="ctr"/>
            <a:r>
              <a:rPr sz="2400" b="1">
                <a:solidFill>
                  <a:srgbClr val="FFFFFF"/>
                </a:solidFill>
                <a:latin typeface="Oswald"/>
              </a:rPr>
              <a:t>1</a:t>
            </a:r>
          </a:p>
        </p:txBody>
      </p:sp>
      <p:sp>
        <p:nvSpPr>
          <p:cNvPr id="10" name="TextBox 9"/>
          <p:cNvSpPr txBox="1"/>
          <p:nvPr/>
        </p:nvSpPr>
        <p:spPr>
          <a:xfrm>
            <a:off x="1325880" y="1828799"/>
            <a:ext cx="10241280" cy="822960"/>
          </a:xfrm>
          <a:prstGeom prst="rect">
            <a:avLst/>
          </a:prstGeom>
          <a:noFill/>
        </p:spPr>
        <p:txBody>
          <a:bodyPr wrap="square" anchor="ctr" lIns="36576" rIns="36576" tIns="18288" bIns="18288">
            <a:spAutoFit/>
          </a:bodyPr>
          <a:lstStyle/>
          <a:p>
            <a:pPr algn="l"/>
            <a:r>
              <a:rPr sz="2200" b="0">
                <a:solidFill>
                  <a:srgbClr val="000000"/>
                </a:solidFill>
                <a:latin typeface="Source Sans 3"/>
              </a:rPr>
              <a:t>On a track, click an empty Send slot, choose Bus 2</a:t>
            </a:r>
          </a:p>
        </p:txBody>
      </p:sp>
      <p:sp>
        <p:nvSpPr>
          <p:cNvPr id="11" name="Oval 10"/>
          <p:cNvSpPr/>
          <p:nvPr/>
        </p:nvSpPr>
        <p:spPr>
          <a:xfrm>
            <a:off x="548640" y="2788920"/>
            <a:ext cx="566928" cy="56692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2788920"/>
            <a:ext cx="566928" cy="566928"/>
          </a:xfrm>
          <a:prstGeom prst="rect">
            <a:avLst/>
          </a:prstGeom>
          <a:noFill/>
        </p:spPr>
        <p:txBody>
          <a:bodyPr wrap="square" anchor="ctr" lIns="36576" rIns="36576" tIns="18288" bIns="18288">
            <a:spAutoFit/>
          </a:bodyPr>
          <a:lstStyle/>
          <a:p>
            <a:pPr algn="ctr"/>
            <a:r>
              <a:rPr sz="2400" b="1">
                <a:solidFill>
                  <a:srgbClr val="FFFFFF"/>
                </a:solidFill>
                <a:latin typeface="Oswald"/>
              </a:rPr>
              <a:t>2</a:t>
            </a:r>
          </a:p>
        </p:txBody>
      </p:sp>
      <p:sp>
        <p:nvSpPr>
          <p:cNvPr id="13" name="TextBox 12"/>
          <p:cNvSpPr txBox="1"/>
          <p:nvPr/>
        </p:nvSpPr>
        <p:spPr>
          <a:xfrm>
            <a:off x="1325880" y="2697480"/>
            <a:ext cx="10241280" cy="822960"/>
          </a:xfrm>
          <a:prstGeom prst="rect">
            <a:avLst/>
          </a:prstGeom>
          <a:noFill/>
        </p:spPr>
        <p:txBody>
          <a:bodyPr wrap="square" anchor="ctr" lIns="36576" rIns="36576" tIns="18288" bIns="18288">
            <a:spAutoFit/>
          </a:bodyPr>
          <a:lstStyle/>
          <a:p>
            <a:pPr algn="l"/>
            <a:r>
              <a:rPr sz="2200" b="0">
                <a:solidFill>
                  <a:srgbClr val="000000"/>
                </a:solidFill>
                <a:latin typeface="Source Sans 3"/>
              </a:rPr>
              <a:t>On the new Aux: Delay › Tape Delay. Name it DELAY BUS</a:t>
            </a:r>
          </a:p>
        </p:txBody>
      </p:sp>
      <p:sp>
        <p:nvSpPr>
          <p:cNvPr id="14" name="Oval 13"/>
          <p:cNvSpPr/>
          <p:nvPr/>
        </p:nvSpPr>
        <p:spPr>
          <a:xfrm>
            <a:off x="548640" y="3657599"/>
            <a:ext cx="566928" cy="56692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8640" y="3657599"/>
            <a:ext cx="566928" cy="566928"/>
          </a:xfrm>
          <a:prstGeom prst="rect">
            <a:avLst/>
          </a:prstGeom>
          <a:noFill/>
        </p:spPr>
        <p:txBody>
          <a:bodyPr wrap="square" anchor="ctr" lIns="36576" rIns="36576" tIns="18288" bIns="18288">
            <a:spAutoFit/>
          </a:bodyPr>
          <a:lstStyle/>
          <a:p>
            <a:pPr algn="ctr"/>
            <a:r>
              <a:rPr sz="2400" b="1">
                <a:solidFill>
                  <a:srgbClr val="FFFFFF"/>
                </a:solidFill>
                <a:latin typeface="Oswald"/>
              </a:rPr>
              <a:t>3</a:t>
            </a:r>
          </a:p>
        </p:txBody>
      </p:sp>
      <p:sp>
        <p:nvSpPr>
          <p:cNvPr id="16" name="TextBox 15"/>
          <p:cNvSpPr txBox="1"/>
          <p:nvPr/>
        </p:nvSpPr>
        <p:spPr>
          <a:xfrm>
            <a:off x="1325880" y="3566160"/>
            <a:ext cx="10241280" cy="822960"/>
          </a:xfrm>
          <a:prstGeom prst="rect">
            <a:avLst/>
          </a:prstGeom>
          <a:noFill/>
        </p:spPr>
        <p:txBody>
          <a:bodyPr wrap="square" anchor="ctr" lIns="36576" rIns="36576" tIns="18288" bIns="18288">
            <a:spAutoFit/>
          </a:bodyPr>
          <a:lstStyle/>
          <a:p>
            <a:pPr algn="l"/>
            <a:r>
              <a:rPr sz="2200" b="0">
                <a:solidFill>
                  <a:srgbClr val="000000"/>
                </a:solidFill>
                <a:latin typeface="Source Sans 3"/>
              </a:rPr>
              <a:t>Tape Delay: Dry 0%, Wet 100%</a:t>
            </a:r>
          </a:p>
        </p:txBody>
      </p:sp>
      <p:sp>
        <p:nvSpPr>
          <p:cNvPr id="17" name="Oval 16"/>
          <p:cNvSpPr/>
          <p:nvPr/>
        </p:nvSpPr>
        <p:spPr>
          <a:xfrm>
            <a:off x="548640" y="4526279"/>
            <a:ext cx="566928" cy="56692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8640" y="4526279"/>
            <a:ext cx="566928" cy="566928"/>
          </a:xfrm>
          <a:prstGeom prst="rect">
            <a:avLst/>
          </a:prstGeom>
          <a:noFill/>
        </p:spPr>
        <p:txBody>
          <a:bodyPr wrap="square" anchor="ctr" lIns="36576" rIns="36576" tIns="18288" bIns="18288">
            <a:spAutoFit/>
          </a:bodyPr>
          <a:lstStyle/>
          <a:p>
            <a:pPr algn="ctr"/>
            <a:r>
              <a:rPr sz="2400" b="1">
                <a:solidFill>
                  <a:srgbClr val="FFFFFF"/>
                </a:solidFill>
                <a:latin typeface="Oswald"/>
              </a:rPr>
              <a:t>4</a:t>
            </a:r>
          </a:p>
        </p:txBody>
      </p:sp>
      <p:sp>
        <p:nvSpPr>
          <p:cNvPr id="19" name="TextBox 18"/>
          <p:cNvSpPr txBox="1"/>
          <p:nvPr/>
        </p:nvSpPr>
        <p:spPr>
          <a:xfrm>
            <a:off x="1325880" y="4434840"/>
            <a:ext cx="10241280" cy="822960"/>
          </a:xfrm>
          <a:prstGeom prst="rect">
            <a:avLst/>
          </a:prstGeom>
          <a:noFill/>
        </p:spPr>
        <p:txBody>
          <a:bodyPr wrap="square" anchor="ctr" lIns="36576" rIns="36576" tIns="18288" bIns="18288">
            <a:spAutoFit/>
          </a:bodyPr>
          <a:lstStyle/>
          <a:p>
            <a:pPr algn="l"/>
            <a:r>
              <a:rPr sz="2200" b="0">
                <a:solidFill>
                  <a:srgbClr val="000000"/>
                </a:solidFill>
                <a:latin typeface="Source Sans 3"/>
              </a:rPr>
              <a:t>Send lower than the reverb: try –20 to –25 dB</a:t>
            </a:r>
          </a:p>
        </p:txBody>
      </p:sp>
      <p:sp>
        <p:nvSpPr>
          <p:cNvPr id="20" name="Oval 19"/>
          <p:cNvSpPr/>
          <p:nvPr/>
        </p:nvSpPr>
        <p:spPr>
          <a:xfrm>
            <a:off x="548640" y="5394959"/>
            <a:ext cx="566928" cy="56692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48640" y="5394959"/>
            <a:ext cx="566928" cy="566928"/>
          </a:xfrm>
          <a:prstGeom prst="rect">
            <a:avLst/>
          </a:prstGeom>
          <a:noFill/>
        </p:spPr>
        <p:txBody>
          <a:bodyPr wrap="square" anchor="ctr" lIns="36576" rIns="36576" tIns="18288" bIns="18288">
            <a:spAutoFit/>
          </a:bodyPr>
          <a:lstStyle/>
          <a:p>
            <a:pPr algn="ctr"/>
            <a:r>
              <a:rPr sz="2400" b="1">
                <a:solidFill>
                  <a:srgbClr val="FFFFFF"/>
                </a:solidFill>
                <a:latin typeface="Oswald"/>
              </a:rPr>
              <a:t>5</a:t>
            </a:r>
          </a:p>
        </p:txBody>
      </p:sp>
      <p:sp>
        <p:nvSpPr>
          <p:cNvPr id="22" name="TextBox 21"/>
          <p:cNvSpPr txBox="1"/>
          <p:nvPr/>
        </p:nvSpPr>
        <p:spPr>
          <a:xfrm>
            <a:off x="1325880" y="5303520"/>
            <a:ext cx="10241280" cy="822960"/>
          </a:xfrm>
          <a:prstGeom prst="rect">
            <a:avLst/>
          </a:prstGeom>
          <a:noFill/>
        </p:spPr>
        <p:txBody>
          <a:bodyPr wrap="square" anchor="ctr" lIns="36576" rIns="36576" tIns="18288" bIns="18288">
            <a:spAutoFit/>
          </a:bodyPr>
          <a:lstStyle/>
          <a:p>
            <a:pPr algn="l"/>
            <a:r>
              <a:rPr sz="2200" b="0">
                <a:solidFill>
                  <a:srgbClr val="000000"/>
                </a:solidFill>
                <a:latin typeface="Source Sans 3"/>
              </a:rPr>
              <a:t>Long time (600–900 ms) + more feedback = eerie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TextBox 2"/>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OPTIONAL: TRY A MINOR KEY</a:t>
            </a:r>
          </a:p>
        </p:txBody>
      </p:sp>
      <p:sp>
        <p:nvSpPr>
          <p:cNvPr id="4" name="Rectangle 3"/>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Spooky Tunes · Intro deck · © 2026 Brian Lotze · Hudson Beat</a:t>
            </a:r>
          </a:p>
        </p:txBody>
      </p:sp>
      <p:sp>
        <p:nvSpPr>
          <p:cNvPr id="7" name="TextBox 6"/>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10</a:t>
            </a:r>
          </a:p>
        </p:txBody>
      </p:sp>
      <p:pic>
        <p:nvPicPr>
          <p:cNvPr id="8" name="Picture 7" descr="deck-keys.png"/>
          <p:cNvPicPr>
            <a:picLocks noChangeAspect="1"/>
          </p:cNvPicPr>
          <p:nvPr/>
        </p:nvPicPr>
        <p:blipFill>
          <a:blip r:embed="rId2"/>
          <a:stretch>
            <a:fillRect/>
          </a:stretch>
        </p:blipFill>
        <p:spPr>
          <a:xfrm>
            <a:off x="548640" y="1828800"/>
            <a:ext cx="11091672" cy="4436669"/>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TextBox 2"/>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WORKED EXAMPLE: SCORING THE WOODS</a:t>
            </a:r>
          </a:p>
        </p:txBody>
      </p:sp>
      <p:sp>
        <p:nvSpPr>
          <p:cNvPr id="4" name="Rectangle 3"/>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Spooky Tunes · Intro deck · © 2026 Brian Lotze · Hudson Beat</a:t>
            </a:r>
          </a:p>
        </p:txBody>
      </p:sp>
      <p:sp>
        <p:nvSpPr>
          <p:cNvPr id="7" name="TextBox 6"/>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11</a:t>
            </a:r>
          </a:p>
        </p:txBody>
      </p:sp>
      <p:pic>
        <p:nvPicPr>
          <p:cNvPr id="8" name="Picture 7" descr="deck-score.png"/>
          <p:cNvPicPr>
            <a:picLocks noChangeAspect="1"/>
          </p:cNvPicPr>
          <p:nvPr/>
        </p:nvPicPr>
        <p:blipFill>
          <a:blip r:embed="rId2"/>
          <a:stretch>
            <a:fillRect/>
          </a:stretch>
        </p:blipFill>
        <p:spPr>
          <a:xfrm>
            <a:off x="548640" y="1828800"/>
            <a:ext cx="11091672" cy="3771168"/>
          </a:xfrm>
          <a:prstGeom prst="rect">
            <a:avLst/>
          </a:prstGeom>
        </p:spPr>
      </p:pic>
      <p:sp>
        <p:nvSpPr>
          <p:cNvPr id="9" name="TextBox 8"/>
          <p:cNvSpPr txBox="1"/>
          <p:nvPr/>
        </p:nvSpPr>
        <p:spPr>
          <a:xfrm>
            <a:off x="548640" y="5737128"/>
            <a:ext cx="11064240" cy="457200"/>
          </a:xfrm>
          <a:prstGeom prst="rect">
            <a:avLst/>
          </a:prstGeom>
          <a:noFill/>
        </p:spPr>
        <p:txBody>
          <a:bodyPr wrap="square" anchor="t" lIns="36576" rIns="36576" tIns="18288" bIns="18288">
            <a:spAutoFit/>
          </a:bodyPr>
          <a:lstStyle/>
          <a:p>
            <a:pPr algn="l"/>
            <a:r>
              <a:rPr sz="1700" b="0">
                <a:solidFill>
                  <a:srgbClr val="000000"/>
                </a:solidFill>
                <a:latin typeface="Source Sans 3"/>
              </a:rPr>
              <a:t>32 measures at 128 BPM = 60 seconds. Every 4 measures = 7.5 seconds. Numbers = moments in the video.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TextBox 2"/>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YOUR PROJECT: SPOOKY TUNES</a:t>
            </a:r>
          </a:p>
        </p:txBody>
      </p:sp>
      <p:sp>
        <p:nvSpPr>
          <p:cNvPr id="4" name="Rectangle 3"/>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Spooky Tunes · Intro deck · © 2026 Brian Lotze · Hudson Beat</a:t>
            </a:r>
          </a:p>
        </p:txBody>
      </p:sp>
      <p:sp>
        <p:nvSpPr>
          <p:cNvPr id="7" name="TextBox 6"/>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12</a:t>
            </a:r>
          </a:p>
        </p:txBody>
      </p:sp>
      <p:sp>
        <p:nvSpPr>
          <p:cNvPr id="8" name="Oval 7"/>
          <p:cNvSpPr/>
          <p:nvPr/>
        </p:nvSpPr>
        <p:spPr>
          <a:xfrm>
            <a:off x="548640" y="2148840"/>
            <a:ext cx="146304" cy="146304"/>
          </a:xfrm>
          <a:prstGeom prst="ellipse">
            <a:avLst/>
          </a:prstGeom>
          <a:solidFill>
            <a:srgbClr val="E873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2011680"/>
            <a:ext cx="10698480" cy="609600"/>
          </a:xfrm>
          <a:prstGeom prst="rect">
            <a:avLst/>
          </a:prstGeom>
          <a:noFill/>
        </p:spPr>
        <p:txBody>
          <a:bodyPr wrap="square" anchor="t" lIns="36576" rIns="36576" tIns="18288" bIns="18288">
            <a:spAutoFit/>
          </a:bodyPr>
          <a:lstStyle/>
          <a:p>
            <a:pPr algn="l"/>
            <a:r>
              <a:rPr sz="3000" b="0">
                <a:solidFill>
                  <a:srgbClr val="000000"/>
                </a:solidFill>
                <a:latin typeface="Source Sans 3"/>
              </a:rPr>
              <a:t>Score a one-minute woods video</a:t>
            </a:r>
          </a:p>
        </p:txBody>
      </p:sp>
      <p:sp>
        <p:nvSpPr>
          <p:cNvPr id="10" name="Oval 9"/>
          <p:cNvSpPr/>
          <p:nvPr/>
        </p:nvSpPr>
        <p:spPr>
          <a:xfrm>
            <a:off x="548640" y="2815590"/>
            <a:ext cx="146304" cy="146304"/>
          </a:xfrm>
          <a:prstGeom prst="ellipse">
            <a:avLst/>
          </a:prstGeom>
          <a:solidFill>
            <a:srgbClr val="E873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2678430"/>
            <a:ext cx="10698480" cy="609600"/>
          </a:xfrm>
          <a:prstGeom prst="rect">
            <a:avLst/>
          </a:prstGeom>
          <a:noFill/>
        </p:spPr>
        <p:txBody>
          <a:bodyPr wrap="square" anchor="t" lIns="36576" rIns="36576" tIns="18288" bIns="18288">
            <a:spAutoFit/>
          </a:bodyPr>
          <a:lstStyle/>
          <a:p>
            <a:pPr algn="l"/>
            <a:r>
              <a:rPr sz="3000" b="0">
                <a:solidFill>
                  <a:srgbClr val="000000"/>
                </a:solidFill>
                <a:latin typeface="Source Sans 3"/>
              </a:rPr>
              <a:t>32 measures: any key, or none</a:t>
            </a:r>
          </a:p>
        </p:txBody>
      </p:sp>
      <p:sp>
        <p:nvSpPr>
          <p:cNvPr id="12" name="Oval 11"/>
          <p:cNvSpPr/>
          <p:nvPr/>
        </p:nvSpPr>
        <p:spPr>
          <a:xfrm>
            <a:off x="548640" y="3482340"/>
            <a:ext cx="146304" cy="146304"/>
          </a:xfrm>
          <a:prstGeom prst="ellipse">
            <a:avLst/>
          </a:prstGeom>
          <a:solidFill>
            <a:srgbClr val="E873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6112" y="3345180"/>
            <a:ext cx="10698480" cy="609600"/>
          </a:xfrm>
          <a:prstGeom prst="rect">
            <a:avLst/>
          </a:prstGeom>
          <a:noFill/>
        </p:spPr>
        <p:txBody>
          <a:bodyPr wrap="square" anchor="t" lIns="36576" rIns="36576" tIns="18288" bIns="18288">
            <a:spAutoFit/>
          </a:bodyPr>
          <a:lstStyle/>
          <a:p>
            <a:pPr algn="l"/>
            <a:r>
              <a:rPr sz="3000" b="0">
                <a:solidFill>
                  <a:srgbClr val="000000"/>
                </a:solidFill>
                <a:latin typeface="Source Sans 3"/>
              </a:rPr>
              <a:t>A reverb bus and a delay bus</a:t>
            </a:r>
          </a:p>
        </p:txBody>
      </p:sp>
      <p:sp>
        <p:nvSpPr>
          <p:cNvPr id="14" name="Oval 13"/>
          <p:cNvSpPr/>
          <p:nvPr/>
        </p:nvSpPr>
        <p:spPr>
          <a:xfrm>
            <a:off x="548640" y="4149090"/>
            <a:ext cx="146304" cy="146304"/>
          </a:xfrm>
          <a:prstGeom prst="ellipse">
            <a:avLst/>
          </a:prstGeom>
          <a:solidFill>
            <a:srgbClr val="E873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4011930"/>
            <a:ext cx="10698480" cy="609600"/>
          </a:xfrm>
          <a:prstGeom prst="rect">
            <a:avLst/>
          </a:prstGeom>
          <a:noFill/>
        </p:spPr>
        <p:txBody>
          <a:bodyPr wrap="square" anchor="t" lIns="36576" rIns="36576" tIns="18288" bIns="18288">
            <a:spAutoFit/>
          </a:bodyPr>
          <a:lstStyle/>
          <a:p>
            <a:pPr algn="l"/>
            <a:r>
              <a:rPr sz="3000" b="0">
                <a:solidFill>
                  <a:srgbClr val="000000"/>
                </a:solidFill>
                <a:latin typeface="Source Sans 3"/>
              </a:rPr>
              <a:t>5+ sound sources: the Logic library, your own recording, a free download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TextBox 2"/>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THE STEPS</a:t>
            </a:r>
          </a:p>
        </p:txBody>
      </p:sp>
      <p:sp>
        <p:nvSpPr>
          <p:cNvPr id="4" name="Rectangle 3"/>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Spooky Tunes · Intro deck · © 2026 Brian Lotze · Hudson Beat</a:t>
            </a:r>
          </a:p>
        </p:txBody>
      </p:sp>
      <p:sp>
        <p:nvSpPr>
          <p:cNvPr id="7" name="TextBox 6"/>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13</a:t>
            </a:r>
          </a:p>
        </p:txBody>
      </p:sp>
      <p:sp>
        <p:nvSpPr>
          <p:cNvPr id="8" name="Rounded Rectangle 7"/>
          <p:cNvSpPr/>
          <p:nvPr/>
        </p:nvSpPr>
        <p:spPr>
          <a:xfrm>
            <a:off x="548640" y="1828800"/>
            <a:ext cx="1325880" cy="548640"/>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828800"/>
            <a:ext cx="1325880" cy="548640"/>
          </a:xfrm>
          <a:prstGeom prst="rect">
            <a:avLst/>
          </a:prstGeom>
          <a:noFill/>
        </p:spPr>
        <p:txBody>
          <a:bodyPr wrap="square" anchor="ctr" lIns="36576" rIns="36576" tIns="18288" bIns="18288">
            <a:spAutoFit/>
          </a:bodyPr>
          <a:lstStyle/>
          <a:p>
            <a:pPr algn="ctr"/>
            <a:r>
              <a:rPr sz="2000" b="1">
                <a:solidFill>
                  <a:srgbClr val="FFFFFF"/>
                </a:solidFill>
                <a:latin typeface="Oswald"/>
              </a:rPr>
              <a:t>DAY 1</a:t>
            </a:r>
          </a:p>
        </p:txBody>
      </p:sp>
      <p:sp>
        <p:nvSpPr>
          <p:cNvPr id="10" name="TextBox 9"/>
          <p:cNvSpPr txBox="1"/>
          <p:nvPr/>
        </p:nvSpPr>
        <p:spPr>
          <a:xfrm>
            <a:off x="2057400" y="1828800"/>
            <a:ext cx="9509760" cy="548640"/>
          </a:xfrm>
          <a:prstGeom prst="rect">
            <a:avLst/>
          </a:prstGeom>
          <a:noFill/>
        </p:spPr>
        <p:txBody>
          <a:bodyPr wrap="square" anchor="ctr" lIns="36576" rIns="36576" tIns="18288" bIns="18288">
            <a:spAutoFit/>
          </a:bodyPr>
          <a:lstStyle/>
          <a:p>
            <a:pPr algn="l"/>
            <a:r>
              <a:rPr sz="2400" b="0">
                <a:solidFill>
                  <a:srgbClr val="000000"/>
                </a:solidFill>
                <a:latin typeface="Source Sans 3"/>
              </a:rPr>
              <a:t>Bus demo · your reverb bus working</a:t>
            </a:r>
          </a:p>
        </p:txBody>
      </p:sp>
      <p:sp>
        <p:nvSpPr>
          <p:cNvPr id="11" name="Rounded Rectangle 10"/>
          <p:cNvSpPr/>
          <p:nvPr/>
        </p:nvSpPr>
        <p:spPr>
          <a:xfrm>
            <a:off x="548640" y="2542032"/>
            <a:ext cx="1325880" cy="548640"/>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2542032"/>
            <a:ext cx="1325880" cy="548640"/>
          </a:xfrm>
          <a:prstGeom prst="rect">
            <a:avLst/>
          </a:prstGeom>
          <a:noFill/>
        </p:spPr>
        <p:txBody>
          <a:bodyPr wrap="square" anchor="ctr" lIns="36576" rIns="36576" tIns="18288" bIns="18288">
            <a:spAutoFit/>
          </a:bodyPr>
          <a:lstStyle/>
          <a:p>
            <a:pPr algn="ctr"/>
            <a:r>
              <a:rPr sz="2000" b="1">
                <a:solidFill>
                  <a:srgbClr val="FFFFFF"/>
                </a:solidFill>
                <a:latin typeface="Oswald"/>
              </a:rPr>
              <a:t>DAY 2</a:t>
            </a:r>
          </a:p>
        </p:txBody>
      </p:sp>
      <p:sp>
        <p:nvSpPr>
          <p:cNvPr id="13" name="TextBox 12"/>
          <p:cNvSpPr txBox="1"/>
          <p:nvPr/>
        </p:nvSpPr>
        <p:spPr>
          <a:xfrm>
            <a:off x="2057400" y="2542032"/>
            <a:ext cx="9509760" cy="548640"/>
          </a:xfrm>
          <a:prstGeom prst="rect">
            <a:avLst/>
          </a:prstGeom>
          <a:noFill/>
        </p:spPr>
        <p:txBody>
          <a:bodyPr wrap="square" anchor="ctr" lIns="36576" rIns="36576" tIns="18288" bIns="18288">
            <a:spAutoFit/>
          </a:bodyPr>
          <a:lstStyle/>
          <a:p>
            <a:pPr algn="l"/>
            <a:r>
              <a:rPr sz="2400" b="0">
                <a:solidFill>
                  <a:srgbClr val="000000"/>
                </a:solidFill>
                <a:latin typeface="Source Sans 3"/>
              </a:rPr>
              <a:t>Delay bus · collect 5+ sounds · mark your moments</a:t>
            </a:r>
          </a:p>
        </p:txBody>
      </p:sp>
      <p:sp>
        <p:nvSpPr>
          <p:cNvPr id="14" name="Rounded Rectangle 13"/>
          <p:cNvSpPr/>
          <p:nvPr/>
        </p:nvSpPr>
        <p:spPr>
          <a:xfrm>
            <a:off x="548640" y="3255264"/>
            <a:ext cx="1325880" cy="548640"/>
          </a:xfrm>
          <a:prstGeom prst="roundRect">
            <a:avLst/>
          </a:prstGeom>
          <a:solidFill>
            <a:srgbClr val="E873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8640" y="3255264"/>
            <a:ext cx="1325880" cy="548640"/>
          </a:xfrm>
          <a:prstGeom prst="rect">
            <a:avLst/>
          </a:prstGeom>
          <a:noFill/>
        </p:spPr>
        <p:txBody>
          <a:bodyPr wrap="square" anchor="ctr" lIns="36576" rIns="36576" tIns="18288" bIns="18288">
            <a:spAutoFit/>
          </a:bodyPr>
          <a:lstStyle/>
          <a:p>
            <a:pPr algn="ctr"/>
            <a:r>
              <a:rPr sz="2000" b="1">
                <a:solidFill>
                  <a:srgbClr val="FFFFFF"/>
                </a:solidFill>
                <a:latin typeface="Oswald"/>
              </a:rPr>
              <a:t>DAY 3</a:t>
            </a:r>
          </a:p>
        </p:txBody>
      </p:sp>
      <p:sp>
        <p:nvSpPr>
          <p:cNvPr id="16" name="TextBox 15"/>
          <p:cNvSpPr txBox="1"/>
          <p:nvPr/>
        </p:nvSpPr>
        <p:spPr>
          <a:xfrm>
            <a:off x="2057400" y="3255264"/>
            <a:ext cx="9509760" cy="548640"/>
          </a:xfrm>
          <a:prstGeom prst="rect">
            <a:avLst/>
          </a:prstGeom>
          <a:noFill/>
        </p:spPr>
        <p:txBody>
          <a:bodyPr wrap="square" anchor="ctr" lIns="36576" rIns="36576" tIns="18288" bIns="18288">
            <a:spAutoFit/>
          </a:bodyPr>
          <a:lstStyle/>
          <a:p>
            <a:pPr algn="l"/>
            <a:r>
              <a:rPr sz="2400" b="0">
                <a:solidFill>
                  <a:srgbClr val="000000"/>
                </a:solidFill>
                <a:latin typeface="Source Sans 3"/>
              </a:rPr>
              <a:t>Import the video · markers · start scoring</a:t>
            </a:r>
          </a:p>
        </p:txBody>
      </p:sp>
      <p:sp>
        <p:nvSpPr>
          <p:cNvPr id="17" name="Rounded Rectangle 16"/>
          <p:cNvSpPr/>
          <p:nvPr/>
        </p:nvSpPr>
        <p:spPr>
          <a:xfrm>
            <a:off x="548640" y="3968496"/>
            <a:ext cx="1325880" cy="548640"/>
          </a:xfrm>
          <a:prstGeom prst="roundRect">
            <a:avLst/>
          </a:prstGeom>
          <a:solidFill>
            <a:srgbClr val="E873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8640" y="3968496"/>
            <a:ext cx="1325880" cy="548640"/>
          </a:xfrm>
          <a:prstGeom prst="rect">
            <a:avLst/>
          </a:prstGeom>
          <a:noFill/>
        </p:spPr>
        <p:txBody>
          <a:bodyPr wrap="square" anchor="ctr" lIns="36576" rIns="36576" tIns="18288" bIns="18288">
            <a:spAutoFit/>
          </a:bodyPr>
          <a:lstStyle/>
          <a:p>
            <a:pPr algn="ctr"/>
            <a:r>
              <a:rPr sz="2000" b="1">
                <a:solidFill>
                  <a:srgbClr val="FFFFFF"/>
                </a:solidFill>
                <a:latin typeface="Oswald"/>
              </a:rPr>
              <a:t>DAY 4</a:t>
            </a:r>
          </a:p>
        </p:txBody>
      </p:sp>
      <p:sp>
        <p:nvSpPr>
          <p:cNvPr id="19" name="TextBox 18"/>
          <p:cNvSpPr txBox="1"/>
          <p:nvPr/>
        </p:nvSpPr>
        <p:spPr>
          <a:xfrm>
            <a:off x="2057400" y="3968496"/>
            <a:ext cx="9509760" cy="548640"/>
          </a:xfrm>
          <a:prstGeom prst="rect">
            <a:avLst/>
          </a:prstGeom>
          <a:noFill/>
        </p:spPr>
        <p:txBody>
          <a:bodyPr wrap="square" anchor="ctr" lIns="36576" rIns="36576" tIns="18288" bIns="18288">
            <a:spAutoFit/>
          </a:bodyPr>
          <a:lstStyle/>
          <a:p>
            <a:pPr algn="l"/>
            <a:r>
              <a:rPr sz="2400" b="0">
                <a:solidFill>
                  <a:srgbClr val="000000"/>
                </a:solidFill>
                <a:latin typeface="Source Sans 3"/>
              </a:rPr>
              <a:t>Score the whole video · rough mix</a:t>
            </a:r>
          </a:p>
        </p:txBody>
      </p:sp>
      <p:sp>
        <p:nvSpPr>
          <p:cNvPr id="20" name="Rounded Rectangle 19"/>
          <p:cNvSpPr/>
          <p:nvPr/>
        </p:nvSpPr>
        <p:spPr>
          <a:xfrm>
            <a:off x="548640" y="4681728"/>
            <a:ext cx="1325880" cy="548640"/>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48640" y="4681728"/>
            <a:ext cx="1325880" cy="548640"/>
          </a:xfrm>
          <a:prstGeom prst="rect">
            <a:avLst/>
          </a:prstGeom>
          <a:noFill/>
        </p:spPr>
        <p:txBody>
          <a:bodyPr wrap="square" anchor="ctr" lIns="36576" rIns="36576" tIns="18288" bIns="18288">
            <a:spAutoFit/>
          </a:bodyPr>
          <a:lstStyle/>
          <a:p>
            <a:pPr algn="ctr"/>
            <a:r>
              <a:rPr sz="2000" b="1">
                <a:solidFill>
                  <a:srgbClr val="FFFFFF"/>
                </a:solidFill>
                <a:latin typeface="Oswald"/>
              </a:rPr>
              <a:t>DAY 5</a:t>
            </a:r>
          </a:p>
        </p:txBody>
      </p:sp>
      <p:sp>
        <p:nvSpPr>
          <p:cNvPr id="22" name="TextBox 21"/>
          <p:cNvSpPr txBox="1"/>
          <p:nvPr/>
        </p:nvSpPr>
        <p:spPr>
          <a:xfrm>
            <a:off x="2057400" y="4681728"/>
            <a:ext cx="9509760" cy="548640"/>
          </a:xfrm>
          <a:prstGeom prst="rect">
            <a:avLst/>
          </a:prstGeom>
          <a:noFill/>
        </p:spPr>
        <p:txBody>
          <a:bodyPr wrap="square" anchor="ctr" lIns="36576" rIns="36576" tIns="18288" bIns="18288">
            <a:spAutoFit/>
          </a:bodyPr>
          <a:lstStyle/>
          <a:p>
            <a:pPr algn="l"/>
            <a:r>
              <a:rPr sz="2400" b="0">
                <a:solidFill>
                  <a:srgbClr val="000000"/>
                </a:solidFill>
                <a:latin typeface="Source Sans 3"/>
              </a:rPr>
              <a:t>Final mix · reflection · submit</a:t>
            </a:r>
          </a:p>
        </p:txBody>
      </p:sp>
      <p:sp>
        <p:nvSpPr>
          <p:cNvPr id="23" name="Rounded Rectangle 22"/>
          <p:cNvSpPr/>
          <p:nvPr/>
        </p:nvSpPr>
        <p:spPr>
          <a:xfrm>
            <a:off x="548640" y="5394960"/>
            <a:ext cx="1325880" cy="548640"/>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48640" y="5394960"/>
            <a:ext cx="1325880" cy="548640"/>
          </a:xfrm>
          <a:prstGeom prst="rect">
            <a:avLst/>
          </a:prstGeom>
          <a:noFill/>
        </p:spPr>
        <p:txBody>
          <a:bodyPr wrap="square" anchor="ctr" lIns="36576" rIns="36576" tIns="18288" bIns="18288">
            <a:spAutoFit/>
          </a:bodyPr>
          <a:lstStyle/>
          <a:p>
            <a:pPr algn="ctr"/>
            <a:r>
              <a:rPr sz="2000" b="1">
                <a:solidFill>
                  <a:srgbClr val="FFFFFF"/>
                </a:solidFill>
                <a:latin typeface="Oswald"/>
              </a:rPr>
              <a:t>DAY 6</a:t>
            </a:r>
          </a:p>
        </p:txBody>
      </p:sp>
      <p:sp>
        <p:nvSpPr>
          <p:cNvPr id="25" name="TextBox 24"/>
          <p:cNvSpPr txBox="1"/>
          <p:nvPr/>
        </p:nvSpPr>
        <p:spPr>
          <a:xfrm>
            <a:off x="2057400" y="5394960"/>
            <a:ext cx="9509760" cy="548640"/>
          </a:xfrm>
          <a:prstGeom prst="rect">
            <a:avLst/>
          </a:prstGeom>
          <a:noFill/>
        </p:spPr>
        <p:txBody>
          <a:bodyPr wrap="square" anchor="ctr" lIns="36576" rIns="36576" tIns="18288" bIns="18288">
            <a:spAutoFit/>
          </a:bodyPr>
          <a:lstStyle/>
          <a:p>
            <a:pPr algn="l"/>
            <a:r>
              <a:rPr sz="2400" b="0">
                <a:solidFill>
                  <a:srgbClr val="000000"/>
                </a:solidFill>
                <a:latin typeface="Source Sans 3"/>
              </a:rPr>
              <a:t>Present with the video</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TextBox 2"/>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WHAT YOU TURN IN</a:t>
            </a:r>
          </a:p>
        </p:txBody>
      </p:sp>
      <p:sp>
        <p:nvSpPr>
          <p:cNvPr id="4" name="Rectangle 3"/>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Spooky Tunes · Intro deck · © 2026 Brian Lotze · Hudson Beat</a:t>
            </a:r>
          </a:p>
        </p:txBody>
      </p:sp>
      <p:sp>
        <p:nvSpPr>
          <p:cNvPr id="7" name="TextBox 6"/>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14</a:t>
            </a:r>
          </a:p>
        </p:txBody>
      </p:sp>
      <p:sp>
        <p:nvSpPr>
          <p:cNvPr id="8" name="Rounded Rectangle 7"/>
          <p:cNvSpPr/>
          <p:nvPr/>
        </p:nvSpPr>
        <p:spPr>
          <a:xfrm>
            <a:off x="548640" y="2039112"/>
            <a:ext cx="384048" cy="384048"/>
          </a:xfrm>
          <a:prstGeom prst="roundRect">
            <a:avLst/>
          </a:prstGeom>
          <a:solidFill>
            <a:srgbClr val="FFFFFF"/>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65960"/>
            <a:ext cx="4892040" cy="1234440"/>
          </a:xfrm>
          <a:prstGeom prst="rect">
            <a:avLst/>
          </a:prstGeom>
          <a:noFill/>
        </p:spPr>
        <p:txBody>
          <a:bodyPr wrap="square" anchor="t" lIns="36576" rIns="36576" tIns="18288" bIns="18288">
            <a:spAutoFit/>
          </a:bodyPr>
          <a:lstStyle/>
          <a:p>
            <a:pPr algn="l"/>
            <a:r>
              <a:rPr sz="2200" b="0">
                <a:solidFill>
                  <a:srgbClr val="000000"/>
                </a:solidFill>
                <a:latin typeface="Source Sans 3"/>
              </a:rPr>
              <a:t>Reverb bus (Bus 1) and delay bus (Bus 2), both 100% wet</a:t>
            </a:r>
          </a:p>
        </p:txBody>
      </p:sp>
      <p:sp>
        <p:nvSpPr>
          <p:cNvPr id="10" name="Rounded Rectangle 9"/>
          <p:cNvSpPr/>
          <p:nvPr/>
        </p:nvSpPr>
        <p:spPr>
          <a:xfrm>
            <a:off x="6172200" y="2039112"/>
            <a:ext cx="384048" cy="384048"/>
          </a:xfrm>
          <a:prstGeom prst="roundRect">
            <a:avLst/>
          </a:prstGeom>
          <a:solidFill>
            <a:srgbClr val="FFFFFF"/>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20840" y="1965960"/>
            <a:ext cx="4892040" cy="1234440"/>
          </a:xfrm>
          <a:prstGeom prst="rect">
            <a:avLst/>
          </a:prstGeom>
          <a:noFill/>
        </p:spPr>
        <p:txBody>
          <a:bodyPr wrap="square" anchor="t" lIns="36576" rIns="36576" tIns="18288" bIns="18288">
            <a:spAutoFit/>
          </a:bodyPr>
          <a:lstStyle/>
          <a:p>
            <a:pPr algn="l"/>
            <a:r>
              <a:rPr sz="2200" b="0">
                <a:solidFill>
                  <a:srgbClr val="000000"/>
                </a:solidFill>
                <a:latin typeface="Source Sans 3"/>
              </a:rPr>
              <a:t>3+ tracks to reverb, 1+ to delay</a:t>
            </a:r>
          </a:p>
        </p:txBody>
      </p:sp>
      <p:sp>
        <p:nvSpPr>
          <p:cNvPr id="12" name="Rounded Rectangle 11"/>
          <p:cNvSpPr/>
          <p:nvPr/>
        </p:nvSpPr>
        <p:spPr>
          <a:xfrm>
            <a:off x="548640" y="3410712"/>
            <a:ext cx="384048" cy="384048"/>
          </a:xfrm>
          <a:prstGeom prst="roundRect">
            <a:avLst/>
          </a:prstGeom>
          <a:solidFill>
            <a:srgbClr val="FFFFFF"/>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97280" y="3337560"/>
            <a:ext cx="4892040" cy="1234440"/>
          </a:xfrm>
          <a:prstGeom prst="rect">
            <a:avLst/>
          </a:prstGeom>
          <a:noFill/>
        </p:spPr>
        <p:txBody>
          <a:bodyPr wrap="square" anchor="t" lIns="36576" rIns="36576" tIns="18288" bIns="18288">
            <a:spAutoFit/>
          </a:bodyPr>
          <a:lstStyle/>
          <a:p>
            <a:pPr algn="l"/>
            <a:r>
              <a:rPr sz="2200" b="0">
                <a:solidFill>
                  <a:srgbClr val="000000"/>
                </a:solidFill>
                <a:latin typeface="Source Sans 3"/>
              </a:rPr>
              <a:t>Music for the whole video (32 measures)</a:t>
            </a:r>
          </a:p>
        </p:txBody>
      </p:sp>
      <p:sp>
        <p:nvSpPr>
          <p:cNvPr id="14" name="Rounded Rectangle 13"/>
          <p:cNvSpPr/>
          <p:nvPr/>
        </p:nvSpPr>
        <p:spPr>
          <a:xfrm>
            <a:off x="6172200" y="3410712"/>
            <a:ext cx="384048" cy="384048"/>
          </a:xfrm>
          <a:prstGeom prst="roundRect">
            <a:avLst/>
          </a:prstGeom>
          <a:solidFill>
            <a:srgbClr val="FFFFFF"/>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720840" y="3337560"/>
            <a:ext cx="4892040" cy="1234440"/>
          </a:xfrm>
          <a:prstGeom prst="rect">
            <a:avLst/>
          </a:prstGeom>
          <a:noFill/>
        </p:spPr>
        <p:txBody>
          <a:bodyPr wrap="square" anchor="t" lIns="36576" rIns="36576" tIns="18288" bIns="18288">
            <a:spAutoFit/>
          </a:bodyPr>
          <a:lstStyle/>
          <a:p>
            <a:pPr algn="l"/>
            <a:r>
              <a:rPr sz="2200" b="0">
                <a:solidFill>
                  <a:srgbClr val="000000"/>
                </a:solidFill>
                <a:latin typeface="Source Sans 3"/>
              </a:rPr>
              <a:t>5+ sources: 1+ recording, 1+ free download</a:t>
            </a:r>
          </a:p>
        </p:txBody>
      </p:sp>
      <p:sp>
        <p:nvSpPr>
          <p:cNvPr id="16" name="Rounded Rectangle 15"/>
          <p:cNvSpPr/>
          <p:nvPr/>
        </p:nvSpPr>
        <p:spPr>
          <a:xfrm>
            <a:off x="548640" y="4782312"/>
            <a:ext cx="384048" cy="384048"/>
          </a:xfrm>
          <a:prstGeom prst="roundRect">
            <a:avLst/>
          </a:prstGeom>
          <a:solidFill>
            <a:srgbClr val="FFFFFF"/>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97280" y="4709160"/>
            <a:ext cx="4892040" cy="1234440"/>
          </a:xfrm>
          <a:prstGeom prst="rect">
            <a:avLst/>
          </a:prstGeom>
          <a:noFill/>
        </p:spPr>
        <p:txBody>
          <a:bodyPr wrap="square" anchor="t" lIns="36576" rIns="36576" tIns="18288" bIns="18288">
            <a:spAutoFit/>
          </a:bodyPr>
          <a:lstStyle/>
          <a:p>
            <a:pPr algn="l"/>
            <a:r>
              <a:rPr sz="2200" b="0">
                <a:solidFill>
                  <a:srgbClr val="000000"/>
                </a:solidFill>
                <a:latin typeface="Source Sans 3"/>
              </a:rPr>
              <a:t>MP3 + compressed .logicx, named Your Name – Spooky Tunes</a:t>
            </a:r>
          </a:p>
        </p:txBody>
      </p:sp>
      <p:sp>
        <p:nvSpPr>
          <p:cNvPr id="18" name="Rounded Rectangle 17"/>
          <p:cNvSpPr/>
          <p:nvPr/>
        </p:nvSpPr>
        <p:spPr>
          <a:xfrm>
            <a:off x="6172200" y="4782312"/>
            <a:ext cx="384048" cy="384048"/>
          </a:xfrm>
          <a:prstGeom prst="roundRect">
            <a:avLst/>
          </a:prstGeom>
          <a:solidFill>
            <a:srgbClr val="FFFFFF"/>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720840" y="4709160"/>
            <a:ext cx="4892040" cy="1234440"/>
          </a:xfrm>
          <a:prstGeom prst="rect">
            <a:avLst/>
          </a:prstGeom>
          <a:noFill/>
        </p:spPr>
        <p:txBody>
          <a:bodyPr wrap="square" anchor="t" lIns="36576" rIns="36576" tIns="18288" bIns="18288">
            <a:spAutoFit/>
          </a:bodyPr>
          <a:lstStyle/>
          <a:p>
            <a:pPr algn="l"/>
            <a:r>
              <a:rPr sz="2200" b="0">
                <a:solidFill>
                  <a:srgbClr val="000000"/>
                </a:solidFill>
                <a:latin typeface="Source Sans 3"/>
              </a:rPr>
              <a:t>Reflection + three feedback questions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TextBox 2"/>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HOW IT’S SCORED</a:t>
            </a:r>
          </a:p>
        </p:txBody>
      </p:sp>
      <p:sp>
        <p:nvSpPr>
          <p:cNvPr id="4" name="Rectangle 3"/>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Spooky Tunes · Intro deck · © 2026 Brian Lotze · Hudson Beat</a:t>
            </a:r>
          </a:p>
        </p:txBody>
      </p:sp>
      <p:sp>
        <p:nvSpPr>
          <p:cNvPr id="7" name="TextBox 6"/>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15</a:t>
            </a:r>
          </a:p>
        </p:txBody>
      </p:sp>
      <p:sp>
        <p:nvSpPr>
          <p:cNvPr id="8" name="Rounded Rectangle 7"/>
          <p:cNvSpPr/>
          <p:nvPr/>
        </p:nvSpPr>
        <p:spPr>
          <a:xfrm>
            <a:off x="548640" y="1874519"/>
            <a:ext cx="3931920" cy="713232"/>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874519"/>
            <a:ext cx="3657600" cy="713232"/>
          </a:xfrm>
          <a:prstGeom prst="rect">
            <a:avLst/>
          </a:prstGeom>
          <a:noFill/>
        </p:spPr>
        <p:txBody>
          <a:bodyPr wrap="square" anchor="ctr" lIns="36576" rIns="36576" tIns="18288" bIns="18288">
            <a:spAutoFit/>
          </a:bodyPr>
          <a:lstStyle/>
          <a:p>
            <a:pPr algn="l"/>
            <a:r>
              <a:rPr sz="1800" b="1">
                <a:solidFill>
                  <a:srgbClr val="FFFFFF"/>
                </a:solidFill>
                <a:latin typeface="Oswald"/>
              </a:rPr>
              <a:t>SOUND DESIGN &amp; ATMOSPHERE</a:t>
            </a:r>
          </a:p>
        </p:txBody>
      </p:sp>
      <p:sp>
        <p:nvSpPr>
          <p:cNvPr id="10" name="TextBox 9"/>
          <p:cNvSpPr txBox="1"/>
          <p:nvPr/>
        </p:nvSpPr>
        <p:spPr>
          <a:xfrm>
            <a:off x="4663440" y="1874519"/>
            <a:ext cx="6035040" cy="713232"/>
          </a:xfrm>
          <a:prstGeom prst="rect">
            <a:avLst/>
          </a:prstGeom>
          <a:noFill/>
        </p:spPr>
        <p:txBody>
          <a:bodyPr wrap="square" anchor="ctr" lIns="36576" rIns="36576" tIns="18288" bIns="18288">
            <a:spAutoFit/>
          </a:bodyPr>
          <a:lstStyle/>
          <a:p>
            <a:pPr algn="l"/>
            <a:r>
              <a:rPr sz="1600" b="0">
                <a:solidFill>
                  <a:srgbClr val="000000"/>
                </a:solidFill>
                <a:latin typeface="Source Sans 3"/>
              </a:rPr>
              <a:t>5 = Sounds from 5+ sources create an unsettling atmosphere that serves the video at every moment.</a:t>
            </a:r>
          </a:p>
        </p:txBody>
      </p:sp>
      <p:sp>
        <p:nvSpPr>
          <p:cNvPr id="11" name="TextBox 10"/>
          <p:cNvSpPr txBox="1"/>
          <p:nvPr/>
        </p:nvSpPr>
        <p:spPr>
          <a:xfrm>
            <a:off x="10698480" y="1874519"/>
            <a:ext cx="941832" cy="713232"/>
          </a:xfrm>
          <a:prstGeom prst="rect">
            <a:avLst/>
          </a:prstGeom>
          <a:noFill/>
        </p:spPr>
        <p:txBody>
          <a:bodyPr wrap="square" anchor="ctr" lIns="36576" rIns="36576" tIns="18288" bIns="18288">
            <a:spAutoFit/>
          </a:bodyPr>
          <a:lstStyle/>
          <a:p>
            <a:pPr algn="r"/>
            <a:r>
              <a:rPr sz="2200" b="1">
                <a:solidFill>
                  <a:srgbClr val="E8731A"/>
                </a:solidFill>
                <a:latin typeface="Oswald"/>
              </a:rPr>
              <a:t>/ 5</a:t>
            </a:r>
          </a:p>
        </p:txBody>
      </p:sp>
      <p:sp>
        <p:nvSpPr>
          <p:cNvPr id="12" name="Rounded Rectangle 11"/>
          <p:cNvSpPr/>
          <p:nvPr/>
        </p:nvSpPr>
        <p:spPr>
          <a:xfrm>
            <a:off x="548640" y="2715768"/>
            <a:ext cx="3931920" cy="713232"/>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5800" y="2715768"/>
            <a:ext cx="3657600" cy="713232"/>
          </a:xfrm>
          <a:prstGeom prst="rect">
            <a:avLst/>
          </a:prstGeom>
          <a:noFill/>
        </p:spPr>
        <p:txBody>
          <a:bodyPr wrap="square" anchor="ctr" lIns="36576" rIns="36576" tIns="18288" bIns="18288">
            <a:spAutoFit/>
          </a:bodyPr>
          <a:lstStyle/>
          <a:p>
            <a:pPr algn="l"/>
            <a:r>
              <a:rPr sz="1800" b="1">
                <a:solidFill>
                  <a:srgbClr val="FFFFFF"/>
                </a:solidFill>
                <a:latin typeface="Oswald"/>
              </a:rPr>
              <a:t>COMPOSITION &amp; PACING</a:t>
            </a:r>
          </a:p>
        </p:txBody>
      </p:sp>
      <p:sp>
        <p:nvSpPr>
          <p:cNvPr id="14" name="TextBox 13"/>
          <p:cNvSpPr txBox="1"/>
          <p:nvPr/>
        </p:nvSpPr>
        <p:spPr>
          <a:xfrm>
            <a:off x="4663440" y="2715768"/>
            <a:ext cx="6035040" cy="713232"/>
          </a:xfrm>
          <a:prstGeom prst="rect">
            <a:avLst/>
          </a:prstGeom>
          <a:noFill/>
        </p:spPr>
        <p:txBody>
          <a:bodyPr wrap="square" anchor="ctr" lIns="36576" rIns="36576" tIns="18288" bIns="18288">
            <a:spAutoFit/>
          </a:bodyPr>
          <a:lstStyle/>
          <a:p>
            <a:pPr algn="l"/>
            <a:r>
              <a:rPr sz="1600" b="0">
                <a:solidFill>
                  <a:srgbClr val="000000"/>
                </a:solidFill>
                <a:latin typeface="Source Sans 3"/>
              </a:rPr>
              <a:t>5 = The music serves the picture: key moments are acknowledged and silence is a tool.</a:t>
            </a:r>
          </a:p>
        </p:txBody>
      </p:sp>
      <p:sp>
        <p:nvSpPr>
          <p:cNvPr id="15" name="TextBox 14"/>
          <p:cNvSpPr txBox="1"/>
          <p:nvPr/>
        </p:nvSpPr>
        <p:spPr>
          <a:xfrm>
            <a:off x="10698480" y="2715768"/>
            <a:ext cx="941832" cy="713232"/>
          </a:xfrm>
          <a:prstGeom prst="rect">
            <a:avLst/>
          </a:prstGeom>
          <a:noFill/>
        </p:spPr>
        <p:txBody>
          <a:bodyPr wrap="square" anchor="ctr" lIns="36576" rIns="36576" tIns="18288" bIns="18288">
            <a:spAutoFit/>
          </a:bodyPr>
          <a:lstStyle/>
          <a:p>
            <a:pPr algn="r"/>
            <a:r>
              <a:rPr sz="2200" b="1">
                <a:solidFill>
                  <a:srgbClr val="E8731A"/>
                </a:solidFill>
                <a:latin typeface="Oswald"/>
              </a:rPr>
              <a:t>/ 5</a:t>
            </a:r>
          </a:p>
        </p:txBody>
      </p:sp>
      <p:sp>
        <p:nvSpPr>
          <p:cNvPr id="16" name="Rounded Rectangle 15"/>
          <p:cNvSpPr/>
          <p:nvPr/>
        </p:nvSpPr>
        <p:spPr>
          <a:xfrm>
            <a:off x="548640" y="3557015"/>
            <a:ext cx="3931920" cy="713232"/>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5800" y="3557015"/>
            <a:ext cx="3657600" cy="713232"/>
          </a:xfrm>
          <a:prstGeom prst="rect">
            <a:avLst/>
          </a:prstGeom>
          <a:noFill/>
        </p:spPr>
        <p:txBody>
          <a:bodyPr wrap="square" anchor="ctr" lIns="36576" rIns="36576" tIns="18288" bIns="18288">
            <a:spAutoFit/>
          </a:bodyPr>
          <a:lstStyle/>
          <a:p>
            <a:pPr algn="l"/>
            <a:r>
              <a:rPr sz="1800" b="1">
                <a:solidFill>
                  <a:srgbClr val="FFFFFF"/>
                </a:solidFill>
                <a:latin typeface="Oswald"/>
              </a:rPr>
              <a:t>TECHNICAL SKILL / DAW USE</a:t>
            </a:r>
          </a:p>
        </p:txBody>
      </p:sp>
      <p:sp>
        <p:nvSpPr>
          <p:cNvPr id="18" name="TextBox 17"/>
          <p:cNvSpPr txBox="1"/>
          <p:nvPr/>
        </p:nvSpPr>
        <p:spPr>
          <a:xfrm>
            <a:off x="4663440" y="3557015"/>
            <a:ext cx="6035040" cy="713232"/>
          </a:xfrm>
          <a:prstGeom prst="rect">
            <a:avLst/>
          </a:prstGeom>
          <a:noFill/>
        </p:spPr>
        <p:txBody>
          <a:bodyPr wrap="square" anchor="ctr" lIns="36576" rIns="36576" tIns="18288" bIns="18288">
            <a:spAutoFit/>
          </a:bodyPr>
          <a:lstStyle/>
          <a:p>
            <a:pPr algn="l"/>
            <a:r>
              <a:rPr sz="1600" b="0">
                <a:solidFill>
                  <a:srgbClr val="000000"/>
                </a:solidFill>
                <a:latin typeface="Source Sans 3"/>
              </a:rPr>
              <a:t>5 = Both buses set up correctly and used with intention; send levels vary to create depth.</a:t>
            </a:r>
          </a:p>
        </p:txBody>
      </p:sp>
      <p:sp>
        <p:nvSpPr>
          <p:cNvPr id="19" name="TextBox 18"/>
          <p:cNvSpPr txBox="1"/>
          <p:nvPr/>
        </p:nvSpPr>
        <p:spPr>
          <a:xfrm>
            <a:off x="10698480" y="3557015"/>
            <a:ext cx="941832" cy="713232"/>
          </a:xfrm>
          <a:prstGeom prst="rect">
            <a:avLst/>
          </a:prstGeom>
          <a:noFill/>
        </p:spPr>
        <p:txBody>
          <a:bodyPr wrap="square" anchor="ctr" lIns="36576" rIns="36576" tIns="18288" bIns="18288">
            <a:spAutoFit/>
          </a:bodyPr>
          <a:lstStyle/>
          <a:p>
            <a:pPr algn="r"/>
            <a:r>
              <a:rPr sz="2200" b="1">
                <a:solidFill>
                  <a:srgbClr val="E8731A"/>
                </a:solidFill>
                <a:latin typeface="Oswald"/>
              </a:rPr>
              <a:t>/ 5</a:t>
            </a:r>
          </a:p>
        </p:txBody>
      </p:sp>
      <p:sp>
        <p:nvSpPr>
          <p:cNvPr id="20" name="Rounded Rectangle 19"/>
          <p:cNvSpPr/>
          <p:nvPr/>
        </p:nvSpPr>
        <p:spPr>
          <a:xfrm>
            <a:off x="548640" y="4398264"/>
            <a:ext cx="3931920" cy="713232"/>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5800" y="4398264"/>
            <a:ext cx="3657600" cy="713232"/>
          </a:xfrm>
          <a:prstGeom prst="rect">
            <a:avLst/>
          </a:prstGeom>
          <a:noFill/>
        </p:spPr>
        <p:txBody>
          <a:bodyPr wrap="square" anchor="ctr" lIns="36576" rIns="36576" tIns="18288" bIns="18288">
            <a:spAutoFit/>
          </a:bodyPr>
          <a:lstStyle/>
          <a:p>
            <a:pPr algn="l"/>
            <a:r>
              <a:rPr sz="1800" b="1">
                <a:solidFill>
                  <a:srgbClr val="FFFFFF"/>
                </a:solidFill>
                <a:latin typeface="Oswald"/>
              </a:rPr>
              <a:t>REVERB &amp; DELAY AS MIX</a:t>
            </a:r>
          </a:p>
        </p:txBody>
      </p:sp>
      <p:sp>
        <p:nvSpPr>
          <p:cNvPr id="22" name="TextBox 21"/>
          <p:cNvSpPr txBox="1"/>
          <p:nvPr/>
        </p:nvSpPr>
        <p:spPr>
          <a:xfrm>
            <a:off x="4663440" y="4398264"/>
            <a:ext cx="6035040" cy="713232"/>
          </a:xfrm>
          <a:prstGeom prst="rect">
            <a:avLst/>
          </a:prstGeom>
          <a:noFill/>
        </p:spPr>
        <p:txBody>
          <a:bodyPr wrap="square" anchor="ctr" lIns="36576" rIns="36576" tIns="18288" bIns="18288">
            <a:spAutoFit/>
          </a:bodyPr>
          <a:lstStyle/>
          <a:p>
            <a:pPr algn="l"/>
            <a:r>
              <a:rPr sz="1600" b="0">
                <a:solidFill>
                  <a:srgbClr val="000000"/>
                </a:solidFill>
                <a:latin typeface="Source Sans 3"/>
              </a:rPr>
              <a:t>5 = Near sounds dry, far sounds wet: a convincing sense of physical space.</a:t>
            </a:r>
          </a:p>
        </p:txBody>
      </p:sp>
      <p:sp>
        <p:nvSpPr>
          <p:cNvPr id="23" name="TextBox 22"/>
          <p:cNvSpPr txBox="1"/>
          <p:nvPr/>
        </p:nvSpPr>
        <p:spPr>
          <a:xfrm>
            <a:off x="10698480" y="4398264"/>
            <a:ext cx="941832" cy="713232"/>
          </a:xfrm>
          <a:prstGeom prst="rect">
            <a:avLst/>
          </a:prstGeom>
          <a:noFill/>
        </p:spPr>
        <p:txBody>
          <a:bodyPr wrap="square" anchor="ctr" lIns="36576" rIns="36576" tIns="18288" bIns="18288">
            <a:spAutoFit/>
          </a:bodyPr>
          <a:lstStyle/>
          <a:p>
            <a:pPr algn="r"/>
            <a:r>
              <a:rPr sz="2200" b="1">
                <a:solidFill>
                  <a:srgbClr val="E8731A"/>
                </a:solidFill>
                <a:latin typeface="Oswald"/>
              </a:rPr>
              <a:t>/ 5</a:t>
            </a:r>
          </a:p>
        </p:txBody>
      </p:sp>
      <p:sp>
        <p:nvSpPr>
          <p:cNvPr id="24" name="Rounded Rectangle 23"/>
          <p:cNvSpPr/>
          <p:nvPr/>
        </p:nvSpPr>
        <p:spPr>
          <a:xfrm>
            <a:off x="548640" y="5239512"/>
            <a:ext cx="3931920" cy="713232"/>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5239512"/>
            <a:ext cx="3657600" cy="713232"/>
          </a:xfrm>
          <a:prstGeom prst="rect">
            <a:avLst/>
          </a:prstGeom>
          <a:noFill/>
        </p:spPr>
        <p:txBody>
          <a:bodyPr wrap="square" anchor="ctr" lIns="36576" rIns="36576" tIns="18288" bIns="18288">
            <a:spAutoFit/>
          </a:bodyPr>
          <a:lstStyle/>
          <a:p>
            <a:pPr algn="l"/>
            <a:r>
              <a:rPr sz="1800" b="1">
                <a:solidFill>
                  <a:srgbClr val="FFFFFF"/>
                </a:solidFill>
                <a:latin typeface="Oswald"/>
              </a:rPr>
              <a:t>DOCUMENTATION &amp; PRESENTATION</a:t>
            </a:r>
          </a:p>
        </p:txBody>
      </p:sp>
      <p:sp>
        <p:nvSpPr>
          <p:cNvPr id="26" name="TextBox 25"/>
          <p:cNvSpPr txBox="1"/>
          <p:nvPr/>
        </p:nvSpPr>
        <p:spPr>
          <a:xfrm>
            <a:off x="4663440" y="5239512"/>
            <a:ext cx="6035040" cy="713232"/>
          </a:xfrm>
          <a:prstGeom prst="rect">
            <a:avLst/>
          </a:prstGeom>
          <a:noFill/>
        </p:spPr>
        <p:txBody>
          <a:bodyPr wrap="square" anchor="ctr" lIns="36576" rIns="36576" tIns="18288" bIns="18288">
            <a:spAutoFit/>
          </a:bodyPr>
          <a:lstStyle/>
          <a:p>
            <a:pPr algn="l"/>
            <a:r>
              <a:rPr sz="1600" b="0">
                <a:solidFill>
                  <a:srgbClr val="000000"/>
                </a:solidFill>
                <a:latin typeface="Source Sans 3"/>
              </a:rPr>
              <a:t>5 = On time, named correctly, and a confident presentation that explains the sound choices.</a:t>
            </a:r>
          </a:p>
        </p:txBody>
      </p:sp>
      <p:sp>
        <p:nvSpPr>
          <p:cNvPr id="27" name="TextBox 26"/>
          <p:cNvSpPr txBox="1"/>
          <p:nvPr/>
        </p:nvSpPr>
        <p:spPr>
          <a:xfrm>
            <a:off x="10698480" y="5239512"/>
            <a:ext cx="941832" cy="713232"/>
          </a:xfrm>
          <a:prstGeom prst="rect">
            <a:avLst/>
          </a:prstGeom>
          <a:noFill/>
        </p:spPr>
        <p:txBody>
          <a:bodyPr wrap="square" anchor="ctr" lIns="36576" rIns="36576" tIns="18288" bIns="18288">
            <a:spAutoFit/>
          </a:bodyPr>
          <a:lstStyle/>
          <a:p>
            <a:pPr algn="r"/>
            <a:r>
              <a:rPr sz="2200" b="1">
                <a:solidFill>
                  <a:srgbClr val="E8731A"/>
                </a:solidFill>
                <a:latin typeface="Oswald"/>
              </a:rPr>
              <a:t>/ 5</a:t>
            </a:r>
          </a:p>
        </p:txBody>
      </p:sp>
      <p:sp>
        <p:nvSpPr>
          <p:cNvPr id="28" name="TextBox 27"/>
          <p:cNvSpPr txBox="1"/>
          <p:nvPr/>
        </p:nvSpPr>
        <p:spPr>
          <a:xfrm>
            <a:off x="8229600" y="6035040"/>
            <a:ext cx="3410712" cy="365760"/>
          </a:xfrm>
          <a:prstGeom prst="rect">
            <a:avLst/>
          </a:prstGeom>
          <a:noFill/>
        </p:spPr>
        <p:txBody>
          <a:bodyPr wrap="square" anchor="t" lIns="36576" rIns="36576" tIns="18288" bIns="18288">
            <a:spAutoFit/>
          </a:bodyPr>
          <a:lstStyle/>
          <a:p>
            <a:pPr algn="r"/>
            <a:r>
              <a:rPr sz="2000" b="1">
                <a:solidFill>
                  <a:srgbClr val="000000"/>
                </a:solidFill>
                <a:latin typeface="Oswald"/>
              </a:rPr>
              <a:t>TOTAL / 25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TextBox 2"/>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ONE LAST THING…</a:t>
            </a:r>
          </a:p>
        </p:txBody>
      </p:sp>
      <p:sp>
        <p:nvSpPr>
          <p:cNvPr id="4" name="Rectangle 3"/>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Spooky Tunes · Intro deck · © 2026 Brian Lotze · Hudson Beat</a:t>
            </a:r>
          </a:p>
        </p:txBody>
      </p:sp>
      <p:sp>
        <p:nvSpPr>
          <p:cNvPr id="7" name="TextBox 6"/>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16</a:t>
            </a:r>
          </a:p>
        </p:txBody>
      </p:sp>
      <p:sp>
        <p:nvSpPr>
          <p:cNvPr id="8" name="Oval 7"/>
          <p:cNvSpPr/>
          <p:nvPr/>
        </p:nvSpPr>
        <p:spPr>
          <a:xfrm>
            <a:off x="548640" y="2286000"/>
            <a:ext cx="146304" cy="146304"/>
          </a:xfrm>
          <a:prstGeom prst="ellipse">
            <a:avLst/>
          </a:prstGeom>
          <a:solidFill>
            <a:srgbClr val="E873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2103120"/>
            <a:ext cx="10698480" cy="812800"/>
          </a:xfrm>
          <a:prstGeom prst="rect">
            <a:avLst/>
          </a:prstGeom>
          <a:noFill/>
        </p:spPr>
        <p:txBody>
          <a:bodyPr wrap="square" anchor="t" lIns="36576" rIns="36576" tIns="18288" bIns="18288">
            <a:spAutoFit/>
          </a:bodyPr>
          <a:lstStyle/>
          <a:p>
            <a:pPr algn="l"/>
            <a:r>
              <a:rPr sz="4000" b="0">
                <a:solidFill>
                  <a:srgbClr val="000000"/>
                </a:solidFill>
                <a:latin typeface="Source Sans 3"/>
              </a:rPr>
              <a:t>Space is a sound.</a:t>
            </a:r>
          </a:p>
        </p:txBody>
      </p:sp>
      <p:sp>
        <p:nvSpPr>
          <p:cNvPr id="10" name="Oval 9"/>
          <p:cNvSpPr/>
          <p:nvPr/>
        </p:nvSpPr>
        <p:spPr>
          <a:xfrm>
            <a:off x="548640" y="3175000"/>
            <a:ext cx="146304" cy="146304"/>
          </a:xfrm>
          <a:prstGeom prst="ellipse">
            <a:avLst/>
          </a:prstGeom>
          <a:solidFill>
            <a:srgbClr val="E873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2992120"/>
            <a:ext cx="10698480" cy="812800"/>
          </a:xfrm>
          <a:prstGeom prst="rect">
            <a:avLst/>
          </a:prstGeom>
          <a:noFill/>
        </p:spPr>
        <p:txBody>
          <a:bodyPr wrap="square" anchor="t" lIns="36576" rIns="36576" tIns="18288" bIns="18288">
            <a:spAutoFit/>
          </a:bodyPr>
          <a:lstStyle/>
          <a:p>
            <a:pPr algn="l"/>
            <a:r>
              <a:rPr sz="4000" b="0">
                <a:solidFill>
                  <a:srgbClr val="000000"/>
                </a:solidFill>
                <a:latin typeface="Source Sans 3"/>
              </a:rPr>
              <a:t>Silence is a tool.</a:t>
            </a:r>
          </a:p>
        </p:txBody>
      </p:sp>
      <p:sp>
        <p:nvSpPr>
          <p:cNvPr id="12" name="Oval 11"/>
          <p:cNvSpPr/>
          <p:nvPr/>
        </p:nvSpPr>
        <p:spPr>
          <a:xfrm>
            <a:off x="548640" y="4064000"/>
            <a:ext cx="146304" cy="146304"/>
          </a:xfrm>
          <a:prstGeom prst="ellipse">
            <a:avLst/>
          </a:prstGeom>
          <a:solidFill>
            <a:srgbClr val="E873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6112" y="3881120"/>
            <a:ext cx="10698480" cy="812800"/>
          </a:xfrm>
          <a:prstGeom prst="rect">
            <a:avLst/>
          </a:prstGeom>
          <a:noFill/>
        </p:spPr>
        <p:txBody>
          <a:bodyPr wrap="square" anchor="t" lIns="36576" rIns="36576" tIns="18288" bIns="18288">
            <a:spAutoFit/>
          </a:bodyPr>
          <a:lstStyle/>
          <a:p>
            <a:pPr algn="l"/>
            <a:r>
              <a:rPr sz="4000" b="0">
                <a:solidFill>
                  <a:srgbClr val="000000"/>
                </a:solidFill>
                <a:latin typeface="Source Sans 3"/>
              </a:rPr>
              <a:t>Celebrate the strange ones.</a:t>
            </a:r>
          </a:p>
        </p:txBody>
      </p:sp>
      <p:pic>
        <p:nvPicPr>
          <p:cNvPr id="14" name="Picture 13" descr="deck-woods.png"/>
          <p:cNvPicPr>
            <a:picLocks noChangeAspect="1"/>
          </p:cNvPicPr>
          <p:nvPr/>
        </p:nvPicPr>
        <p:blipFill>
          <a:blip r:embed="rId2"/>
          <a:stretch>
            <a:fillRect/>
          </a:stretch>
        </p:blipFill>
        <p:spPr>
          <a:xfrm>
            <a:off x="6949440" y="4572000"/>
            <a:ext cx="4690872" cy="1485443"/>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Spooky Tunes · Intro deck</dc:title>
  <dc:subject/>
  <dc:creator>Brian Lotze · Hudson Beat</dc:creator>
  <cp:keywords/>
  <dc:description>Designed with the help of digital and AI tools, and checked by hand.</dc:description>
  <cp:lastModifiedBy>Steve Canny</cp:lastModifiedBy>
  <cp:revision>1</cp:revision>
  <dcterms:created xsi:type="dcterms:W3CDTF">2013-01-27T09:14:16Z</dcterms:created>
  <dcterms:modified xsi:type="dcterms:W3CDTF">2013-01-27T09:15:58Z</dcterms:modified>
  <cp:category/>
</cp:coreProperties>
</file>