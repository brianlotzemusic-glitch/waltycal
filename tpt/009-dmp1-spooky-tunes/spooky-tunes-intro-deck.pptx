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1, after you have played the woods video once with no comment. Tell students this is their first open-ended project: no chord progression, no song form, no right answer. Their brief is one minute of video and the job is to score it so the music makes the video feel the way it looks. Have the two listening examples cued up on YouTube or Spotify (your own account; no audio or video is included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roughly the first minute of the Halloween theme by John Carpenter. Ask the three questions and collect answers on the board, but do not confirm anything yet: feel it before you name it. Students usually notice the piano figure that keeps circling, that it never resolves, and that it is dark. Some will notice it is hard to count in 4: the piano pattern is famously counted in 5. Keep their words for slide 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opening of the Stranger Things theme by Kyle Dixon and Michael Stein. This time the question is about space rather than notes: does the sound feel close or far away, is there a room or echo around it? Ask a student to describe what it would sound like with no space at all. That is the difference between dry and wet, which they will name on slide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their answers from the listening to four tools. Minor keys sound darker (they met major and minor earlier in the course; if not, the Minor Key Map covers it). Half steps are the smallest distance on the keyboard: play E and F together on the projector so they hear the rub. Space comes from reverb and delay. Silence is a sound too: a sound after silence feels enormous. Every one of these is a requirement or a rubric 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Plain-English definitions. Reverb simulates a space; decay is how long the tail lasts. Delay repeats the sound after a set time; feedback is how many repeats. Dry is the untouched sound; wet is only the effect. If you can, play one short sound in Logic dry, then with heavy reverb, then with a long delay. The unit's mixing concept is reverb and delay via a bus, and its big idea is the line on this slide: space is a sound.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bus is a shared channel. Instead of a reverb plugin on every track, you build one reverb on an Aux channel and each track sends some of its sound to it. Walk the diagram: each track still plays dry straight to the Stereo Out; the send knob decides how much of it also goes to Bus 1; the Aux adds only the wet reverb. Three reasons: consistency (one shared space), control (one fader for all the reverb) and efficiency (one plugin, less CPU).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Guided listening in Logic: play one footstep or tap with a low reverb send, then a high one. Students will say the low send sounds close and the high send sounds far away. That is the whole idea of depth in a mix: near things are dry, far things are wet. The last question sets up the demo: separate reverbs on every track can’t be controlled together and don’t sound like one shared space.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worked example in Logic; do it live while students watch with laptops closed for building (the full 8-step demo script is in the teacher notes). After step 5 play the project and ask what changed. Then give two other tracks different send levels and ask which sounds nearer. Finish by having one student rebuild the reverb bus from scratch on their own computer while the class watches.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setup goes faster because students now understand the pattern. Point out that a track can have two sends, one to each bus. Suggest delay on only one or two sounds: selective delay draws the ear. Turning off tempo sync lets the echoes float freely, which often feels more unsettling. Students set up the delay bus at the start of Day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2. The project uses two different minor keys: key 1 for measures 1–16 and key 2 for measures 17–32. The example is A minor (white keys only) moving to D minor (one flat, B-flat). The orange keys are the first chord: root, third and fifth (A C E, then D F A). The dots are the scale. Students fill in the Minor Key Map for their own two keys; the reference card has eight minor keys. Remind them the drone or bass must move to the new root at measure 17, or nobody hears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score map for a 60-second clip at 128 BPM: 32 measures of 4/4 is exactly one minute, so every 4 measures is 7.5 seconds. Walk the numbered moments: the drone and wind fade in, close dry footsteps, a music-box melody with delay, a full measure of deliberate silence, then the key change on a visual cut at measure 17, a swelling reverb send and one impact with a long tail. Your own clip’s moments will differ: that is what the cue sheet is for.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out the project sheet and rubric. This is the brief: make it sound the way the video looks. Stress the three sound sources (at least one original microphone recording and one free download) and that both buses come before any composing. Atonal sound-effect layers are welcome on top of the two keys.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days: Day 1 the bus demo and a working reverb bus; Day 2 the delay bus, the two keys and collecting at least 5 sounds; Days 3 and 4 importing the video, placing markers and composing in key 1, then key 2; Day 5 mix, reflection and submit; Day 6 presentations with the video. Students who need more time on routing get it on Day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deliverables from the submission checklist. Show where students submit (your class page) and where the feedback questions go (any class feedback board). Export: File › Bounce › Project or Section, MP3. Compress: in Finder, Control-click the .logicx project › Compress. The reflection names two specific techniques and why.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categories, each scored 2 to 5, for a total out of 25. Read the 5 column aloud so students know what great looks like: an atmosphere that serves the video at every moment, a score that lands its key change on a moment, buses used with intention, near sounds dry and far sounds wet, and a confident presentation that explains the sound choices.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launch with the unit’s big idea. This project gives students permission to be weird. The student who uses nothing but silence and a single pitch-bent note may be doing something more sophisticated than the student who layered eight spooky loops. Tell them that out 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woods.png"/>
          <p:cNvPicPr>
            <a:picLocks noChangeAspect="1"/>
          </p:cNvPicPr>
          <p:nvPr/>
        </p:nvPicPr>
        <p:blipFill>
          <a:blip r:embed="rId2"/>
          <a:stretch>
            <a:fillRect/>
          </a:stretch>
        </p:blipFill>
        <p:spPr>
          <a:xfrm>
            <a:off x="1828800" y="914400"/>
            <a:ext cx="8531352" cy="2701595"/>
          </a:xfrm>
          <a:prstGeom prst="rect">
            <a:avLst/>
          </a:prstGeom>
        </p:spPr>
      </p:pic>
      <p:sp>
        <p:nvSpPr>
          <p:cNvPr id="4" name="TextBox 3"/>
          <p:cNvSpPr txBox="1"/>
          <p:nvPr/>
        </p:nvSpPr>
        <p:spPr>
          <a:xfrm>
            <a:off x="0" y="3657600"/>
            <a:ext cx="12191695" cy="1188720"/>
          </a:xfrm>
          <a:prstGeom prst="rect">
            <a:avLst/>
          </a:prstGeom>
          <a:noFill/>
        </p:spPr>
        <p:txBody>
          <a:bodyPr wrap="square" anchor="t" lIns="36576" rIns="36576" tIns="18288" bIns="18288">
            <a:spAutoFit/>
          </a:bodyPr>
          <a:lstStyle/>
          <a:p>
            <a:pPr algn="ctr"/>
            <a:r>
              <a:rPr sz="8000" b="1">
                <a:solidFill>
                  <a:srgbClr val="000000"/>
                </a:solidFill>
                <a:latin typeface="Oswald"/>
              </a:rPr>
              <a:t>SPOOKY TUNES</a:t>
            </a:r>
          </a:p>
        </p:txBody>
      </p:sp>
      <p:sp>
        <p:nvSpPr>
          <p:cNvPr id="5" name="TextBox 4"/>
          <p:cNvSpPr txBox="1"/>
          <p:nvPr/>
        </p:nvSpPr>
        <p:spPr>
          <a:xfrm>
            <a:off x="0" y="493776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Feat. the Halloween theme</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 UNIT 6 · SCORING TO PICTURE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FIRST</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8" name="Rounded Rectangle 7"/>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HALLOWEEN (MAIN TITLE)</a:t>
            </a:r>
          </a:p>
        </p:txBody>
      </p:sp>
      <p:sp>
        <p:nvSpPr>
          <p:cNvPr id="10" name="TextBox 9"/>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E8731A"/>
                </a:solidFill>
                <a:latin typeface="Oswald"/>
              </a:rPr>
              <a:t>John Carpenter</a:t>
            </a:r>
          </a:p>
        </p:txBody>
      </p:sp>
      <p:sp>
        <p:nvSpPr>
          <p:cNvPr id="11" name="TextBox 10"/>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about 60 seconds from YouTube or Spotify.</a:t>
            </a:r>
          </a:p>
        </p:txBody>
      </p:sp>
      <p:sp>
        <p:nvSpPr>
          <p:cNvPr id="12" name="Oval 11"/>
          <p:cNvSpPr/>
          <p:nvPr/>
        </p:nvSpPr>
        <p:spPr>
          <a:xfrm>
            <a:off x="548640" y="406908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makes it scary?</a:t>
            </a:r>
          </a:p>
        </p:txBody>
      </p:sp>
      <p:sp>
        <p:nvSpPr>
          <p:cNvPr id="14" name="Oval 13"/>
          <p:cNvSpPr/>
          <p:nvPr/>
        </p:nvSpPr>
        <p:spPr>
          <a:xfrm>
            <a:off x="548640" y="473583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59867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keeps repeating?</a:t>
            </a:r>
          </a:p>
        </p:txBody>
      </p:sp>
      <p:sp>
        <p:nvSpPr>
          <p:cNvPr id="16" name="Oval 15"/>
          <p:cNvSpPr/>
          <p:nvPr/>
        </p:nvSpPr>
        <p:spPr>
          <a:xfrm>
            <a:off x="548640" y="540258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2654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Does it feel bright or dark?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FOR THE SPACE</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8" name="Rounded Rectangle 7"/>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STRANGER THINGS (MAIN THEME)</a:t>
            </a:r>
          </a:p>
        </p:txBody>
      </p:sp>
      <p:sp>
        <p:nvSpPr>
          <p:cNvPr id="10" name="TextBox 9"/>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E8731A"/>
                </a:solidFill>
                <a:latin typeface="Oswald"/>
              </a:rPr>
              <a:t>Kyle Dixon &amp; Michael Stein</a:t>
            </a:r>
          </a:p>
        </p:txBody>
      </p:sp>
      <p:sp>
        <p:nvSpPr>
          <p:cNvPr id="11" name="TextBox 10"/>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about 60 seconds from YouTube or Spotify.</a:t>
            </a:r>
          </a:p>
        </p:txBody>
      </p:sp>
      <p:sp>
        <p:nvSpPr>
          <p:cNvPr id="12" name="Oval 11"/>
          <p:cNvSpPr/>
          <p:nvPr/>
        </p:nvSpPr>
        <p:spPr>
          <a:xfrm>
            <a:off x="548640" y="406908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Does it sound close, or far away?</a:t>
            </a:r>
          </a:p>
        </p:txBody>
      </p:sp>
      <p:sp>
        <p:nvSpPr>
          <p:cNvPr id="14" name="Oval 13"/>
          <p:cNvSpPr/>
          <p:nvPr/>
        </p:nvSpPr>
        <p:spPr>
          <a:xfrm>
            <a:off x="548640" y="473583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59867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Can you hear echoes or a ‘room’ around the sound?</a:t>
            </a:r>
          </a:p>
        </p:txBody>
      </p:sp>
      <p:sp>
        <p:nvSpPr>
          <p:cNvPr id="16" name="Oval 15"/>
          <p:cNvSpPr/>
          <p:nvPr/>
        </p:nvSpPr>
        <p:spPr>
          <a:xfrm>
            <a:off x="548640" y="540258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2654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would it sound like totally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MAKES MUSIC SPOOKY?</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8" name="Oval 7"/>
          <p:cNvSpPr/>
          <p:nvPr/>
        </p:nvSpPr>
        <p:spPr>
          <a:xfrm>
            <a:off x="548640" y="214884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Minor keys: darker than major</a:t>
            </a:r>
          </a:p>
        </p:txBody>
      </p:sp>
      <p:sp>
        <p:nvSpPr>
          <p:cNvPr id="10" name="Oval 9"/>
          <p:cNvSpPr/>
          <p:nvPr/>
        </p:nvSpPr>
        <p:spPr>
          <a:xfrm>
            <a:off x="548640" y="281559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7843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Half steps: two notes that rub</a:t>
            </a:r>
          </a:p>
        </p:txBody>
      </p:sp>
      <p:sp>
        <p:nvSpPr>
          <p:cNvPr id="12" name="Oval 11"/>
          <p:cNvSpPr/>
          <p:nvPr/>
        </p:nvSpPr>
        <p:spPr>
          <a:xfrm>
            <a:off x="548640" y="348234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3451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Space: reverb and delay make it feel big and far away</a:t>
            </a:r>
          </a:p>
        </p:txBody>
      </p:sp>
      <p:sp>
        <p:nvSpPr>
          <p:cNvPr id="14" name="Oval 13"/>
          <p:cNvSpPr/>
          <p:nvPr/>
        </p:nvSpPr>
        <p:spPr>
          <a:xfrm>
            <a:off x="548640" y="414909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01193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Silence: the sound after it feels enormous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SPACE IS A SOUND</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8" name="Rounded Rectangle 7"/>
          <p:cNvSpPr/>
          <p:nvPr/>
        </p:nvSpPr>
        <p:spPr>
          <a:xfrm>
            <a:off x="548640" y="2103120"/>
            <a:ext cx="2606040" cy="35661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86000"/>
            <a:ext cx="2331720" cy="731520"/>
          </a:xfrm>
          <a:prstGeom prst="rect">
            <a:avLst/>
          </a:prstGeom>
          <a:noFill/>
        </p:spPr>
        <p:txBody>
          <a:bodyPr wrap="square" anchor="t" lIns="36576" rIns="36576" tIns="18288" bIns="18288">
            <a:spAutoFit/>
          </a:bodyPr>
          <a:lstStyle/>
          <a:p>
            <a:pPr algn="ctr"/>
            <a:r>
              <a:rPr sz="3000" b="1">
                <a:solidFill>
                  <a:srgbClr val="E8731A"/>
                </a:solidFill>
                <a:latin typeface="Oswald"/>
              </a:rPr>
              <a:t>REVERB</a:t>
            </a:r>
          </a:p>
        </p:txBody>
      </p:sp>
      <p:sp>
        <p:nvSpPr>
          <p:cNvPr id="10" name="TextBox 9"/>
          <p:cNvSpPr txBox="1"/>
          <p:nvPr/>
        </p:nvSpPr>
        <p:spPr>
          <a:xfrm>
            <a:off x="685800" y="3108960"/>
            <a:ext cx="2331720" cy="2377440"/>
          </a:xfrm>
          <a:prstGeom prst="rect">
            <a:avLst/>
          </a:prstGeom>
          <a:noFill/>
        </p:spPr>
        <p:txBody>
          <a:bodyPr wrap="square" anchor="t" lIns="36576" rIns="36576" tIns="18288" bIns="18288">
            <a:spAutoFit/>
          </a:bodyPr>
          <a:lstStyle/>
          <a:p>
            <a:pPr algn="ctr"/>
            <a:r>
              <a:rPr sz="2400" b="0">
                <a:solidFill>
                  <a:srgbClr val="000000"/>
                </a:solidFill>
                <a:latin typeface="Source Sans 3"/>
              </a:rPr>
              <a:t>a room, hall or cave around the sound</a:t>
            </a:r>
          </a:p>
        </p:txBody>
      </p:sp>
      <p:sp>
        <p:nvSpPr>
          <p:cNvPr id="11" name="Rounded Rectangle 10"/>
          <p:cNvSpPr/>
          <p:nvPr/>
        </p:nvSpPr>
        <p:spPr>
          <a:xfrm>
            <a:off x="3364992" y="2103120"/>
            <a:ext cx="2606040" cy="35661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2286000"/>
            <a:ext cx="2331720" cy="731520"/>
          </a:xfrm>
          <a:prstGeom prst="rect">
            <a:avLst/>
          </a:prstGeom>
          <a:noFill/>
        </p:spPr>
        <p:txBody>
          <a:bodyPr wrap="square" anchor="t" lIns="36576" rIns="36576" tIns="18288" bIns="18288">
            <a:spAutoFit/>
          </a:bodyPr>
          <a:lstStyle/>
          <a:p>
            <a:pPr algn="ctr"/>
            <a:r>
              <a:rPr sz="3000" b="1">
                <a:solidFill>
                  <a:srgbClr val="E8731A"/>
                </a:solidFill>
                <a:latin typeface="Oswald"/>
              </a:rPr>
              <a:t>DELAY</a:t>
            </a:r>
          </a:p>
        </p:txBody>
      </p:sp>
      <p:sp>
        <p:nvSpPr>
          <p:cNvPr id="13" name="TextBox 12"/>
          <p:cNvSpPr txBox="1"/>
          <p:nvPr/>
        </p:nvSpPr>
        <p:spPr>
          <a:xfrm>
            <a:off x="3502152" y="3108960"/>
            <a:ext cx="2331720" cy="2377440"/>
          </a:xfrm>
          <a:prstGeom prst="rect">
            <a:avLst/>
          </a:prstGeom>
          <a:noFill/>
        </p:spPr>
        <p:txBody>
          <a:bodyPr wrap="square" anchor="t" lIns="36576" rIns="36576" tIns="18288" bIns="18288">
            <a:spAutoFit/>
          </a:bodyPr>
          <a:lstStyle/>
          <a:p>
            <a:pPr algn="ctr"/>
            <a:r>
              <a:rPr sz="2400" b="0">
                <a:solidFill>
                  <a:srgbClr val="000000"/>
                </a:solidFill>
                <a:latin typeface="Source Sans 3"/>
              </a:rPr>
              <a:t>an echo that repeats</a:t>
            </a:r>
          </a:p>
        </p:txBody>
      </p:sp>
      <p:sp>
        <p:nvSpPr>
          <p:cNvPr id="14" name="Rounded Rectangle 13"/>
          <p:cNvSpPr/>
          <p:nvPr/>
        </p:nvSpPr>
        <p:spPr>
          <a:xfrm>
            <a:off x="6181344" y="2103120"/>
            <a:ext cx="2606040" cy="35661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2286000"/>
            <a:ext cx="2331720" cy="731520"/>
          </a:xfrm>
          <a:prstGeom prst="rect">
            <a:avLst/>
          </a:prstGeom>
          <a:noFill/>
        </p:spPr>
        <p:txBody>
          <a:bodyPr wrap="square" anchor="t" lIns="36576" rIns="36576" tIns="18288" bIns="18288">
            <a:spAutoFit/>
          </a:bodyPr>
          <a:lstStyle/>
          <a:p>
            <a:pPr algn="ctr"/>
            <a:r>
              <a:rPr sz="3000" b="1">
                <a:solidFill>
                  <a:srgbClr val="000000"/>
                </a:solidFill>
                <a:latin typeface="Oswald"/>
              </a:rPr>
              <a:t>DRY</a:t>
            </a:r>
          </a:p>
        </p:txBody>
      </p:sp>
      <p:sp>
        <p:nvSpPr>
          <p:cNvPr id="16" name="TextBox 15"/>
          <p:cNvSpPr txBox="1"/>
          <p:nvPr/>
        </p:nvSpPr>
        <p:spPr>
          <a:xfrm>
            <a:off x="6318504" y="3108960"/>
            <a:ext cx="2331720" cy="2377440"/>
          </a:xfrm>
          <a:prstGeom prst="rect">
            <a:avLst/>
          </a:prstGeom>
          <a:noFill/>
        </p:spPr>
        <p:txBody>
          <a:bodyPr wrap="square" anchor="t" lIns="36576" rIns="36576" tIns="18288" bIns="18288">
            <a:spAutoFit/>
          </a:bodyPr>
          <a:lstStyle/>
          <a:p>
            <a:pPr algn="ctr"/>
            <a:r>
              <a:rPr sz="2400" b="0">
                <a:solidFill>
                  <a:srgbClr val="000000"/>
                </a:solidFill>
                <a:latin typeface="Source Sans 3"/>
              </a:rPr>
              <a:t>the original sound</a:t>
            </a:r>
          </a:p>
        </p:txBody>
      </p:sp>
      <p:sp>
        <p:nvSpPr>
          <p:cNvPr id="17" name="Rounded Rectangle 16"/>
          <p:cNvSpPr/>
          <p:nvPr/>
        </p:nvSpPr>
        <p:spPr>
          <a:xfrm>
            <a:off x="8997696" y="2103120"/>
            <a:ext cx="2606040" cy="35661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4856" y="2286000"/>
            <a:ext cx="2331720" cy="731520"/>
          </a:xfrm>
          <a:prstGeom prst="rect">
            <a:avLst/>
          </a:prstGeom>
          <a:noFill/>
        </p:spPr>
        <p:txBody>
          <a:bodyPr wrap="square" anchor="t" lIns="36576" rIns="36576" tIns="18288" bIns="18288">
            <a:spAutoFit/>
          </a:bodyPr>
          <a:lstStyle/>
          <a:p>
            <a:pPr algn="ctr"/>
            <a:r>
              <a:rPr sz="3000" b="1">
                <a:solidFill>
                  <a:srgbClr val="000000"/>
                </a:solidFill>
                <a:latin typeface="Oswald"/>
              </a:rPr>
              <a:t>WET</a:t>
            </a:r>
          </a:p>
        </p:txBody>
      </p:sp>
      <p:sp>
        <p:nvSpPr>
          <p:cNvPr id="19" name="TextBox 18"/>
          <p:cNvSpPr txBox="1"/>
          <p:nvPr/>
        </p:nvSpPr>
        <p:spPr>
          <a:xfrm>
            <a:off x="9134856" y="3108960"/>
            <a:ext cx="2331720" cy="2377440"/>
          </a:xfrm>
          <a:prstGeom prst="rect">
            <a:avLst/>
          </a:prstGeom>
          <a:noFill/>
        </p:spPr>
        <p:txBody>
          <a:bodyPr wrap="square" anchor="t" lIns="36576" rIns="36576" tIns="18288" bIns="18288">
            <a:spAutoFit/>
          </a:bodyPr>
          <a:lstStyle/>
          <a:p>
            <a:pPr algn="ctr"/>
            <a:r>
              <a:rPr sz="2400" b="0">
                <a:solidFill>
                  <a:srgbClr val="000000"/>
                </a:solidFill>
                <a:latin typeface="Source Sans 3"/>
              </a:rPr>
              <a:t>the effect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THE HECK IS A BUS?</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pic>
        <p:nvPicPr>
          <p:cNvPr id="8" name="Picture 7" descr="deck-bus.png"/>
          <p:cNvPicPr>
            <a:picLocks noChangeAspect="1"/>
          </p:cNvPicPr>
          <p:nvPr/>
        </p:nvPicPr>
        <p:blipFill>
          <a:blip r:embed="rId2"/>
          <a:stretch>
            <a:fillRect/>
          </a:stretch>
        </p:blipFill>
        <p:spPr>
          <a:xfrm>
            <a:off x="1252728" y="1783080"/>
            <a:ext cx="9692640" cy="43078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NEAR OR FAR?</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sp>
        <p:nvSpPr>
          <p:cNvPr id="8" name="Oval 7"/>
          <p:cNvSpPr/>
          <p:nvPr/>
        </p:nvSpPr>
        <p:spPr>
          <a:xfrm>
            <a:off x="548640" y="214884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Same footstep: reverb send at –30 dB, then at –6 dB</a:t>
            </a:r>
          </a:p>
        </p:txBody>
      </p:sp>
      <p:sp>
        <p:nvSpPr>
          <p:cNvPr id="10" name="Oval 9"/>
          <p:cNvSpPr/>
          <p:nvPr/>
        </p:nvSpPr>
        <p:spPr>
          <a:xfrm>
            <a:off x="548640" y="281559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7843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Which one sounds closer?</a:t>
            </a:r>
          </a:p>
        </p:txBody>
      </p:sp>
      <p:sp>
        <p:nvSpPr>
          <p:cNvPr id="12" name="Oval 11"/>
          <p:cNvSpPr/>
          <p:nvPr/>
        </p:nvSpPr>
        <p:spPr>
          <a:xfrm>
            <a:off x="548640" y="348234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3451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Which one sounds farther away?</a:t>
            </a:r>
          </a:p>
        </p:txBody>
      </p:sp>
      <p:sp>
        <p:nvSpPr>
          <p:cNvPr id="14" name="Oval 13"/>
          <p:cNvSpPr/>
          <p:nvPr/>
        </p:nvSpPr>
        <p:spPr>
          <a:xfrm>
            <a:off x="548640" y="414909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01193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Why not just put the reverb on every track?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THE REVERB BUS</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sp>
        <p:nvSpPr>
          <p:cNvPr id="8" name="Oval 7"/>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0" name="TextBox 9"/>
          <p:cNvSpPr txBox="1"/>
          <p:nvPr/>
        </p:nvSpPr>
        <p:spPr>
          <a:xfrm>
            <a:off x="1325880" y="1828799"/>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Mixer (X): on a track, click an empty Send slot, choose Bus 1</a:t>
            </a:r>
          </a:p>
        </p:txBody>
      </p:sp>
      <p:sp>
        <p:nvSpPr>
          <p:cNvPr id="11" name="Oval 10"/>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3" name="TextBox 12"/>
          <p:cNvSpPr txBox="1"/>
          <p:nvPr/>
        </p:nvSpPr>
        <p:spPr>
          <a:xfrm>
            <a:off x="1325880" y="269748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Logic creates an Aux channel. Name it REVERB BUS</a:t>
            </a:r>
          </a:p>
        </p:txBody>
      </p:sp>
      <p:sp>
        <p:nvSpPr>
          <p:cNvPr id="14" name="Oval 13"/>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6" name="TextBox 15"/>
          <p:cNvSpPr txBox="1"/>
          <p:nvPr/>
        </p:nvSpPr>
        <p:spPr>
          <a:xfrm>
            <a:off x="1325880" y="356616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On the Aux insert: Reverb › Space Designer, a large-space preset</a:t>
            </a:r>
          </a:p>
        </p:txBody>
      </p:sp>
      <p:sp>
        <p:nvSpPr>
          <p:cNvPr id="17" name="Oval 16"/>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19" name="TextBox 18"/>
          <p:cNvSpPr txBox="1"/>
          <p:nvPr/>
        </p:nvSpPr>
        <p:spPr>
          <a:xfrm>
            <a:off x="1325880" y="443484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In Space Designer: Dry 0%, Wet 100%</a:t>
            </a:r>
          </a:p>
        </p:txBody>
      </p:sp>
      <p:sp>
        <p:nvSpPr>
          <p:cNvPr id="20" name="Oval 19"/>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2" name="TextBox 21"/>
          <p:cNvSpPr txBox="1"/>
          <p:nvPr/>
        </p:nvSpPr>
        <p:spPr>
          <a:xfrm>
            <a:off x="1325880" y="530352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Raise the track’s send (start around –15 dB), then send 2 more tracks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THEN THE DELAY BUS</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sp>
        <p:nvSpPr>
          <p:cNvPr id="8" name="Oval 7"/>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0" name="TextBox 9"/>
          <p:cNvSpPr txBox="1"/>
          <p:nvPr/>
        </p:nvSpPr>
        <p:spPr>
          <a:xfrm>
            <a:off x="1325880" y="1828799"/>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On a track, click an empty Send slot, choose Bus 2</a:t>
            </a:r>
          </a:p>
        </p:txBody>
      </p:sp>
      <p:sp>
        <p:nvSpPr>
          <p:cNvPr id="11" name="Oval 10"/>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3" name="TextBox 12"/>
          <p:cNvSpPr txBox="1"/>
          <p:nvPr/>
        </p:nvSpPr>
        <p:spPr>
          <a:xfrm>
            <a:off x="1325880" y="269748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On the new Aux: Delay › Tape Delay. Name it DELAY BUS</a:t>
            </a:r>
          </a:p>
        </p:txBody>
      </p:sp>
      <p:sp>
        <p:nvSpPr>
          <p:cNvPr id="14" name="Oval 13"/>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6" name="TextBox 15"/>
          <p:cNvSpPr txBox="1"/>
          <p:nvPr/>
        </p:nvSpPr>
        <p:spPr>
          <a:xfrm>
            <a:off x="1325880" y="356616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Tape Delay: Dry 0%, Wet 100%</a:t>
            </a:r>
          </a:p>
        </p:txBody>
      </p:sp>
      <p:sp>
        <p:nvSpPr>
          <p:cNvPr id="17" name="Oval 16"/>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19" name="TextBox 18"/>
          <p:cNvSpPr txBox="1"/>
          <p:nvPr/>
        </p:nvSpPr>
        <p:spPr>
          <a:xfrm>
            <a:off x="1325880" y="443484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Send lower than the reverb: try –20 to –25 dB</a:t>
            </a:r>
          </a:p>
        </p:txBody>
      </p:sp>
      <p:sp>
        <p:nvSpPr>
          <p:cNvPr id="20" name="Oval 19"/>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2" name="TextBox 21"/>
          <p:cNvSpPr txBox="1"/>
          <p:nvPr/>
        </p:nvSpPr>
        <p:spPr>
          <a:xfrm>
            <a:off x="1325880" y="5303520"/>
            <a:ext cx="10241280" cy="822960"/>
          </a:xfrm>
          <a:prstGeom prst="rect">
            <a:avLst/>
          </a:prstGeom>
          <a:noFill/>
        </p:spPr>
        <p:txBody>
          <a:bodyPr wrap="square" anchor="ctr" lIns="36576" rIns="36576" tIns="18288" bIns="18288">
            <a:spAutoFit/>
          </a:bodyPr>
          <a:lstStyle/>
          <a:p>
            <a:pPr algn="l"/>
            <a:r>
              <a:rPr sz="2200" b="0">
                <a:solidFill>
                  <a:srgbClr val="000000"/>
                </a:solidFill>
                <a:latin typeface="Source Sans 3"/>
              </a:rPr>
              <a:t>Long time (600–900 ms) + more feedback = eerie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TWO MINOR KEYS</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pic>
        <p:nvPicPr>
          <p:cNvPr id="8" name="Picture 7" descr="deck-keys.png"/>
          <p:cNvPicPr>
            <a:picLocks noChangeAspect="1"/>
          </p:cNvPicPr>
          <p:nvPr/>
        </p:nvPicPr>
        <p:blipFill>
          <a:blip r:embed="rId2"/>
          <a:stretch>
            <a:fillRect/>
          </a:stretch>
        </p:blipFill>
        <p:spPr>
          <a:xfrm>
            <a:off x="548640" y="1828800"/>
            <a:ext cx="11091672" cy="443666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WORKED EXAMPLE: SCORING THE WOODS</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pic>
        <p:nvPicPr>
          <p:cNvPr id="8" name="Picture 7" descr="deck-score.png"/>
          <p:cNvPicPr>
            <a:picLocks noChangeAspect="1"/>
          </p:cNvPicPr>
          <p:nvPr/>
        </p:nvPicPr>
        <p:blipFill>
          <a:blip r:embed="rId2"/>
          <a:stretch>
            <a:fillRect/>
          </a:stretch>
        </p:blipFill>
        <p:spPr>
          <a:xfrm>
            <a:off x="548640" y="1828800"/>
            <a:ext cx="11091672" cy="3771168"/>
          </a:xfrm>
          <a:prstGeom prst="rect">
            <a:avLst/>
          </a:prstGeom>
        </p:spPr>
      </p:pic>
      <p:sp>
        <p:nvSpPr>
          <p:cNvPr id="9" name="TextBox 8"/>
          <p:cNvSpPr txBox="1"/>
          <p:nvPr/>
        </p:nvSpPr>
        <p:spPr>
          <a:xfrm>
            <a:off x="548640" y="5737128"/>
            <a:ext cx="11064240" cy="457200"/>
          </a:xfrm>
          <a:prstGeom prst="rect">
            <a:avLst/>
          </a:prstGeom>
          <a:noFill/>
        </p:spPr>
        <p:txBody>
          <a:bodyPr wrap="square" anchor="t" lIns="36576" rIns="36576" tIns="18288" bIns="18288">
            <a:spAutoFit/>
          </a:bodyPr>
          <a:lstStyle/>
          <a:p>
            <a:pPr algn="l"/>
            <a:r>
              <a:rPr sz="1700" b="0">
                <a:solidFill>
                  <a:srgbClr val="000000"/>
                </a:solidFill>
                <a:latin typeface="Source Sans 3"/>
              </a:rPr>
              <a:t>32 measures at 128 BPM = 60 seconds. Every 4 measures = 7.5 seconds. Numbers = moments in the video.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YOUR PROJECT: SPOOKY TUNES</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8" name="Oval 7"/>
          <p:cNvSpPr/>
          <p:nvPr/>
        </p:nvSpPr>
        <p:spPr>
          <a:xfrm>
            <a:off x="548640" y="214884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Score a one-minute woods video</a:t>
            </a:r>
          </a:p>
        </p:txBody>
      </p:sp>
      <p:sp>
        <p:nvSpPr>
          <p:cNvPr id="10" name="Oval 9"/>
          <p:cNvSpPr/>
          <p:nvPr/>
        </p:nvSpPr>
        <p:spPr>
          <a:xfrm>
            <a:off x="548640" y="281559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7843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32 measures in two minor keys</a:t>
            </a:r>
          </a:p>
        </p:txBody>
      </p:sp>
      <p:sp>
        <p:nvSpPr>
          <p:cNvPr id="12" name="Oval 11"/>
          <p:cNvSpPr/>
          <p:nvPr/>
        </p:nvSpPr>
        <p:spPr>
          <a:xfrm>
            <a:off x="548640" y="348234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3451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A reverb bus and a delay bus</a:t>
            </a:r>
          </a:p>
        </p:txBody>
      </p:sp>
      <p:sp>
        <p:nvSpPr>
          <p:cNvPr id="14" name="Oval 13"/>
          <p:cNvSpPr/>
          <p:nvPr/>
        </p:nvSpPr>
        <p:spPr>
          <a:xfrm>
            <a:off x="548640" y="414909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01193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5+ sound sources: the Logic library, your own recording, a free download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STEPS</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sp>
        <p:nvSpPr>
          <p:cNvPr id="8" name="Rounded Rectangle 7"/>
          <p:cNvSpPr/>
          <p:nvPr/>
        </p:nvSpPr>
        <p:spPr>
          <a:xfrm>
            <a:off x="548640" y="1828800"/>
            <a:ext cx="1325880" cy="5486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828800"/>
            <a:ext cx="1325880" cy="548640"/>
          </a:xfrm>
          <a:prstGeom prst="rect">
            <a:avLst/>
          </a:prstGeom>
          <a:noFill/>
        </p:spPr>
        <p:txBody>
          <a:bodyPr wrap="square" anchor="ctr" lIns="36576" rIns="36576" tIns="18288" bIns="18288">
            <a:spAutoFit/>
          </a:bodyPr>
          <a:lstStyle/>
          <a:p>
            <a:pPr algn="ctr"/>
            <a:r>
              <a:rPr sz="2000" b="1">
                <a:solidFill>
                  <a:srgbClr val="FFFFFF"/>
                </a:solidFill>
                <a:latin typeface="Oswald"/>
              </a:rPr>
              <a:t>DAY 1</a:t>
            </a:r>
          </a:p>
        </p:txBody>
      </p:sp>
      <p:sp>
        <p:nvSpPr>
          <p:cNvPr id="10" name="TextBox 9"/>
          <p:cNvSpPr txBox="1"/>
          <p:nvPr/>
        </p:nvSpPr>
        <p:spPr>
          <a:xfrm>
            <a:off x="2057400" y="1828800"/>
            <a:ext cx="9509760" cy="548640"/>
          </a:xfrm>
          <a:prstGeom prst="rect">
            <a:avLst/>
          </a:prstGeom>
          <a:noFill/>
        </p:spPr>
        <p:txBody>
          <a:bodyPr wrap="square" anchor="ctr" lIns="36576" rIns="36576" tIns="18288" bIns="18288">
            <a:spAutoFit/>
          </a:bodyPr>
          <a:lstStyle/>
          <a:p>
            <a:pPr algn="l"/>
            <a:r>
              <a:rPr sz="2400" b="0">
                <a:solidFill>
                  <a:srgbClr val="000000"/>
                </a:solidFill>
                <a:latin typeface="Source Sans 3"/>
              </a:rPr>
              <a:t>Bus demo · your reverb bus working</a:t>
            </a:r>
          </a:p>
        </p:txBody>
      </p:sp>
      <p:sp>
        <p:nvSpPr>
          <p:cNvPr id="11" name="Rounded Rectangle 10"/>
          <p:cNvSpPr/>
          <p:nvPr/>
        </p:nvSpPr>
        <p:spPr>
          <a:xfrm>
            <a:off x="548640" y="2542032"/>
            <a:ext cx="1325880" cy="5486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42032"/>
            <a:ext cx="1325880" cy="548640"/>
          </a:xfrm>
          <a:prstGeom prst="rect">
            <a:avLst/>
          </a:prstGeom>
          <a:noFill/>
        </p:spPr>
        <p:txBody>
          <a:bodyPr wrap="square" anchor="ctr" lIns="36576" rIns="36576" tIns="18288" bIns="18288">
            <a:spAutoFit/>
          </a:bodyPr>
          <a:lstStyle/>
          <a:p>
            <a:pPr algn="ctr"/>
            <a:r>
              <a:rPr sz="2000" b="1">
                <a:solidFill>
                  <a:srgbClr val="FFFFFF"/>
                </a:solidFill>
                <a:latin typeface="Oswald"/>
              </a:rPr>
              <a:t>DAY 2</a:t>
            </a:r>
          </a:p>
        </p:txBody>
      </p:sp>
      <p:sp>
        <p:nvSpPr>
          <p:cNvPr id="13" name="TextBox 12"/>
          <p:cNvSpPr txBox="1"/>
          <p:nvPr/>
        </p:nvSpPr>
        <p:spPr>
          <a:xfrm>
            <a:off x="2057400" y="2542032"/>
            <a:ext cx="9509760" cy="548640"/>
          </a:xfrm>
          <a:prstGeom prst="rect">
            <a:avLst/>
          </a:prstGeom>
          <a:noFill/>
        </p:spPr>
        <p:txBody>
          <a:bodyPr wrap="square" anchor="ctr" lIns="36576" rIns="36576" tIns="18288" bIns="18288">
            <a:spAutoFit/>
          </a:bodyPr>
          <a:lstStyle/>
          <a:p>
            <a:pPr algn="l"/>
            <a:r>
              <a:rPr sz="2400" b="0">
                <a:solidFill>
                  <a:srgbClr val="000000"/>
                </a:solidFill>
                <a:latin typeface="Source Sans 3"/>
              </a:rPr>
              <a:t>Delay bus · pick two minor keys · collect 5+ sounds</a:t>
            </a:r>
          </a:p>
        </p:txBody>
      </p:sp>
      <p:sp>
        <p:nvSpPr>
          <p:cNvPr id="14" name="Rounded Rectangle 13"/>
          <p:cNvSpPr/>
          <p:nvPr/>
        </p:nvSpPr>
        <p:spPr>
          <a:xfrm>
            <a:off x="548640" y="3255264"/>
            <a:ext cx="1325880" cy="548640"/>
          </a:xfrm>
          <a:prstGeom prst="roundRect">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255264"/>
            <a:ext cx="1325880" cy="548640"/>
          </a:xfrm>
          <a:prstGeom prst="rect">
            <a:avLst/>
          </a:prstGeom>
          <a:noFill/>
        </p:spPr>
        <p:txBody>
          <a:bodyPr wrap="square" anchor="ctr" lIns="36576" rIns="36576" tIns="18288" bIns="18288">
            <a:spAutoFit/>
          </a:bodyPr>
          <a:lstStyle/>
          <a:p>
            <a:pPr algn="ctr"/>
            <a:r>
              <a:rPr sz="2000" b="1">
                <a:solidFill>
                  <a:srgbClr val="FFFFFF"/>
                </a:solidFill>
                <a:latin typeface="Oswald"/>
              </a:rPr>
              <a:t>DAY 3</a:t>
            </a:r>
          </a:p>
        </p:txBody>
      </p:sp>
      <p:sp>
        <p:nvSpPr>
          <p:cNvPr id="16" name="TextBox 15"/>
          <p:cNvSpPr txBox="1"/>
          <p:nvPr/>
        </p:nvSpPr>
        <p:spPr>
          <a:xfrm>
            <a:off x="2057400" y="3255264"/>
            <a:ext cx="9509760" cy="548640"/>
          </a:xfrm>
          <a:prstGeom prst="rect">
            <a:avLst/>
          </a:prstGeom>
          <a:noFill/>
        </p:spPr>
        <p:txBody>
          <a:bodyPr wrap="square" anchor="ctr" lIns="36576" rIns="36576" tIns="18288" bIns="18288">
            <a:spAutoFit/>
          </a:bodyPr>
          <a:lstStyle/>
          <a:p>
            <a:pPr algn="l"/>
            <a:r>
              <a:rPr sz="2400" b="0">
                <a:solidFill>
                  <a:srgbClr val="000000"/>
                </a:solidFill>
                <a:latin typeface="Source Sans 3"/>
              </a:rPr>
              <a:t>Import the video · markers · score key 1</a:t>
            </a:r>
          </a:p>
        </p:txBody>
      </p:sp>
      <p:sp>
        <p:nvSpPr>
          <p:cNvPr id="17" name="Rounded Rectangle 16"/>
          <p:cNvSpPr/>
          <p:nvPr/>
        </p:nvSpPr>
        <p:spPr>
          <a:xfrm>
            <a:off x="548640" y="3968496"/>
            <a:ext cx="1325880" cy="548640"/>
          </a:xfrm>
          <a:prstGeom prst="roundRect">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968496"/>
            <a:ext cx="1325880" cy="548640"/>
          </a:xfrm>
          <a:prstGeom prst="rect">
            <a:avLst/>
          </a:prstGeom>
          <a:noFill/>
        </p:spPr>
        <p:txBody>
          <a:bodyPr wrap="square" anchor="ctr" lIns="36576" rIns="36576" tIns="18288" bIns="18288">
            <a:spAutoFit/>
          </a:bodyPr>
          <a:lstStyle/>
          <a:p>
            <a:pPr algn="ctr"/>
            <a:r>
              <a:rPr sz="2000" b="1">
                <a:solidFill>
                  <a:srgbClr val="FFFFFF"/>
                </a:solidFill>
                <a:latin typeface="Oswald"/>
              </a:rPr>
              <a:t>DAY 4</a:t>
            </a:r>
          </a:p>
        </p:txBody>
      </p:sp>
      <p:sp>
        <p:nvSpPr>
          <p:cNvPr id="19" name="TextBox 18"/>
          <p:cNvSpPr txBox="1"/>
          <p:nvPr/>
        </p:nvSpPr>
        <p:spPr>
          <a:xfrm>
            <a:off x="2057400" y="3968496"/>
            <a:ext cx="9509760" cy="548640"/>
          </a:xfrm>
          <a:prstGeom prst="rect">
            <a:avLst/>
          </a:prstGeom>
          <a:noFill/>
        </p:spPr>
        <p:txBody>
          <a:bodyPr wrap="square" anchor="ctr" lIns="36576" rIns="36576" tIns="18288" bIns="18288">
            <a:spAutoFit/>
          </a:bodyPr>
          <a:lstStyle/>
          <a:p>
            <a:pPr algn="l"/>
            <a:r>
              <a:rPr sz="2400" b="0">
                <a:solidFill>
                  <a:srgbClr val="000000"/>
                </a:solidFill>
                <a:latin typeface="Source Sans 3"/>
              </a:rPr>
              <a:t>Key 2 from measure 17 · rough mix</a:t>
            </a:r>
          </a:p>
        </p:txBody>
      </p:sp>
      <p:sp>
        <p:nvSpPr>
          <p:cNvPr id="20" name="Rounded Rectangle 19"/>
          <p:cNvSpPr/>
          <p:nvPr/>
        </p:nvSpPr>
        <p:spPr>
          <a:xfrm>
            <a:off x="548640" y="4681728"/>
            <a:ext cx="1325880" cy="5486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681728"/>
            <a:ext cx="1325880" cy="548640"/>
          </a:xfrm>
          <a:prstGeom prst="rect">
            <a:avLst/>
          </a:prstGeom>
          <a:noFill/>
        </p:spPr>
        <p:txBody>
          <a:bodyPr wrap="square" anchor="ctr" lIns="36576" rIns="36576" tIns="18288" bIns="18288">
            <a:spAutoFit/>
          </a:bodyPr>
          <a:lstStyle/>
          <a:p>
            <a:pPr algn="ctr"/>
            <a:r>
              <a:rPr sz="2000" b="1">
                <a:solidFill>
                  <a:srgbClr val="FFFFFF"/>
                </a:solidFill>
                <a:latin typeface="Oswald"/>
              </a:rPr>
              <a:t>DAY 5</a:t>
            </a:r>
          </a:p>
        </p:txBody>
      </p:sp>
      <p:sp>
        <p:nvSpPr>
          <p:cNvPr id="22" name="TextBox 21"/>
          <p:cNvSpPr txBox="1"/>
          <p:nvPr/>
        </p:nvSpPr>
        <p:spPr>
          <a:xfrm>
            <a:off x="2057400" y="4681728"/>
            <a:ext cx="9509760" cy="548640"/>
          </a:xfrm>
          <a:prstGeom prst="rect">
            <a:avLst/>
          </a:prstGeom>
          <a:noFill/>
        </p:spPr>
        <p:txBody>
          <a:bodyPr wrap="square" anchor="ctr" lIns="36576" rIns="36576" tIns="18288" bIns="18288">
            <a:spAutoFit/>
          </a:bodyPr>
          <a:lstStyle/>
          <a:p>
            <a:pPr algn="l"/>
            <a:r>
              <a:rPr sz="2400" b="0">
                <a:solidFill>
                  <a:srgbClr val="000000"/>
                </a:solidFill>
                <a:latin typeface="Source Sans 3"/>
              </a:rPr>
              <a:t>Final mix · reflection · submit</a:t>
            </a:r>
          </a:p>
        </p:txBody>
      </p:sp>
      <p:sp>
        <p:nvSpPr>
          <p:cNvPr id="23" name="Rounded Rectangle 22"/>
          <p:cNvSpPr/>
          <p:nvPr/>
        </p:nvSpPr>
        <p:spPr>
          <a:xfrm>
            <a:off x="548640" y="5394960"/>
            <a:ext cx="1325880" cy="54864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394960"/>
            <a:ext cx="1325880" cy="548640"/>
          </a:xfrm>
          <a:prstGeom prst="rect">
            <a:avLst/>
          </a:prstGeom>
          <a:noFill/>
        </p:spPr>
        <p:txBody>
          <a:bodyPr wrap="square" anchor="ctr" lIns="36576" rIns="36576" tIns="18288" bIns="18288">
            <a:spAutoFit/>
          </a:bodyPr>
          <a:lstStyle/>
          <a:p>
            <a:pPr algn="ctr"/>
            <a:r>
              <a:rPr sz="2000" b="1">
                <a:solidFill>
                  <a:srgbClr val="FFFFFF"/>
                </a:solidFill>
                <a:latin typeface="Oswald"/>
              </a:rPr>
              <a:t>DAY 6</a:t>
            </a:r>
          </a:p>
        </p:txBody>
      </p:sp>
      <p:sp>
        <p:nvSpPr>
          <p:cNvPr id="25" name="TextBox 24"/>
          <p:cNvSpPr txBox="1"/>
          <p:nvPr/>
        </p:nvSpPr>
        <p:spPr>
          <a:xfrm>
            <a:off x="2057400" y="5394960"/>
            <a:ext cx="9509760" cy="548640"/>
          </a:xfrm>
          <a:prstGeom prst="rect">
            <a:avLst/>
          </a:prstGeom>
          <a:noFill/>
        </p:spPr>
        <p:txBody>
          <a:bodyPr wrap="square" anchor="ctr" lIns="36576" rIns="36576" tIns="18288" bIns="18288">
            <a:spAutoFit/>
          </a:bodyPr>
          <a:lstStyle/>
          <a:p>
            <a:pPr algn="l"/>
            <a:r>
              <a:rPr sz="2400" b="0">
                <a:solidFill>
                  <a:srgbClr val="000000"/>
                </a:solidFill>
                <a:latin typeface="Source Sans 3"/>
              </a:rPr>
              <a:t>Present with the video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8" name="Rounded Rectangle 7"/>
          <p:cNvSpPr/>
          <p:nvPr/>
        </p:nvSpPr>
        <p:spPr>
          <a:xfrm>
            <a:off x="54864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65960"/>
            <a:ext cx="4892040" cy="1234440"/>
          </a:xfrm>
          <a:prstGeom prst="rect">
            <a:avLst/>
          </a:prstGeom>
          <a:noFill/>
        </p:spPr>
        <p:txBody>
          <a:bodyPr wrap="square" anchor="t" lIns="36576" rIns="36576" tIns="18288" bIns="18288">
            <a:spAutoFit/>
          </a:bodyPr>
          <a:lstStyle/>
          <a:p>
            <a:pPr algn="l"/>
            <a:r>
              <a:rPr sz="2200" b="0">
                <a:solidFill>
                  <a:srgbClr val="000000"/>
                </a:solidFill>
                <a:latin typeface="Source Sans 3"/>
              </a:rPr>
              <a:t>Reverb bus (Bus 1) and delay bus (Bus 2), both 100% wet</a:t>
            </a:r>
          </a:p>
        </p:txBody>
      </p:sp>
      <p:sp>
        <p:nvSpPr>
          <p:cNvPr id="10" name="Rounded Rectangle 9"/>
          <p:cNvSpPr/>
          <p:nvPr/>
        </p:nvSpPr>
        <p:spPr>
          <a:xfrm>
            <a:off x="6172200" y="20391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0840" y="1965960"/>
            <a:ext cx="4892040" cy="1234440"/>
          </a:xfrm>
          <a:prstGeom prst="rect">
            <a:avLst/>
          </a:prstGeom>
          <a:noFill/>
        </p:spPr>
        <p:txBody>
          <a:bodyPr wrap="square" anchor="t" lIns="36576" rIns="36576" tIns="18288" bIns="18288">
            <a:spAutoFit/>
          </a:bodyPr>
          <a:lstStyle/>
          <a:p>
            <a:pPr algn="l"/>
            <a:r>
              <a:rPr sz="2200" b="0">
                <a:solidFill>
                  <a:srgbClr val="000000"/>
                </a:solidFill>
                <a:latin typeface="Source Sans 3"/>
              </a:rPr>
              <a:t>3+ tracks to reverb, 1+ to delay</a:t>
            </a:r>
          </a:p>
        </p:txBody>
      </p:sp>
      <p:sp>
        <p:nvSpPr>
          <p:cNvPr id="12" name="Rounded Rectangle 11"/>
          <p:cNvSpPr/>
          <p:nvPr/>
        </p:nvSpPr>
        <p:spPr>
          <a:xfrm>
            <a:off x="54864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337560"/>
            <a:ext cx="4892040" cy="1234440"/>
          </a:xfrm>
          <a:prstGeom prst="rect">
            <a:avLst/>
          </a:prstGeom>
          <a:noFill/>
        </p:spPr>
        <p:txBody>
          <a:bodyPr wrap="square" anchor="t" lIns="36576" rIns="36576" tIns="18288" bIns="18288">
            <a:spAutoFit/>
          </a:bodyPr>
          <a:lstStyle/>
          <a:p>
            <a:pPr algn="l"/>
            <a:r>
              <a:rPr sz="2200" b="0">
                <a:solidFill>
                  <a:srgbClr val="000000"/>
                </a:solidFill>
                <a:latin typeface="Source Sans 3"/>
              </a:rPr>
              <a:t>Two minor keys, 32 measures, the whole video</a:t>
            </a:r>
          </a:p>
        </p:txBody>
      </p:sp>
      <p:sp>
        <p:nvSpPr>
          <p:cNvPr id="14" name="Rounded Rectangle 13"/>
          <p:cNvSpPr/>
          <p:nvPr/>
        </p:nvSpPr>
        <p:spPr>
          <a:xfrm>
            <a:off x="6172200" y="34107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3337560"/>
            <a:ext cx="4892040" cy="1234440"/>
          </a:xfrm>
          <a:prstGeom prst="rect">
            <a:avLst/>
          </a:prstGeom>
          <a:noFill/>
        </p:spPr>
        <p:txBody>
          <a:bodyPr wrap="square" anchor="t" lIns="36576" rIns="36576" tIns="18288" bIns="18288">
            <a:spAutoFit/>
          </a:bodyPr>
          <a:lstStyle/>
          <a:p>
            <a:pPr algn="l"/>
            <a:r>
              <a:rPr sz="2200" b="0">
                <a:solidFill>
                  <a:srgbClr val="000000"/>
                </a:solidFill>
                <a:latin typeface="Source Sans 3"/>
              </a:rPr>
              <a:t>5+ sources: 1+ recording, 1+ free download</a:t>
            </a:r>
          </a:p>
        </p:txBody>
      </p:sp>
      <p:sp>
        <p:nvSpPr>
          <p:cNvPr id="16" name="Rounded Rectangle 15"/>
          <p:cNvSpPr/>
          <p:nvPr/>
        </p:nvSpPr>
        <p:spPr>
          <a:xfrm>
            <a:off x="54864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09160"/>
            <a:ext cx="4892040" cy="1234440"/>
          </a:xfrm>
          <a:prstGeom prst="rect">
            <a:avLst/>
          </a:prstGeom>
          <a:noFill/>
        </p:spPr>
        <p:txBody>
          <a:bodyPr wrap="square" anchor="t" lIns="36576" rIns="36576" tIns="18288" bIns="18288">
            <a:spAutoFit/>
          </a:bodyPr>
          <a:lstStyle/>
          <a:p>
            <a:pPr algn="l"/>
            <a:r>
              <a:rPr sz="2200" b="0">
                <a:solidFill>
                  <a:srgbClr val="000000"/>
                </a:solidFill>
                <a:latin typeface="Source Sans 3"/>
              </a:rPr>
              <a:t>MP3 + compressed .logicx, named Your Name – Spooky Tunes</a:t>
            </a:r>
          </a:p>
        </p:txBody>
      </p:sp>
      <p:sp>
        <p:nvSpPr>
          <p:cNvPr id="18" name="Rounded Rectangle 17"/>
          <p:cNvSpPr/>
          <p:nvPr/>
        </p:nvSpPr>
        <p:spPr>
          <a:xfrm>
            <a:off x="6172200" y="4782312"/>
            <a:ext cx="384048" cy="384048"/>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4709160"/>
            <a:ext cx="4892040" cy="1234440"/>
          </a:xfrm>
          <a:prstGeom prst="rect">
            <a:avLst/>
          </a:prstGeom>
          <a:noFill/>
        </p:spPr>
        <p:txBody>
          <a:bodyPr wrap="square" anchor="t" lIns="36576" rIns="36576" tIns="18288" bIns="18288">
            <a:spAutoFit/>
          </a:bodyPr>
          <a:lstStyle/>
          <a:p>
            <a:pPr algn="l"/>
            <a:r>
              <a:rPr sz="2200" b="0">
                <a:solidFill>
                  <a:srgbClr val="000000"/>
                </a:solidFill>
                <a:latin typeface="Source Sans 3"/>
              </a:rPr>
              <a:t>Reflection + three feedback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8" name="Rounded Rectangle 7"/>
          <p:cNvSpPr/>
          <p:nvPr/>
        </p:nvSpPr>
        <p:spPr>
          <a:xfrm>
            <a:off x="548640" y="1874519"/>
            <a:ext cx="393192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74519"/>
            <a:ext cx="3657600" cy="713232"/>
          </a:xfrm>
          <a:prstGeom prst="rect">
            <a:avLst/>
          </a:prstGeom>
          <a:noFill/>
        </p:spPr>
        <p:txBody>
          <a:bodyPr wrap="square" anchor="ctr" lIns="36576" rIns="36576" tIns="18288" bIns="18288">
            <a:spAutoFit/>
          </a:bodyPr>
          <a:lstStyle/>
          <a:p>
            <a:pPr algn="l"/>
            <a:r>
              <a:rPr sz="1800" b="1">
                <a:solidFill>
                  <a:srgbClr val="FFFFFF"/>
                </a:solidFill>
                <a:latin typeface="Oswald"/>
              </a:rPr>
              <a:t>SOUND DESIGN &amp; ATMOSPHERE</a:t>
            </a:r>
          </a:p>
        </p:txBody>
      </p:sp>
      <p:sp>
        <p:nvSpPr>
          <p:cNvPr id="10" name="TextBox 9"/>
          <p:cNvSpPr txBox="1"/>
          <p:nvPr/>
        </p:nvSpPr>
        <p:spPr>
          <a:xfrm>
            <a:off x="4663440" y="1874519"/>
            <a:ext cx="6035040" cy="713232"/>
          </a:xfrm>
          <a:prstGeom prst="rect">
            <a:avLst/>
          </a:prstGeom>
          <a:noFill/>
        </p:spPr>
        <p:txBody>
          <a:bodyPr wrap="square" anchor="ctr" lIns="36576" rIns="36576" tIns="18288" bIns="18288">
            <a:spAutoFit/>
          </a:bodyPr>
          <a:lstStyle/>
          <a:p>
            <a:pPr algn="l"/>
            <a:r>
              <a:rPr sz="1600" b="0">
                <a:solidFill>
                  <a:srgbClr val="000000"/>
                </a:solidFill>
                <a:latin typeface="Source Sans 3"/>
              </a:rPr>
              <a:t>5 = Sounds from 5+ sources create an unsettling atmosphere that serves the video at every moment.</a:t>
            </a:r>
          </a:p>
        </p:txBody>
      </p:sp>
      <p:sp>
        <p:nvSpPr>
          <p:cNvPr id="11" name="TextBox 10"/>
          <p:cNvSpPr txBox="1"/>
          <p:nvPr/>
        </p:nvSpPr>
        <p:spPr>
          <a:xfrm>
            <a:off x="10698480" y="1874519"/>
            <a:ext cx="941832" cy="713232"/>
          </a:xfrm>
          <a:prstGeom prst="rect">
            <a:avLst/>
          </a:prstGeom>
          <a:noFill/>
        </p:spPr>
        <p:txBody>
          <a:bodyPr wrap="square" anchor="ctr" lIns="36576" rIns="36576" tIns="18288" bIns="18288">
            <a:spAutoFit/>
          </a:bodyPr>
          <a:lstStyle/>
          <a:p>
            <a:pPr algn="r"/>
            <a:r>
              <a:rPr sz="2200" b="1">
                <a:solidFill>
                  <a:srgbClr val="E8731A"/>
                </a:solidFill>
                <a:latin typeface="Oswald"/>
              </a:rPr>
              <a:t>/ 5</a:t>
            </a:r>
          </a:p>
        </p:txBody>
      </p:sp>
      <p:sp>
        <p:nvSpPr>
          <p:cNvPr id="12" name="Rounded Rectangle 11"/>
          <p:cNvSpPr/>
          <p:nvPr/>
        </p:nvSpPr>
        <p:spPr>
          <a:xfrm>
            <a:off x="548640" y="2715768"/>
            <a:ext cx="393192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15768"/>
            <a:ext cx="3657600" cy="713232"/>
          </a:xfrm>
          <a:prstGeom prst="rect">
            <a:avLst/>
          </a:prstGeom>
          <a:noFill/>
        </p:spPr>
        <p:txBody>
          <a:bodyPr wrap="square" anchor="ctr" lIns="36576" rIns="36576" tIns="18288" bIns="18288">
            <a:spAutoFit/>
          </a:bodyPr>
          <a:lstStyle/>
          <a:p>
            <a:pPr algn="l"/>
            <a:r>
              <a:rPr sz="1800" b="1">
                <a:solidFill>
                  <a:srgbClr val="FFFFFF"/>
                </a:solidFill>
                <a:latin typeface="Oswald"/>
              </a:rPr>
              <a:t>COMPOSITION &amp; PACING</a:t>
            </a:r>
          </a:p>
        </p:txBody>
      </p:sp>
      <p:sp>
        <p:nvSpPr>
          <p:cNvPr id="14" name="TextBox 13"/>
          <p:cNvSpPr txBox="1"/>
          <p:nvPr/>
        </p:nvSpPr>
        <p:spPr>
          <a:xfrm>
            <a:off x="4663440" y="2715768"/>
            <a:ext cx="6035040" cy="713232"/>
          </a:xfrm>
          <a:prstGeom prst="rect">
            <a:avLst/>
          </a:prstGeom>
          <a:noFill/>
        </p:spPr>
        <p:txBody>
          <a:bodyPr wrap="square" anchor="ctr" lIns="36576" rIns="36576" tIns="18288" bIns="18288">
            <a:spAutoFit/>
          </a:bodyPr>
          <a:lstStyle/>
          <a:p>
            <a:pPr algn="l"/>
            <a:r>
              <a:rPr sz="1600" b="0">
                <a:solidFill>
                  <a:srgbClr val="000000"/>
                </a:solidFill>
                <a:latin typeface="Source Sans 3"/>
              </a:rPr>
              <a:t>5 = The music follows the picture, silence is a tool, and the key change lands on a moment.</a:t>
            </a:r>
          </a:p>
        </p:txBody>
      </p:sp>
      <p:sp>
        <p:nvSpPr>
          <p:cNvPr id="15" name="TextBox 14"/>
          <p:cNvSpPr txBox="1"/>
          <p:nvPr/>
        </p:nvSpPr>
        <p:spPr>
          <a:xfrm>
            <a:off x="10698480" y="2715768"/>
            <a:ext cx="941832" cy="713232"/>
          </a:xfrm>
          <a:prstGeom prst="rect">
            <a:avLst/>
          </a:prstGeom>
          <a:noFill/>
        </p:spPr>
        <p:txBody>
          <a:bodyPr wrap="square" anchor="ctr" lIns="36576" rIns="36576" tIns="18288" bIns="18288">
            <a:spAutoFit/>
          </a:bodyPr>
          <a:lstStyle/>
          <a:p>
            <a:pPr algn="r"/>
            <a:r>
              <a:rPr sz="2200" b="1">
                <a:solidFill>
                  <a:srgbClr val="E8731A"/>
                </a:solidFill>
                <a:latin typeface="Oswald"/>
              </a:rPr>
              <a:t>/ 5</a:t>
            </a:r>
          </a:p>
        </p:txBody>
      </p:sp>
      <p:sp>
        <p:nvSpPr>
          <p:cNvPr id="16" name="Rounded Rectangle 15"/>
          <p:cNvSpPr/>
          <p:nvPr/>
        </p:nvSpPr>
        <p:spPr>
          <a:xfrm>
            <a:off x="548640" y="3557015"/>
            <a:ext cx="393192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557015"/>
            <a:ext cx="3657600" cy="713232"/>
          </a:xfrm>
          <a:prstGeom prst="rect">
            <a:avLst/>
          </a:prstGeom>
          <a:noFill/>
        </p:spPr>
        <p:txBody>
          <a:bodyPr wrap="square" anchor="ctr" lIns="36576" rIns="36576" tIns="18288" bIns="18288">
            <a:spAutoFit/>
          </a:bodyPr>
          <a:lstStyle/>
          <a:p>
            <a:pPr algn="l"/>
            <a:r>
              <a:rPr sz="1800" b="1">
                <a:solidFill>
                  <a:srgbClr val="FFFFFF"/>
                </a:solidFill>
                <a:latin typeface="Oswald"/>
              </a:rPr>
              <a:t>TECHNICAL SKILL / DAW USE</a:t>
            </a:r>
          </a:p>
        </p:txBody>
      </p:sp>
      <p:sp>
        <p:nvSpPr>
          <p:cNvPr id="18" name="TextBox 17"/>
          <p:cNvSpPr txBox="1"/>
          <p:nvPr/>
        </p:nvSpPr>
        <p:spPr>
          <a:xfrm>
            <a:off x="4663440" y="3557015"/>
            <a:ext cx="6035040" cy="713232"/>
          </a:xfrm>
          <a:prstGeom prst="rect">
            <a:avLst/>
          </a:prstGeom>
          <a:noFill/>
        </p:spPr>
        <p:txBody>
          <a:bodyPr wrap="square" anchor="ctr" lIns="36576" rIns="36576" tIns="18288" bIns="18288">
            <a:spAutoFit/>
          </a:bodyPr>
          <a:lstStyle/>
          <a:p>
            <a:pPr algn="l"/>
            <a:r>
              <a:rPr sz="1600" b="0">
                <a:solidFill>
                  <a:srgbClr val="000000"/>
                </a:solidFill>
                <a:latin typeface="Source Sans 3"/>
              </a:rPr>
              <a:t>5 = Both buses set up correctly and used with intention; send levels vary to create depth.</a:t>
            </a:r>
          </a:p>
        </p:txBody>
      </p:sp>
      <p:sp>
        <p:nvSpPr>
          <p:cNvPr id="19" name="TextBox 18"/>
          <p:cNvSpPr txBox="1"/>
          <p:nvPr/>
        </p:nvSpPr>
        <p:spPr>
          <a:xfrm>
            <a:off x="10698480" y="3557015"/>
            <a:ext cx="941832" cy="713232"/>
          </a:xfrm>
          <a:prstGeom prst="rect">
            <a:avLst/>
          </a:prstGeom>
          <a:noFill/>
        </p:spPr>
        <p:txBody>
          <a:bodyPr wrap="square" anchor="ctr" lIns="36576" rIns="36576" tIns="18288" bIns="18288">
            <a:spAutoFit/>
          </a:bodyPr>
          <a:lstStyle/>
          <a:p>
            <a:pPr algn="r"/>
            <a:r>
              <a:rPr sz="2200" b="1">
                <a:solidFill>
                  <a:srgbClr val="E8731A"/>
                </a:solidFill>
                <a:latin typeface="Oswald"/>
              </a:rPr>
              <a:t>/ 5</a:t>
            </a:r>
          </a:p>
        </p:txBody>
      </p:sp>
      <p:sp>
        <p:nvSpPr>
          <p:cNvPr id="20" name="Rounded Rectangle 19"/>
          <p:cNvSpPr/>
          <p:nvPr/>
        </p:nvSpPr>
        <p:spPr>
          <a:xfrm>
            <a:off x="548640" y="4398264"/>
            <a:ext cx="393192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398264"/>
            <a:ext cx="3657600" cy="713232"/>
          </a:xfrm>
          <a:prstGeom prst="rect">
            <a:avLst/>
          </a:prstGeom>
          <a:noFill/>
        </p:spPr>
        <p:txBody>
          <a:bodyPr wrap="square" anchor="ctr" lIns="36576" rIns="36576" tIns="18288" bIns="18288">
            <a:spAutoFit/>
          </a:bodyPr>
          <a:lstStyle/>
          <a:p>
            <a:pPr algn="l"/>
            <a:r>
              <a:rPr sz="1800" b="1">
                <a:solidFill>
                  <a:srgbClr val="FFFFFF"/>
                </a:solidFill>
                <a:latin typeface="Oswald"/>
              </a:rPr>
              <a:t>REVERB &amp; DELAY AS MIX</a:t>
            </a:r>
          </a:p>
        </p:txBody>
      </p:sp>
      <p:sp>
        <p:nvSpPr>
          <p:cNvPr id="22" name="TextBox 21"/>
          <p:cNvSpPr txBox="1"/>
          <p:nvPr/>
        </p:nvSpPr>
        <p:spPr>
          <a:xfrm>
            <a:off x="4663440" y="4398264"/>
            <a:ext cx="6035040" cy="713232"/>
          </a:xfrm>
          <a:prstGeom prst="rect">
            <a:avLst/>
          </a:prstGeom>
          <a:noFill/>
        </p:spPr>
        <p:txBody>
          <a:bodyPr wrap="square" anchor="ctr" lIns="36576" rIns="36576" tIns="18288" bIns="18288">
            <a:spAutoFit/>
          </a:bodyPr>
          <a:lstStyle/>
          <a:p>
            <a:pPr algn="l"/>
            <a:r>
              <a:rPr sz="1600" b="0">
                <a:solidFill>
                  <a:srgbClr val="000000"/>
                </a:solidFill>
                <a:latin typeface="Source Sans 3"/>
              </a:rPr>
              <a:t>5 = Near sounds dry, far sounds wet: a convincing sense of physical space.</a:t>
            </a:r>
          </a:p>
        </p:txBody>
      </p:sp>
      <p:sp>
        <p:nvSpPr>
          <p:cNvPr id="23" name="TextBox 22"/>
          <p:cNvSpPr txBox="1"/>
          <p:nvPr/>
        </p:nvSpPr>
        <p:spPr>
          <a:xfrm>
            <a:off x="10698480" y="4398264"/>
            <a:ext cx="941832" cy="713232"/>
          </a:xfrm>
          <a:prstGeom prst="rect">
            <a:avLst/>
          </a:prstGeom>
          <a:noFill/>
        </p:spPr>
        <p:txBody>
          <a:bodyPr wrap="square" anchor="ctr" lIns="36576" rIns="36576" tIns="18288" bIns="18288">
            <a:spAutoFit/>
          </a:bodyPr>
          <a:lstStyle/>
          <a:p>
            <a:pPr algn="r"/>
            <a:r>
              <a:rPr sz="2200" b="1">
                <a:solidFill>
                  <a:srgbClr val="E8731A"/>
                </a:solidFill>
                <a:latin typeface="Oswald"/>
              </a:rPr>
              <a:t>/ 5</a:t>
            </a:r>
          </a:p>
        </p:txBody>
      </p:sp>
      <p:sp>
        <p:nvSpPr>
          <p:cNvPr id="24" name="Rounded Rectangle 23"/>
          <p:cNvSpPr/>
          <p:nvPr/>
        </p:nvSpPr>
        <p:spPr>
          <a:xfrm>
            <a:off x="548640" y="5239512"/>
            <a:ext cx="393192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239512"/>
            <a:ext cx="3657600" cy="713232"/>
          </a:xfrm>
          <a:prstGeom prst="rect">
            <a:avLst/>
          </a:prstGeom>
          <a:noFill/>
        </p:spPr>
        <p:txBody>
          <a:bodyPr wrap="square" anchor="ctr" lIns="36576" rIns="36576" tIns="18288" bIns="18288">
            <a:spAutoFit/>
          </a:bodyPr>
          <a:lstStyle/>
          <a:p>
            <a:pPr algn="l"/>
            <a:r>
              <a:rPr sz="1800" b="1">
                <a:solidFill>
                  <a:srgbClr val="FFFFFF"/>
                </a:solidFill>
                <a:latin typeface="Oswald"/>
              </a:rPr>
              <a:t>DOCUMENTATION &amp; PRESENTATION</a:t>
            </a:r>
          </a:p>
        </p:txBody>
      </p:sp>
      <p:sp>
        <p:nvSpPr>
          <p:cNvPr id="26" name="TextBox 25"/>
          <p:cNvSpPr txBox="1"/>
          <p:nvPr/>
        </p:nvSpPr>
        <p:spPr>
          <a:xfrm>
            <a:off x="4663440" y="5239512"/>
            <a:ext cx="6035040" cy="713232"/>
          </a:xfrm>
          <a:prstGeom prst="rect">
            <a:avLst/>
          </a:prstGeom>
          <a:noFill/>
        </p:spPr>
        <p:txBody>
          <a:bodyPr wrap="square" anchor="ctr" lIns="36576" rIns="36576" tIns="18288" bIns="18288">
            <a:spAutoFit/>
          </a:bodyPr>
          <a:lstStyle/>
          <a:p>
            <a:pPr algn="l"/>
            <a:r>
              <a:rPr sz="1600" b="0">
                <a:solidFill>
                  <a:srgbClr val="000000"/>
                </a:solidFill>
                <a:latin typeface="Source Sans 3"/>
              </a:rPr>
              <a:t>5 = On time, named correctly, and a confident presentation that explains the sound choices.</a:t>
            </a:r>
          </a:p>
        </p:txBody>
      </p:sp>
      <p:sp>
        <p:nvSpPr>
          <p:cNvPr id="27" name="TextBox 26"/>
          <p:cNvSpPr txBox="1"/>
          <p:nvPr/>
        </p:nvSpPr>
        <p:spPr>
          <a:xfrm>
            <a:off x="10698480" y="5239512"/>
            <a:ext cx="941832" cy="713232"/>
          </a:xfrm>
          <a:prstGeom prst="rect">
            <a:avLst/>
          </a:prstGeom>
          <a:noFill/>
        </p:spPr>
        <p:txBody>
          <a:bodyPr wrap="square" anchor="ctr" lIns="36576" rIns="36576" tIns="18288" bIns="18288">
            <a:spAutoFit/>
          </a:bodyPr>
          <a:lstStyle/>
          <a:p>
            <a:pPr algn="r"/>
            <a:r>
              <a:rPr sz="2200" b="1">
                <a:solidFill>
                  <a:srgbClr val="E8731A"/>
                </a:solidFill>
                <a:latin typeface="Oswald"/>
              </a:rPr>
              <a:t>/ 5</a:t>
            </a:r>
          </a:p>
        </p:txBody>
      </p:sp>
      <p:sp>
        <p:nvSpPr>
          <p:cNvPr id="28" name="TextBox 27"/>
          <p:cNvSpPr txBox="1"/>
          <p:nvPr/>
        </p:nvSpPr>
        <p:spPr>
          <a:xfrm>
            <a:off x="8229600" y="6035040"/>
            <a:ext cx="3410712" cy="365760"/>
          </a:xfrm>
          <a:prstGeom prst="rect">
            <a:avLst/>
          </a:prstGeom>
          <a:noFill/>
        </p:spPr>
        <p:txBody>
          <a:bodyPr wrap="square" anchor="t" lIns="36576" rIns="36576" tIns="18288" bIns="18288">
            <a:spAutoFit/>
          </a:bodyPr>
          <a:lstStyle/>
          <a:p>
            <a:pPr algn="r"/>
            <a:r>
              <a:rPr sz="2000" b="1">
                <a:solidFill>
                  <a:srgbClr val="000000"/>
                </a:solidFill>
                <a:latin typeface="Oswald"/>
              </a:rPr>
              <a:t>TOTAL /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TextBox 2"/>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4" name="Rectangle 3"/>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Spooky Tunes · Intro deck · © 2026 Brian Lotze · Hudson Beat</a:t>
            </a:r>
          </a:p>
        </p:txBody>
      </p:sp>
      <p:sp>
        <p:nvSpPr>
          <p:cNvPr id="7" name="TextBox 6"/>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8" name="Oval 7"/>
          <p:cNvSpPr/>
          <p:nvPr/>
        </p:nvSpPr>
        <p:spPr>
          <a:xfrm>
            <a:off x="548640" y="228600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103120"/>
            <a:ext cx="10698480" cy="812800"/>
          </a:xfrm>
          <a:prstGeom prst="rect">
            <a:avLst/>
          </a:prstGeom>
          <a:noFill/>
        </p:spPr>
        <p:txBody>
          <a:bodyPr wrap="square" anchor="t" lIns="36576" rIns="36576" tIns="18288" bIns="18288">
            <a:spAutoFit/>
          </a:bodyPr>
          <a:lstStyle/>
          <a:p>
            <a:pPr algn="l"/>
            <a:r>
              <a:rPr sz="4000" b="0">
                <a:solidFill>
                  <a:srgbClr val="000000"/>
                </a:solidFill>
                <a:latin typeface="Source Sans 3"/>
              </a:rPr>
              <a:t>Space is a sound.</a:t>
            </a:r>
          </a:p>
        </p:txBody>
      </p:sp>
      <p:sp>
        <p:nvSpPr>
          <p:cNvPr id="10" name="Oval 9"/>
          <p:cNvSpPr/>
          <p:nvPr/>
        </p:nvSpPr>
        <p:spPr>
          <a:xfrm>
            <a:off x="548640" y="317500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992120"/>
            <a:ext cx="10698480" cy="812800"/>
          </a:xfrm>
          <a:prstGeom prst="rect">
            <a:avLst/>
          </a:prstGeom>
          <a:noFill/>
        </p:spPr>
        <p:txBody>
          <a:bodyPr wrap="square" anchor="t" lIns="36576" rIns="36576" tIns="18288" bIns="18288">
            <a:spAutoFit/>
          </a:bodyPr>
          <a:lstStyle/>
          <a:p>
            <a:pPr algn="l"/>
            <a:r>
              <a:rPr sz="4000" b="0">
                <a:solidFill>
                  <a:srgbClr val="000000"/>
                </a:solidFill>
                <a:latin typeface="Source Sans 3"/>
              </a:rPr>
              <a:t>Silence is a tool.</a:t>
            </a:r>
          </a:p>
        </p:txBody>
      </p:sp>
      <p:sp>
        <p:nvSpPr>
          <p:cNvPr id="12" name="Oval 11"/>
          <p:cNvSpPr/>
          <p:nvPr/>
        </p:nvSpPr>
        <p:spPr>
          <a:xfrm>
            <a:off x="548640" y="4064000"/>
            <a:ext cx="146304" cy="146304"/>
          </a:xfrm>
          <a:prstGeom prst="ellipse">
            <a:avLst/>
          </a:prstGeom>
          <a:solidFill>
            <a:srgbClr val="E873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881120"/>
            <a:ext cx="10698480" cy="812800"/>
          </a:xfrm>
          <a:prstGeom prst="rect">
            <a:avLst/>
          </a:prstGeom>
          <a:noFill/>
        </p:spPr>
        <p:txBody>
          <a:bodyPr wrap="square" anchor="t" lIns="36576" rIns="36576" tIns="18288" bIns="18288">
            <a:spAutoFit/>
          </a:bodyPr>
          <a:lstStyle/>
          <a:p>
            <a:pPr algn="l"/>
            <a:r>
              <a:rPr sz="4000" b="0">
                <a:solidFill>
                  <a:srgbClr val="000000"/>
                </a:solidFill>
                <a:latin typeface="Source Sans 3"/>
              </a:rPr>
              <a:t>Celebrate the strange ones.</a:t>
            </a:r>
          </a:p>
        </p:txBody>
      </p:sp>
      <p:pic>
        <p:nvPicPr>
          <p:cNvPr id="14" name="Picture 13" descr="deck-woods.png"/>
          <p:cNvPicPr>
            <a:picLocks noChangeAspect="1"/>
          </p:cNvPicPr>
          <p:nvPr/>
        </p:nvPicPr>
        <p:blipFill>
          <a:blip r:embed="rId2"/>
          <a:stretch>
            <a:fillRect/>
          </a:stretch>
        </p:blipFill>
        <p:spPr>
          <a:xfrm>
            <a:off x="6949440" y="4572000"/>
            <a:ext cx="4690872" cy="148544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Spooky Tunes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