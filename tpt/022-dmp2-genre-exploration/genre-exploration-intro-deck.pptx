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step outside your comfort zone. Pick a musical genre you are unfamiliar with, research what defines it, and produce a track that captures its signature sound. Say that the project pushes students to listen deeper, experiment with new sounds, and grow as producers.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and no one else's music is used. The point is my closing note: students often surprise themselves by enjoying genres they thought they would hate. Do not name a genre for them; let them say what they would skip. It sets up my first struggle, picking a genre too close to what they already make.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first goals, shortened to fit the slide. Pick a musical genre you are unfamiliar with, research what defines it, and produce a track that captures its signature sound. The project pushes you to listen deeper, experiment with new sounds, and grow as a producer. Students write the four vocabulary terms in their own words on the vocabulary page; slide 6 introduces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select a genre and begin the Google Form research. Class 2: finish research and begin sketching an 8 to 16 bar loop. Classes 3 to 5 are working days: expand the composition, refine the arrangement and mix. Class 6: final mix, bounce, write the reflection, and prepare presentations.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five steps of my project sheet, in order: research, listen, sketch, compose, mix. Then students write their reflection, finalize the bounce, and present with Padlet feedback. Point to each box and say roughly when it happens: research today and in Class 2, the sketch in Class 2, composing on the working days, the mix in Classes 4 to 6. The step names are mine; the picture and its short labels are the kit's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four vocabulary terms, shortened to fit the slide. Genre: a category of music defined by shared characteristics like rhythm, instrumentation and structure. Reference track: a professionally produced song you study and use as a guide for your own production. Instrumentation: the specific instruments and sounds used in a piece of music. Song form: how a song is structured, verse, chorus, bridge and so on. The full definitions are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research: select your genre and complete the Google Form analyzing its key characteristics. Step 2, listen: study 2 to 3 reference tracks and break down their elements. The last line is the kit's own suggestion, not my step: students write what they hear on the Reference track log. My resources encourage Spotify, YouTube or Apple Music for reference tracks; students choose their own tracks. Approve each genre before they leave.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kit picture, not from my sheets, built from my definition of a genre: shared characteristics like rhythm, instrumentation and structure, plus the production techniques my requirement 5 names. Ask students to find all four in their reference tracks: the rhythm, the sound, the form and the production. My second struggle is shallow research, so require specific reference tracks and concrete elements, not a vague impression.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4 and 5 and my first tip, shortened to fit the slide. Commit to the genre fully; do not just add one instrument that sounds kind of like it. Use instruments, synths or samples authentic to the genre. Apply genre-appropriate mixing and production techniques. This answers my third struggle, students who nail the instruments but miss the production style. The fourth line comes from my second tip: pull your references into Logic and compare your mix.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checklist is the kit's own, built from requirements 1 and 2, step 2 (shortened here) and my first two struggles. Students tick each line on the Genre research sheet and the Reference track log before they start composing. Send a student back who has picked a genre close to what they already make, with a question, and send back research that names no concrete elements.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and Classes 4 and 5 continue it. Steps 3 and 4 of the project sheet, shortened to fit the slide. Step 3, sketch: build an 8 to 16 bar loop that captures the genre's essence. Step 4, compose: develop the full song structure, layer instrumentation and refine. The last line comes from requirement 3. Hand out the Work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genre, Harbor Drift, described on paper; nothing here is audio and no real genre is named. It is 80 beats per minute and 52 bars of 4/4, which is two minutes thirty-six. Read the sections across the top: intro, verse, chorus, verse, chorus, a short bridge, a last chorus and an outro. The lanes show drums and bass entering after the intro, pads all the way through, the lead in the choruses, and risers before each chorus. The genre card, three invented reference tracks and the numbers are on the worked example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tips 2, 3 and 4, shortened to fit the slide. Use reference tracks constantly: pull them into Logic and compare your mix. Do not be afraid to sound weird to yourself; that is the point. Your Google Form research will save you time later. The kit suggests that a reference sits on its own muted track and is removed before bouncing, so only the student's own track is handed 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of the project sheet and my Harder variation, shortened to fit the slide. Mix: apply genre-appropriate mixing techniques and polish the track. My Harder variation adds a requirement for two genre-specific mixing techniques; offer it to students who are ready. The last line is the kit's own suggestion, not my step: protect one full class for the final mix. The worked example page shows two techniques for the invented genre.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5, 6 and 7 of the project sheet, shortened to fit the slide. Mix and polish. Write your reflection and finalize your bounce. Create your own Padlet post with three questions for classmates and prepare to present. Remind students that my fourth struggle is thin reflections, so they use the prompts on the Reflection page. A reflection is a written or oral conversation about how they did and what they would do differently next time; my sheet asks for the written paragraph.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Zip the .logicx in Finder (Control-click, Compress). The Google Form should already be complete from Classes 1 and 2; if it is not, this is the last chance.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The second line is the kit's own suggestion. No one plays a reference track; the project is the student's own.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my closing note: students often surprise themselves by enjoying genres they thought they would hate. Ask a few students whether that happened to them. Reflection: point students to the Reflection page for the prompts; it follows my definition, a written or oral conversation about how they did and what they would do differently next time, and my sheet asks for the written paragraph. Tell them the next project starts from the menu.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182318" y="896112"/>
            <a:ext cx="5827058"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GENRE EXPLORATION</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Step outside your comfort zone.</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MAKE A TRACK IN A GENRE YOU DO NOT KNOW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A GENRE YOU WOULD SKIP</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THINK, THEN SHARE</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CDE6F0"/>
                </a:solidFill>
                <a:latin typeface="Oswald"/>
              </a:rPr>
              <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no audio is needed. Ask the questions aloud and take a few answers.</a:t>
            </a:r>
          </a:p>
        </p:txBody>
      </p:sp>
      <p:sp>
        <p:nvSpPr>
          <p:cNvPr id="14" name="Oval 13"/>
          <p:cNvSpPr/>
          <p:nvPr/>
        </p:nvSpPr>
        <p:spPr>
          <a:xfrm>
            <a:off x="548640" y="406908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Which genre would you never choose to listen to?</a:t>
            </a:r>
          </a:p>
        </p:txBody>
      </p:sp>
      <p:sp>
        <p:nvSpPr>
          <p:cNvPr id="16" name="Oval 15"/>
          <p:cNvSpPr/>
          <p:nvPr/>
        </p:nvSpPr>
        <p:spPr>
          <a:xfrm>
            <a:off x="548640" y="467868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do you think it sounds like, and how do you know?</a:t>
            </a:r>
          </a:p>
        </p:txBody>
      </p:sp>
      <p:sp>
        <p:nvSpPr>
          <p:cNvPr id="18" name="Oval 17"/>
          <p:cNvSpPr/>
          <p:nvPr/>
        </p:nvSpPr>
        <p:spPr>
          <a:xfrm>
            <a:off x="548640" y="528828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would you need to find out to make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GENRE EXPLORATION?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Pick a genre you are unfamiliar with</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Research what defines it</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Produce a track that captures its signature sound</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Goal: listen deeper and grow as a producer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What genre would you skip? · five steps · four words · research</a:t>
            </a:r>
          </a:p>
        </p:txBody>
      </p:sp>
      <p:sp>
        <p:nvSpPr>
          <p:cNvPr id="13" name="Rounded Rectangle 12"/>
          <p:cNvSpPr/>
          <p:nvPr/>
        </p:nvSpPr>
        <p:spPr>
          <a:xfrm>
            <a:off x="548640" y="2444060"/>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Genre fingerprint · production, not just instruments · before you compose</a:t>
            </a:r>
          </a:p>
        </p:txBody>
      </p:sp>
      <p:sp>
        <p:nvSpPr>
          <p:cNvPr id="16" name="Rounded Rectangle 15"/>
          <p:cNvSpPr/>
          <p:nvPr/>
        </p:nvSpPr>
        <p:spPr>
          <a:xfrm>
            <a:off x="548640" y="3077609"/>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sketch, compose, worked example</a:t>
            </a:r>
          </a:p>
        </p:txBody>
      </p:sp>
      <p:sp>
        <p:nvSpPr>
          <p:cNvPr id="19" name="Rounded Rectangle 18"/>
          <p:cNvSpPr/>
          <p:nvPr/>
        </p:nvSpPr>
        <p:spPr>
          <a:xfrm>
            <a:off x="548640" y="3711157"/>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compare to references, mix like the genre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expand, refine, mix</a:t>
            </a:r>
          </a:p>
        </p:txBody>
      </p:sp>
      <p:sp>
        <p:nvSpPr>
          <p:cNvPr id="25" name="Rounded Rectangle 24"/>
          <p:cNvSpPr/>
          <p:nvPr/>
        </p:nvSpPr>
        <p:spPr>
          <a:xfrm>
            <a:off x="548640" y="4978254"/>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 reflect · bounce · checklist · rubric</a:t>
            </a:r>
          </a:p>
        </p:txBody>
      </p:sp>
      <p:sp>
        <p:nvSpPr>
          <p:cNvPr id="28" name="Rounded Rectangle 27"/>
          <p:cNvSpPr/>
          <p:nvPr/>
        </p:nvSpPr>
        <p:spPr>
          <a:xfrm>
            <a:off x="548640" y="5611803"/>
            <a:ext cx="1554480" cy="523820"/>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STEPS, RESEARCH TO MIX</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Research: pick and analyze a genre</a:t>
            </a:r>
          </a:p>
        </p:txBody>
      </p:sp>
      <p:sp>
        <p:nvSpPr>
          <p:cNvPr id="13" name="Oval 12"/>
          <p:cNvSpPr/>
          <p:nvPr/>
        </p:nvSpPr>
        <p:spPr>
          <a:xfrm>
            <a:off x="6190488" y="4956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Listen: study 2–3 references</a:t>
            </a:r>
          </a:p>
        </p:txBody>
      </p:sp>
      <p:sp>
        <p:nvSpPr>
          <p:cNvPr id="15" name="Oval 14"/>
          <p:cNvSpPr/>
          <p:nvPr/>
        </p:nvSpPr>
        <p:spPr>
          <a:xfrm>
            <a:off x="548640" y="56418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Sketch, then compose the full form</a:t>
            </a:r>
          </a:p>
        </p:txBody>
      </p:sp>
      <p:sp>
        <p:nvSpPr>
          <p:cNvPr id="17" name="Oval 16"/>
          <p:cNvSpPr/>
          <p:nvPr/>
        </p:nvSpPr>
        <p:spPr>
          <a:xfrm>
            <a:off x="6190488" y="56418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Mix to match the genre’s sound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WORDS TO KNOW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Genre: a category defined by shared traits</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Reference track: a song you study as your guide</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Instrumentation: the instruments and sounds used</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Song form: how a song is structured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RESEARCH, LISTEN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Select a genre you do not already make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Complete the Google Form on its key characteristics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Study 2–3 reference tracks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Break down their elements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what you hear on the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 GENRE HAS A FINGERPRINT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fingerprint.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Rhythm: the groove</a:t>
            </a:r>
          </a:p>
        </p:txBody>
      </p:sp>
      <p:sp>
        <p:nvSpPr>
          <p:cNvPr id="13" name="Oval 12"/>
          <p:cNvSpPr/>
          <p:nvPr/>
        </p:nvSpPr>
        <p:spPr>
          <a:xfrm>
            <a:off x="6190488" y="4956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Sound: instruments and synths</a:t>
            </a:r>
          </a:p>
        </p:txBody>
      </p:sp>
      <p:sp>
        <p:nvSpPr>
          <p:cNvPr id="15" name="Oval 14"/>
          <p:cNvSpPr/>
          <p:nvPr/>
        </p:nvSpPr>
        <p:spPr>
          <a:xfrm>
            <a:off x="548640" y="56418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Form: how the song is built</a:t>
            </a:r>
          </a:p>
        </p:txBody>
      </p:sp>
      <p:sp>
        <p:nvSpPr>
          <p:cNvPr id="17" name="Oval 16"/>
          <p:cNvSpPr/>
          <p:nvPr/>
        </p:nvSpPr>
        <p:spPr>
          <a:xfrm>
            <a:off x="6190488" y="56418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Production: how it is mixed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INSTRUMENTS ARE NOT ENOUGH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Commit fully, not just one instrument</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Use sounds that belong to the genre</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Apply genre-appropriate mixing and production</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Compare your mix to your references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BEFORE YOU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 genre I am not comfortable producing in</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Google Form research completed</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2–3 reference tracks studied</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Rhythm, sound, form and production noted</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My teacher has seen my genre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3 AND 4: SKETCH,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Build an 8–16 bar loop that captures the genre’s essence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Develop the full song structure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Layer instrumentation and refine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Follow typical song forms of the genre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INVENTED GENRE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arrange.png"/>
          <p:cNvPicPr>
            <a:picLocks noChangeAspect="1"/>
          </p:cNvPicPr>
          <p:nvPr/>
        </p:nvPicPr>
        <p:blipFill>
          <a:blip r:embed="rId2"/>
          <a:stretch>
            <a:fillRect/>
          </a:stretch>
        </p:blipFill>
        <p:spPr>
          <a:xfrm>
            <a:off x="772571" y="1810512"/>
            <a:ext cx="10643809" cy="3017520"/>
          </a:xfrm>
          <a:prstGeom prst="rect">
            <a:avLst/>
          </a:prstGeom>
        </p:spPr>
      </p:pic>
      <p:sp>
        <p:nvSpPr>
          <p:cNvPr id="11" name="Oval 10"/>
          <p:cNvSpPr/>
          <p:nvPr/>
        </p:nvSpPr>
        <p:spPr>
          <a:xfrm>
            <a:off x="548640" y="5212079"/>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genre, on paper</a:t>
            </a:r>
          </a:p>
        </p:txBody>
      </p:sp>
      <p:sp>
        <p:nvSpPr>
          <p:cNvPr id="13" name="Oval 12"/>
          <p:cNvSpPr/>
          <p:nvPr/>
        </p:nvSpPr>
        <p:spPr>
          <a:xfrm>
            <a:off x="6190488" y="5212079"/>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Sections you can name</a:t>
            </a:r>
          </a:p>
        </p:txBody>
      </p:sp>
      <p:sp>
        <p:nvSpPr>
          <p:cNvPr id="15" name="Oval 14"/>
          <p:cNvSpPr/>
          <p:nvPr/>
        </p:nvSpPr>
        <p:spPr>
          <a:xfrm>
            <a:off x="548640" y="5897879"/>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Layers that come and go</a:t>
            </a:r>
          </a:p>
        </p:txBody>
      </p:sp>
      <p:sp>
        <p:nvSpPr>
          <p:cNvPr id="17" name="Oval 16"/>
          <p:cNvSpPr/>
          <p:nvPr/>
        </p:nvSpPr>
        <p:spPr>
          <a:xfrm>
            <a:off x="6190488" y="5897879"/>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Space is part of the genre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USE YOUR REFERENCES CONSTANTLY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Pull a reference into Logic and compare your mix</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does yours feel the same?</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Don’t be afraid to sound weird to yourself</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Google Form research will save you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LIKE THE GENRE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Step 5: apply genre-appropriate mixing techniques</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Polish the track</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Harder option: name 2 genre-specific mixing techniques</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Leave a full class for the final mix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REFLECT,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Mix: apply genre-appropriate techniques, polish</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reflection, 1 paragraph minimum</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Finalize your bounce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Create your Padlet post with 3 questions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Prepare to present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Genre Research Google Form</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4" name="Rounded Rectangle 13"/>
          <p:cNvSpPr/>
          <p:nvPr/>
        </p:nvSpPr>
        <p:spPr>
          <a:xfrm>
            <a:off x="54864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6" name="Rounded Rectangle 15"/>
          <p:cNvSpPr/>
          <p:nvPr/>
        </p:nvSpPr>
        <p:spPr>
          <a:xfrm>
            <a:off x="6172200" y="304952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299466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Genre Exploration</a:t>
            </a:r>
          </a:p>
        </p:txBody>
      </p:sp>
      <p:sp>
        <p:nvSpPr>
          <p:cNvPr id="18" name="Rounded Rectangle 17"/>
          <p:cNvSpPr/>
          <p:nvPr/>
        </p:nvSpPr>
        <p:spPr>
          <a:xfrm>
            <a:off x="54864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Written reflection on your class page</a:t>
            </a:r>
          </a:p>
        </p:txBody>
      </p:sp>
      <p:sp>
        <p:nvSpPr>
          <p:cNvPr id="20" name="Rounded Rectangle 19"/>
          <p:cNvSpPr/>
          <p:nvPr/>
        </p:nvSpPr>
        <p:spPr>
          <a:xfrm>
            <a:off x="6172200" y="412394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06908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2" name="Rounded Rectangle 21"/>
          <p:cNvSpPr/>
          <p:nvPr/>
        </p:nvSpPr>
        <p:spPr>
          <a:xfrm>
            <a:off x="548640" y="519836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143500"/>
            <a:ext cx="4892040" cy="100126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0A7EA4"/>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0A7EA4"/>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0A7EA4"/>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0A7EA4"/>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0A7EA4"/>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a:t>
            </a:r>
          </a:p>
        </p:txBody>
      </p:sp>
      <p:sp>
        <p:nvSpPr>
          <p:cNvPr id="12" name="Oval 11"/>
          <p:cNvSpPr/>
          <p:nvPr/>
        </p:nvSpPr>
        <p:spPr>
          <a:xfrm>
            <a:off x="548640" y="311708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which genre you chose and what defines it</a:t>
            </a:r>
          </a:p>
        </p:txBody>
      </p:sp>
      <p:sp>
        <p:nvSpPr>
          <p:cNvPr id="14" name="Oval 13"/>
          <p:cNvSpPr/>
          <p:nvPr/>
        </p:nvSpPr>
        <p:spPr>
          <a:xfrm>
            <a:off x="548640" y="406704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Genre Exploration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left your comfort zone.</a:t>
            </a:r>
          </a:p>
        </p:txBody>
      </p:sp>
      <p:sp>
        <p:nvSpPr>
          <p:cNvPr id="12" name="Oval 11"/>
          <p:cNvSpPr/>
          <p:nvPr/>
        </p:nvSpPr>
        <p:spPr>
          <a:xfrm>
            <a:off x="548640" y="278130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studied the genre.</a:t>
            </a:r>
          </a:p>
        </p:txBody>
      </p:sp>
      <p:sp>
        <p:nvSpPr>
          <p:cNvPr id="14" name="Oval 13"/>
          <p:cNvSpPr/>
          <p:nvPr/>
        </p:nvSpPr>
        <p:spPr>
          <a:xfrm>
            <a:off x="548640" y="350520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made it sound right.</a:t>
            </a:r>
          </a:p>
        </p:txBody>
      </p:sp>
      <p:sp>
        <p:nvSpPr>
          <p:cNvPr id="16" name="Oval 15"/>
          <p:cNvSpPr/>
          <p:nvPr/>
        </p:nvSpPr>
        <p:spPr>
          <a:xfrm>
            <a:off x="548640" y="4229100"/>
            <a:ext cx="146304" cy="146304"/>
          </a:xfrm>
          <a:prstGeom prst="ellipse">
            <a:avLst/>
          </a:prstGeom>
          <a:solidFill>
            <a:srgbClr val="0A7E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play it.</a:t>
            </a:r>
          </a:p>
        </p:txBody>
      </p:sp>
      <p:pic>
        <p:nvPicPr>
          <p:cNvPr id="18" name="Picture 17" descr="deck-hero.png"/>
          <p:cNvPicPr>
            <a:picLocks noChangeAspect="1"/>
          </p:cNvPicPr>
          <p:nvPr/>
        </p:nvPicPr>
        <p:blipFill>
          <a:blip r:embed="rId2"/>
          <a:stretch>
            <a:fillRect/>
          </a:stretch>
        </p:blipFill>
        <p:spPr>
          <a:xfrm>
            <a:off x="6519672" y="2103120"/>
            <a:ext cx="5120640" cy="26115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Genre Exploration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