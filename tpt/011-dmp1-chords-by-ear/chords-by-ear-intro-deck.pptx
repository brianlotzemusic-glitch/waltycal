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the first minute. Today is an ear day: no worksheets, no Roman numerals. Have Twist and Shout (The Beatles) and, for Day 4, Let It Be (The Beatles) cued up on YouTube or Spotify from your own account; no audio or video is included in this deck. Open Logic with a piano sound on the class speakers. Open with a question: why do some songs feel finished at the end and others feel like they are waiting?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Plain-English definition, kept short on purpose. The unit's principle is feel it before you name it: students play and describe chords before they see a single Roman numeral. Tell them the only thing you want today is their honest words. There are no wrong answers.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opening activity from the teacher notes, steps 2 to 4. Play a single C: what does that feel like? (Empty. Waiting.) Play C-E-G: what changed? Let them answer freely: happy, full, finished. Play A-C-E: what is different? Dark, heavy, sad. Write their words on the board and keep them for Day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of the opening activity: play I-IV-V-I slowly, but do not say I-IV-V-I yet. Ask what happened at the end. Most will say it resolved. Ask why. Then say step 6: the packet gives names to everything you just felt. That is all music theory 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eight minutes. Twist and Shout by The Beatles goes round three chords over and over: they are the same three as the loop they just heard (I, IV and V, in a different key), but do not name them yet. Students usually hear that one chord is home and another one pulls back to it. Play it twice if they need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open Logic, load a piano sound and play the seven chords on the Chord Feel Log one at a time (MPK Mini or Musical Typing), writing what each one feels like in their own words and ticking bright or dark. The chords are given by their notes only, all white keys. Circulate and ask: say more. Sad how? Waiting for what?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half of the log. Students loop the two four-chord progressions. Loop 1 lands on C-E-G; loop 2 starts and feels at home on A-C-E. Same white keys, nearly the same chords, a different home. Ask: where is home now, and how does it feel compared with loop 1? This is C major against A minor, but keep the names for later.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share-out. Collect the best words for each chord and keep them visible (a photo of the board works). These descriptions are music theory. On Day 4 the Roman numerals simply give them shorter names: home, lifting, homesick, tender.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 opens with the C major and A natural minor scales played for the class: which sounds brighter? Then this slide. The keyboard repeats 7 white keys and 5 black keys. Find C just to the left of every group of 2 black keys. E to F and B to C are the only white-key half steps. Students then do Part 1 of the packet.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scale is the ingredient list for a key: it tells you which notes will always sound right together. Walk the C major formula on the keyboard, then A natural minor. Same seven white keys, a different starting note, a different feel. Students do Part 2 of the packet and play each scale as they go.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3 starts with C major and A minor played again: now that you know notes, can you figure out what notes those are? Then hand out the project sheet. The project runs Days 3 to 5: build the chords, name them with Roman numerals, build them over the bassline in Logic, fill in the chord function table, present.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Show where students submit (your class page). Export: File › Bounce › Project or Section, MP3. Compress: in Finder, Control-click the .logicx project and choose Compress. The file name follows the project sheet.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categories, each scored 2 to 5, for a total out of 15. Read the 5 column aloud: every chord correct, well-voiced and labeled; specific, accurate descriptions of how each chord feels and why it was chosen; on time, named correctly, and chord choices explained in Roman numeral language.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counting on the keyboard. The root is not step 1: for C major, C# is 1, D 2, D# 3, E 4; then from E, F is 1, F# 2, G 3. C-E-G. Minor flips it: 3 then 4. Diminished is 3 and 3. Ask every student to count their first chord out loud before writing it. Then Part 3 of the packet.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worked example in Logic, about 3 minutes, then students build every chord from their packet as a region. Point at the piano roll: all three notes start at the same position and last the same length. Anything that looks like a melody line is wrong. Steps and shortcuts are on the Logic quick reference page.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4. Play I-IV-V-I and say it: home, away, very away, home. Then play i-VI-III-VII: how is that different? Name the feelings before naming the numerals. Then match the class's Day 1 words to these tiles. A chord's letter name tells you its notes; its Roman numeral tells you how it functions. The I chord feels like home in every key.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It Be by The Beatles uses I, V, vi and IV in C major: C, G, A minor, F. Students now have names, so ask them to raise a hand on the tender one (vi, A minor). Point out that vi is the same chord as the A minor home from Day 1: a chord's job depends on the key.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finished C major card. Students fill in their own on the blank card (and the KCSRN worksheet for their key) after the Roman numeral section of the packet. It is a living document: they will use it in the next unit, in the EDM project and beyond, so filling it in carefully now is an investment. Check spellings as you circulate.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possible answer for a C major file: the bass plays C, A, F, G, one note per measure, and the chords above it are I, vi, IV and V, each labeled with its Roman numeral. Every chord's root is the bass note. Students listen to their bassline twice, work out the chords from the roots, then build and label them. The A minor version is in the kit.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5 opens with the unit's mixing concept. When you layer parts, the ones in the background have to step back. When chords and melody are the same volume, the melody disappears; today it is the chords and the bass. Turning the chords down is not a mixing trick, it is a musical decision about what the listener should focus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three minutes, after the presentations. Close the way the teacher notes do: point to your I chord, play it, does it feel like home? Name what students did this week: they felt the chords first and named them second. The bassline unit comes next.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3355848" y="896112"/>
            <a:ext cx="5486400" cy="2389632"/>
          </a:xfrm>
          <a:prstGeom prst="rect">
            <a:avLst/>
          </a:prstGeom>
        </p:spPr>
      </p:pic>
      <p:sp>
        <p:nvSpPr>
          <p:cNvPr id="4" name="TextBox 3"/>
          <p:cNvSpPr txBox="1"/>
          <p:nvPr/>
        </p:nvSpPr>
        <p:spPr>
          <a:xfrm>
            <a:off x="0" y="3840480"/>
            <a:ext cx="12191695" cy="1097280"/>
          </a:xfrm>
          <a:prstGeom prst="rect">
            <a:avLst/>
          </a:prstGeom>
          <a:noFill/>
        </p:spPr>
        <p:txBody>
          <a:bodyPr wrap="square" anchor="t" lIns="36576" rIns="36576" tIns="18288" bIns="18288">
            <a:spAutoFit/>
          </a:bodyPr>
          <a:lstStyle/>
          <a:p>
            <a:pPr algn="ctr"/>
            <a:r>
              <a:rPr sz="8000" b="1">
                <a:solidFill>
                  <a:srgbClr val="000000"/>
                </a:solidFill>
                <a:latin typeface="Oswald"/>
              </a:rPr>
              <a:t>CHORDS BY EAR</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Feat. Twist and Shout</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 UNIT 3 · DAY 1 · CHORDS AND ROMAN NUMERALS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THE HECK IS A CHORD?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Oval 9"/>
          <p:cNvSpPr/>
          <p:nvPr/>
        </p:nvSpPr>
        <p:spPr>
          <a:xfrm>
            <a:off x="548640" y="227685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03120"/>
            <a:ext cx="10698480" cy="772160"/>
          </a:xfrm>
          <a:prstGeom prst="rect">
            <a:avLst/>
          </a:prstGeom>
          <a:noFill/>
        </p:spPr>
        <p:txBody>
          <a:bodyPr wrap="square" anchor="t" lIns="36576" rIns="36576" tIns="18288" bIns="18288">
            <a:spAutoFit/>
          </a:bodyPr>
          <a:lstStyle/>
          <a:p>
            <a:pPr algn="l"/>
            <a:r>
              <a:rPr sz="3800" b="0">
                <a:solidFill>
                  <a:srgbClr val="000000"/>
                </a:solidFill>
                <a:latin typeface="Source Sans 3"/>
              </a:rPr>
              <a:t>Three or more notes played at the same time</a:t>
            </a:r>
          </a:p>
        </p:txBody>
      </p:sp>
      <p:sp>
        <p:nvSpPr>
          <p:cNvPr id="12" name="Oval 11"/>
          <p:cNvSpPr/>
          <p:nvPr/>
        </p:nvSpPr>
        <p:spPr>
          <a:xfrm>
            <a:off x="548640" y="333857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164840"/>
            <a:ext cx="10698480" cy="772160"/>
          </a:xfrm>
          <a:prstGeom prst="rect">
            <a:avLst/>
          </a:prstGeom>
          <a:noFill/>
        </p:spPr>
        <p:txBody>
          <a:bodyPr wrap="square" anchor="t" lIns="36576" rIns="36576" tIns="18288" bIns="18288">
            <a:spAutoFit/>
          </a:bodyPr>
          <a:lstStyle/>
          <a:p>
            <a:pPr algn="l"/>
            <a:r>
              <a:rPr sz="3800" b="0">
                <a:solidFill>
                  <a:srgbClr val="000000"/>
                </a:solidFill>
                <a:latin typeface="Source Sans 3"/>
              </a:rPr>
              <a:t>Notes from the scale, stacked together</a:t>
            </a:r>
          </a:p>
        </p:txBody>
      </p:sp>
      <p:sp>
        <p:nvSpPr>
          <p:cNvPr id="14" name="Oval 13"/>
          <p:cNvSpPr/>
          <p:nvPr/>
        </p:nvSpPr>
        <p:spPr>
          <a:xfrm>
            <a:off x="548640" y="440029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226560"/>
            <a:ext cx="10698480" cy="772160"/>
          </a:xfrm>
          <a:prstGeom prst="rect">
            <a:avLst/>
          </a:prstGeom>
          <a:noFill/>
        </p:spPr>
        <p:txBody>
          <a:bodyPr wrap="square" anchor="t" lIns="36576" rIns="36576" tIns="18288" bIns="18288">
            <a:spAutoFit/>
          </a:bodyPr>
          <a:lstStyle/>
          <a:p>
            <a:pPr algn="l"/>
            <a:r>
              <a:rPr sz="3800" b="0">
                <a:solidFill>
                  <a:srgbClr val="000000"/>
                </a:solidFill>
                <a:latin typeface="Source Sans 3"/>
              </a:rPr>
              <a:t>Major sounds bright. Minor sounds dark.</a:t>
            </a:r>
          </a:p>
        </p:txBody>
      </p:sp>
      <p:sp>
        <p:nvSpPr>
          <p:cNvPr id="16" name="Oval 15"/>
          <p:cNvSpPr/>
          <p:nvPr/>
        </p:nvSpPr>
        <p:spPr>
          <a:xfrm>
            <a:off x="548640" y="546201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5288280"/>
            <a:ext cx="10698480" cy="772160"/>
          </a:xfrm>
          <a:prstGeom prst="rect">
            <a:avLst/>
          </a:prstGeom>
          <a:noFill/>
        </p:spPr>
        <p:txBody>
          <a:bodyPr wrap="square" anchor="t" lIns="36576" rIns="36576" tIns="18288" bIns="18288">
            <a:spAutoFit/>
          </a:bodyPr>
          <a:lstStyle/>
          <a:p>
            <a:pPr algn="l"/>
            <a:r>
              <a:rPr sz="3800" b="0">
                <a:solidFill>
                  <a:srgbClr val="000000"/>
                </a:solidFill>
                <a:latin typeface="Source Sans 3"/>
              </a:rPr>
              <a:t>Today: no names. Just your ears.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ONE NOTE, THEN A CHORD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C  ›  C–E–G  ›  A–C–E</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BFE6E1"/>
                </a:solidFill>
                <a:latin typeface="Oswald"/>
              </a:rPr>
              <a:t>teacher plays on a piano sound</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Play a single C. Then C major. Then A minor.</a:t>
            </a:r>
          </a:p>
        </p:txBody>
      </p:sp>
      <p:sp>
        <p:nvSpPr>
          <p:cNvPr id="14" name="Oval 13"/>
          <p:cNvSpPr/>
          <p:nvPr/>
        </p:nvSpPr>
        <p:spPr>
          <a:xfrm>
            <a:off x="548640" y="4069080"/>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does one note feel like?</a:t>
            </a:r>
          </a:p>
        </p:txBody>
      </p:sp>
      <p:sp>
        <p:nvSpPr>
          <p:cNvPr id="16" name="Oval 15"/>
          <p:cNvSpPr/>
          <p:nvPr/>
        </p:nvSpPr>
        <p:spPr>
          <a:xfrm>
            <a:off x="548640" y="4678680"/>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changed when it became a chord?</a:t>
            </a:r>
          </a:p>
        </p:txBody>
      </p:sp>
      <p:sp>
        <p:nvSpPr>
          <p:cNvPr id="18" name="Oval 17"/>
          <p:cNvSpPr/>
          <p:nvPr/>
        </p:nvSpPr>
        <p:spPr>
          <a:xfrm>
            <a:off x="548640" y="5288280"/>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is different about the third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FOUR CHORDS IN A ROW</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C–E–G  ›  F–A–C  ›  G–B–D  ›  C–E–G</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BFE6E1"/>
                </a:solidFill>
                <a:latin typeface="Oswald"/>
              </a:rPr>
              <a:t>slowly, then on a loop</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Play the four chords slowly, then loop them.</a:t>
            </a:r>
          </a:p>
        </p:txBody>
      </p:sp>
      <p:sp>
        <p:nvSpPr>
          <p:cNvPr id="14" name="Oval 13"/>
          <p:cNvSpPr/>
          <p:nvPr/>
        </p:nvSpPr>
        <p:spPr>
          <a:xfrm>
            <a:off x="548640" y="4069080"/>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happened at the end?</a:t>
            </a:r>
          </a:p>
        </p:txBody>
      </p:sp>
      <p:sp>
        <p:nvSpPr>
          <p:cNvPr id="16" name="Oval 15"/>
          <p:cNvSpPr/>
          <p:nvPr/>
        </p:nvSpPr>
        <p:spPr>
          <a:xfrm>
            <a:off x="548640" y="4678680"/>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Which chord wanted to go somewhere?</a:t>
            </a:r>
          </a:p>
        </p:txBody>
      </p:sp>
      <p:sp>
        <p:nvSpPr>
          <p:cNvPr id="18" name="Oval 17"/>
          <p:cNvSpPr/>
          <p:nvPr/>
        </p:nvSpPr>
        <p:spPr>
          <a:xfrm>
            <a:off x="548640" y="5288280"/>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Why does the last one feel finished?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A REAL SONG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TWIST AND SHOUT</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BFE6E1"/>
                </a:solidFill>
                <a:latin typeface="Oswald"/>
              </a:rPr>
              <a:t>The Beatles</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the first minute from YouTube or Spotify.</a:t>
            </a:r>
          </a:p>
        </p:txBody>
      </p:sp>
      <p:sp>
        <p:nvSpPr>
          <p:cNvPr id="14" name="Oval 13"/>
          <p:cNvSpPr/>
          <p:nvPr/>
        </p:nvSpPr>
        <p:spPr>
          <a:xfrm>
            <a:off x="548640" y="4069080"/>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How many different chords do you hear?</a:t>
            </a:r>
          </a:p>
        </p:txBody>
      </p:sp>
      <p:sp>
        <p:nvSpPr>
          <p:cNvPr id="16" name="Oval 15"/>
          <p:cNvSpPr/>
          <p:nvPr/>
        </p:nvSpPr>
        <p:spPr>
          <a:xfrm>
            <a:off x="548640" y="4678680"/>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Which one feels like home?</a:t>
            </a:r>
          </a:p>
        </p:txBody>
      </p:sp>
      <p:sp>
        <p:nvSpPr>
          <p:cNvPr id="18" name="Oval 17"/>
          <p:cNvSpPr/>
          <p:nvPr/>
        </p:nvSpPr>
        <p:spPr>
          <a:xfrm>
            <a:off x="548640" y="5288280"/>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When does it want to go 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YOUR TURN: PLAY AND DESCRIBE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TextBox 9"/>
          <p:cNvSpPr txBox="1"/>
          <p:nvPr/>
        </p:nvSpPr>
        <p:spPr>
          <a:xfrm>
            <a:off x="548640" y="1783080"/>
            <a:ext cx="11064240" cy="457200"/>
          </a:xfrm>
          <a:prstGeom prst="rect">
            <a:avLst/>
          </a:prstGeom>
          <a:noFill/>
        </p:spPr>
        <p:txBody>
          <a:bodyPr wrap="square" anchor="t" lIns="36576" rIns="36576" tIns="18288" bIns="18288">
            <a:spAutoFit/>
          </a:bodyPr>
          <a:lstStyle/>
          <a:p>
            <a:pPr algn="l"/>
            <a:r>
              <a:rPr sz="2000" b="0">
                <a:solidFill>
                  <a:srgbClr val="000000"/>
                </a:solidFill>
                <a:latin typeface="Source Sans 3"/>
              </a:rPr>
              <a:t>Play each one on a piano sound. Write what it feels like in your own words. Bright or dark?</a:t>
            </a:r>
          </a:p>
        </p:txBody>
      </p:sp>
      <p:sp>
        <p:nvSpPr>
          <p:cNvPr id="11" name="Rounded Rectangle 10"/>
          <p:cNvSpPr/>
          <p:nvPr/>
        </p:nvSpPr>
        <p:spPr>
          <a:xfrm>
            <a:off x="553212" y="2423160"/>
            <a:ext cx="2606040" cy="1691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3212" y="2496312"/>
            <a:ext cx="2606040" cy="930402"/>
          </a:xfrm>
          <a:prstGeom prst="rect">
            <a:avLst/>
          </a:prstGeom>
          <a:noFill/>
        </p:spPr>
        <p:txBody>
          <a:bodyPr wrap="square" anchor="ctr" lIns="36576" rIns="36576" tIns="18288" bIns="18288">
            <a:spAutoFit/>
          </a:bodyPr>
          <a:lstStyle/>
          <a:p>
            <a:pPr algn="ctr"/>
            <a:r>
              <a:rPr sz="3400" b="1">
                <a:solidFill>
                  <a:srgbClr val="FFFFFF"/>
                </a:solidFill>
                <a:latin typeface="Oswald"/>
              </a:rPr>
              <a:t>C–E–G</a:t>
            </a:r>
          </a:p>
        </p:txBody>
      </p:sp>
      <p:sp>
        <p:nvSpPr>
          <p:cNvPr id="13" name="TextBox 12"/>
          <p:cNvSpPr txBox="1"/>
          <p:nvPr/>
        </p:nvSpPr>
        <p:spPr>
          <a:xfrm>
            <a:off x="644652" y="3353562"/>
            <a:ext cx="2423160" cy="710488"/>
          </a:xfrm>
          <a:prstGeom prst="rect">
            <a:avLst/>
          </a:prstGeom>
          <a:noFill/>
        </p:spPr>
        <p:txBody>
          <a:bodyPr wrap="square" anchor="t" lIns="36576" rIns="36576" tIns="18288" bIns="18288">
            <a:spAutoFit/>
          </a:bodyPr>
          <a:lstStyle/>
          <a:p>
            <a:pPr algn="ctr"/>
            <a:r>
              <a:rPr sz="1800" b="0">
                <a:solidFill>
                  <a:srgbClr val="FFFFFF"/>
                </a:solidFill>
                <a:latin typeface="Source Sans 3"/>
              </a:rPr>
              <a:t>Chord 1 · feels like…</a:t>
            </a:r>
          </a:p>
        </p:txBody>
      </p:sp>
      <p:sp>
        <p:nvSpPr>
          <p:cNvPr id="14" name="Rounded Rectangle 13"/>
          <p:cNvSpPr/>
          <p:nvPr/>
        </p:nvSpPr>
        <p:spPr>
          <a:xfrm>
            <a:off x="3378708" y="2423160"/>
            <a:ext cx="2606040" cy="1691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78708" y="2496312"/>
            <a:ext cx="2606040" cy="930402"/>
          </a:xfrm>
          <a:prstGeom prst="rect">
            <a:avLst/>
          </a:prstGeom>
          <a:noFill/>
        </p:spPr>
        <p:txBody>
          <a:bodyPr wrap="square" anchor="ctr" lIns="36576" rIns="36576" tIns="18288" bIns="18288">
            <a:spAutoFit/>
          </a:bodyPr>
          <a:lstStyle/>
          <a:p>
            <a:pPr algn="ctr"/>
            <a:r>
              <a:rPr sz="3400" b="1">
                <a:solidFill>
                  <a:srgbClr val="FFFFFF"/>
                </a:solidFill>
                <a:latin typeface="Oswald"/>
              </a:rPr>
              <a:t>F–A–C</a:t>
            </a:r>
          </a:p>
        </p:txBody>
      </p:sp>
      <p:sp>
        <p:nvSpPr>
          <p:cNvPr id="16" name="TextBox 15"/>
          <p:cNvSpPr txBox="1"/>
          <p:nvPr/>
        </p:nvSpPr>
        <p:spPr>
          <a:xfrm>
            <a:off x="3470148" y="3353562"/>
            <a:ext cx="2423160" cy="710488"/>
          </a:xfrm>
          <a:prstGeom prst="rect">
            <a:avLst/>
          </a:prstGeom>
          <a:noFill/>
        </p:spPr>
        <p:txBody>
          <a:bodyPr wrap="square" anchor="t" lIns="36576" rIns="36576" tIns="18288" bIns="18288">
            <a:spAutoFit/>
          </a:bodyPr>
          <a:lstStyle/>
          <a:p>
            <a:pPr algn="ctr"/>
            <a:r>
              <a:rPr sz="1800" b="0">
                <a:solidFill>
                  <a:srgbClr val="FFFFFF"/>
                </a:solidFill>
                <a:latin typeface="Source Sans 3"/>
              </a:rPr>
              <a:t>Chord 2 · feels like…</a:t>
            </a:r>
          </a:p>
        </p:txBody>
      </p:sp>
      <p:sp>
        <p:nvSpPr>
          <p:cNvPr id="17" name="Rounded Rectangle 16"/>
          <p:cNvSpPr/>
          <p:nvPr/>
        </p:nvSpPr>
        <p:spPr>
          <a:xfrm>
            <a:off x="6204204" y="2423160"/>
            <a:ext cx="2606040" cy="1691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04204" y="2496312"/>
            <a:ext cx="2606040" cy="930402"/>
          </a:xfrm>
          <a:prstGeom prst="rect">
            <a:avLst/>
          </a:prstGeom>
          <a:noFill/>
        </p:spPr>
        <p:txBody>
          <a:bodyPr wrap="square" anchor="ctr" lIns="36576" rIns="36576" tIns="18288" bIns="18288">
            <a:spAutoFit/>
          </a:bodyPr>
          <a:lstStyle/>
          <a:p>
            <a:pPr algn="ctr"/>
            <a:r>
              <a:rPr sz="3400" b="1">
                <a:solidFill>
                  <a:srgbClr val="FFFFFF"/>
                </a:solidFill>
                <a:latin typeface="Oswald"/>
              </a:rPr>
              <a:t>G–B–D</a:t>
            </a:r>
          </a:p>
        </p:txBody>
      </p:sp>
      <p:sp>
        <p:nvSpPr>
          <p:cNvPr id="19" name="TextBox 18"/>
          <p:cNvSpPr txBox="1"/>
          <p:nvPr/>
        </p:nvSpPr>
        <p:spPr>
          <a:xfrm>
            <a:off x="6295644" y="3353562"/>
            <a:ext cx="2423160" cy="710488"/>
          </a:xfrm>
          <a:prstGeom prst="rect">
            <a:avLst/>
          </a:prstGeom>
          <a:noFill/>
        </p:spPr>
        <p:txBody>
          <a:bodyPr wrap="square" anchor="t" lIns="36576" rIns="36576" tIns="18288" bIns="18288">
            <a:spAutoFit/>
          </a:bodyPr>
          <a:lstStyle/>
          <a:p>
            <a:pPr algn="ctr"/>
            <a:r>
              <a:rPr sz="1800" b="0">
                <a:solidFill>
                  <a:srgbClr val="FFFFFF"/>
                </a:solidFill>
                <a:latin typeface="Source Sans 3"/>
              </a:rPr>
              <a:t>Chord 3 · feels like…</a:t>
            </a:r>
          </a:p>
        </p:txBody>
      </p:sp>
      <p:sp>
        <p:nvSpPr>
          <p:cNvPr id="20" name="Rounded Rectangle 19"/>
          <p:cNvSpPr/>
          <p:nvPr/>
        </p:nvSpPr>
        <p:spPr>
          <a:xfrm>
            <a:off x="9029700" y="2423160"/>
            <a:ext cx="2606040" cy="1691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29700" y="2496312"/>
            <a:ext cx="2606040" cy="930402"/>
          </a:xfrm>
          <a:prstGeom prst="rect">
            <a:avLst/>
          </a:prstGeom>
          <a:noFill/>
        </p:spPr>
        <p:txBody>
          <a:bodyPr wrap="square" anchor="ctr" lIns="36576" rIns="36576" tIns="18288" bIns="18288">
            <a:spAutoFit/>
          </a:bodyPr>
          <a:lstStyle/>
          <a:p>
            <a:pPr algn="ctr"/>
            <a:r>
              <a:rPr sz="3400" b="1">
                <a:solidFill>
                  <a:srgbClr val="FFFFFF"/>
                </a:solidFill>
                <a:latin typeface="Oswald"/>
              </a:rPr>
              <a:t>A–C–E</a:t>
            </a:r>
          </a:p>
        </p:txBody>
      </p:sp>
      <p:sp>
        <p:nvSpPr>
          <p:cNvPr id="22" name="TextBox 21"/>
          <p:cNvSpPr txBox="1"/>
          <p:nvPr/>
        </p:nvSpPr>
        <p:spPr>
          <a:xfrm>
            <a:off x="9121140" y="3353562"/>
            <a:ext cx="2423160" cy="710488"/>
          </a:xfrm>
          <a:prstGeom prst="rect">
            <a:avLst/>
          </a:prstGeom>
          <a:noFill/>
        </p:spPr>
        <p:txBody>
          <a:bodyPr wrap="square" anchor="t" lIns="36576" rIns="36576" tIns="18288" bIns="18288">
            <a:spAutoFit/>
          </a:bodyPr>
          <a:lstStyle/>
          <a:p>
            <a:pPr algn="ctr"/>
            <a:r>
              <a:rPr sz="1800" b="0">
                <a:solidFill>
                  <a:srgbClr val="FFFFFF"/>
                </a:solidFill>
                <a:latin typeface="Source Sans 3"/>
              </a:rPr>
              <a:t>Chord 4 · feels like…</a:t>
            </a:r>
          </a:p>
        </p:txBody>
      </p:sp>
      <p:sp>
        <p:nvSpPr>
          <p:cNvPr id="23" name="Rounded Rectangle 22"/>
          <p:cNvSpPr/>
          <p:nvPr/>
        </p:nvSpPr>
        <p:spPr>
          <a:xfrm>
            <a:off x="1965960" y="4343400"/>
            <a:ext cx="2606040" cy="1691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65960" y="4416552"/>
            <a:ext cx="2606040" cy="930402"/>
          </a:xfrm>
          <a:prstGeom prst="rect">
            <a:avLst/>
          </a:prstGeom>
          <a:noFill/>
        </p:spPr>
        <p:txBody>
          <a:bodyPr wrap="square" anchor="ctr" lIns="36576" rIns="36576" tIns="18288" bIns="18288">
            <a:spAutoFit/>
          </a:bodyPr>
          <a:lstStyle/>
          <a:p>
            <a:pPr algn="ctr"/>
            <a:r>
              <a:rPr sz="3400" b="1">
                <a:solidFill>
                  <a:srgbClr val="FFFFFF"/>
                </a:solidFill>
                <a:latin typeface="Oswald"/>
              </a:rPr>
              <a:t>D–F–A</a:t>
            </a:r>
          </a:p>
        </p:txBody>
      </p:sp>
      <p:sp>
        <p:nvSpPr>
          <p:cNvPr id="25" name="TextBox 24"/>
          <p:cNvSpPr txBox="1"/>
          <p:nvPr/>
        </p:nvSpPr>
        <p:spPr>
          <a:xfrm>
            <a:off x="2057400" y="5273802"/>
            <a:ext cx="2423160" cy="710488"/>
          </a:xfrm>
          <a:prstGeom prst="rect">
            <a:avLst/>
          </a:prstGeom>
          <a:noFill/>
        </p:spPr>
        <p:txBody>
          <a:bodyPr wrap="square" anchor="t" lIns="36576" rIns="36576" tIns="18288" bIns="18288">
            <a:spAutoFit/>
          </a:bodyPr>
          <a:lstStyle/>
          <a:p>
            <a:pPr algn="ctr"/>
            <a:r>
              <a:rPr sz="1800" b="0">
                <a:solidFill>
                  <a:srgbClr val="FFFFFF"/>
                </a:solidFill>
                <a:latin typeface="Source Sans 3"/>
              </a:rPr>
              <a:t>Chord 5 · feels like…</a:t>
            </a:r>
          </a:p>
        </p:txBody>
      </p:sp>
      <p:sp>
        <p:nvSpPr>
          <p:cNvPr id="26" name="Rounded Rectangle 25"/>
          <p:cNvSpPr/>
          <p:nvPr/>
        </p:nvSpPr>
        <p:spPr>
          <a:xfrm>
            <a:off x="4791456" y="4343400"/>
            <a:ext cx="2606040" cy="1691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91456" y="4416552"/>
            <a:ext cx="2606040" cy="930402"/>
          </a:xfrm>
          <a:prstGeom prst="rect">
            <a:avLst/>
          </a:prstGeom>
          <a:noFill/>
        </p:spPr>
        <p:txBody>
          <a:bodyPr wrap="square" anchor="ctr" lIns="36576" rIns="36576" tIns="18288" bIns="18288">
            <a:spAutoFit/>
          </a:bodyPr>
          <a:lstStyle/>
          <a:p>
            <a:pPr algn="ctr"/>
            <a:r>
              <a:rPr sz="3400" b="1">
                <a:solidFill>
                  <a:srgbClr val="FFFFFF"/>
                </a:solidFill>
                <a:latin typeface="Oswald"/>
              </a:rPr>
              <a:t>E–G–B</a:t>
            </a:r>
          </a:p>
        </p:txBody>
      </p:sp>
      <p:sp>
        <p:nvSpPr>
          <p:cNvPr id="28" name="TextBox 27"/>
          <p:cNvSpPr txBox="1"/>
          <p:nvPr/>
        </p:nvSpPr>
        <p:spPr>
          <a:xfrm>
            <a:off x="4882896" y="5273802"/>
            <a:ext cx="2423160" cy="710488"/>
          </a:xfrm>
          <a:prstGeom prst="rect">
            <a:avLst/>
          </a:prstGeom>
          <a:noFill/>
        </p:spPr>
        <p:txBody>
          <a:bodyPr wrap="square" anchor="t" lIns="36576" rIns="36576" tIns="18288" bIns="18288">
            <a:spAutoFit/>
          </a:bodyPr>
          <a:lstStyle/>
          <a:p>
            <a:pPr algn="ctr"/>
            <a:r>
              <a:rPr sz="1800" b="0">
                <a:solidFill>
                  <a:srgbClr val="FFFFFF"/>
                </a:solidFill>
                <a:latin typeface="Source Sans 3"/>
              </a:rPr>
              <a:t>Chord 6 · feels like…</a:t>
            </a:r>
          </a:p>
        </p:txBody>
      </p:sp>
      <p:sp>
        <p:nvSpPr>
          <p:cNvPr id="29" name="Rounded Rectangle 28"/>
          <p:cNvSpPr/>
          <p:nvPr/>
        </p:nvSpPr>
        <p:spPr>
          <a:xfrm>
            <a:off x="7616952" y="4343400"/>
            <a:ext cx="2606040" cy="1691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16952" y="4416552"/>
            <a:ext cx="2606040" cy="930402"/>
          </a:xfrm>
          <a:prstGeom prst="rect">
            <a:avLst/>
          </a:prstGeom>
          <a:noFill/>
        </p:spPr>
        <p:txBody>
          <a:bodyPr wrap="square" anchor="ctr" lIns="36576" rIns="36576" tIns="18288" bIns="18288">
            <a:spAutoFit/>
          </a:bodyPr>
          <a:lstStyle/>
          <a:p>
            <a:pPr algn="ctr"/>
            <a:r>
              <a:rPr sz="3400" b="1">
                <a:solidFill>
                  <a:srgbClr val="FFFFFF"/>
                </a:solidFill>
                <a:latin typeface="Oswald"/>
              </a:rPr>
              <a:t>B–D–F</a:t>
            </a:r>
          </a:p>
        </p:txBody>
      </p:sp>
      <p:sp>
        <p:nvSpPr>
          <p:cNvPr id="31" name="TextBox 30"/>
          <p:cNvSpPr txBox="1"/>
          <p:nvPr/>
        </p:nvSpPr>
        <p:spPr>
          <a:xfrm>
            <a:off x="7708392" y="5273802"/>
            <a:ext cx="2423160" cy="710488"/>
          </a:xfrm>
          <a:prstGeom prst="rect">
            <a:avLst/>
          </a:prstGeom>
          <a:noFill/>
        </p:spPr>
        <p:txBody>
          <a:bodyPr wrap="square" anchor="t" lIns="36576" rIns="36576" tIns="18288" bIns="18288">
            <a:spAutoFit/>
          </a:bodyPr>
          <a:lstStyle/>
          <a:p>
            <a:pPr algn="ctr"/>
            <a:r>
              <a:rPr sz="1800" b="0">
                <a:solidFill>
                  <a:srgbClr val="FFFFFF"/>
                </a:solidFill>
                <a:latin typeface="Source Sans 3"/>
              </a:rPr>
              <a:t>Chord 7 · feels like…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SAME CHORDS, A DIFFERENT HOME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10" name="TextBox 9"/>
          <p:cNvSpPr txBox="1"/>
          <p:nvPr/>
        </p:nvSpPr>
        <p:spPr>
          <a:xfrm>
            <a:off x="548640" y="1874519"/>
            <a:ext cx="1828800" cy="548640"/>
          </a:xfrm>
          <a:prstGeom prst="rect">
            <a:avLst/>
          </a:prstGeom>
          <a:noFill/>
        </p:spPr>
        <p:txBody>
          <a:bodyPr wrap="square" anchor="t" lIns="36576" rIns="36576" tIns="18288" bIns="18288">
            <a:spAutoFit/>
          </a:bodyPr>
          <a:lstStyle/>
          <a:p>
            <a:pPr algn="l"/>
            <a:r>
              <a:rPr sz="3000" b="1">
                <a:solidFill>
                  <a:srgbClr val="0E8C7F"/>
                </a:solidFill>
                <a:latin typeface="Oswald"/>
              </a:rPr>
              <a:t>LOOP 1</a:t>
            </a:r>
          </a:p>
        </p:txBody>
      </p:sp>
      <p:sp>
        <p:nvSpPr>
          <p:cNvPr id="11" name="TextBox 10"/>
          <p:cNvSpPr txBox="1"/>
          <p:nvPr/>
        </p:nvSpPr>
        <p:spPr>
          <a:xfrm>
            <a:off x="548640" y="2441448"/>
            <a:ext cx="1920240" cy="1097280"/>
          </a:xfrm>
          <a:prstGeom prst="rect">
            <a:avLst/>
          </a:prstGeom>
          <a:noFill/>
        </p:spPr>
        <p:txBody>
          <a:bodyPr wrap="square" anchor="t" lIns="36576" rIns="36576" tIns="18288" bIns="18288">
            <a:spAutoFit/>
          </a:bodyPr>
          <a:lstStyle/>
          <a:p>
            <a:pPr algn="l"/>
            <a:r>
              <a:rPr sz="1700" b="0">
                <a:solidFill>
                  <a:srgbClr val="000000"/>
                </a:solidFill>
                <a:latin typeface="Source Sans 3"/>
              </a:rPr>
              <a:t>Home: the first and last chord</a:t>
            </a:r>
          </a:p>
        </p:txBody>
      </p:sp>
      <p:sp>
        <p:nvSpPr>
          <p:cNvPr id="12" name="Rounded Rectangle 11"/>
          <p:cNvSpPr/>
          <p:nvPr/>
        </p:nvSpPr>
        <p:spPr>
          <a:xfrm>
            <a:off x="2606040" y="1874519"/>
            <a:ext cx="2103120" cy="1737360"/>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1947672"/>
            <a:ext cx="2103120" cy="955547"/>
          </a:xfrm>
          <a:prstGeom prst="rect">
            <a:avLst/>
          </a:prstGeom>
          <a:noFill/>
        </p:spPr>
        <p:txBody>
          <a:bodyPr wrap="square" anchor="ctr" lIns="36576" rIns="36576" tIns="18288" bIns="18288">
            <a:spAutoFit/>
          </a:bodyPr>
          <a:lstStyle/>
          <a:p>
            <a:pPr algn="ctr"/>
            <a:r>
              <a:rPr sz="3400" b="1">
                <a:solidFill>
                  <a:srgbClr val="FFFFFF"/>
                </a:solidFill>
                <a:latin typeface="Oswald"/>
              </a:rPr>
              <a:t>C–E–G</a:t>
            </a:r>
          </a:p>
        </p:txBody>
      </p:sp>
      <p:sp>
        <p:nvSpPr>
          <p:cNvPr id="14" name="TextBox 13"/>
          <p:cNvSpPr txBox="1"/>
          <p:nvPr/>
        </p:nvSpPr>
        <p:spPr>
          <a:xfrm>
            <a:off x="2697480" y="2830068"/>
            <a:ext cx="1920239" cy="729691"/>
          </a:xfrm>
          <a:prstGeom prst="rect">
            <a:avLst/>
          </a:prstGeom>
          <a:noFill/>
        </p:spPr>
        <p:txBody>
          <a:bodyPr wrap="square" anchor="t" lIns="36576" rIns="36576" tIns="18288" bIns="18288">
            <a:spAutoFit/>
          </a:bodyPr>
          <a:lstStyle/>
          <a:p>
            <a:pPr algn="ctr"/>
            <a:r>
              <a:rPr sz="1600" b="0">
                <a:solidFill>
                  <a:srgbClr val="FFFFFF"/>
                </a:solidFill>
                <a:latin typeface="Source Sans 3"/>
              </a:rPr>
              <a:t>on a loop</a:t>
            </a:r>
          </a:p>
        </p:txBody>
      </p:sp>
      <p:sp>
        <p:nvSpPr>
          <p:cNvPr id="15" name="Rounded Rectangle 14"/>
          <p:cNvSpPr/>
          <p:nvPr/>
        </p:nvSpPr>
        <p:spPr>
          <a:xfrm>
            <a:off x="4892040" y="1874519"/>
            <a:ext cx="2103120" cy="1737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92040" y="1947672"/>
            <a:ext cx="2103120" cy="955547"/>
          </a:xfrm>
          <a:prstGeom prst="rect">
            <a:avLst/>
          </a:prstGeom>
          <a:noFill/>
        </p:spPr>
        <p:txBody>
          <a:bodyPr wrap="square" anchor="ctr" lIns="36576" rIns="36576" tIns="18288" bIns="18288">
            <a:spAutoFit/>
          </a:bodyPr>
          <a:lstStyle/>
          <a:p>
            <a:pPr algn="ctr"/>
            <a:r>
              <a:rPr sz="3400" b="1">
                <a:solidFill>
                  <a:srgbClr val="FFFFFF"/>
                </a:solidFill>
                <a:latin typeface="Oswald"/>
              </a:rPr>
              <a:t>F–A–C</a:t>
            </a:r>
          </a:p>
        </p:txBody>
      </p:sp>
      <p:sp>
        <p:nvSpPr>
          <p:cNvPr id="17" name="TextBox 16"/>
          <p:cNvSpPr txBox="1"/>
          <p:nvPr/>
        </p:nvSpPr>
        <p:spPr>
          <a:xfrm>
            <a:off x="4983479" y="2830068"/>
            <a:ext cx="1920239" cy="729691"/>
          </a:xfrm>
          <a:prstGeom prst="rect">
            <a:avLst/>
          </a:prstGeom>
          <a:noFill/>
        </p:spPr>
        <p:txBody>
          <a:bodyPr wrap="square" anchor="t" lIns="36576" rIns="36576" tIns="18288" bIns="18288">
            <a:spAutoFit/>
          </a:bodyPr>
          <a:lstStyle/>
          <a:p>
            <a:pPr algn="ctr"/>
            <a:r>
              <a:rPr sz="1600" b="0">
                <a:solidFill>
                  <a:srgbClr val="FFFFFF"/>
                </a:solidFill>
                <a:latin typeface="Source Sans 3"/>
              </a:rPr>
              <a:t>on a loop</a:t>
            </a:r>
          </a:p>
        </p:txBody>
      </p:sp>
      <p:sp>
        <p:nvSpPr>
          <p:cNvPr id="18" name="Rounded Rectangle 17"/>
          <p:cNvSpPr/>
          <p:nvPr/>
        </p:nvSpPr>
        <p:spPr>
          <a:xfrm>
            <a:off x="7178040" y="1874519"/>
            <a:ext cx="2103120" cy="1737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78040" y="1947672"/>
            <a:ext cx="2103120" cy="955547"/>
          </a:xfrm>
          <a:prstGeom prst="rect">
            <a:avLst/>
          </a:prstGeom>
          <a:noFill/>
        </p:spPr>
        <p:txBody>
          <a:bodyPr wrap="square" anchor="ctr" lIns="36576" rIns="36576" tIns="18288" bIns="18288">
            <a:spAutoFit/>
          </a:bodyPr>
          <a:lstStyle/>
          <a:p>
            <a:pPr algn="ctr"/>
            <a:r>
              <a:rPr sz="3400" b="1">
                <a:solidFill>
                  <a:srgbClr val="FFFFFF"/>
                </a:solidFill>
                <a:latin typeface="Oswald"/>
              </a:rPr>
              <a:t>G–B–D</a:t>
            </a:r>
          </a:p>
        </p:txBody>
      </p:sp>
      <p:sp>
        <p:nvSpPr>
          <p:cNvPr id="20" name="TextBox 19"/>
          <p:cNvSpPr txBox="1"/>
          <p:nvPr/>
        </p:nvSpPr>
        <p:spPr>
          <a:xfrm>
            <a:off x="7269479" y="2830068"/>
            <a:ext cx="1920239" cy="729691"/>
          </a:xfrm>
          <a:prstGeom prst="rect">
            <a:avLst/>
          </a:prstGeom>
          <a:noFill/>
        </p:spPr>
        <p:txBody>
          <a:bodyPr wrap="square" anchor="t" lIns="36576" rIns="36576" tIns="18288" bIns="18288">
            <a:spAutoFit/>
          </a:bodyPr>
          <a:lstStyle/>
          <a:p>
            <a:pPr algn="ctr"/>
            <a:r>
              <a:rPr sz="1600" b="0">
                <a:solidFill>
                  <a:srgbClr val="FFFFFF"/>
                </a:solidFill>
                <a:latin typeface="Source Sans 3"/>
              </a:rPr>
              <a:t>on a loop</a:t>
            </a:r>
          </a:p>
        </p:txBody>
      </p:sp>
      <p:sp>
        <p:nvSpPr>
          <p:cNvPr id="21" name="Rounded Rectangle 20"/>
          <p:cNvSpPr/>
          <p:nvPr/>
        </p:nvSpPr>
        <p:spPr>
          <a:xfrm>
            <a:off x="9464040" y="1874519"/>
            <a:ext cx="2103120" cy="1737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64040" y="1947672"/>
            <a:ext cx="2103120" cy="955547"/>
          </a:xfrm>
          <a:prstGeom prst="rect">
            <a:avLst/>
          </a:prstGeom>
          <a:noFill/>
        </p:spPr>
        <p:txBody>
          <a:bodyPr wrap="square" anchor="ctr" lIns="36576" rIns="36576" tIns="18288" bIns="18288">
            <a:spAutoFit/>
          </a:bodyPr>
          <a:lstStyle/>
          <a:p>
            <a:pPr algn="ctr"/>
            <a:r>
              <a:rPr sz="3400" b="1">
                <a:solidFill>
                  <a:srgbClr val="FFFFFF"/>
                </a:solidFill>
                <a:latin typeface="Oswald"/>
              </a:rPr>
              <a:t>C–E–G</a:t>
            </a:r>
          </a:p>
        </p:txBody>
      </p:sp>
      <p:sp>
        <p:nvSpPr>
          <p:cNvPr id="23" name="TextBox 22"/>
          <p:cNvSpPr txBox="1"/>
          <p:nvPr/>
        </p:nvSpPr>
        <p:spPr>
          <a:xfrm>
            <a:off x="9555480" y="2830068"/>
            <a:ext cx="1920239" cy="729691"/>
          </a:xfrm>
          <a:prstGeom prst="rect">
            <a:avLst/>
          </a:prstGeom>
          <a:noFill/>
        </p:spPr>
        <p:txBody>
          <a:bodyPr wrap="square" anchor="t" lIns="36576" rIns="36576" tIns="18288" bIns="18288">
            <a:spAutoFit/>
          </a:bodyPr>
          <a:lstStyle/>
          <a:p>
            <a:pPr algn="ctr"/>
            <a:r>
              <a:rPr sz="1600" b="0">
                <a:solidFill>
                  <a:srgbClr val="FFFFFF"/>
                </a:solidFill>
                <a:latin typeface="Source Sans 3"/>
              </a:rPr>
              <a:t>on a loop</a:t>
            </a:r>
          </a:p>
        </p:txBody>
      </p:sp>
      <p:sp>
        <p:nvSpPr>
          <p:cNvPr id="24" name="TextBox 23"/>
          <p:cNvSpPr txBox="1"/>
          <p:nvPr/>
        </p:nvSpPr>
        <p:spPr>
          <a:xfrm>
            <a:off x="548640" y="4023360"/>
            <a:ext cx="1828800" cy="548640"/>
          </a:xfrm>
          <a:prstGeom prst="rect">
            <a:avLst/>
          </a:prstGeom>
          <a:noFill/>
        </p:spPr>
        <p:txBody>
          <a:bodyPr wrap="square" anchor="t" lIns="36576" rIns="36576" tIns="18288" bIns="18288">
            <a:spAutoFit/>
          </a:bodyPr>
          <a:lstStyle/>
          <a:p>
            <a:pPr algn="l"/>
            <a:r>
              <a:rPr sz="3000" b="1">
                <a:solidFill>
                  <a:srgbClr val="0E8C7F"/>
                </a:solidFill>
                <a:latin typeface="Oswald"/>
              </a:rPr>
              <a:t>LOOP 2</a:t>
            </a:r>
          </a:p>
        </p:txBody>
      </p:sp>
      <p:sp>
        <p:nvSpPr>
          <p:cNvPr id="25" name="TextBox 24"/>
          <p:cNvSpPr txBox="1"/>
          <p:nvPr/>
        </p:nvSpPr>
        <p:spPr>
          <a:xfrm>
            <a:off x="548640" y="4590288"/>
            <a:ext cx="1920240" cy="1097280"/>
          </a:xfrm>
          <a:prstGeom prst="rect">
            <a:avLst/>
          </a:prstGeom>
          <a:noFill/>
        </p:spPr>
        <p:txBody>
          <a:bodyPr wrap="square" anchor="t" lIns="36576" rIns="36576" tIns="18288" bIns="18288">
            <a:spAutoFit/>
          </a:bodyPr>
          <a:lstStyle/>
          <a:p>
            <a:pPr algn="l"/>
            <a:r>
              <a:rPr sz="1700" b="0">
                <a:solidFill>
                  <a:srgbClr val="000000"/>
                </a:solidFill>
                <a:latin typeface="Source Sans 3"/>
              </a:rPr>
              <a:t>Where is home now?</a:t>
            </a:r>
          </a:p>
        </p:txBody>
      </p:sp>
      <p:sp>
        <p:nvSpPr>
          <p:cNvPr id="26" name="Rounded Rectangle 25"/>
          <p:cNvSpPr/>
          <p:nvPr/>
        </p:nvSpPr>
        <p:spPr>
          <a:xfrm>
            <a:off x="2606040" y="4023360"/>
            <a:ext cx="2103120" cy="1737360"/>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06040" y="4096512"/>
            <a:ext cx="2103120" cy="955547"/>
          </a:xfrm>
          <a:prstGeom prst="rect">
            <a:avLst/>
          </a:prstGeom>
          <a:noFill/>
        </p:spPr>
        <p:txBody>
          <a:bodyPr wrap="square" anchor="ctr" lIns="36576" rIns="36576" tIns="18288" bIns="18288">
            <a:spAutoFit/>
          </a:bodyPr>
          <a:lstStyle/>
          <a:p>
            <a:pPr algn="ctr"/>
            <a:r>
              <a:rPr sz="3400" b="1">
                <a:solidFill>
                  <a:srgbClr val="FFFFFF"/>
                </a:solidFill>
                <a:latin typeface="Oswald"/>
              </a:rPr>
              <a:t>A–C–E</a:t>
            </a:r>
          </a:p>
        </p:txBody>
      </p:sp>
      <p:sp>
        <p:nvSpPr>
          <p:cNvPr id="28" name="TextBox 27"/>
          <p:cNvSpPr txBox="1"/>
          <p:nvPr/>
        </p:nvSpPr>
        <p:spPr>
          <a:xfrm>
            <a:off x="2697480" y="4978908"/>
            <a:ext cx="1920239" cy="729691"/>
          </a:xfrm>
          <a:prstGeom prst="rect">
            <a:avLst/>
          </a:prstGeom>
          <a:noFill/>
        </p:spPr>
        <p:txBody>
          <a:bodyPr wrap="square" anchor="t" lIns="36576" rIns="36576" tIns="18288" bIns="18288">
            <a:spAutoFit/>
          </a:bodyPr>
          <a:lstStyle/>
          <a:p>
            <a:pPr algn="ctr"/>
            <a:r>
              <a:rPr sz="1600" b="0">
                <a:solidFill>
                  <a:srgbClr val="FFFFFF"/>
                </a:solidFill>
                <a:latin typeface="Source Sans 3"/>
              </a:rPr>
              <a:t>on a loop</a:t>
            </a:r>
          </a:p>
        </p:txBody>
      </p:sp>
      <p:sp>
        <p:nvSpPr>
          <p:cNvPr id="29" name="Rounded Rectangle 28"/>
          <p:cNvSpPr/>
          <p:nvPr/>
        </p:nvSpPr>
        <p:spPr>
          <a:xfrm>
            <a:off x="4892040" y="4023360"/>
            <a:ext cx="2103120" cy="1737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92040" y="4096512"/>
            <a:ext cx="2103120" cy="955547"/>
          </a:xfrm>
          <a:prstGeom prst="rect">
            <a:avLst/>
          </a:prstGeom>
          <a:noFill/>
        </p:spPr>
        <p:txBody>
          <a:bodyPr wrap="square" anchor="ctr" lIns="36576" rIns="36576" tIns="18288" bIns="18288">
            <a:spAutoFit/>
          </a:bodyPr>
          <a:lstStyle/>
          <a:p>
            <a:pPr algn="ctr"/>
            <a:r>
              <a:rPr sz="3400" b="1">
                <a:solidFill>
                  <a:srgbClr val="FFFFFF"/>
                </a:solidFill>
                <a:latin typeface="Oswald"/>
              </a:rPr>
              <a:t>F–A–C</a:t>
            </a:r>
          </a:p>
        </p:txBody>
      </p:sp>
      <p:sp>
        <p:nvSpPr>
          <p:cNvPr id="31" name="TextBox 30"/>
          <p:cNvSpPr txBox="1"/>
          <p:nvPr/>
        </p:nvSpPr>
        <p:spPr>
          <a:xfrm>
            <a:off x="4983479" y="4978908"/>
            <a:ext cx="1920239" cy="729691"/>
          </a:xfrm>
          <a:prstGeom prst="rect">
            <a:avLst/>
          </a:prstGeom>
          <a:noFill/>
        </p:spPr>
        <p:txBody>
          <a:bodyPr wrap="square" anchor="t" lIns="36576" rIns="36576" tIns="18288" bIns="18288">
            <a:spAutoFit/>
          </a:bodyPr>
          <a:lstStyle/>
          <a:p>
            <a:pPr algn="ctr"/>
            <a:r>
              <a:rPr sz="1600" b="0">
                <a:solidFill>
                  <a:srgbClr val="FFFFFF"/>
                </a:solidFill>
                <a:latin typeface="Source Sans 3"/>
              </a:rPr>
              <a:t>on a loop</a:t>
            </a:r>
          </a:p>
        </p:txBody>
      </p:sp>
      <p:sp>
        <p:nvSpPr>
          <p:cNvPr id="32" name="Rounded Rectangle 31"/>
          <p:cNvSpPr/>
          <p:nvPr/>
        </p:nvSpPr>
        <p:spPr>
          <a:xfrm>
            <a:off x="7178040" y="4023360"/>
            <a:ext cx="2103120" cy="1737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78040" y="4096512"/>
            <a:ext cx="2103120" cy="955547"/>
          </a:xfrm>
          <a:prstGeom prst="rect">
            <a:avLst/>
          </a:prstGeom>
          <a:noFill/>
        </p:spPr>
        <p:txBody>
          <a:bodyPr wrap="square" anchor="ctr" lIns="36576" rIns="36576" tIns="18288" bIns="18288">
            <a:spAutoFit/>
          </a:bodyPr>
          <a:lstStyle/>
          <a:p>
            <a:pPr algn="ctr"/>
            <a:r>
              <a:rPr sz="3400" b="1">
                <a:solidFill>
                  <a:srgbClr val="FFFFFF"/>
                </a:solidFill>
                <a:latin typeface="Oswald"/>
              </a:rPr>
              <a:t>C–E–G</a:t>
            </a:r>
          </a:p>
        </p:txBody>
      </p:sp>
      <p:sp>
        <p:nvSpPr>
          <p:cNvPr id="34" name="TextBox 33"/>
          <p:cNvSpPr txBox="1"/>
          <p:nvPr/>
        </p:nvSpPr>
        <p:spPr>
          <a:xfrm>
            <a:off x="7269479" y="4978908"/>
            <a:ext cx="1920239" cy="729691"/>
          </a:xfrm>
          <a:prstGeom prst="rect">
            <a:avLst/>
          </a:prstGeom>
          <a:noFill/>
        </p:spPr>
        <p:txBody>
          <a:bodyPr wrap="square" anchor="t" lIns="36576" rIns="36576" tIns="18288" bIns="18288">
            <a:spAutoFit/>
          </a:bodyPr>
          <a:lstStyle/>
          <a:p>
            <a:pPr algn="ctr"/>
            <a:r>
              <a:rPr sz="1600" b="0">
                <a:solidFill>
                  <a:srgbClr val="FFFFFF"/>
                </a:solidFill>
                <a:latin typeface="Source Sans 3"/>
              </a:rPr>
              <a:t>on a loop</a:t>
            </a:r>
          </a:p>
        </p:txBody>
      </p:sp>
      <p:sp>
        <p:nvSpPr>
          <p:cNvPr id="35" name="Rounded Rectangle 34"/>
          <p:cNvSpPr/>
          <p:nvPr/>
        </p:nvSpPr>
        <p:spPr>
          <a:xfrm>
            <a:off x="9464040" y="4023360"/>
            <a:ext cx="2103120" cy="1737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64040" y="4096512"/>
            <a:ext cx="2103120" cy="955547"/>
          </a:xfrm>
          <a:prstGeom prst="rect">
            <a:avLst/>
          </a:prstGeom>
          <a:noFill/>
        </p:spPr>
        <p:txBody>
          <a:bodyPr wrap="square" anchor="ctr" lIns="36576" rIns="36576" tIns="18288" bIns="18288">
            <a:spAutoFit/>
          </a:bodyPr>
          <a:lstStyle/>
          <a:p>
            <a:pPr algn="ctr"/>
            <a:r>
              <a:rPr sz="3400" b="1">
                <a:solidFill>
                  <a:srgbClr val="FFFFFF"/>
                </a:solidFill>
                <a:latin typeface="Oswald"/>
              </a:rPr>
              <a:t>G–B–D</a:t>
            </a:r>
          </a:p>
        </p:txBody>
      </p:sp>
      <p:sp>
        <p:nvSpPr>
          <p:cNvPr id="37" name="TextBox 36"/>
          <p:cNvSpPr txBox="1"/>
          <p:nvPr/>
        </p:nvSpPr>
        <p:spPr>
          <a:xfrm>
            <a:off x="9555480" y="4978908"/>
            <a:ext cx="1920239" cy="729691"/>
          </a:xfrm>
          <a:prstGeom prst="rect">
            <a:avLst/>
          </a:prstGeom>
          <a:noFill/>
        </p:spPr>
        <p:txBody>
          <a:bodyPr wrap="square" anchor="t" lIns="36576" rIns="36576" tIns="18288" bIns="18288">
            <a:spAutoFit/>
          </a:bodyPr>
          <a:lstStyle/>
          <a:p>
            <a:pPr algn="ctr"/>
            <a:r>
              <a:rPr sz="1600" b="0">
                <a:solidFill>
                  <a:srgbClr val="FFFFFF"/>
                </a:solidFill>
                <a:latin typeface="Source Sans 3"/>
              </a:rPr>
              <a:t>on a loop</a:t>
            </a:r>
          </a:p>
        </p:txBody>
      </p:sp>
      <p:sp>
        <p:nvSpPr>
          <p:cNvPr id="38" name="TextBox 37"/>
          <p:cNvSpPr txBox="1"/>
          <p:nvPr/>
        </p:nvSpPr>
        <p:spPr>
          <a:xfrm>
            <a:off x="548640" y="5897880"/>
            <a:ext cx="11064240" cy="411480"/>
          </a:xfrm>
          <a:prstGeom prst="rect">
            <a:avLst/>
          </a:prstGeom>
          <a:noFill/>
        </p:spPr>
        <p:txBody>
          <a:bodyPr wrap="square" anchor="t" lIns="36576" rIns="36576" tIns="18288" bIns="18288">
            <a:spAutoFit/>
          </a:bodyPr>
          <a:lstStyle/>
          <a:p>
            <a:pPr algn="l"/>
            <a:r>
              <a:rPr sz="2000" b="0">
                <a:solidFill>
                  <a:srgbClr val="000000"/>
                </a:solidFill>
                <a:latin typeface="Source Sans 3"/>
              </a:rPr>
              <a:t>Same white keys, nearly the same chords. A different home.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YOUR WORDS ARE MUSIC THEORY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sp>
        <p:nvSpPr>
          <p:cNvPr id="10" name="Oval 9"/>
          <p:cNvSpPr/>
          <p:nvPr/>
        </p:nvSpPr>
        <p:spPr>
          <a:xfrm>
            <a:off x="548640" y="225399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03120"/>
            <a:ext cx="10698480" cy="670560"/>
          </a:xfrm>
          <a:prstGeom prst="rect">
            <a:avLst/>
          </a:prstGeom>
          <a:noFill/>
        </p:spPr>
        <p:txBody>
          <a:bodyPr wrap="square" anchor="t" lIns="36576" rIns="36576" tIns="18288" bIns="18288">
            <a:spAutoFit/>
          </a:bodyPr>
          <a:lstStyle/>
          <a:p>
            <a:pPr algn="l"/>
            <a:r>
              <a:rPr sz="3300" b="0">
                <a:solidFill>
                  <a:srgbClr val="000000"/>
                </a:solidFill>
                <a:latin typeface="Source Sans 3"/>
              </a:rPr>
              <a:t>“That one sounds like something good is about to happen.”</a:t>
            </a:r>
          </a:p>
        </p:txBody>
      </p:sp>
      <p:sp>
        <p:nvSpPr>
          <p:cNvPr id="12" name="Oval 11"/>
          <p:cNvSpPr/>
          <p:nvPr/>
        </p:nvSpPr>
        <p:spPr>
          <a:xfrm>
            <a:off x="548640" y="3238881"/>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088005"/>
            <a:ext cx="10698480" cy="670560"/>
          </a:xfrm>
          <a:prstGeom prst="rect">
            <a:avLst/>
          </a:prstGeom>
          <a:noFill/>
        </p:spPr>
        <p:txBody>
          <a:bodyPr wrap="square" anchor="t" lIns="36576" rIns="36576" tIns="18288" bIns="18288">
            <a:spAutoFit/>
          </a:bodyPr>
          <a:lstStyle/>
          <a:p>
            <a:pPr algn="l"/>
            <a:r>
              <a:rPr sz="3300" b="0">
                <a:solidFill>
                  <a:srgbClr val="000000"/>
                </a:solidFill>
                <a:latin typeface="Source Sans 3"/>
              </a:rPr>
              <a:t>“That one sounds unfinished.”</a:t>
            </a:r>
          </a:p>
        </p:txBody>
      </p:sp>
      <p:sp>
        <p:nvSpPr>
          <p:cNvPr id="14" name="Oval 13"/>
          <p:cNvSpPr/>
          <p:nvPr/>
        </p:nvSpPr>
        <p:spPr>
          <a:xfrm>
            <a:off x="548640" y="422376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072890"/>
            <a:ext cx="10698480" cy="670560"/>
          </a:xfrm>
          <a:prstGeom prst="rect">
            <a:avLst/>
          </a:prstGeom>
          <a:noFill/>
        </p:spPr>
        <p:txBody>
          <a:bodyPr wrap="square" anchor="t" lIns="36576" rIns="36576" tIns="18288" bIns="18288">
            <a:spAutoFit/>
          </a:bodyPr>
          <a:lstStyle/>
          <a:p>
            <a:pPr algn="l"/>
            <a:r>
              <a:rPr sz="3300" b="0">
                <a:solidFill>
                  <a:srgbClr val="000000"/>
                </a:solidFill>
                <a:latin typeface="Source Sans 3"/>
              </a:rPr>
              <a:t>Write the class’s words on the board</a:t>
            </a:r>
          </a:p>
        </p:txBody>
      </p:sp>
      <p:sp>
        <p:nvSpPr>
          <p:cNvPr id="16" name="Oval 15"/>
          <p:cNvSpPr/>
          <p:nvPr/>
        </p:nvSpPr>
        <p:spPr>
          <a:xfrm>
            <a:off x="548640" y="5208651"/>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5057775"/>
            <a:ext cx="10698480" cy="670560"/>
          </a:xfrm>
          <a:prstGeom prst="rect">
            <a:avLst/>
          </a:prstGeom>
          <a:noFill/>
        </p:spPr>
        <p:txBody>
          <a:bodyPr wrap="square" anchor="t" lIns="36576" rIns="36576" tIns="18288" bIns="18288">
            <a:spAutoFit/>
          </a:bodyPr>
          <a:lstStyle/>
          <a:p>
            <a:pPr algn="l"/>
            <a:r>
              <a:rPr sz="3300" b="0">
                <a:solidFill>
                  <a:srgbClr val="000000"/>
                </a:solidFill>
                <a:latin typeface="Source Sans 3"/>
              </a:rPr>
              <a:t>On Day 4 they get shorter names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THE KEYBOARD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pic>
        <p:nvPicPr>
          <p:cNvPr id="10" name="Picture 9" descr="deck-keys.png"/>
          <p:cNvPicPr>
            <a:picLocks noChangeAspect="1"/>
          </p:cNvPicPr>
          <p:nvPr/>
        </p:nvPicPr>
        <p:blipFill>
          <a:blip r:embed="rId2"/>
          <a:stretch>
            <a:fillRect/>
          </a:stretch>
        </p:blipFill>
        <p:spPr>
          <a:xfrm>
            <a:off x="548640" y="1828800"/>
            <a:ext cx="6035040" cy="3681374"/>
          </a:xfrm>
          <a:prstGeom prst="rect">
            <a:avLst/>
          </a:prstGeom>
        </p:spPr>
      </p:pic>
      <p:sp>
        <p:nvSpPr>
          <p:cNvPr id="11" name="Rounded Rectangle 10"/>
          <p:cNvSpPr/>
          <p:nvPr/>
        </p:nvSpPr>
        <p:spPr>
          <a:xfrm>
            <a:off x="6949440" y="1828800"/>
            <a:ext cx="4690872" cy="1965960"/>
          </a:xfrm>
          <a:prstGeom prst="roundRect">
            <a:avLst/>
          </a:prstGeom>
          <a:solidFill>
            <a:srgbClr val="FFFFFF"/>
          </a:solidFill>
          <a:ln w="31750">
            <a:solidFill>
              <a:srgbClr val="0E8C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78040" y="1965960"/>
            <a:ext cx="4297680" cy="548640"/>
          </a:xfrm>
          <a:prstGeom prst="rect">
            <a:avLst/>
          </a:prstGeom>
          <a:noFill/>
        </p:spPr>
        <p:txBody>
          <a:bodyPr wrap="square" anchor="t" lIns="36576" rIns="36576" tIns="18288" bIns="18288">
            <a:spAutoFit/>
          </a:bodyPr>
          <a:lstStyle/>
          <a:p>
            <a:pPr algn="l"/>
            <a:r>
              <a:rPr sz="3000" b="1">
                <a:solidFill>
                  <a:srgbClr val="0E8C7F"/>
                </a:solidFill>
                <a:latin typeface="Oswald"/>
              </a:rPr>
              <a:t>HALF STEP (H)</a:t>
            </a:r>
          </a:p>
        </p:txBody>
      </p:sp>
      <p:sp>
        <p:nvSpPr>
          <p:cNvPr id="13" name="TextBox 12"/>
          <p:cNvSpPr txBox="1"/>
          <p:nvPr/>
        </p:nvSpPr>
        <p:spPr>
          <a:xfrm>
            <a:off x="7178040" y="2560320"/>
            <a:ext cx="4297680" cy="1188720"/>
          </a:xfrm>
          <a:prstGeom prst="rect">
            <a:avLst/>
          </a:prstGeom>
          <a:noFill/>
        </p:spPr>
        <p:txBody>
          <a:bodyPr wrap="square" anchor="t" lIns="36576" rIns="36576" tIns="18288" bIns="18288">
            <a:spAutoFit/>
          </a:bodyPr>
          <a:lstStyle/>
          <a:p>
            <a:pPr algn="l"/>
            <a:r>
              <a:rPr sz="2000" b="0">
                <a:solidFill>
                  <a:srgbClr val="000000"/>
                </a:solidFill>
                <a:latin typeface="Source Sans 3"/>
              </a:rPr>
              <a:t>One key in either direction, black keys included. E to F and B to C are the only white-key half steps.</a:t>
            </a:r>
          </a:p>
        </p:txBody>
      </p:sp>
      <p:sp>
        <p:nvSpPr>
          <p:cNvPr id="14" name="Rounded Rectangle 13"/>
          <p:cNvSpPr/>
          <p:nvPr/>
        </p:nvSpPr>
        <p:spPr>
          <a:xfrm>
            <a:off x="6949440" y="4023360"/>
            <a:ext cx="4690872" cy="1965960"/>
          </a:xfrm>
          <a:prstGeom prst="roundRect">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78040" y="4160520"/>
            <a:ext cx="4297680" cy="548640"/>
          </a:xfrm>
          <a:prstGeom prst="rect">
            <a:avLst/>
          </a:prstGeom>
          <a:noFill/>
        </p:spPr>
        <p:txBody>
          <a:bodyPr wrap="square" anchor="t" lIns="36576" rIns="36576" tIns="18288" bIns="18288">
            <a:spAutoFit/>
          </a:bodyPr>
          <a:lstStyle/>
          <a:p>
            <a:pPr algn="l"/>
            <a:r>
              <a:rPr sz="3000" b="1">
                <a:solidFill>
                  <a:srgbClr val="000000"/>
                </a:solidFill>
                <a:latin typeface="Oswald"/>
              </a:rPr>
              <a:t>WHOLE STEP (W)</a:t>
            </a:r>
          </a:p>
        </p:txBody>
      </p:sp>
      <p:sp>
        <p:nvSpPr>
          <p:cNvPr id="16" name="TextBox 15"/>
          <p:cNvSpPr txBox="1"/>
          <p:nvPr/>
        </p:nvSpPr>
        <p:spPr>
          <a:xfrm>
            <a:off x="7178040" y="4754880"/>
            <a:ext cx="4297680" cy="1188720"/>
          </a:xfrm>
          <a:prstGeom prst="rect">
            <a:avLst/>
          </a:prstGeom>
          <a:noFill/>
        </p:spPr>
        <p:txBody>
          <a:bodyPr wrap="square" anchor="t" lIns="36576" rIns="36576" tIns="18288" bIns="18288">
            <a:spAutoFit/>
          </a:bodyPr>
          <a:lstStyle/>
          <a:p>
            <a:pPr algn="l"/>
            <a:r>
              <a:rPr sz="2000" b="0">
                <a:solidFill>
                  <a:srgbClr val="000000"/>
                </a:solidFill>
                <a:latin typeface="Source Sans 3"/>
              </a:rPr>
              <a:t>Two half steps: skip one key. C to D, D to E, G to A.</a:t>
            </a:r>
          </a:p>
        </p:txBody>
      </p:sp>
      <p:sp>
        <p:nvSpPr>
          <p:cNvPr id="17" name="TextBox 16"/>
          <p:cNvSpPr txBox="1"/>
          <p:nvPr/>
        </p:nvSpPr>
        <p:spPr>
          <a:xfrm>
            <a:off x="548640" y="5601614"/>
            <a:ext cx="6035040" cy="411480"/>
          </a:xfrm>
          <a:prstGeom prst="rect">
            <a:avLst/>
          </a:prstGeom>
          <a:noFill/>
        </p:spPr>
        <p:txBody>
          <a:bodyPr wrap="square" anchor="t" lIns="36576" rIns="36576" tIns="18288" bIns="18288">
            <a:spAutoFit/>
          </a:bodyPr>
          <a:lstStyle/>
          <a:p>
            <a:pPr algn="l"/>
            <a:r>
              <a:rPr sz="1800" b="0">
                <a:solidFill>
                  <a:srgbClr val="000000"/>
                </a:solidFill>
                <a:latin typeface="Source Sans 3"/>
              </a:rPr>
              <a:t>Find C: just left of every group of 2 black keys.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SCALES: THE INGREDIENT LIST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TextBox 9"/>
          <p:cNvSpPr txBox="1"/>
          <p:nvPr/>
        </p:nvSpPr>
        <p:spPr>
          <a:xfrm>
            <a:off x="548640" y="1874519"/>
            <a:ext cx="11064240" cy="502920"/>
          </a:xfrm>
          <a:prstGeom prst="rect">
            <a:avLst/>
          </a:prstGeom>
          <a:noFill/>
        </p:spPr>
        <p:txBody>
          <a:bodyPr wrap="square" anchor="t" lIns="36576" rIns="36576" tIns="18288" bIns="18288">
            <a:spAutoFit/>
          </a:bodyPr>
          <a:lstStyle/>
          <a:p>
            <a:pPr algn="l"/>
            <a:r>
              <a:rPr sz="2600" b="1">
                <a:solidFill>
                  <a:srgbClr val="0E8C7F"/>
                </a:solidFill>
                <a:latin typeface="Oswald"/>
              </a:rPr>
              <a:t>C MAJOR  ·  W - W - H - W - W - W - H</a:t>
            </a:r>
          </a:p>
        </p:txBody>
      </p:sp>
      <p:sp>
        <p:nvSpPr>
          <p:cNvPr id="11" name="Rounded Rectangle 10"/>
          <p:cNvSpPr/>
          <p:nvPr/>
        </p:nvSpPr>
        <p:spPr>
          <a:xfrm>
            <a:off x="548640" y="2560320"/>
            <a:ext cx="914400" cy="914400"/>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6032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C</a:t>
            </a:r>
          </a:p>
        </p:txBody>
      </p:sp>
      <p:sp>
        <p:nvSpPr>
          <p:cNvPr id="13" name="TextBox 12"/>
          <p:cNvSpPr txBox="1"/>
          <p:nvPr/>
        </p:nvSpPr>
        <p:spPr>
          <a:xfrm>
            <a:off x="1463040" y="274320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W</a:t>
            </a:r>
          </a:p>
        </p:txBody>
      </p:sp>
      <p:sp>
        <p:nvSpPr>
          <p:cNvPr id="14" name="Rounded Rectangle 13"/>
          <p:cNvSpPr/>
          <p:nvPr/>
        </p:nvSpPr>
        <p:spPr>
          <a:xfrm>
            <a:off x="1920240" y="2560320"/>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20240" y="256032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D</a:t>
            </a:r>
          </a:p>
        </p:txBody>
      </p:sp>
      <p:sp>
        <p:nvSpPr>
          <p:cNvPr id="16" name="TextBox 15"/>
          <p:cNvSpPr txBox="1"/>
          <p:nvPr/>
        </p:nvSpPr>
        <p:spPr>
          <a:xfrm>
            <a:off x="2834640" y="274320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W</a:t>
            </a:r>
          </a:p>
        </p:txBody>
      </p:sp>
      <p:sp>
        <p:nvSpPr>
          <p:cNvPr id="17" name="Rounded Rectangle 16"/>
          <p:cNvSpPr/>
          <p:nvPr/>
        </p:nvSpPr>
        <p:spPr>
          <a:xfrm>
            <a:off x="3291840" y="2560320"/>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0" y="256032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E</a:t>
            </a:r>
          </a:p>
        </p:txBody>
      </p:sp>
      <p:sp>
        <p:nvSpPr>
          <p:cNvPr id="19" name="TextBox 18"/>
          <p:cNvSpPr txBox="1"/>
          <p:nvPr/>
        </p:nvSpPr>
        <p:spPr>
          <a:xfrm>
            <a:off x="4206240" y="274320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H</a:t>
            </a:r>
          </a:p>
        </p:txBody>
      </p:sp>
      <p:sp>
        <p:nvSpPr>
          <p:cNvPr id="20" name="Rounded Rectangle 19"/>
          <p:cNvSpPr/>
          <p:nvPr/>
        </p:nvSpPr>
        <p:spPr>
          <a:xfrm>
            <a:off x="4663440" y="2560320"/>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256032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F</a:t>
            </a:r>
          </a:p>
        </p:txBody>
      </p:sp>
      <p:sp>
        <p:nvSpPr>
          <p:cNvPr id="22" name="TextBox 21"/>
          <p:cNvSpPr txBox="1"/>
          <p:nvPr/>
        </p:nvSpPr>
        <p:spPr>
          <a:xfrm>
            <a:off x="5577840" y="274320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W</a:t>
            </a:r>
          </a:p>
        </p:txBody>
      </p:sp>
      <p:sp>
        <p:nvSpPr>
          <p:cNvPr id="23" name="Rounded Rectangle 22"/>
          <p:cNvSpPr/>
          <p:nvPr/>
        </p:nvSpPr>
        <p:spPr>
          <a:xfrm>
            <a:off x="6035040" y="2560320"/>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256032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G</a:t>
            </a:r>
          </a:p>
        </p:txBody>
      </p:sp>
      <p:sp>
        <p:nvSpPr>
          <p:cNvPr id="25" name="TextBox 24"/>
          <p:cNvSpPr txBox="1"/>
          <p:nvPr/>
        </p:nvSpPr>
        <p:spPr>
          <a:xfrm>
            <a:off x="6949440" y="274320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W</a:t>
            </a:r>
          </a:p>
        </p:txBody>
      </p:sp>
      <p:sp>
        <p:nvSpPr>
          <p:cNvPr id="26" name="Rounded Rectangle 25"/>
          <p:cNvSpPr/>
          <p:nvPr/>
        </p:nvSpPr>
        <p:spPr>
          <a:xfrm>
            <a:off x="7406640" y="2560320"/>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256032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A</a:t>
            </a:r>
          </a:p>
        </p:txBody>
      </p:sp>
      <p:sp>
        <p:nvSpPr>
          <p:cNvPr id="28" name="TextBox 27"/>
          <p:cNvSpPr txBox="1"/>
          <p:nvPr/>
        </p:nvSpPr>
        <p:spPr>
          <a:xfrm>
            <a:off x="8321040" y="274320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W</a:t>
            </a:r>
          </a:p>
        </p:txBody>
      </p:sp>
      <p:sp>
        <p:nvSpPr>
          <p:cNvPr id="29" name="Rounded Rectangle 28"/>
          <p:cNvSpPr/>
          <p:nvPr/>
        </p:nvSpPr>
        <p:spPr>
          <a:xfrm>
            <a:off x="8778240" y="2560320"/>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78240" y="256032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B</a:t>
            </a:r>
          </a:p>
        </p:txBody>
      </p:sp>
      <p:sp>
        <p:nvSpPr>
          <p:cNvPr id="31" name="TextBox 30"/>
          <p:cNvSpPr txBox="1"/>
          <p:nvPr/>
        </p:nvSpPr>
        <p:spPr>
          <a:xfrm>
            <a:off x="9692640" y="274320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H</a:t>
            </a:r>
          </a:p>
        </p:txBody>
      </p:sp>
      <p:sp>
        <p:nvSpPr>
          <p:cNvPr id="32" name="Rounded Rectangle 31"/>
          <p:cNvSpPr/>
          <p:nvPr/>
        </p:nvSpPr>
        <p:spPr>
          <a:xfrm>
            <a:off x="10149840" y="2560320"/>
            <a:ext cx="914400" cy="914400"/>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49840" y="256032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C</a:t>
            </a:r>
          </a:p>
        </p:txBody>
      </p:sp>
      <p:sp>
        <p:nvSpPr>
          <p:cNvPr id="34" name="TextBox 33"/>
          <p:cNvSpPr txBox="1"/>
          <p:nvPr/>
        </p:nvSpPr>
        <p:spPr>
          <a:xfrm>
            <a:off x="548640" y="3977639"/>
            <a:ext cx="11064240" cy="502920"/>
          </a:xfrm>
          <a:prstGeom prst="rect">
            <a:avLst/>
          </a:prstGeom>
          <a:noFill/>
        </p:spPr>
        <p:txBody>
          <a:bodyPr wrap="square" anchor="t" lIns="36576" rIns="36576" tIns="18288" bIns="18288">
            <a:spAutoFit/>
          </a:bodyPr>
          <a:lstStyle/>
          <a:p>
            <a:pPr algn="l"/>
            <a:r>
              <a:rPr sz="2600" b="1">
                <a:solidFill>
                  <a:srgbClr val="000000"/>
                </a:solidFill>
                <a:latin typeface="Oswald"/>
              </a:rPr>
              <a:t>A NATURAL MINOR  ·  W - H - W - W - H - W - W</a:t>
            </a:r>
          </a:p>
        </p:txBody>
      </p:sp>
      <p:sp>
        <p:nvSpPr>
          <p:cNvPr id="35" name="Rounded Rectangle 34"/>
          <p:cNvSpPr/>
          <p:nvPr/>
        </p:nvSpPr>
        <p:spPr>
          <a:xfrm>
            <a:off x="548640" y="4663440"/>
            <a:ext cx="914400" cy="914400"/>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66344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A</a:t>
            </a:r>
          </a:p>
        </p:txBody>
      </p:sp>
      <p:sp>
        <p:nvSpPr>
          <p:cNvPr id="37" name="TextBox 36"/>
          <p:cNvSpPr txBox="1"/>
          <p:nvPr/>
        </p:nvSpPr>
        <p:spPr>
          <a:xfrm>
            <a:off x="1463040" y="484632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W</a:t>
            </a:r>
          </a:p>
        </p:txBody>
      </p:sp>
      <p:sp>
        <p:nvSpPr>
          <p:cNvPr id="38" name="Rounded Rectangle 37"/>
          <p:cNvSpPr/>
          <p:nvPr/>
        </p:nvSpPr>
        <p:spPr>
          <a:xfrm>
            <a:off x="1920240" y="4663440"/>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20240" y="466344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B</a:t>
            </a:r>
          </a:p>
        </p:txBody>
      </p:sp>
      <p:sp>
        <p:nvSpPr>
          <p:cNvPr id="40" name="TextBox 39"/>
          <p:cNvSpPr txBox="1"/>
          <p:nvPr/>
        </p:nvSpPr>
        <p:spPr>
          <a:xfrm>
            <a:off x="2834640" y="484632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H</a:t>
            </a:r>
          </a:p>
        </p:txBody>
      </p:sp>
      <p:sp>
        <p:nvSpPr>
          <p:cNvPr id="41" name="Rounded Rectangle 40"/>
          <p:cNvSpPr/>
          <p:nvPr/>
        </p:nvSpPr>
        <p:spPr>
          <a:xfrm>
            <a:off x="3291840" y="4663440"/>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91840" y="466344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C</a:t>
            </a:r>
          </a:p>
        </p:txBody>
      </p:sp>
      <p:sp>
        <p:nvSpPr>
          <p:cNvPr id="43" name="TextBox 42"/>
          <p:cNvSpPr txBox="1"/>
          <p:nvPr/>
        </p:nvSpPr>
        <p:spPr>
          <a:xfrm>
            <a:off x="4206240" y="484632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W</a:t>
            </a:r>
          </a:p>
        </p:txBody>
      </p:sp>
      <p:sp>
        <p:nvSpPr>
          <p:cNvPr id="44" name="Rounded Rectangle 43"/>
          <p:cNvSpPr/>
          <p:nvPr/>
        </p:nvSpPr>
        <p:spPr>
          <a:xfrm>
            <a:off x="4663440" y="4663440"/>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63440" y="466344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D</a:t>
            </a:r>
          </a:p>
        </p:txBody>
      </p:sp>
      <p:sp>
        <p:nvSpPr>
          <p:cNvPr id="46" name="TextBox 45"/>
          <p:cNvSpPr txBox="1"/>
          <p:nvPr/>
        </p:nvSpPr>
        <p:spPr>
          <a:xfrm>
            <a:off x="5577840" y="484632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W</a:t>
            </a:r>
          </a:p>
        </p:txBody>
      </p:sp>
      <p:sp>
        <p:nvSpPr>
          <p:cNvPr id="47" name="Rounded Rectangle 46"/>
          <p:cNvSpPr/>
          <p:nvPr/>
        </p:nvSpPr>
        <p:spPr>
          <a:xfrm>
            <a:off x="6035040" y="4663440"/>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035040" y="466344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E</a:t>
            </a:r>
          </a:p>
        </p:txBody>
      </p:sp>
      <p:sp>
        <p:nvSpPr>
          <p:cNvPr id="49" name="TextBox 48"/>
          <p:cNvSpPr txBox="1"/>
          <p:nvPr/>
        </p:nvSpPr>
        <p:spPr>
          <a:xfrm>
            <a:off x="6949440" y="484632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H</a:t>
            </a:r>
          </a:p>
        </p:txBody>
      </p:sp>
      <p:sp>
        <p:nvSpPr>
          <p:cNvPr id="50" name="Rounded Rectangle 49"/>
          <p:cNvSpPr/>
          <p:nvPr/>
        </p:nvSpPr>
        <p:spPr>
          <a:xfrm>
            <a:off x="7406640" y="4663440"/>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06640" y="466344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F</a:t>
            </a:r>
          </a:p>
        </p:txBody>
      </p:sp>
      <p:sp>
        <p:nvSpPr>
          <p:cNvPr id="52" name="TextBox 51"/>
          <p:cNvSpPr txBox="1"/>
          <p:nvPr/>
        </p:nvSpPr>
        <p:spPr>
          <a:xfrm>
            <a:off x="8321040" y="484632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W</a:t>
            </a:r>
          </a:p>
        </p:txBody>
      </p:sp>
      <p:sp>
        <p:nvSpPr>
          <p:cNvPr id="53" name="Rounded Rectangle 52"/>
          <p:cNvSpPr/>
          <p:nvPr/>
        </p:nvSpPr>
        <p:spPr>
          <a:xfrm>
            <a:off x="8778240" y="4663440"/>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778240" y="466344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G</a:t>
            </a:r>
          </a:p>
        </p:txBody>
      </p:sp>
      <p:sp>
        <p:nvSpPr>
          <p:cNvPr id="55" name="TextBox 54"/>
          <p:cNvSpPr txBox="1"/>
          <p:nvPr/>
        </p:nvSpPr>
        <p:spPr>
          <a:xfrm>
            <a:off x="9692640" y="4846320"/>
            <a:ext cx="457200" cy="548640"/>
          </a:xfrm>
          <a:prstGeom prst="rect">
            <a:avLst/>
          </a:prstGeom>
          <a:noFill/>
        </p:spPr>
        <p:txBody>
          <a:bodyPr wrap="square" anchor="ctr" lIns="36576" rIns="36576" tIns="18288" bIns="18288">
            <a:spAutoFit/>
          </a:bodyPr>
          <a:lstStyle/>
          <a:p>
            <a:pPr algn="ctr"/>
            <a:r>
              <a:rPr sz="2000" b="1">
                <a:solidFill>
                  <a:srgbClr val="0E8C7F"/>
                </a:solidFill>
                <a:latin typeface="Oswald"/>
              </a:rPr>
              <a:t>W</a:t>
            </a:r>
          </a:p>
        </p:txBody>
      </p:sp>
      <p:sp>
        <p:nvSpPr>
          <p:cNvPr id="56" name="Rounded Rectangle 55"/>
          <p:cNvSpPr/>
          <p:nvPr/>
        </p:nvSpPr>
        <p:spPr>
          <a:xfrm>
            <a:off x="10149840" y="4663440"/>
            <a:ext cx="914400" cy="914400"/>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149840" y="4663440"/>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A</a:t>
            </a:r>
          </a:p>
        </p:txBody>
      </p:sp>
      <p:sp>
        <p:nvSpPr>
          <p:cNvPr id="58" name="TextBox 57"/>
          <p:cNvSpPr txBox="1"/>
          <p:nvPr/>
        </p:nvSpPr>
        <p:spPr>
          <a:xfrm>
            <a:off x="548640" y="5897880"/>
            <a:ext cx="11064240" cy="411480"/>
          </a:xfrm>
          <a:prstGeom prst="rect">
            <a:avLst/>
          </a:prstGeom>
          <a:noFill/>
        </p:spPr>
        <p:txBody>
          <a:bodyPr wrap="square" anchor="t" lIns="36576" rIns="36576" tIns="18288" bIns="18288">
            <a:spAutoFit/>
          </a:bodyPr>
          <a:lstStyle/>
          <a:p>
            <a:pPr algn="l"/>
            <a:r>
              <a:rPr sz="2000" b="0">
                <a:solidFill>
                  <a:srgbClr val="000000"/>
                </a:solidFill>
                <a:latin typeface="Source Sans 3"/>
              </a:rPr>
              <a:t>Same seven white keys, a different starting note, a different feel.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YOUR PROJECT: CHORDS &amp; ROMAN NUMERALS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10" name="Rounded Rectangle 9"/>
          <p:cNvSpPr/>
          <p:nvPr/>
        </p:nvSpPr>
        <p:spPr>
          <a:xfrm>
            <a:off x="548640" y="1810512"/>
            <a:ext cx="1417320" cy="7315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417320" cy="731520"/>
          </a:xfrm>
          <a:prstGeom prst="rect">
            <a:avLst/>
          </a:prstGeom>
          <a:noFill/>
        </p:spPr>
        <p:txBody>
          <a:bodyPr wrap="square" anchor="ctr" lIns="36576" rIns="36576" tIns="18288" bIns="18288">
            <a:spAutoFit/>
          </a:bodyPr>
          <a:lstStyle/>
          <a:p>
            <a:pPr algn="ctr"/>
            <a:r>
              <a:rPr sz="2400" b="1">
                <a:solidFill>
                  <a:srgbClr val="FFFFFF"/>
                </a:solidFill>
                <a:latin typeface="Oswald"/>
              </a:rPr>
              <a:t>DAY 1</a:t>
            </a:r>
          </a:p>
        </p:txBody>
      </p:sp>
      <p:sp>
        <p:nvSpPr>
          <p:cNvPr id="12" name="TextBox 11"/>
          <p:cNvSpPr txBox="1"/>
          <p:nvPr/>
        </p:nvSpPr>
        <p:spPr>
          <a:xfrm>
            <a:off x="2194560" y="1773936"/>
            <a:ext cx="9418320" cy="411480"/>
          </a:xfrm>
          <a:prstGeom prst="rect">
            <a:avLst/>
          </a:prstGeom>
          <a:noFill/>
        </p:spPr>
        <p:txBody>
          <a:bodyPr wrap="square" anchor="t" lIns="36576" rIns="36576" tIns="18288" bIns="18288">
            <a:spAutoFit/>
          </a:bodyPr>
          <a:lstStyle/>
          <a:p>
            <a:pPr algn="l"/>
            <a:r>
              <a:rPr sz="2200" b="1">
                <a:solidFill>
                  <a:srgbClr val="000000"/>
                </a:solidFill>
                <a:latin typeface="Oswald"/>
              </a:rPr>
              <a:t>CHORDS BY EAR: JUST LISTEN</a:t>
            </a:r>
          </a:p>
        </p:txBody>
      </p:sp>
      <p:sp>
        <p:nvSpPr>
          <p:cNvPr id="13" name="TextBox 12"/>
          <p:cNvSpPr txBox="1"/>
          <p:nvPr/>
        </p:nvSpPr>
        <p:spPr>
          <a:xfrm>
            <a:off x="2194560" y="2176272"/>
            <a:ext cx="9418320" cy="365760"/>
          </a:xfrm>
          <a:prstGeom prst="rect">
            <a:avLst/>
          </a:prstGeom>
          <a:noFill/>
        </p:spPr>
        <p:txBody>
          <a:bodyPr wrap="square" anchor="t" lIns="36576" rIns="36576" tIns="18288" bIns="18288">
            <a:spAutoFit/>
          </a:bodyPr>
          <a:lstStyle/>
          <a:p>
            <a:pPr algn="l"/>
            <a:r>
              <a:rPr sz="1700" b="0">
                <a:solidFill>
                  <a:srgbClr val="000000"/>
                </a:solidFill>
                <a:latin typeface="Source Sans 3"/>
              </a:rPr>
              <a:t>Play seven chords and describe them in your own words; hear I–IV–V–I come home</a:t>
            </a:r>
          </a:p>
        </p:txBody>
      </p:sp>
      <p:sp>
        <p:nvSpPr>
          <p:cNvPr id="14" name="Rounded Rectangle 13"/>
          <p:cNvSpPr/>
          <p:nvPr/>
        </p:nvSpPr>
        <p:spPr>
          <a:xfrm>
            <a:off x="548640" y="2706624"/>
            <a:ext cx="1417320" cy="7315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706624"/>
            <a:ext cx="1417320" cy="731520"/>
          </a:xfrm>
          <a:prstGeom prst="rect">
            <a:avLst/>
          </a:prstGeom>
          <a:noFill/>
        </p:spPr>
        <p:txBody>
          <a:bodyPr wrap="square" anchor="ctr" lIns="36576" rIns="36576" tIns="18288" bIns="18288">
            <a:spAutoFit/>
          </a:bodyPr>
          <a:lstStyle/>
          <a:p>
            <a:pPr algn="ctr"/>
            <a:r>
              <a:rPr sz="2400" b="1">
                <a:solidFill>
                  <a:srgbClr val="FFFFFF"/>
                </a:solidFill>
                <a:latin typeface="Oswald"/>
              </a:rPr>
              <a:t>DAY 2</a:t>
            </a:r>
          </a:p>
        </p:txBody>
      </p:sp>
      <p:sp>
        <p:nvSpPr>
          <p:cNvPr id="16" name="TextBox 15"/>
          <p:cNvSpPr txBox="1"/>
          <p:nvPr/>
        </p:nvSpPr>
        <p:spPr>
          <a:xfrm>
            <a:off x="2194560" y="2670048"/>
            <a:ext cx="9418320" cy="411480"/>
          </a:xfrm>
          <a:prstGeom prst="rect">
            <a:avLst/>
          </a:prstGeom>
          <a:noFill/>
        </p:spPr>
        <p:txBody>
          <a:bodyPr wrap="square" anchor="t" lIns="36576" rIns="36576" tIns="18288" bIns="18288">
            <a:spAutoFit/>
          </a:bodyPr>
          <a:lstStyle/>
          <a:p>
            <a:pPr algn="l"/>
            <a:r>
              <a:rPr sz="2200" b="1">
                <a:solidFill>
                  <a:srgbClr val="000000"/>
                </a:solidFill>
                <a:latin typeface="Oswald"/>
              </a:rPr>
              <a:t>THE KEYBOARD AND SCALES</a:t>
            </a:r>
          </a:p>
        </p:txBody>
      </p:sp>
      <p:sp>
        <p:nvSpPr>
          <p:cNvPr id="17" name="TextBox 16"/>
          <p:cNvSpPr txBox="1"/>
          <p:nvPr/>
        </p:nvSpPr>
        <p:spPr>
          <a:xfrm>
            <a:off x="2194560" y="3072384"/>
            <a:ext cx="9418320" cy="365760"/>
          </a:xfrm>
          <a:prstGeom prst="rect">
            <a:avLst/>
          </a:prstGeom>
          <a:noFill/>
        </p:spPr>
        <p:txBody>
          <a:bodyPr wrap="square" anchor="t" lIns="36576" rIns="36576" tIns="18288" bIns="18288">
            <a:spAutoFit/>
          </a:bodyPr>
          <a:lstStyle/>
          <a:p>
            <a:pPr algn="l"/>
            <a:r>
              <a:rPr sz="1700" b="0">
                <a:solidFill>
                  <a:srgbClr val="000000"/>
                </a:solidFill>
                <a:latin typeface="Source Sans 3"/>
              </a:rPr>
              <a:t>Name every key; half steps and whole steps; build the C major and A minor scales</a:t>
            </a:r>
          </a:p>
        </p:txBody>
      </p:sp>
      <p:sp>
        <p:nvSpPr>
          <p:cNvPr id="18" name="Rounded Rectangle 17"/>
          <p:cNvSpPr/>
          <p:nvPr/>
        </p:nvSpPr>
        <p:spPr>
          <a:xfrm>
            <a:off x="548640" y="3602736"/>
            <a:ext cx="1417320" cy="731520"/>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602736"/>
            <a:ext cx="1417320" cy="731520"/>
          </a:xfrm>
          <a:prstGeom prst="rect">
            <a:avLst/>
          </a:prstGeom>
          <a:noFill/>
        </p:spPr>
        <p:txBody>
          <a:bodyPr wrap="square" anchor="ctr" lIns="36576" rIns="36576" tIns="18288" bIns="18288">
            <a:spAutoFit/>
          </a:bodyPr>
          <a:lstStyle/>
          <a:p>
            <a:pPr algn="ctr"/>
            <a:r>
              <a:rPr sz="2400" b="1">
                <a:solidFill>
                  <a:srgbClr val="FFFFFF"/>
                </a:solidFill>
                <a:latin typeface="Oswald"/>
              </a:rPr>
              <a:t>DAY 3</a:t>
            </a:r>
          </a:p>
        </p:txBody>
      </p:sp>
      <p:sp>
        <p:nvSpPr>
          <p:cNvPr id="20" name="TextBox 19"/>
          <p:cNvSpPr txBox="1"/>
          <p:nvPr/>
        </p:nvSpPr>
        <p:spPr>
          <a:xfrm>
            <a:off x="2194560" y="3566160"/>
            <a:ext cx="9418320" cy="411480"/>
          </a:xfrm>
          <a:prstGeom prst="rect">
            <a:avLst/>
          </a:prstGeom>
          <a:noFill/>
        </p:spPr>
        <p:txBody>
          <a:bodyPr wrap="square" anchor="t" lIns="36576" rIns="36576" tIns="18288" bIns="18288">
            <a:spAutoFit/>
          </a:bodyPr>
          <a:lstStyle/>
          <a:p>
            <a:pPr algn="l"/>
            <a:r>
              <a:rPr sz="2200" b="1">
                <a:solidFill>
                  <a:srgbClr val="000000"/>
                </a:solidFill>
                <a:latin typeface="Oswald"/>
              </a:rPr>
              <a:t>BUILD CHORDS FROM FORMULAS  ·  PROJECT</a:t>
            </a:r>
          </a:p>
        </p:txBody>
      </p:sp>
      <p:sp>
        <p:nvSpPr>
          <p:cNvPr id="21" name="TextBox 20"/>
          <p:cNvSpPr txBox="1"/>
          <p:nvPr/>
        </p:nvSpPr>
        <p:spPr>
          <a:xfrm>
            <a:off x="2194560" y="3968496"/>
            <a:ext cx="9418320" cy="365760"/>
          </a:xfrm>
          <a:prstGeom prst="rect">
            <a:avLst/>
          </a:prstGeom>
          <a:noFill/>
        </p:spPr>
        <p:txBody>
          <a:bodyPr wrap="square" anchor="t" lIns="36576" rIns="36576" tIns="18288" bIns="18288">
            <a:spAutoFit/>
          </a:bodyPr>
          <a:lstStyle/>
          <a:p>
            <a:pPr algn="l"/>
            <a:r>
              <a:rPr sz="1700" b="0">
                <a:solidFill>
                  <a:srgbClr val="000000"/>
                </a:solidFill>
                <a:latin typeface="Source Sans 3"/>
              </a:rPr>
              <a:t>Build major, minor and diminished chords from formulas; enter them in the piano roll</a:t>
            </a:r>
          </a:p>
        </p:txBody>
      </p:sp>
      <p:sp>
        <p:nvSpPr>
          <p:cNvPr id="22" name="Rounded Rectangle 21"/>
          <p:cNvSpPr/>
          <p:nvPr/>
        </p:nvSpPr>
        <p:spPr>
          <a:xfrm>
            <a:off x="548640" y="4498848"/>
            <a:ext cx="1417320" cy="731520"/>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498848"/>
            <a:ext cx="1417320" cy="731520"/>
          </a:xfrm>
          <a:prstGeom prst="rect">
            <a:avLst/>
          </a:prstGeom>
          <a:noFill/>
        </p:spPr>
        <p:txBody>
          <a:bodyPr wrap="square" anchor="ctr" lIns="36576" rIns="36576" tIns="18288" bIns="18288">
            <a:spAutoFit/>
          </a:bodyPr>
          <a:lstStyle/>
          <a:p>
            <a:pPr algn="ctr"/>
            <a:r>
              <a:rPr sz="2400" b="1">
                <a:solidFill>
                  <a:srgbClr val="FFFFFF"/>
                </a:solidFill>
                <a:latin typeface="Oswald"/>
              </a:rPr>
              <a:t>DAY 4</a:t>
            </a:r>
          </a:p>
        </p:txBody>
      </p:sp>
      <p:sp>
        <p:nvSpPr>
          <p:cNvPr id="24" name="TextBox 23"/>
          <p:cNvSpPr txBox="1"/>
          <p:nvPr/>
        </p:nvSpPr>
        <p:spPr>
          <a:xfrm>
            <a:off x="2194560" y="4462272"/>
            <a:ext cx="9418320" cy="411480"/>
          </a:xfrm>
          <a:prstGeom prst="rect">
            <a:avLst/>
          </a:prstGeom>
          <a:noFill/>
        </p:spPr>
        <p:txBody>
          <a:bodyPr wrap="square" anchor="t" lIns="36576" rIns="36576" tIns="18288" bIns="18288">
            <a:spAutoFit/>
          </a:bodyPr>
          <a:lstStyle/>
          <a:p>
            <a:pPr algn="l"/>
            <a:r>
              <a:rPr sz="2200" b="1">
                <a:solidFill>
                  <a:srgbClr val="000000"/>
                </a:solidFill>
                <a:latin typeface="Oswald"/>
              </a:rPr>
              <a:t>ROMAN NUMERALS + REFERENCE CARD  ·  PROJECT</a:t>
            </a:r>
          </a:p>
        </p:txBody>
      </p:sp>
      <p:sp>
        <p:nvSpPr>
          <p:cNvPr id="25" name="TextBox 24"/>
          <p:cNvSpPr txBox="1"/>
          <p:nvPr/>
        </p:nvSpPr>
        <p:spPr>
          <a:xfrm>
            <a:off x="2194560" y="4864608"/>
            <a:ext cx="9418320" cy="365760"/>
          </a:xfrm>
          <a:prstGeom prst="rect">
            <a:avLst/>
          </a:prstGeom>
          <a:noFill/>
        </p:spPr>
        <p:txBody>
          <a:bodyPr wrap="square" anchor="t" lIns="36576" rIns="36576" tIns="18288" bIns="18288">
            <a:spAutoFit/>
          </a:bodyPr>
          <a:lstStyle/>
          <a:p>
            <a:pPr algn="l"/>
            <a:r>
              <a:rPr sz="1700" b="0">
                <a:solidFill>
                  <a:srgbClr val="000000"/>
                </a:solidFill>
                <a:latin typeface="Source Sans 3"/>
              </a:rPr>
              <a:t>Roman numerals = names for feelings; KCSRN + Reference Card; chords over the bassline</a:t>
            </a:r>
          </a:p>
        </p:txBody>
      </p:sp>
      <p:sp>
        <p:nvSpPr>
          <p:cNvPr id="26" name="Rounded Rectangle 25"/>
          <p:cNvSpPr/>
          <p:nvPr/>
        </p:nvSpPr>
        <p:spPr>
          <a:xfrm>
            <a:off x="548640" y="5394960"/>
            <a:ext cx="1417320" cy="731520"/>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394960"/>
            <a:ext cx="1417320" cy="731520"/>
          </a:xfrm>
          <a:prstGeom prst="rect">
            <a:avLst/>
          </a:prstGeom>
          <a:noFill/>
        </p:spPr>
        <p:txBody>
          <a:bodyPr wrap="square" anchor="ctr" lIns="36576" rIns="36576" tIns="18288" bIns="18288">
            <a:spAutoFit/>
          </a:bodyPr>
          <a:lstStyle/>
          <a:p>
            <a:pPr algn="ctr"/>
            <a:r>
              <a:rPr sz="2400" b="1">
                <a:solidFill>
                  <a:srgbClr val="FFFFFF"/>
                </a:solidFill>
                <a:latin typeface="Oswald"/>
              </a:rPr>
              <a:t>DAY 5</a:t>
            </a:r>
          </a:p>
        </p:txBody>
      </p:sp>
      <p:sp>
        <p:nvSpPr>
          <p:cNvPr id="28" name="TextBox 27"/>
          <p:cNvSpPr txBox="1"/>
          <p:nvPr/>
        </p:nvSpPr>
        <p:spPr>
          <a:xfrm>
            <a:off x="2194560" y="5358384"/>
            <a:ext cx="9418320" cy="411480"/>
          </a:xfrm>
          <a:prstGeom prst="rect">
            <a:avLst/>
          </a:prstGeom>
          <a:noFill/>
        </p:spPr>
        <p:txBody>
          <a:bodyPr wrap="square" anchor="t" lIns="36576" rIns="36576" tIns="18288" bIns="18288">
            <a:spAutoFit/>
          </a:bodyPr>
          <a:lstStyle/>
          <a:p>
            <a:pPr algn="l"/>
            <a:r>
              <a:rPr sz="2200" b="1">
                <a:solidFill>
                  <a:srgbClr val="000000"/>
                </a:solidFill>
                <a:latin typeface="Oswald"/>
              </a:rPr>
              <a:t>BALANCE, FINISH, PRESENT  ·  PROJECT</a:t>
            </a:r>
          </a:p>
        </p:txBody>
      </p:sp>
      <p:sp>
        <p:nvSpPr>
          <p:cNvPr id="29" name="TextBox 28"/>
          <p:cNvSpPr txBox="1"/>
          <p:nvPr/>
        </p:nvSpPr>
        <p:spPr>
          <a:xfrm>
            <a:off x="2194560" y="5760720"/>
            <a:ext cx="9418320" cy="365760"/>
          </a:xfrm>
          <a:prstGeom prst="rect">
            <a:avLst/>
          </a:prstGeom>
          <a:noFill/>
        </p:spPr>
        <p:txBody>
          <a:bodyPr wrap="square" anchor="t" lIns="36576" rIns="36576" tIns="18288" bIns="18288">
            <a:spAutoFit/>
          </a:bodyPr>
          <a:lstStyle/>
          <a:p>
            <a:pPr algn="l"/>
            <a:r>
              <a:rPr sz="1700" b="0">
                <a:solidFill>
                  <a:srgbClr val="000000"/>
                </a:solidFill>
                <a:latin typeface="Source Sans 3"/>
              </a:rPr>
              <a:t>Balance the chords under the bass; finish, submit and present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10" name="Rounded Rectangle 9"/>
          <p:cNvSpPr/>
          <p:nvPr/>
        </p:nvSpPr>
        <p:spPr>
          <a:xfrm>
            <a:off x="54864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659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Chord pages + Roman numeral section of the packet</a:t>
            </a:r>
          </a:p>
        </p:txBody>
      </p:sp>
      <p:sp>
        <p:nvSpPr>
          <p:cNvPr id="12" name="Rounded Rectangle 11"/>
          <p:cNvSpPr/>
          <p:nvPr/>
        </p:nvSpPr>
        <p:spPr>
          <a:xfrm>
            <a:off x="617220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659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Reference Card for your key</a:t>
            </a:r>
          </a:p>
        </p:txBody>
      </p:sp>
      <p:sp>
        <p:nvSpPr>
          <p:cNvPr id="14" name="Rounded Rectangle 13"/>
          <p:cNvSpPr/>
          <p:nvPr/>
        </p:nvSpPr>
        <p:spPr>
          <a:xfrm>
            <a:off x="54864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3375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4 chords in Logic, one per measure</a:t>
            </a:r>
          </a:p>
        </p:txBody>
      </p:sp>
      <p:sp>
        <p:nvSpPr>
          <p:cNvPr id="16" name="Rounded Rectangle 15"/>
          <p:cNvSpPr/>
          <p:nvPr/>
        </p:nvSpPr>
        <p:spPr>
          <a:xfrm>
            <a:off x="617220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3375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Each region labeled with its Roman numeral</a:t>
            </a:r>
          </a:p>
        </p:txBody>
      </p:sp>
      <p:sp>
        <p:nvSpPr>
          <p:cNvPr id="18" name="Rounded Rectangle 17"/>
          <p:cNvSpPr/>
          <p:nvPr/>
        </p:nvSpPr>
        <p:spPr>
          <a:xfrm>
            <a:off x="54864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7091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Chord function table filled in</a:t>
            </a:r>
          </a:p>
        </p:txBody>
      </p:sp>
      <p:sp>
        <p:nvSpPr>
          <p:cNvPr id="20" name="Rounded Rectangle 19"/>
          <p:cNvSpPr/>
          <p:nvPr/>
        </p:nvSpPr>
        <p:spPr>
          <a:xfrm>
            <a:off x="617220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7091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MP3 + .zip, named Your Name — Building Blocks Part 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10" name="Rounded Rectangle 9"/>
          <p:cNvSpPr/>
          <p:nvPr/>
        </p:nvSpPr>
        <p:spPr>
          <a:xfrm>
            <a:off x="548640" y="1920240"/>
            <a:ext cx="4023360" cy="102412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20240"/>
            <a:ext cx="3657600" cy="1024128"/>
          </a:xfrm>
          <a:prstGeom prst="rect">
            <a:avLst/>
          </a:prstGeom>
          <a:noFill/>
        </p:spPr>
        <p:txBody>
          <a:bodyPr wrap="square" anchor="ctr" lIns="36576" rIns="36576" tIns="18288" bIns="18288">
            <a:spAutoFit/>
          </a:bodyPr>
          <a:lstStyle/>
          <a:p>
            <a:pPr algn="l"/>
            <a:r>
              <a:rPr sz="2200" b="1">
                <a:solidFill>
                  <a:srgbClr val="FFFFFF"/>
                </a:solidFill>
                <a:latin typeface="Oswald"/>
              </a:rPr>
              <a:t>CHORD CONSTRUCTION</a:t>
            </a:r>
          </a:p>
        </p:txBody>
      </p:sp>
      <p:sp>
        <p:nvSpPr>
          <p:cNvPr id="12" name="TextBox 11"/>
          <p:cNvSpPr txBox="1"/>
          <p:nvPr/>
        </p:nvSpPr>
        <p:spPr>
          <a:xfrm>
            <a:off x="4800600" y="1920240"/>
            <a:ext cx="5852160" cy="1024128"/>
          </a:xfrm>
          <a:prstGeom prst="rect">
            <a:avLst/>
          </a:prstGeom>
          <a:noFill/>
        </p:spPr>
        <p:txBody>
          <a:bodyPr wrap="square" anchor="ctr" lIns="36576" rIns="36576" tIns="18288" bIns="18288">
            <a:spAutoFit/>
          </a:bodyPr>
          <a:lstStyle/>
          <a:p>
            <a:pPr algn="l"/>
            <a:r>
              <a:rPr sz="2200" b="0">
                <a:solidFill>
                  <a:srgbClr val="000000"/>
                </a:solidFill>
                <a:latin typeface="Source Sans 3"/>
              </a:rPr>
              <a:t>5 = All chords correct, well-voiced and labeled with Roman numerals.</a:t>
            </a:r>
          </a:p>
        </p:txBody>
      </p:sp>
      <p:sp>
        <p:nvSpPr>
          <p:cNvPr id="13" name="TextBox 12"/>
          <p:cNvSpPr txBox="1"/>
          <p:nvPr/>
        </p:nvSpPr>
        <p:spPr>
          <a:xfrm>
            <a:off x="10698480" y="1920240"/>
            <a:ext cx="941832" cy="1024128"/>
          </a:xfrm>
          <a:prstGeom prst="rect">
            <a:avLst/>
          </a:prstGeom>
          <a:noFill/>
        </p:spPr>
        <p:txBody>
          <a:bodyPr wrap="square" anchor="ctr" lIns="36576" rIns="36576" tIns="18288" bIns="18288">
            <a:spAutoFit/>
          </a:bodyPr>
          <a:lstStyle/>
          <a:p>
            <a:pPr algn="r"/>
            <a:r>
              <a:rPr sz="2600" b="1">
                <a:solidFill>
                  <a:srgbClr val="0E8C7F"/>
                </a:solidFill>
                <a:latin typeface="Oswald"/>
              </a:rPr>
              <a:t>/ 5</a:t>
            </a:r>
          </a:p>
        </p:txBody>
      </p:sp>
      <p:sp>
        <p:nvSpPr>
          <p:cNvPr id="14" name="Rounded Rectangle 13"/>
          <p:cNvSpPr/>
          <p:nvPr/>
        </p:nvSpPr>
        <p:spPr>
          <a:xfrm>
            <a:off x="548640" y="3154680"/>
            <a:ext cx="4023360" cy="102412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154680"/>
            <a:ext cx="3657600" cy="1024128"/>
          </a:xfrm>
          <a:prstGeom prst="rect">
            <a:avLst/>
          </a:prstGeom>
          <a:noFill/>
        </p:spPr>
        <p:txBody>
          <a:bodyPr wrap="square" anchor="ctr" lIns="36576" rIns="36576" tIns="18288" bIns="18288">
            <a:spAutoFit/>
          </a:bodyPr>
          <a:lstStyle/>
          <a:p>
            <a:pPr algn="l"/>
            <a:r>
              <a:rPr sz="2200" b="1">
                <a:solidFill>
                  <a:srgbClr val="FFFFFF"/>
                </a:solidFill>
                <a:latin typeface="Oswald"/>
              </a:rPr>
              <a:t>HARMONIC UNDERSTANDING</a:t>
            </a:r>
          </a:p>
        </p:txBody>
      </p:sp>
      <p:sp>
        <p:nvSpPr>
          <p:cNvPr id="16" name="TextBox 15"/>
          <p:cNvSpPr txBox="1"/>
          <p:nvPr/>
        </p:nvSpPr>
        <p:spPr>
          <a:xfrm>
            <a:off x="4800600" y="3154680"/>
            <a:ext cx="5852160" cy="1024128"/>
          </a:xfrm>
          <a:prstGeom prst="rect">
            <a:avLst/>
          </a:prstGeom>
          <a:noFill/>
        </p:spPr>
        <p:txBody>
          <a:bodyPr wrap="square" anchor="ctr" lIns="36576" rIns="36576" tIns="18288" bIns="18288">
            <a:spAutoFit/>
          </a:bodyPr>
          <a:lstStyle/>
          <a:p>
            <a:pPr algn="l"/>
            <a:r>
              <a:rPr sz="2200" b="0">
                <a:solidFill>
                  <a:srgbClr val="000000"/>
                </a:solidFill>
                <a:latin typeface="Source Sans 3"/>
              </a:rPr>
              <a:t>5 = Specific, accurate descriptions; knows why each chord was chosen.</a:t>
            </a:r>
          </a:p>
        </p:txBody>
      </p:sp>
      <p:sp>
        <p:nvSpPr>
          <p:cNvPr id="17" name="TextBox 16"/>
          <p:cNvSpPr txBox="1"/>
          <p:nvPr/>
        </p:nvSpPr>
        <p:spPr>
          <a:xfrm>
            <a:off x="10698480" y="3154680"/>
            <a:ext cx="941832" cy="1024128"/>
          </a:xfrm>
          <a:prstGeom prst="rect">
            <a:avLst/>
          </a:prstGeom>
          <a:noFill/>
        </p:spPr>
        <p:txBody>
          <a:bodyPr wrap="square" anchor="ctr" lIns="36576" rIns="36576" tIns="18288" bIns="18288">
            <a:spAutoFit/>
          </a:bodyPr>
          <a:lstStyle/>
          <a:p>
            <a:pPr algn="r"/>
            <a:r>
              <a:rPr sz="2600" b="1">
                <a:solidFill>
                  <a:srgbClr val="0E8C7F"/>
                </a:solidFill>
                <a:latin typeface="Oswald"/>
              </a:rPr>
              <a:t>/ 5</a:t>
            </a:r>
          </a:p>
        </p:txBody>
      </p:sp>
      <p:sp>
        <p:nvSpPr>
          <p:cNvPr id="18" name="Rounded Rectangle 17"/>
          <p:cNvSpPr/>
          <p:nvPr/>
        </p:nvSpPr>
        <p:spPr>
          <a:xfrm>
            <a:off x="548640" y="4389120"/>
            <a:ext cx="4023360" cy="102412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389120"/>
            <a:ext cx="3657600" cy="1024128"/>
          </a:xfrm>
          <a:prstGeom prst="rect">
            <a:avLst/>
          </a:prstGeom>
          <a:noFill/>
        </p:spPr>
        <p:txBody>
          <a:bodyPr wrap="square" anchor="ctr" lIns="36576" rIns="36576" tIns="18288" bIns="18288">
            <a:spAutoFit/>
          </a:bodyPr>
          <a:lstStyle/>
          <a:p>
            <a:pPr algn="l"/>
            <a:r>
              <a:rPr sz="2200" b="1">
                <a:solidFill>
                  <a:srgbClr val="FFFFFF"/>
                </a:solidFill>
                <a:latin typeface="Oswald"/>
              </a:rPr>
              <a:t>DOCUMENTATION &amp; PRESENTATION</a:t>
            </a:r>
          </a:p>
        </p:txBody>
      </p:sp>
      <p:sp>
        <p:nvSpPr>
          <p:cNvPr id="20" name="TextBox 19"/>
          <p:cNvSpPr txBox="1"/>
          <p:nvPr/>
        </p:nvSpPr>
        <p:spPr>
          <a:xfrm>
            <a:off x="4800600" y="4389120"/>
            <a:ext cx="5852160" cy="1024128"/>
          </a:xfrm>
          <a:prstGeom prst="rect">
            <a:avLst/>
          </a:prstGeom>
          <a:noFill/>
        </p:spPr>
        <p:txBody>
          <a:bodyPr wrap="square" anchor="ctr" lIns="36576" rIns="36576" tIns="18288" bIns="18288">
            <a:spAutoFit/>
          </a:bodyPr>
          <a:lstStyle/>
          <a:p>
            <a:pPr algn="l"/>
            <a:r>
              <a:rPr sz="2200" b="0">
                <a:solidFill>
                  <a:srgbClr val="000000"/>
                </a:solidFill>
                <a:latin typeface="Source Sans 3"/>
              </a:rPr>
              <a:t>5 = Named correctly, on time; explains choices in Roman numeral language.</a:t>
            </a:r>
          </a:p>
        </p:txBody>
      </p:sp>
      <p:sp>
        <p:nvSpPr>
          <p:cNvPr id="21" name="TextBox 20"/>
          <p:cNvSpPr txBox="1"/>
          <p:nvPr/>
        </p:nvSpPr>
        <p:spPr>
          <a:xfrm>
            <a:off x="10698480" y="4389120"/>
            <a:ext cx="941832" cy="1024128"/>
          </a:xfrm>
          <a:prstGeom prst="rect">
            <a:avLst/>
          </a:prstGeom>
          <a:noFill/>
        </p:spPr>
        <p:txBody>
          <a:bodyPr wrap="square" anchor="ctr" lIns="36576" rIns="36576" tIns="18288" bIns="18288">
            <a:spAutoFit/>
          </a:bodyPr>
          <a:lstStyle/>
          <a:p>
            <a:pPr algn="r"/>
            <a:r>
              <a:rPr sz="2600" b="1">
                <a:solidFill>
                  <a:srgbClr val="0E8C7F"/>
                </a:solidFill>
                <a:latin typeface="Oswald"/>
              </a:rPr>
              <a:t>/ 5</a:t>
            </a:r>
          </a:p>
        </p:txBody>
      </p:sp>
      <p:sp>
        <p:nvSpPr>
          <p:cNvPr id="22" name="TextBox 21"/>
          <p:cNvSpPr txBox="1"/>
          <p:nvPr/>
        </p:nvSpPr>
        <p:spPr>
          <a:xfrm>
            <a:off x="6400800" y="5760720"/>
            <a:ext cx="5239512" cy="457200"/>
          </a:xfrm>
          <a:prstGeom prst="rect">
            <a:avLst/>
          </a:prstGeom>
          <a:noFill/>
        </p:spPr>
        <p:txBody>
          <a:bodyPr wrap="square" anchor="t" lIns="36576" rIns="36576" tIns="18288" bIns="18288">
            <a:spAutoFit/>
          </a:bodyPr>
          <a:lstStyle/>
          <a:p>
            <a:pPr algn="r"/>
            <a:r>
              <a:rPr sz="2400" b="1">
                <a:solidFill>
                  <a:srgbClr val="000000"/>
                </a:solidFill>
                <a:latin typeface="Oswald"/>
              </a:rPr>
              <a:t>SCORED 2 TO 5 · TOTAL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BUILD A CHORD: COUNT HALF STEPS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pic>
        <p:nvPicPr>
          <p:cNvPr id="10" name="Picture 9" descr="deck-chordkeys.png"/>
          <p:cNvPicPr>
            <a:picLocks noChangeAspect="1"/>
          </p:cNvPicPr>
          <p:nvPr/>
        </p:nvPicPr>
        <p:blipFill>
          <a:blip r:embed="rId2"/>
          <a:stretch>
            <a:fillRect/>
          </a:stretch>
        </p:blipFill>
        <p:spPr>
          <a:xfrm>
            <a:off x="548640" y="1828800"/>
            <a:ext cx="11091672" cy="2090780"/>
          </a:xfrm>
          <a:prstGeom prst="rect">
            <a:avLst/>
          </a:prstGeom>
        </p:spPr>
      </p:pic>
      <p:sp>
        <p:nvSpPr>
          <p:cNvPr id="11" name="Rounded Rectangle 10"/>
          <p:cNvSpPr/>
          <p:nvPr/>
        </p:nvSpPr>
        <p:spPr>
          <a:xfrm>
            <a:off x="548640" y="4148180"/>
            <a:ext cx="3520440" cy="1417320"/>
          </a:xfrm>
          <a:prstGeom prst="roundRect">
            <a:avLst/>
          </a:prstGeom>
          <a:solidFill>
            <a:srgbClr val="FFFFFF"/>
          </a:solidFill>
          <a:ln w="28575">
            <a:solidFill>
              <a:srgbClr val="0E8C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212188"/>
            <a:ext cx="3520440" cy="594360"/>
          </a:xfrm>
          <a:prstGeom prst="rect">
            <a:avLst/>
          </a:prstGeom>
          <a:noFill/>
        </p:spPr>
        <p:txBody>
          <a:bodyPr wrap="square" anchor="t" lIns="36576" rIns="36576" tIns="18288" bIns="18288">
            <a:spAutoFit/>
          </a:bodyPr>
          <a:lstStyle/>
          <a:p>
            <a:pPr algn="ctr"/>
            <a:r>
              <a:rPr sz="2800" b="1">
                <a:solidFill>
                  <a:srgbClr val="0E8C7F"/>
                </a:solidFill>
                <a:latin typeface="Oswald"/>
              </a:rPr>
              <a:t>MAJOR: R - 4 - 3</a:t>
            </a:r>
          </a:p>
        </p:txBody>
      </p:sp>
      <p:sp>
        <p:nvSpPr>
          <p:cNvPr id="13" name="TextBox 12"/>
          <p:cNvSpPr txBox="1"/>
          <p:nvPr/>
        </p:nvSpPr>
        <p:spPr>
          <a:xfrm>
            <a:off x="548640" y="4833980"/>
            <a:ext cx="3520440" cy="548640"/>
          </a:xfrm>
          <a:prstGeom prst="rect">
            <a:avLst/>
          </a:prstGeom>
          <a:noFill/>
        </p:spPr>
        <p:txBody>
          <a:bodyPr wrap="square" anchor="t" lIns="36576" rIns="36576" tIns="18288" bIns="18288">
            <a:spAutoFit/>
          </a:bodyPr>
          <a:lstStyle/>
          <a:p>
            <a:pPr algn="ctr"/>
            <a:r>
              <a:rPr sz="2000" b="0">
                <a:solidFill>
                  <a:srgbClr val="000000"/>
                </a:solidFill>
                <a:latin typeface="Source Sans 3"/>
              </a:rPr>
              <a:t>bright and stable</a:t>
            </a:r>
          </a:p>
        </p:txBody>
      </p:sp>
      <p:sp>
        <p:nvSpPr>
          <p:cNvPr id="14" name="Rounded Rectangle 13"/>
          <p:cNvSpPr/>
          <p:nvPr/>
        </p:nvSpPr>
        <p:spPr>
          <a:xfrm>
            <a:off x="4334255" y="4148180"/>
            <a:ext cx="3520440" cy="141732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34255" y="4212188"/>
            <a:ext cx="3520440" cy="594360"/>
          </a:xfrm>
          <a:prstGeom prst="rect">
            <a:avLst/>
          </a:prstGeom>
          <a:noFill/>
        </p:spPr>
        <p:txBody>
          <a:bodyPr wrap="square" anchor="t" lIns="36576" rIns="36576" tIns="18288" bIns="18288">
            <a:spAutoFit/>
          </a:bodyPr>
          <a:lstStyle/>
          <a:p>
            <a:pPr algn="ctr"/>
            <a:r>
              <a:rPr sz="2800" b="1">
                <a:solidFill>
                  <a:srgbClr val="000000"/>
                </a:solidFill>
                <a:latin typeface="Oswald"/>
              </a:rPr>
              <a:t>MINOR: R - 3 - 4</a:t>
            </a:r>
          </a:p>
        </p:txBody>
      </p:sp>
      <p:sp>
        <p:nvSpPr>
          <p:cNvPr id="16" name="TextBox 15"/>
          <p:cNvSpPr txBox="1"/>
          <p:nvPr/>
        </p:nvSpPr>
        <p:spPr>
          <a:xfrm>
            <a:off x="4334255" y="4833980"/>
            <a:ext cx="3520440" cy="548640"/>
          </a:xfrm>
          <a:prstGeom prst="rect">
            <a:avLst/>
          </a:prstGeom>
          <a:noFill/>
        </p:spPr>
        <p:txBody>
          <a:bodyPr wrap="square" anchor="t" lIns="36576" rIns="36576" tIns="18288" bIns="18288">
            <a:spAutoFit/>
          </a:bodyPr>
          <a:lstStyle/>
          <a:p>
            <a:pPr algn="ctr"/>
            <a:r>
              <a:rPr sz="2000" b="0">
                <a:solidFill>
                  <a:srgbClr val="000000"/>
                </a:solidFill>
                <a:latin typeface="Source Sans 3"/>
              </a:rPr>
              <a:t>darker and more emotional</a:t>
            </a:r>
          </a:p>
        </p:txBody>
      </p:sp>
      <p:sp>
        <p:nvSpPr>
          <p:cNvPr id="17" name="Rounded Rectangle 16"/>
          <p:cNvSpPr/>
          <p:nvPr/>
        </p:nvSpPr>
        <p:spPr>
          <a:xfrm>
            <a:off x="8119871" y="4148180"/>
            <a:ext cx="3520440" cy="141732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9871" y="4212188"/>
            <a:ext cx="3520440" cy="594360"/>
          </a:xfrm>
          <a:prstGeom prst="rect">
            <a:avLst/>
          </a:prstGeom>
          <a:noFill/>
        </p:spPr>
        <p:txBody>
          <a:bodyPr wrap="square" anchor="t" lIns="36576" rIns="36576" tIns="18288" bIns="18288">
            <a:spAutoFit/>
          </a:bodyPr>
          <a:lstStyle/>
          <a:p>
            <a:pPr algn="ctr"/>
            <a:r>
              <a:rPr sz="2800" b="1">
                <a:solidFill>
                  <a:srgbClr val="000000"/>
                </a:solidFill>
                <a:latin typeface="Oswald"/>
              </a:rPr>
              <a:t>DIMINISHED: R - 3 - 3</a:t>
            </a:r>
          </a:p>
        </p:txBody>
      </p:sp>
      <p:sp>
        <p:nvSpPr>
          <p:cNvPr id="19" name="TextBox 18"/>
          <p:cNvSpPr txBox="1"/>
          <p:nvPr/>
        </p:nvSpPr>
        <p:spPr>
          <a:xfrm>
            <a:off x="8119871" y="4833980"/>
            <a:ext cx="3520440" cy="548640"/>
          </a:xfrm>
          <a:prstGeom prst="rect">
            <a:avLst/>
          </a:prstGeom>
          <a:noFill/>
        </p:spPr>
        <p:txBody>
          <a:bodyPr wrap="square" anchor="t" lIns="36576" rIns="36576" tIns="18288" bIns="18288">
            <a:spAutoFit/>
          </a:bodyPr>
          <a:lstStyle/>
          <a:p>
            <a:pPr algn="ctr"/>
            <a:r>
              <a:rPr sz="2000" b="0">
                <a:solidFill>
                  <a:srgbClr val="000000"/>
                </a:solidFill>
                <a:latin typeface="Source Sans 3"/>
              </a:rPr>
              <a:t>tense and unstable</a:t>
            </a:r>
          </a:p>
        </p:txBody>
      </p:sp>
      <p:sp>
        <p:nvSpPr>
          <p:cNvPr id="20" name="TextBox 19"/>
          <p:cNvSpPr txBox="1"/>
          <p:nvPr/>
        </p:nvSpPr>
        <p:spPr>
          <a:xfrm>
            <a:off x="548640" y="5943600"/>
            <a:ext cx="11064240" cy="384048"/>
          </a:xfrm>
          <a:prstGeom prst="rect">
            <a:avLst/>
          </a:prstGeom>
          <a:noFill/>
        </p:spPr>
        <p:txBody>
          <a:bodyPr wrap="square" anchor="t" lIns="36576" rIns="36576" tIns="18288" bIns="18288">
            <a:spAutoFit/>
          </a:bodyPr>
          <a:lstStyle/>
          <a:p>
            <a:pPr algn="l"/>
            <a:r>
              <a:rPr sz="1900" b="0">
                <a:solidFill>
                  <a:srgbClr val="000000"/>
                </a:solidFill>
                <a:latin typeface="Source Sans 3"/>
              </a:rPr>
              <a:t>Do not count the root: for C, C# is 1. C-E-G = 4 up, then 3 up.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A CHORD IN THE PIANO ROLL</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New software instrument track, a piano sound</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Draw an empty MIDI region, one measure long</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Open the piano roll and add C, E and G</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Same start, same length: stacked, not a melody</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Play it. Name the region.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ROMAN NUMERALS = NAMES FOR FEELINGS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TextBox 9"/>
          <p:cNvSpPr txBox="1"/>
          <p:nvPr/>
        </p:nvSpPr>
        <p:spPr>
          <a:xfrm>
            <a:off x="548640" y="1783080"/>
            <a:ext cx="11064240" cy="548640"/>
          </a:xfrm>
          <a:prstGeom prst="rect">
            <a:avLst/>
          </a:prstGeom>
          <a:noFill/>
        </p:spPr>
        <p:txBody>
          <a:bodyPr wrap="square" anchor="t" lIns="36576" rIns="36576" tIns="18288" bIns="18288">
            <a:spAutoFit/>
          </a:bodyPr>
          <a:lstStyle/>
          <a:p>
            <a:pPr algn="l"/>
            <a:r>
              <a:rPr sz="2800" b="1">
                <a:solidFill>
                  <a:srgbClr val="0E8C7F"/>
                </a:solidFill>
                <a:latin typeface="Oswald"/>
              </a:rPr>
              <a:t>I – IV – V – I   =   HOME, AWAY, VERY AWAY, HOME</a:t>
            </a:r>
          </a:p>
        </p:txBody>
      </p:sp>
      <p:sp>
        <p:nvSpPr>
          <p:cNvPr id="11" name="Rounded Rectangle 10"/>
          <p:cNvSpPr/>
          <p:nvPr/>
        </p:nvSpPr>
        <p:spPr>
          <a:xfrm>
            <a:off x="548640" y="2606040"/>
            <a:ext cx="2606040" cy="2743200"/>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679192"/>
            <a:ext cx="2606040" cy="1508760"/>
          </a:xfrm>
          <a:prstGeom prst="rect">
            <a:avLst/>
          </a:prstGeom>
          <a:noFill/>
        </p:spPr>
        <p:txBody>
          <a:bodyPr wrap="square" anchor="ctr" lIns="36576" rIns="36576" tIns="18288" bIns="18288">
            <a:spAutoFit/>
          </a:bodyPr>
          <a:lstStyle/>
          <a:p>
            <a:pPr algn="ctr"/>
            <a:r>
              <a:rPr sz="6600" b="1">
                <a:solidFill>
                  <a:srgbClr val="FFFFFF"/>
                </a:solidFill>
                <a:latin typeface="Oswald"/>
              </a:rPr>
              <a:t>I</a:t>
            </a:r>
          </a:p>
        </p:txBody>
      </p:sp>
      <p:sp>
        <p:nvSpPr>
          <p:cNvPr id="13" name="TextBox 12"/>
          <p:cNvSpPr txBox="1"/>
          <p:nvPr/>
        </p:nvSpPr>
        <p:spPr>
          <a:xfrm>
            <a:off x="640080" y="4114800"/>
            <a:ext cx="2423160" cy="1152144"/>
          </a:xfrm>
          <a:prstGeom prst="rect">
            <a:avLst/>
          </a:prstGeom>
          <a:noFill/>
        </p:spPr>
        <p:txBody>
          <a:bodyPr wrap="square" anchor="t" lIns="36576" rIns="36576" tIns="18288" bIns="18288">
            <a:spAutoFit/>
          </a:bodyPr>
          <a:lstStyle/>
          <a:p>
            <a:pPr algn="ctr"/>
            <a:r>
              <a:rPr sz="2100" b="0">
                <a:solidFill>
                  <a:srgbClr val="FFFFFF"/>
                </a:solidFill>
                <a:latin typeface="Source Sans 3"/>
              </a:rPr>
              <a:t>Home. Settled. Complete.</a:t>
            </a:r>
          </a:p>
        </p:txBody>
      </p:sp>
      <p:sp>
        <p:nvSpPr>
          <p:cNvPr id="14" name="Rounded Rectangle 13"/>
          <p:cNvSpPr/>
          <p:nvPr/>
        </p:nvSpPr>
        <p:spPr>
          <a:xfrm>
            <a:off x="3364992" y="2606040"/>
            <a:ext cx="2606040" cy="2743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64992" y="2679192"/>
            <a:ext cx="2606040" cy="1508760"/>
          </a:xfrm>
          <a:prstGeom prst="rect">
            <a:avLst/>
          </a:prstGeom>
          <a:noFill/>
        </p:spPr>
        <p:txBody>
          <a:bodyPr wrap="square" anchor="ctr" lIns="36576" rIns="36576" tIns="18288" bIns="18288">
            <a:spAutoFit/>
          </a:bodyPr>
          <a:lstStyle/>
          <a:p>
            <a:pPr algn="ctr"/>
            <a:r>
              <a:rPr sz="6600" b="1">
                <a:solidFill>
                  <a:srgbClr val="FFFFFF"/>
                </a:solidFill>
                <a:latin typeface="Oswald"/>
              </a:rPr>
              <a:t>IV</a:t>
            </a:r>
          </a:p>
        </p:txBody>
      </p:sp>
      <p:sp>
        <p:nvSpPr>
          <p:cNvPr id="16" name="TextBox 15"/>
          <p:cNvSpPr txBox="1"/>
          <p:nvPr/>
        </p:nvSpPr>
        <p:spPr>
          <a:xfrm>
            <a:off x="3456432" y="4114800"/>
            <a:ext cx="2423160" cy="1152144"/>
          </a:xfrm>
          <a:prstGeom prst="rect">
            <a:avLst/>
          </a:prstGeom>
          <a:noFill/>
        </p:spPr>
        <p:txBody>
          <a:bodyPr wrap="square" anchor="t" lIns="36576" rIns="36576" tIns="18288" bIns="18288">
            <a:spAutoFit/>
          </a:bodyPr>
          <a:lstStyle/>
          <a:p>
            <a:pPr algn="ctr"/>
            <a:r>
              <a:rPr sz="2100" b="0">
                <a:solidFill>
                  <a:srgbClr val="FFFFFF"/>
                </a:solidFill>
                <a:latin typeface="Source Sans 3"/>
              </a:rPr>
              <a:t>Lifting. Hopeful. Away from home.</a:t>
            </a:r>
          </a:p>
        </p:txBody>
      </p:sp>
      <p:sp>
        <p:nvSpPr>
          <p:cNvPr id="17" name="Rounded Rectangle 16"/>
          <p:cNvSpPr/>
          <p:nvPr/>
        </p:nvSpPr>
        <p:spPr>
          <a:xfrm>
            <a:off x="6181344" y="2606040"/>
            <a:ext cx="2606040" cy="2743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81344" y="2679192"/>
            <a:ext cx="2606040" cy="1508760"/>
          </a:xfrm>
          <a:prstGeom prst="rect">
            <a:avLst/>
          </a:prstGeom>
          <a:noFill/>
        </p:spPr>
        <p:txBody>
          <a:bodyPr wrap="square" anchor="ctr" lIns="36576" rIns="36576" tIns="18288" bIns="18288">
            <a:spAutoFit/>
          </a:bodyPr>
          <a:lstStyle/>
          <a:p>
            <a:pPr algn="ctr"/>
            <a:r>
              <a:rPr sz="6600" b="1">
                <a:solidFill>
                  <a:srgbClr val="FFFFFF"/>
                </a:solidFill>
                <a:latin typeface="Oswald"/>
              </a:rPr>
              <a:t>V</a:t>
            </a:r>
          </a:p>
        </p:txBody>
      </p:sp>
      <p:sp>
        <p:nvSpPr>
          <p:cNvPr id="19" name="TextBox 18"/>
          <p:cNvSpPr txBox="1"/>
          <p:nvPr/>
        </p:nvSpPr>
        <p:spPr>
          <a:xfrm>
            <a:off x="6272783" y="4114800"/>
            <a:ext cx="2423160" cy="1152144"/>
          </a:xfrm>
          <a:prstGeom prst="rect">
            <a:avLst/>
          </a:prstGeom>
          <a:noFill/>
        </p:spPr>
        <p:txBody>
          <a:bodyPr wrap="square" anchor="t" lIns="36576" rIns="36576" tIns="18288" bIns="18288">
            <a:spAutoFit/>
          </a:bodyPr>
          <a:lstStyle/>
          <a:p>
            <a:pPr algn="ctr"/>
            <a:r>
              <a:rPr sz="2100" b="0">
                <a:solidFill>
                  <a:srgbClr val="FFFFFF"/>
                </a:solidFill>
                <a:latin typeface="Source Sans 3"/>
              </a:rPr>
              <a:t>Homesick. Wants to resolve to I.</a:t>
            </a:r>
          </a:p>
        </p:txBody>
      </p:sp>
      <p:sp>
        <p:nvSpPr>
          <p:cNvPr id="20" name="Rounded Rectangle 19"/>
          <p:cNvSpPr/>
          <p:nvPr/>
        </p:nvSpPr>
        <p:spPr>
          <a:xfrm>
            <a:off x="8997696" y="2606040"/>
            <a:ext cx="2606040" cy="2743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97696" y="2679192"/>
            <a:ext cx="2606040" cy="1508760"/>
          </a:xfrm>
          <a:prstGeom prst="rect">
            <a:avLst/>
          </a:prstGeom>
          <a:noFill/>
        </p:spPr>
        <p:txBody>
          <a:bodyPr wrap="square" anchor="ctr" lIns="36576" rIns="36576" tIns="18288" bIns="18288">
            <a:spAutoFit/>
          </a:bodyPr>
          <a:lstStyle/>
          <a:p>
            <a:pPr algn="ctr"/>
            <a:r>
              <a:rPr sz="6600" b="1">
                <a:solidFill>
                  <a:srgbClr val="FFFFFF"/>
                </a:solidFill>
                <a:latin typeface="Oswald"/>
              </a:rPr>
              <a:t>vi</a:t>
            </a:r>
          </a:p>
        </p:txBody>
      </p:sp>
      <p:sp>
        <p:nvSpPr>
          <p:cNvPr id="22" name="TextBox 21"/>
          <p:cNvSpPr txBox="1"/>
          <p:nvPr/>
        </p:nvSpPr>
        <p:spPr>
          <a:xfrm>
            <a:off x="9089136" y="4114800"/>
            <a:ext cx="2423160" cy="1152144"/>
          </a:xfrm>
          <a:prstGeom prst="rect">
            <a:avLst/>
          </a:prstGeom>
          <a:noFill/>
        </p:spPr>
        <p:txBody>
          <a:bodyPr wrap="square" anchor="t" lIns="36576" rIns="36576" tIns="18288" bIns="18288">
            <a:spAutoFit/>
          </a:bodyPr>
          <a:lstStyle/>
          <a:p>
            <a:pPr algn="ctr"/>
            <a:r>
              <a:rPr sz="2100" b="0">
                <a:solidFill>
                  <a:srgbClr val="FFFFFF"/>
                </a:solidFill>
                <a:latin typeface="Source Sans 3"/>
              </a:rPr>
              <a:t>Tender. Melancholy. Emotional.</a:t>
            </a:r>
          </a:p>
        </p:txBody>
      </p:sp>
      <p:sp>
        <p:nvSpPr>
          <p:cNvPr id="23" name="TextBox 22"/>
          <p:cNvSpPr txBox="1"/>
          <p:nvPr/>
        </p:nvSpPr>
        <p:spPr>
          <a:xfrm>
            <a:off x="548640" y="5623560"/>
            <a:ext cx="11064240" cy="640080"/>
          </a:xfrm>
          <a:prstGeom prst="rect">
            <a:avLst/>
          </a:prstGeom>
          <a:noFill/>
        </p:spPr>
        <p:txBody>
          <a:bodyPr wrap="square" anchor="t" lIns="36576" rIns="36576" tIns="18288" bIns="18288">
            <a:spAutoFit/>
          </a:bodyPr>
          <a:lstStyle/>
          <a:p>
            <a:pPr algn="l"/>
            <a:r>
              <a:rPr sz="1800" b="0">
                <a:solidFill>
                  <a:srgbClr val="000000"/>
                </a:solidFill>
                <a:latin typeface="Source Sans 3"/>
              </a:rPr>
              <a:t>Uppercase = major · lowercase = minor · ° = diminished. A letter name tells you the notes; a Roman numeral tells you the job.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FIND THE TENDER CHORD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LET IT BE</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BFE6E1"/>
                </a:solidFill>
                <a:latin typeface="Oswald"/>
              </a:rPr>
              <a:t>The Beatles</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the first minute from YouTube or Spotify.</a:t>
            </a:r>
          </a:p>
        </p:txBody>
      </p:sp>
      <p:sp>
        <p:nvSpPr>
          <p:cNvPr id="14" name="Oval 13"/>
          <p:cNvSpPr/>
          <p:nvPr/>
        </p:nvSpPr>
        <p:spPr>
          <a:xfrm>
            <a:off x="548640" y="4069080"/>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Four chords: I, V, vi, IV</a:t>
            </a:r>
          </a:p>
        </p:txBody>
      </p:sp>
      <p:sp>
        <p:nvSpPr>
          <p:cNvPr id="16" name="Oval 15"/>
          <p:cNvSpPr/>
          <p:nvPr/>
        </p:nvSpPr>
        <p:spPr>
          <a:xfrm>
            <a:off x="548640" y="4678680"/>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Which one is home?</a:t>
            </a:r>
          </a:p>
        </p:txBody>
      </p:sp>
      <p:sp>
        <p:nvSpPr>
          <p:cNvPr id="18" name="Oval 17"/>
          <p:cNvSpPr/>
          <p:nvPr/>
        </p:nvSpPr>
        <p:spPr>
          <a:xfrm>
            <a:off x="548640" y="5288280"/>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Which one feels tender?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YOUR REFERENCE CARD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TextBox 9"/>
          <p:cNvSpPr txBox="1"/>
          <p:nvPr/>
        </p:nvSpPr>
        <p:spPr>
          <a:xfrm>
            <a:off x="548640" y="1783080"/>
            <a:ext cx="11064240" cy="411480"/>
          </a:xfrm>
          <a:prstGeom prst="rect">
            <a:avLst/>
          </a:prstGeom>
          <a:noFill/>
        </p:spPr>
        <p:txBody>
          <a:bodyPr wrap="square" anchor="t" lIns="36576" rIns="36576" tIns="18288" bIns="18288">
            <a:spAutoFit/>
          </a:bodyPr>
          <a:lstStyle/>
          <a:p>
            <a:pPr algn="l"/>
            <a:r>
              <a:rPr sz="2000" b="1">
                <a:solidFill>
                  <a:srgbClr val="0E8C7F"/>
                </a:solidFill>
                <a:latin typeface="Oswald"/>
              </a:rPr>
              <a:t>C MAJOR  —  W - W - H - W - W - W - H</a:t>
            </a:r>
          </a:p>
        </p:txBody>
      </p:sp>
      <p:sp>
        <p:nvSpPr>
          <p:cNvPr id="11" name="Rectangle 10"/>
          <p:cNvSpPr/>
          <p:nvPr/>
        </p:nvSpPr>
        <p:spPr>
          <a:xfrm>
            <a:off x="548640" y="2286000"/>
            <a:ext cx="1014983" cy="43891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286000"/>
            <a:ext cx="868680" cy="438912"/>
          </a:xfrm>
          <a:prstGeom prst="rect">
            <a:avLst/>
          </a:prstGeom>
          <a:noFill/>
        </p:spPr>
        <p:txBody>
          <a:bodyPr wrap="square" anchor="ctr" lIns="36576" rIns="36576" tIns="18288" bIns="18288">
            <a:spAutoFit/>
          </a:bodyPr>
          <a:lstStyle/>
          <a:p>
            <a:pPr algn="l"/>
            <a:r>
              <a:rPr sz="1700" b="1">
                <a:solidFill>
                  <a:srgbClr val="FFFFFF"/>
                </a:solidFill>
                <a:latin typeface="Oswald"/>
              </a:rPr>
              <a:t>RN</a:t>
            </a:r>
          </a:p>
        </p:txBody>
      </p:sp>
      <p:sp>
        <p:nvSpPr>
          <p:cNvPr id="13" name="Rectangle 12"/>
          <p:cNvSpPr/>
          <p:nvPr/>
        </p:nvSpPr>
        <p:spPr>
          <a:xfrm>
            <a:off x="1600200" y="2286000"/>
            <a:ext cx="2066543" cy="43891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91640" y="2286000"/>
            <a:ext cx="1920239" cy="438912"/>
          </a:xfrm>
          <a:prstGeom prst="rect">
            <a:avLst/>
          </a:prstGeom>
          <a:noFill/>
        </p:spPr>
        <p:txBody>
          <a:bodyPr wrap="square" anchor="ctr" lIns="36576" rIns="36576" tIns="18288" bIns="18288">
            <a:spAutoFit/>
          </a:bodyPr>
          <a:lstStyle/>
          <a:p>
            <a:pPr algn="l"/>
            <a:r>
              <a:rPr sz="1700" b="1">
                <a:solidFill>
                  <a:srgbClr val="FFFFFF"/>
                </a:solidFill>
                <a:latin typeface="Oswald"/>
              </a:rPr>
              <a:t>CHORD</a:t>
            </a:r>
          </a:p>
        </p:txBody>
      </p:sp>
      <p:sp>
        <p:nvSpPr>
          <p:cNvPr id="15" name="Rectangle 14"/>
          <p:cNvSpPr/>
          <p:nvPr/>
        </p:nvSpPr>
        <p:spPr>
          <a:xfrm>
            <a:off x="3703320" y="2286000"/>
            <a:ext cx="2066543" cy="43891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94759" y="2286000"/>
            <a:ext cx="1920239" cy="438912"/>
          </a:xfrm>
          <a:prstGeom prst="rect">
            <a:avLst/>
          </a:prstGeom>
          <a:noFill/>
        </p:spPr>
        <p:txBody>
          <a:bodyPr wrap="square" anchor="ctr" lIns="36576" rIns="36576" tIns="18288" bIns="18288">
            <a:spAutoFit/>
          </a:bodyPr>
          <a:lstStyle/>
          <a:p>
            <a:pPr algn="l"/>
            <a:r>
              <a:rPr sz="1700" b="1">
                <a:solidFill>
                  <a:srgbClr val="FFFFFF"/>
                </a:solidFill>
                <a:latin typeface="Oswald"/>
              </a:rPr>
              <a:t>NOTES</a:t>
            </a:r>
          </a:p>
        </p:txBody>
      </p:sp>
      <p:sp>
        <p:nvSpPr>
          <p:cNvPr id="17" name="Rectangle 16"/>
          <p:cNvSpPr/>
          <p:nvPr/>
        </p:nvSpPr>
        <p:spPr>
          <a:xfrm>
            <a:off x="5806440" y="2286000"/>
            <a:ext cx="5797296" cy="43891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97879" y="2286000"/>
            <a:ext cx="5650992" cy="438912"/>
          </a:xfrm>
          <a:prstGeom prst="rect">
            <a:avLst/>
          </a:prstGeom>
          <a:noFill/>
        </p:spPr>
        <p:txBody>
          <a:bodyPr wrap="square" anchor="ctr" lIns="36576" rIns="36576" tIns="18288" bIns="18288">
            <a:spAutoFit/>
          </a:bodyPr>
          <a:lstStyle/>
          <a:p>
            <a:pPr algn="l"/>
            <a:r>
              <a:rPr sz="1700" b="1">
                <a:solidFill>
                  <a:srgbClr val="FFFFFF"/>
                </a:solidFill>
                <a:latin typeface="Oswald"/>
              </a:rPr>
              <a:t>FEELS LIKE…</a:t>
            </a:r>
          </a:p>
        </p:txBody>
      </p:sp>
      <p:sp>
        <p:nvSpPr>
          <p:cNvPr id="19" name="Rectangle 18"/>
          <p:cNvSpPr/>
          <p:nvPr/>
        </p:nvSpPr>
        <p:spPr>
          <a:xfrm>
            <a:off x="548640" y="2761488"/>
            <a:ext cx="1014983" cy="457200"/>
          </a:xfrm>
          <a:prstGeom prst="rect">
            <a:avLst/>
          </a:prstGeom>
          <a:solidFill>
            <a:srgbClr val="0E8C7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761488"/>
            <a:ext cx="868680" cy="457200"/>
          </a:xfrm>
          <a:prstGeom prst="rect">
            <a:avLst/>
          </a:prstGeom>
          <a:noFill/>
        </p:spPr>
        <p:txBody>
          <a:bodyPr wrap="square" anchor="ctr" lIns="36576" rIns="36576" tIns="18288" bIns="18288">
            <a:spAutoFit/>
          </a:bodyPr>
          <a:lstStyle/>
          <a:p>
            <a:pPr algn="ctr"/>
            <a:r>
              <a:rPr sz="2400" b="1">
                <a:solidFill>
                  <a:srgbClr val="FFFFFF"/>
                </a:solidFill>
                <a:latin typeface="Oswald"/>
              </a:rPr>
              <a:t>I</a:t>
            </a:r>
          </a:p>
        </p:txBody>
      </p:sp>
      <p:sp>
        <p:nvSpPr>
          <p:cNvPr id="21" name="Rectangle 20"/>
          <p:cNvSpPr/>
          <p:nvPr/>
        </p:nvSpPr>
        <p:spPr>
          <a:xfrm>
            <a:off x="1600200" y="2761488"/>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91640" y="2761488"/>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C Major</a:t>
            </a:r>
          </a:p>
        </p:txBody>
      </p:sp>
      <p:sp>
        <p:nvSpPr>
          <p:cNvPr id="23" name="Rectangle 22"/>
          <p:cNvSpPr/>
          <p:nvPr/>
        </p:nvSpPr>
        <p:spPr>
          <a:xfrm>
            <a:off x="3703320" y="2761488"/>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94759" y="2761488"/>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C - E - G</a:t>
            </a:r>
          </a:p>
        </p:txBody>
      </p:sp>
      <p:sp>
        <p:nvSpPr>
          <p:cNvPr id="25" name="Rectangle 24"/>
          <p:cNvSpPr/>
          <p:nvPr/>
        </p:nvSpPr>
        <p:spPr>
          <a:xfrm>
            <a:off x="5806440" y="2761488"/>
            <a:ext cx="5797296"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97879" y="2761488"/>
            <a:ext cx="5650992" cy="457200"/>
          </a:xfrm>
          <a:prstGeom prst="rect">
            <a:avLst/>
          </a:prstGeom>
          <a:noFill/>
        </p:spPr>
        <p:txBody>
          <a:bodyPr wrap="square" anchor="ctr" lIns="36576" rIns="36576" tIns="18288" bIns="18288">
            <a:spAutoFit/>
          </a:bodyPr>
          <a:lstStyle/>
          <a:p>
            <a:pPr algn="l"/>
            <a:r>
              <a:rPr sz="1900" b="0">
                <a:solidFill>
                  <a:srgbClr val="000000"/>
                </a:solidFill>
                <a:latin typeface="Source Sans 3"/>
              </a:rPr>
              <a:t>Home. Settled. Complete.</a:t>
            </a:r>
          </a:p>
        </p:txBody>
      </p:sp>
      <p:sp>
        <p:nvSpPr>
          <p:cNvPr id="27" name="Rectangle 26"/>
          <p:cNvSpPr/>
          <p:nvPr/>
        </p:nvSpPr>
        <p:spPr>
          <a:xfrm>
            <a:off x="548640" y="3255264"/>
            <a:ext cx="101498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255264"/>
            <a:ext cx="868680" cy="457200"/>
          </a:xfrm>
          <a:prstGeom prst="rect">
            <a:avLst/>
          </a:prstGeom>
          <a:noFill/>
        </p:spPr>
        <p:txBody>
          <a:bodyPr wrap="square" anchor="ctr" lIns="36576" rIns="36576" tIns="18288" bIns="18288">
            <a:spAutoFit/>
          </a:bodyPr>
          <a:lstStyle/>
          <a:p>
            <a:pPr algn="ctr"/>
            <a:r>
              <a:rPr sz="2400" b="1">
                <a:solidFill>
                  <a:srgbClr val="000000"/>
                </a:solidFill>
                <a:latin typeface="Oswald"/>
              </a:rPr>
              <a:t>ii</a:t>
            </a:r>
          </a:p>
        </p:txBody>
      </p:sp>
      <p:sp>
        <p:nvSpPr>
          <p:cNvPr id="29" name="Rectangle 28"/>
          <p:cNvSpPr/>
          <p:nvPr/>
        </p:nvSpPr>
        <p:spPr>
          <a:xfrm>
            <a:off x="1600200" y="3255264"/>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91640" y="3255264"/>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D Minor</a:t>
            </a:r>
          </a:p>
        </p:txBody>
      </p:sp>
      <p:sp>
        <p:nvSpPr>
          <p:cNvPr id="31" name="Rectangle 30"/>
          <p:cNvSpPr/>
          <p:nvPr/>
        </p:nvSpPr>
        <p:spPr>
          <a:xfrm>
            <a:off x="3703320" y="3255264"/>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4759" y="3255264"/>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D - F - A</a:t>
            </a:r>
          </a:p>
        </p:txBody>
      </p:sp>
      <p:sp>
        <p:nvSpPr>
          <p:cNvPr id="33" name="Rectangle 32"/>
          <p:cNvSpPr/>
          <p:nvPr/>
        </p:nvSpPr>
        <p:spPr>
          <a:xfrm>
            <a:off x="5806440" y="3255264"/>
            <a:ext cx="5797296"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97879" y="3255264"/>
            <a:ext cx="5650992" cy="457200"/>
          </a:xfrm>
          <a:prstGeom prst="rect">
            <a:avLst/>
          </a:prstGeom>
          <a:noFill/>
        </p:spPr>
        <p:txBody>
          <a:bodyPr wrap="square" anchor="ctr" lIns="36576" rIns="36576" tIns="18288" bIns="18288">
            <a:spAutoFit/>
          </a:bodyPr>
          <a:lstStyle/>
          <a:p>
            <a:pPr algn="l"/>
            <a:r>
              <a:rPr sz="1900" b="0">
                <a:solidFill>
                  <a:srgbClr val="000000"/>
                </a:solidFill>
                <a:latin typeface="Source Sans 3"/>
              </a:rPr>
              <a:t>Gentle tension. Moving somewhere.</a:t>
            </a:r>
          </a:p>
        </p:txBody>
      </p:sp>
      <p:sp>
        <p:nvSpPr>
          <p:cNvPr id="35" name="Rectangle 34"/>
          <p:cNvSpPr/>
          <p:nvPr/>
        </p:nvSpPr>
        <p:spPr>
          <a:xfrm>
            <a:off x="548640" y="3749039"/>
            <a:ext cx="101498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3749039"/>
            <a:ext cx="868680" cy="457200"/>
          </a:xfrm>
          <a:prstGeom prst="rect">
            <a:avLst/>
          </a:prstGeom>
          <a:noFill/>
        </p:spPr>
        <p:txBody>
          <a:bodyPr wrap="square" anchor="ctr" lIns="36576" rIns="36576" tIns="18288" bIns="18288">
            <a:spAutoFit/>
          </a:bodyPr>
          <a:lstStyle/>
          <a:p>
            <a:pPr algn="ctr"/>
            <a:r>
              <a:rPr sz="2400" b="1">
                <a:solidFill>
                  <a:srgbClr val="000000"/>
                </a:solidFill>
                <a:latin typeface="Oswald"/>
              </a:rPr>
              <a:t>iii</a:t>
            </a:r>
          </a:p>
        </p:txBody>
      </p:sp>
      <p:sp>
        <p:nvSpPr>
          <p:cNvPr id="37" name="Rectangle 36"/>
          <p:cNvSpPr/>
          <p:nvPr/>
        </p:nvSpPr>
        <p:spPr>
          <a:xfrm>
            <a:off x="1600200" y="3749039"/>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691640" y="3749039"/>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E Minor</a:t>
            </a:r>
          </a:p>
        </p:txBody>
      </p:sp>
      <p:sp>
        <p:nvSpPr>
          <p:cNvPr id="39" name="Rectangle 38"/>
          <p:cNvSpPr/>
          <p:nvPr/>
        </p:nvSpPr>
        <p:spPr>
          <a:xfrm>
            <a:off x="3703320" y="3749039"/>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94759" y="3749039"/>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E - G - B</a:t>
            </a:r>
          </a:p>
        </p:txBody>
      </p:sp>
      <p:sp>
        <p:nvSpPr>
          <p:cNvPr id="41" name="Rectangle 40"/>
          <p:cNvSpPr/>
          <p:nvPr/>
        </p:nvSpPr>
        <p:spPr>
          <a:xfrm>
            <a:off x="5806440" y="3749039"/>
            <a:ext cx="5797296"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97879" y="3749039"/>
            <a:ext cx="5650992" cy="457200"/>
          </a:xfrm>
          <a:prstGeom prst="rect">
            <a:avLst/>
          </a:prstGeom>
          <a:noFill/>
        </p:spPr>
        <p:txBody>
          <a:bodyPr wrap="square" anchor="ctr" lIns="36576" rIns="36576" tIns="18288" bIns="18288">
            <a:spAutoFit/>
          </a:bodyPr>
          <a:lstStyle/>
          <a:p>
            <a:pPr algn="l"/>
            <a:r>
              <a:rPr sz="1900" b="0">
                <a:solidFill>
                  <a:srgbClr val="000000"/>
                </a:solidFill>
                <a:latin typeface="Source Sans 3"/>
              </a:rPr>
              <a:t>Wistful. In between.</a:t>
            </a:r>
          </a:p>
        </p:txBody>
      </p:sp>
      <p:sp>
        <p:nvSpPr>
          <p:cNvPr id="43" name="Rectangle 42"/>
          <p:cNvSpPr/>
          <p:nvPr/>
        </p:nvSpPr>
        <p:spPr>
          <a:xfrm>
            <a:off x="548640" y="4242816"/>
            <a:ext cx="101498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4242816"/>
            <a:ext cx="868680" cy="457200"/>
          </a:xfrm>
          <a:prstGeom prst="rect">
            <a:avLst/>
          </a:prstGeom>
          <a:noFill/>
        </p:spPr>
        <p:txBody>
          <a:bodyPr wrap="square" anchor="ctr" lIns="36576" rIns="36576" tIns="18288" bIns="18288">
            <a:spAutoFit/>
          </a:bodyPr>
          <a:lstStyle/>
          <a:p>
            <a:pPr algn="ctr"/>
            <a:r>
              <a:rPr sz="2400" b="1">
                <a:solidFill>
                  <a:srgbClr val="000000"/>
                </a:solidFill>
                <a:latin typeface="Oswald"/>
              </a:rPr>
              <a:t>IV</a:t>
            </a:r>
          </a:p>
        </p:txBody>
      </p:sp>
      <p:sp>
        <p:nvSpPr>
          <p:cNvPr id="45" name="Rectangle 44"/>
          <p:cNvSpPr/>
          <p:nvPr/>
        </p:nvSpPr>
        <p:spPr>
          <a:xfrm>
            <a:off x="1600200" y="4242816"/>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691640" y="4242816"/>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F Major</a:t>
            </a:r>
          </a:p>
        </p:txBody>
      </p:sp>
      <p:sp>
        <p:nvSpPr>
          <p:cNvPr id="47" name="Rectangle 46"/>
          <p:cNvSpPr/>
          <p:nvPr/>
        </p:nvSpPr>
        <p:spPr>
          <a:xfrm>
            <a:off x="3703320" y="4242816"/>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794759" y="4242816"/>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F - A - C</a:t>
            </a:r>
          </a:p>
        </p:txBody>
      </p:sp>
      <p:sp>
        <p:nvSpPr>
          <p:cNvPr id="49" name="Rectangle 48"/>
          <p:cNvSpPr/>
          <p:nvPr/>
        </p:nvSpPr>
        <p:spPr>
          <a:xfrm>
            <a:off x="5806440" y="4242816"/>
            <a:ext cx="5797296"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97879" y="4242816"/>
            <a:ext cx="5650992" cy="457200"/>
          </a:xfrm>
          <a:prstGeom prst="rect">
            <a:avLst/>
          </a:prstGeom>
          <a:noFill/>
        </p:spPr>
        <p:txBody>
          <a:bodyPr wrap="square" anchor="ctr" lIns="36576" rIns="36576" tIns="18288" bIns="18288">
            <a:spAutoFit/>
          </a:bodyPr>
          <a:lstStyle/>
          <a:p>
            <a:pPr algn="l"/>
            <a:r>
              <a:rPr sz="1900" b="0">
                <a:solidFill>
                  <a:srgbClr val="000000"/>
                </a:solidFill>
                <a:latin typeface="Source Sans 3"/>
              </a:rPr>
              <a:t>Lifting. Hopeful. Away from home.</a:t>
            </a:r>
          </a:p>
        </p:txBody>
      </p:sp>
      <p:sp>
        <p:nvSpPr>
          <p:cNvPr id="51" name="Rectangle 50"/>
          <p:cNvSpPr/>
          <p:nvPr/>
        </p:nvSpPr>
        <p:spPr>
          <a:xfrm>
            <a:off x="548640" y="4736592"/>
            <a:ext cx="101498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4736592"/>
            <a:ext cx="868680" cy="457200"/>
          </a:xfrm>
          <a:prstGeom prst="rect">
            <a:avLst/>
          </a:prstGeom>
          <a:noFill/>
        </p:spPr>
        <p:txBody>
          <a:bodyPr wrap="square" anchor="ctr" lIns="36576" rIns="36576" tIns="18288" bIns="18288">
            <a:spAutoFit/>
          </a:bodyPr>
          <a:lstStyle/>
          <a:p>
            <a:pPr algn="ctr"/>
            <a:r>
              <a:rPr sz="2400" b="1">
                <a:solidFill>
                  <a:srgbClr val="000000"/>
                </a:solidFill>
                <a:latin typeface="Oswald"/>
              </a:rPr>
              <a:t>V</a:t>
            </a:r>
          </a:p>
        </p:txBody>
      </p:sp>
      <p:sp>
        <p:nvSpPr>
          <p:cNvPr id="53" name="Rectangle 52"/>
          <p:cNvSpPr/>
          <p:nvPr/>
        </p:nvSpPr>
        <p:spPr>
          <a:xfrm>
            <a:off x="1600200" y="4736592"/>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691640" y="4736592"/>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G Major</a:t>
            </a:r>
          </a:p>
        </p:txBody>
      </p:sp>
      <p:sp>
        <p:nvSpPr>
          <p:cNvPr id="55" name="Rectangle 54"/>
          <p:cNvSpPr/>
          <p:nvPr/>
        </p:nvSpPr>
        <p:spPr>
          <a:xfrm>
            <a:off x="3703320" y="4736592"/>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794759" y="4736592"/>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G - B - D</a:t>
            </a:r>
          </a:p>
        </p:txBody>
      </p:sp>
      <p:sp>
        <p:nvSpPr>
          <p:cNvPr id="57" name="Rectangle 56"/>
          <p:cNvSpPr/>
          <p:nvPr/>
        </p:nvSpPr>
        <p:spPr>
          <a:xfrm>
            <a:off x="5806440" y="4736592"/>
            <a:ext cx="5797296"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897879" y="4736592"/>
            <a:ext cx="5650992" cy="457200"/>
          </a:xfrm>
          <a:prstGeom prst="rect">
            <a:avLst/>
          </a:prstGeom>
          <a:noFill/>
        </p:spPr>
        <p:txBody>
          <a:bodyPr wrap="square" anchor="ctr" lIns="36576" rIns="36576" tIns="18288" bIns="18288">
            <a:spAutoFit/>
          </a:bodyPr>
          <a:lstStyle/>
          <a:p>
            <a:pPr algn="l"/>
            <a:r>
              <a:rPr sz="1900" b="0">
                <a:solidFill>
                  <a:srgbClr val="000000"/>
                </a:solidFill>
                <a:latin typeface="Source Sans 3"/>
              </a:rPr>
              <a:t>Homesick. Wants to resolve to I.</a:t>
            </a:r>
          </a:p>
        </p:txBody>
      </p:sp>
      <p:sp>
        <p:nvSpPr>
          <p:cNvPr id="59" name="Rectangle 58"/>
          <p:cNvSpPr/>
          <p:nvPr/>
        </p:nvSpPr>
        <p:spPr>
          <a:xfrm>
            <a:off x="548640" y="5230368"/>
            <a:ext cx="101498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0080" y="5230368"/>
            <a:ext cx="868680" cy="457200"/>
          </a:xfrm>
          <a:prstGeom prst="rect">
            <a:avLst/>
          </a:prstGeom>
          <a:noFill/>
        </p:spPr>
        <p:txBody>
          <a:bodyPr wrap="square" anchor="ctr" lIns="36576" rIns="36576" tIns="18288" bIns="18288">
            <a:spAutoFit/>
          </a:bodyPr>
          <a:lstStyle/>
          <a:p>
            <a:pPr algn="ctr"/>
            <a:r>
              <a:rPr sz="2400" b="1">
                <a:solidFill>
                  <a:srgbClr val="000000"/>
                </a:solidFill>
                <a:latin typeface="Oswald"/>
              </a:rPr>
              <a:t>vi</a:t>
            </a:r>
          </a:p>
        </p:txBody>
      </p:sp>
      <p:sp>
        <p:nvSpPr>
          <p:cNvPr id="61" name="Rectangle 60"/>
          <p:cNvSpPr/>
          <p:nvPr/>
        </p:nvSpPr>
        <p:spPr>
          <a:xfrm>
            <a:off x="1600200" y="5230368"/>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691640" y="5230368"/>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A Minor</a:t>
            </a:r>
          </a:p>
        </p:txBody>
      </p:sp>
      <p:sp>
        <p:nvSpPr>
          <p:cNvPr id="63" name="Rectangle 62"/>
          <p:cNvSpPr/>
          <p:nvPr/>
        </p:nvSpPr>
        <p:spPr>
          <a:xfrm>
            <a:off x="3703320" y="5230368"/>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794759" y="5230368"/>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A - C - E</a:t>
            </a:r>
          </a:p>
        </p:txBody>
      </p:sp>
      <p:sp>
        <p:nvSpPr>
          <p:cNvPr id="65" name="Rectangle 64"/>
          <p:cNvSpPr/>
          <p:nvPr/>
        </p:nvSpPr>
        <p:spPr>
          <a:xfrm>
            <a:off x="5806440" y="5230368"/>
            <a:ext cx="5797296"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897879" y="5230368"/>
            <a:ext cx="5650992" cy="457200"/>
          </a:xfrm>
          <a:prstGeom prst="rect">
            <a:avLst/>
          </a:prstGeom>
          <a:noFill/>
        </p:spPr>
        <p:txBody>
          <a:bodyPr wrap="square" anchor="ctr" lIns="36576" rIns="36576" tIns="18288" bIns="18288">
            <a:spAutoFit/>
          </a:bodyPr>
          <a:lstStyle/>
          <a:p>
            <a:pPr algn="l"/>
            <a:r>
              <a:rPr sz="1900" b="0">
                <a:solidFill>
                  <a:srgbClr val="000000"/>
                </a:solidFill>
                <a:latin typeface="Source Sans 3"/>
              </a:rPr>
              <a:t>Tender. Melancholy. Emotional.</a:t>
            </a:r>
          </a:p>
        </p:txBody>
      </p:sp>
      <p:sp>
        <p:nvSpPr>
          <p:cNvPr id="67" name="Rectangle 66"/>
          <p:cNvSpPr/>
          <p:nvPr/>
        </p:nvSpPr>
        <p:spPr>
          <a:xfrm>
            <a:off x="548640" y="5724144"/>
            <a:ext cx="101498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0080" y="5724144"/>
            <a:ext cx="868680" cy="457200"/>
          </a:xfrm>
          <a:prstGeom prst="rect">
            <a:avLst/>
          </a:prstGeom>
          <a:noFill/>
        </p:spPr>
        <p:txBody>
          <a:bodyPr wrap="square" anchor="ctr" lIns="36576" rIns="36576" tIns="18288" bIns="18288">
            <a:spAutoFit/>
          </a:bodyPr>
          <a:lstStyle/>
          <a:p>
            <a:pPr algn="ctr"/>
            <a:r>
              <a:rPr sz="2400" b="1">
                <a:solidFill>
                  <a:srgbClr val="000000"/>
                </a:solidFill>
                <a:latin typeface="Oswald"/>
              </a:rPr>
              <a:t>vii°</a:t>
            </a:r>
          </a:p>
        </p:txBody>
      </p:sp>
      <p:sp>
        <p:nvSpPr>
          <p:cNvPr id="69" name="Rectangle 68"/>
          <p:cNvSpPr/>
          <p:nvPr/>
        </p:nvSpPr>
        <p:spPr>
          <a:xfrm>
            <a:off x="1600200" y="5724144"/>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91640" y="5724144"/>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B Dim.</a:t>
            </a:r>
          </a:p>
        </p:txBody>
      </p:sp>
      <p:sp>
        <p:nvSpPr>
          <p:cNvPr id="71" name="Rectangle 70"/>
          <p:cNvSpPr/>
          <p:nvPr/>
        </p:nvSpPr>
        <p:spPr>
          <a:xfrm>
            <a:off x="3703320" y="5724144"/>
            <a:ext cx="2066543"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794759" y="5724144"/>
            <a:ext cx="1920239" cy="457200"/>
          </a:xfrm>
          <a:prstGeom prst="rect">
            <a:avLst/>
          </a:prstGeom>
          <a:noFill/>
        </p:spPr>
        <p:txBody>
          <a:bodyPr wrap="square" anchor="ctr" lIns="36576" rIns="36576" tIns="18288" bIns="18288">
            <a:spAutoFit/>
          </a:bodyPr>
          <a:lstStyle/>
          <a:p>
            <a:pPr algn="l"/>
            <a:r>
              <a:rPr sz="1900" b="0">
                <a:solidFill>
                  <a:srgbClr val="000000"/>
                </a:solidFill>
                <a:latin typeface="Oswald"/>
              </a:rPr>
              <a:t>B - D - F</a:t>
            </a:r>
          </a:p>
        </p:txBody>
      </p:sp>
      <p:sp>
        <p:nvSpPr>
          <p:cNvPr id="73" name="Rectangle 72"/>
          <p:cNvSpPr/>
          <p:nvPr/>
        </p:nvSpPr>
        <p:spPr>
          <a:xfrm>
            <a:off x="5806440" y="5724144"/>
            <a:ext cx="5797296" cy="4572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897879" y="5724144"/>
            <a:ext cx="5650992" cy="457200"/>
          </a:xfrm>
          <a:prstGeom prst="rect">
            <a:avLst/>
          </a:prstGeom>
          <a:noFill/>
        </p:spPr>
        <p:txBody>
          <a:bodyPr wrap="square" anchor="ctr" lIns="36576" rIns="36576" tIns="18288" bIns="18288">
            <a:spAutoFit/>
          </a:bodyPr>
          <a:lstStyle/>
          <a:p>
            <a:pPr algn="l"/>
            <a:r>
              <a:rPr sz="1900" b="0">
                <a:solidFill>
                  <a:srgbClr val="000000"/>
                </a:solidFill>
                <a:latin typeface="Source Sans 3"/>
              </a:rPr>
              <a:t>Tense. Unstable. Rarely used alone.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CHORDS OVER THE BASSLINE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19</a:t>
            </a:r>
          </a:p>
        </p:txBody>
      </p:sp>
      <p:sp>
        <p:nvSpPr>
          <p:cNvPr id="10" name="TextBox 9"/>
          <p:cNvSpPr txBox="1"/>
          <p:nvPr/>
        </p:nvSpPr>
        <p:spPr>
          <a:xfrm>
            <a:off x="548640" y="3063240"/>
            <a:ext cx="1280160" cy="548640"/>
          </a:xfrm>
          <a:prstGeom prst="rect">
            <a:avLst/>
          </a:prstGeom>
          <a:noFill/>
        </p:spPr>
        <p:txBody>
          <a:bodyPr wrap="square" anchor="t" lIns="36576" rIns="36576" tIns="18288" bIns="18288">
            <a:spAutoFit/>
          </a:bodyPr>
          <a:lstStyle/>
          <a:p>
            <a:pPr algn="l"/>
            <a:r>
              <a:rPr sz="2400" b="1">
                <a:solidFill>
                  <a:srgbClr val="0E8C7F"/>
                </a:solidFill>
                <a:latin typeface="Oswald"/>
              </a:rPr>
              <a:t>CHORDS</a:t>
            </a:r>
          </a:p>
        </p:txBody>
      </p:sp>
      <p:sp>
        <p:nvSpPr>
          <p:cNvPr id="11" name="TextBox 10"/>
          <p:cNvSpPr txBox="1"/>
          <p:nvPr/>
        </p:nvSpPr>
        <p:spPr>
          <a:xfrm>
            <a:off x="548640" y="4754880"/>
            <a:ext cx="1280160" cy="548640"/>
          </a:xfrm>
          <a:prstGeom prst="rect">
            <a:avLst/>
          </a:prstGeom>
          <a:noFill/>
        </p:spPr>
        <p:txBody>
          <a:bodyPr wrap="square" anchor="t" lIns="36576" rIns="36576" tIns="18288" bIns="18288">
            <a:spAutoFit/>
          </a:bodyPr>
          <a:lstStyle/>
          <a:p>
            <a:pPr algn="l"/>
            <a:r>
              <a:rPr sz="2400" b="1">
                <a:solidFill>
                  <a:srgbClr val="000000"/>
                </a:solidFill>
                <a:latin typeface="Oswald"/>
              </a:rPr>
              <a:t>BASS</a:t>
            </a:r>
          </a:p>
        </p:txBody>
      </p:sp>
      <p:sp>
        <p:nvSpPr>
          <p:cNvPr id="12" name="Rounded Rectangle 11"/>
          <p:cNvSpPr/>
          <p:nvPr/>
        </p:nvSpPr>
        <p:spPr>
          <a:xfrm>
            <a:off x="1920240" y="1783080"/>
            <a:ext cx="2240280" cy="8412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0240" y="1783080"/>
            <a:ext cx="2240280" cy="530352"/>
          </a:xfrm>
          <a:prstGeom prst="rect">
            <a:avLst/>
          </a:prstGeom>
          <a:noFill/>
        </p:spPr>
        <p:txBody>
          <a:bodyPr wrap="square" anchor="ctr" lIns="36576" rIns="36576" tIns="18288" bIns="18288">
            <a:spAutoFit/>
          </a:bodyPr>
          <a:lstStyle/>
          <a:p>
            <a:pPr algn="ctr"/>
            <a:r>
              <a:rPr sz="3400" b="1">
                <a:solidFill>
                  <a:srgbClr val="FFFFFF"/>
                </a:solidFill>
                <a:latin typeface="Oswald"/>
              </a:rPr>
              <a:t>I</a:t>
            </a:r>
          </a:p>
        </p:txBody>
      </p:sp>
      <p:sp>
        <p:nvSpPr>
          <p:cNvPr id="14" name="TextBox 13"/>
          <p:cNvSpPr txBox="1"/>
          <p:nvPr/>
        </p:nvSpPr>
        <p:spPr>
          <a:xfrm>
            <a:off x="1920240" y="2286000"/>
            <a:ext cx="2240280" cy="320040"/>
          </a:xfrm>
          <a:prstGeom prst="rect">
            <a:avLst/>
          </a:prstGeom>
          <a:noFill/>
        </p:spPr>
        <p:txBody>
          <a:bodyPr wrap="square" anchor="ctr" lIns="36576" rIns="36576" tIns="18288" bIns="18288">
            <a:spAutoFit/>
          </a:bodyPr>
          <a:lstStyle/>
          <a:p>
            <a:pPr algn="ctr"/>
            <a:r>
              <a:rPr sz="1600" b="0">
                <a:solidFill>
                  <a:srgbClr val="FFFFFF"/>
                </a:solidFill>
                <a:latin typeface="Oswald"/>
              </a:rPr>
              <a:t>C Major</a:t>
            </a:r>
          </a:p>
        </p:txBody>
      </p:sp>
      <p:sp>
        <p:nvSpPr>
          <p:cNvPr id="15" name="Rounded Rectangle 14"/>
          <p:cNvSpPr/>
          <p:nvPr/>
        </p:nvSpPr>
        <p:spPr>
          <a:xfrm>
            <a:off x="1920240" y="2743200"/>
            <a:ext cx="2240280" cy="530352"/>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20240" y="2743200"/>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G</a:t>
            </a:r>
          </a:p>
        </p:txBody>
      </p:sp>
      <p:sp>
        <p:nvSpPr>
          <p:cNvPr id="17" name="Rounded Rectangle 16"/>
          <p:cNvSpPr/>
          <p:nvPr/>
        </p:nvSpPr>
        <p:spPr>
          <a:xfrm>
            <a:off x="1920240" y="3346704"/>
            <a:ext cx="2240280" cy="530352"/>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20240" y="3346704"/>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E</a:t>
            </a:r>
          </a:p>
        </p:txBody>
      </p:sp>
      <p:sp>
        <p:nvSpPr>
          <p:cNvPr id="19" name="Rounded Rectangle 18"/>
          <p:cNvSpPr/>
          <p:nvPr/>
        </p:nvSpPr>
        <p:spPr>
          <a:xfrm>
            <a:off x="1920240" y="3950208"/>
            <a:ext cx="2240280" cy="530352"/>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0240" y="3950208"/>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C</a:t>
            </a:r>
          </a:p>
        </p:txBody>
      </p:sp>
      <p:sp>
        <p:nvSpPr>
          <p:cNvPr id="21" name="Rounded Rectangle 20"/>
          <p:cNvSpPr/>
          <p:nvPr/>
        </p:nvSpPr>
        <p:spPr>
          <a:xfrm>
            <a:off x="1920240" y="4736592"/>
            <a:ext cx="2240280" cy="53035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20240" y="4736592"/>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C</a:t>
            </a:r>
          </a:p>
        </p:txBody>
      </p:sp>
      <p:sp>
        <p:nvSpPr>
          <p:cNvPr id="23" name="TextBox 22"/>
          <p:cNvSpPr txBox="1"/>
          <p:nvPr/>
        </p:nvSpPr>
        <p:spPr>
          <a:xfrm>
            <a:off x="1920240" y="5349240"/>
            <a:ext cx="2240280" cy="365760"/>
          </a:xfrm>
          <a:prstGeom prst="rect">
            <a:avLst/>
          </a:prstGeom>
          <a:noFill/>
        </p:spPr>
        <p:txBody>
          <a:bodyPr wrap="square" anchor="t" lIns="36576" rIns="36576" tIns="18288" bIns="18288">
            <a:spAutoFit/>
          </a:bodyPr>
          <a:lstStyle/>
          <a:p>
            <a:pPr algn="ctr"/>
            <a:r>
              <a:rPr sz="1600" b="0">
                <a:solidFill>
                  <a:srgbClr val="000000"/>
                </a:solidFill>
                <a:latin typeface="Source Sans 3"/>
              </a:rPr>
              <a:t>Measure 1</a:t>
            </a:r>
          </a:p>
        </p:txBody>
      </p:sp>
      <p:sp>
        <p:nvSpPr>
          <p:cNvPr id="24" name="Rounded Rectangle 23"/>
          <p:cNvSpPr/>
          <p:nvPr/>
        </p:nvSpPr>
        <p:spPr>
          <a:xfrm>
            <a:off x="4343400" y="1783080"/>
            <a:ext cx="2240280" cy="84124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1783080"/>
            <a:ext cx="2240280" cy="530352"/>
          </a:xfrm>
          <a:prstGeom prst="rect">
            <a:avLst/>
          </a:prstGeom>
          <a:noFill/>
        </p:spPr>
        <p:txBody>
          <a:bodyPr wrap="square" anchor="ctr" lIns="36576" rIns="36576" tIns="18288" bIns="18288">
            <a:spAutoFit/>
          </a:bodyPr>
          <a:lstStyle/>
          <a:p>
            <a:pPr algn="ctr"/>
            <a:r>
              <a:rPr sz="3400" b="1">
                <a:solidFill>
                  <a:srgbClr val="FFFFFF"/>
                </a:solidFill>
                <a:latin typeface="Oswald"/>
              </a:rPr>
              <a:t>vi</a:t>
            </a:r>
          </a:p>
        </p:txBody>
      </p:sp>
      <p:sp>
        <p:nvSpPr>
          <p:cNvPr id="26" name="TextBox 25"/>
          <p:cNvSpPr txBox="1"/>
          <p:nvPr/>
        </p:nvSpPr>
        <p:spPr>
          <a:xfrm>
            <a:off x="4343400" y="2286000"/>
            <a:ext cx="2240280" cy="320040"/>
          </a:xfrm>
          <a:prstGeom prst="rect">
            <a:avLst/>
          </a:prstGeom>
          <a:noFill/>
        </p:spPr>
        <p:txBody>
          <a:bodyPr wrap="square" anchor="ctr" lIns="36576" rIns="36576" tIns="18288" bIns="18288">
            <a:spAutoFit/>
          </a:bodyPr>
          <a:lstStyle/>
          <a:p>
            <a:pPr algn="ctr"/>
            <a:r>
              <a:rPr sz="1600" b="0">
                <a:solidFill>
                  <a:srgbClr val="FFFFFF"/>
                </a:solidFill>
                <a:latin typeface="Oswald"/>
              </a:rPr>
              <a:t>A Minor</a:t>
            </a:r>
          </a:p>
        </p:txBody>
      </p:sp>
      <p:sp>
        <p:nvSpPr>
          <p:cNvPr id="27" name="Rounded Rectangle 26"/>
          <p:cNvSpPr/>
          <p:nvPr/>
        </p:nvSpPr>
        <p:spPr>
          <a:xfrm>
            <a:off x="4343400" y="2743200"/>
            <a:ext cx="2240280" cy="530352"/>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43400" y="2743200"/>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E</a:t>
            </a:r>
          </a:p>
        </p:txBody>
      </p:sp>
      <p:sp>
        <p:nvSpPr>
          <p:cNvPr id="29" name="Rounded Rectangle 28"/>
          <p:cNvSpPr/>
          <p:nvPr/>
        </p:nvSpPr>
        <p:spPr>
          <a:xfrm>
            <a:off x="4343400" y="3346704"/>
            <a:ext cx="2240280" cy="530352"/>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43400" y="3346704"/>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C</a:t>
            </a:r>
          </a:p>
        </p:txBody>
      </p:sp>
      <p:sp>
        <p:nvSpPr>
          <p:cNvPr id="31" name="Rounded Rectangle 30"/>
          <p:cNvSpPr/>
          <p:nvPr/>
        </p:nvSpPr>
        <p:spPr>
          <a:xfrm>
            <a:off x="4343400" y="3950208"/>
            <a:ext cx="2240280" cy="530352"/>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43400" y="3950208"/>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A</a:t>
            </a:r>
          </a:p>
        </p:txBody>
      </p:sp>
      <p:sp>
        <p:nvSpPr>
          <p:cNvPr id="33" name="Rounded Rectangle 32"/>
          <p:cNvSpPr/>
          <p:nvPr/>
        </p:nvSpPr>
        <p:spPr>
          <a:xfrm>
            <a:off x="4343400" y="4736592"/>
            <a:ext cx="2240280" cy="53035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43400" y="4736592"/>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A</a:t>
            </a:r>
          </a:p>
        </p:txBody>
      </p:sp>
      <p:sp>
        <p:nvSpPr>
          <p:cNvPr id="35" name="TextBox 34"/>
          <p:cNvSpPr txBox="1"/>
          <p:nvPr/>
        </p:nvSpPr>
        <p:spPr>
          <a:xfrm>
            <a:off x="4343400" y="5349240"/>
            <a:ext cx="2240280" cy="365760"/>
          </a:xfrm>
          <a:prstGeom prst="rect">
            <a:avLst/>
          </a:prstGeom>
          <a:noFill/>
        </p:spPr>
        <p:txBody>
          <a:bodyPr wrap="square" anchor="t" lIns="36576" rIns="36576" tIns="18288" bIns="18288">
            <a:spAutoFit/>
          </a:bodyPr>
          <a:lstStyle/>
          <a:p>
            <a:pPr algn="ctr"/>
            <a:r>
              <a:rPr sz="1600" b="0">
                <a:solidFill>
                  <a:srgbClr val="000000"/>
                </a:solidFill>
                <a:latin typeface="Source Sans 3"/>
              </a:rPr>
              <a:t>Measure 2</a:t>
            </a:r>
          </a:p>
        </p:txBody>
      </p:sp>
      <p:sp>
        <p:nvSpPr>
          <p:cNvPr id="36" name="Rounded Rectangle 35"/>
          <p:cNvSpPr/>
          <p:nvPr/>
        </p:nvSpPr>
        <p:spPr>
          <a:xfrm>
            <a:off x="6766560" y="1783080"/>
            <a:ext cx="2240280" cy="84124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0" y="1783080"/>
            <a:ext cx="2240280" cy="530352"/>
          </a:xfrm>
          <a:prstGeom prst="rect">
            <a:avLst/>
          </a:prstGeom>
          <a:noFill/>
        </p:spPr>
        <p:txBody>
          <a:bodyPr wrap="square" anchor="ctr" lIns="36576" rIns="36576" tIns="18288" bIns="18288">
            <a:spAutoFit/>
          </a:bodyPr>
          <a:lstStyle/>
          <a:p>
            <a:pPr algn="ctr"/>
            <a:r>
              <a:rPr sz="3400" b="1">
                <a:solidFill>
                  <a:srgbClr val="FFFFFF"/>
                </a:solidFill>
                <a:latin typeface="Oswald"/>
              </a:rPr>
              <a:t>IV</a:t>
            </a:r>
          </a:p>
        </p:txBody>
      </p:sp>
      <p:sp>
        <p:nvSpPr>
          <p:cNvPr id="38" name="TextBox 37"/>
          <p:cNvSpPr txBox="1"/>
          <p:nvPr/>
        </p:nvSpPr>
        <p:spPr>
          <a:xfrm>
            <a:off x="6766560" y="2286000"/>
            <a:ext cx="2240280" cy="320040"/>
          </a:xfrm>
          <a:prstGeom prst="rect">
            <a:avLst/>
          </a:prstGeom>
          <a:noFill/>
        </p:spPr>
        <p:txBody>
          <a:bodyPr wrap="square" anchor="ctr" lIns="36576" rIns="36576" tIns="18288" bIns="18288">
            <a:spAutoFit/>
          </a:bodyPr>
          <a:lstStyle/>
          <a:p>
            <a:pPr algn="ctr"/>
            <a:r>
              <a:rPr sz="1600" b="0">
                <a:solidFill>
                  <a:srgbClr val="FFFFFF"/>
                </a:solidFill>
                <a:latin typeface="Oswald"/>
              </a:rPr>
              <a:t>F Major</a:t>
            </a:r>
          </a:p>
        </p:txBody>
      </p:sp>
      <p:sp>
        <p:nvSpPr>
          <p:cNvPr id="39" name="Rounded Rectangle 38"/>
          <p:cNvSpPr/>
          <p:nvPr/>
        </p:nvSpPr>
        <p:spPr>
          <a:xfrm>
            <a:off x="6766560" y="2743200"/>
            <a:ext cx="2240280" cy="530352"/>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0" y="2743200"/>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C</a:t>
            </a:r>
          </a:p>
        </p:txBody>
      </p:sp>
      <p:sp>
        <p:nvSpPr>
          <p:cNvPr id="41" name="Rounded Rectangle 40"/>
          <p:cNvSpPr/>
          <p:nvPr/>
        </p:nvSpPr>
        <p:spPr>
          <a:xfrm>
            <a:off x="6766560" y="3346704"/>
            <a:ext cx="2240280" cy="530352"/>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0" y="3346704"/>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A</a:t>
            </a:r>
          </a:p>
        </p:txBody>
      </p:sp>
      <p:sp>
        <p:nvSpPr>
          <p:cNvPr id="43" name="Rounded Rectangle 42"/>
          <p:cNvSpPr/>
          <p:nvPr/>
        </p:nvSpPr>
        <p:spPr>
          <a:xfrm>
            <a:off x="6766560" y="3950208"/>
            <a:ext cx="2240280" cy="530352"/>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0" y="3950208"/>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F</a:t>
            </a:r>
          </a:p>
        </p:txBody>
      </p:sp>
      <p:sp>
        <p:nvSpPr>
          <p:cNvPr id="45" name="Rounded Rectangle 44"/>
          <p:cNvSpPr/>
          <p:nvPr/>
        </p:nvSpPr>
        <p:spPr>
          <a:xfrm>
            <a:off x="6766560" y="4736592"/>
            <a:ext cx="2240280" cy="53035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66560" y="4736592"/>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F</a:t>
            </a:r>
          </a:p>
        </p:txBody>
      </p:sp>
      <p:sp>
        <p:nvSpPr>
          <p:cNvPr id="47" name="TextBox 46"/>
          <p:cNvSpPr txBox="1"/>
          <p:nvPr/>
        </p:nvSpPr>
        <p:spPr>
          <a:xfrm>
            <a:off x="6766560" y="5349240"/>
            <a:ext cx="2240280" cy="365760"/>
          </a:xfrm>
          <a:prstGeom prst="rect">
            <a:avLst/>
          </a:prstGeom>
          <a:noFill/>
        </p:spPr>
        <p:txBody>
          <a:bodyPr wrap="square" anchor="t" lIns="36576" rIns="36576" tIns="18288" bIns="18288">
            <a:spAutoFit/>
          </a:bodyPr>
          <a:lstStyle/>
          <a:p>
            <a:pPr algn="ctr"/>
            <a:r>
              <a:rPr sz="1600" b="0">
                <a:solidFill>
                  <a:srgbClr val="000000"/>
                </a:solidFill>
                <a:latin typeface="Source Sans 3"/>
              </a:rPr>
              <a:t>Measure 3</a:t>
            </a:r>
          </a:p>
        </p:txBody>
      </p:sp>
      <p:sp>
        <p:nvSpPr>
          <p:cNvPr id="48" name="Rounded Rectangle 47"/>
          <p:cNvSpPr/>
          <p:nvPr/>
        </p:nvSpPr>
        <p:spPr>
          <a:xfrm>
            <a:off x="9189720" y="1783080"/>
            <a:ext cx="2240280" cy="84124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89720" y="1783080"/>
            <a:ext cx="2240280" cy="530352"/>
          </a:xfrm>
          <a:prstGeom prst="rect">
            <a:avLst/>
          </a:prstGeom>
          <a:noFill/>
        </p:spPr>
        <p:txBody>
          <a:bodyPr wrap="square" anchor="ctr" lIns="36576" rIns="36576" tIns="18288" bIns="18288">
            <a:spAutoFit/>
          </a:bodyPr>
          <a:lstStyle/>
          <a:p>
            <a:pPr algn="ctr"/>
            <a:r>
              <a:rPr sz="3400" b="1">
                <a:solidFill>
                  <a:srgbClr val="FFFFFF"/>
                </a:solidFill>
                <a:latin typeface="Oswald"/>
              </a:rPr>
              <a:t>V</a:t>
            </a:r>
          </a:p>
        </p:txBody>
      </p:sp>
      <p:sp>
        <p:nvSpPr>
          <p:cNvPr id="50" name="TextBox 49"/>
          <p:cNvSpPr txBox="1"/>
          <p:nvPr/>
        </p:nvSpPr>
        <p:spPr>
          <a:xfrm>
            <a:off x="9189720" y="2286000"/>
            <a:ext cx="2240280" cy="320040"/>
          </a:xfrm>
          <a:prstGeom prst="rect">
            <a:avLst/>
          </a:prstGeom>
          <a:noFill/>
        </p:spPr>
        <p:txBody>
          <a:bodyPr wrap="square" anchor="ctr" lIns="36576" rIns="36576" tIns="18288" bIns="18288">
            <a:spAutoFit/>
          </a:bodyPr>
          <a:lstStyle/>
          <a:p>
            <a:pPr algn="ctr"/>
            <a:r>
              <a:rPr sz="1600" b="0">
                <a:solidFill>
                  <a:srgbClr val="FFFFFF"/>
                </a:solidFill>
                <a:latin typeface="Oswald"/>
              </a:rPr>
              <a:t>G Major</a:t>
            </a:r>
          </a:p>
        </p:txBody>
      </p:sp>
      <p:sp>
        <p:nvSpPr>
          <p:cNvPr id="51" name="Rounded Rectangle 50"/>
          <p:cNvSpPr/>
          <p:nvPr/>
        </p:nvSpPr>
        <p:spPr>
          <a:xfrm>
            <a:off x="9189720" y="2743200"/>
            <a:ext cx="2240280" cy="530352"/>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89720" y="2743200"/>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D</a:t>
            </a:r>
          </a:p>
        </p:txBody>
      </p:sp>
      <p:sp>
        <p:nvSpPr>
          <p:cNvPr id="53" name="Rounded Rectangle 52"/>
          <p:cNvSpPr/>
          <p:nvPr/>
        </p:nvSpPr>
        <p:spPr>
          <a:xfrm>
            <a:off x="9189720" y="3346704"/>
            <a:ext cx="2240280" cy="530352"/>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89720" y="3346704"/>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B</a:t>
            </a:r>
          </a:p>
        </p:txBody>
      </p:sp>
      <p:sp>
        <p:nvSpPr>
          <p:cNvPr id="55" name="Rounded Rectangle 54"/>
          <p:cNvSpPr/>
          <p:nvPr/>
        </p:nvSpPr>
        <p:spPr>
          <a:xfrm>
            <a:off x="9189720" y="3950208"/>
            <a:ext cx="2240280" cy="530352"/>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89720" y="3950208"/>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G</a:t>
            </a:r>
          </a:p>
        </p:txBody>
      </p:sp>
      <p:sp>
        <p:nvSpPr>
          <p:cNvPr id="57" name="Rounded Rectangle 56"/>
          <p:cNvSpPr/>
          <p:nvPr/>
        </p:nvSpPr>
        <p:spPr>
          <a:xfrm>
            <a:off x="9189720" y="4736592"/>
            <a:ext cx="2240280" cy="53035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89720" y="4736592"/>
            <a:ext cx="2240280" cy="530352"/>
          </a:xfrm>
          <a:prstGeom prst="rect">
            <a:avLst/>
          </a:prstGeom>
          <a:noFill/>
        </p:spPr>
        <p:txBody>
          <a:bodyPr wrap="square" anchor="ctr" lIns="36576" rIns="36576" tIns="18288" bIns="18288">
            <a:spAutoFit/>
          </a:bodyPr>
          <a:lstStyle/>
          <a:p>
            <a:pPr algn="ctr"/>
            <a:r>
              <a:rPr sz="2600" b="1">
                <a:solidFill>
                  <a:srgbClr val="FFFFFF"/>
                </a:solidFill>
                <a:latin typeface="Oswald"/>
              </a:rPr>
              <a:t>G</a:t>
            </a:r>
          </a:p>
        </p:txBody>
      </p:sp>
      <p:sp>
        <p:nvSpPr>
          <p:cNvPr id="59" name="TextBox 58"/>
          <p:cNvSpPr txBox="1"/>
          <p:nvPr/>
        </p:nvSpPr>
        <p:spPr>
          <a:xfrm>
            <a:off x="9189720" y="5349240"/>
            <a:ext cx="2240280" cy="365760"/>
          </a:xfrm>
          <a:prstGeom prst="rect">
            <a:avLst/>
          </a:prstGeom>
          <a:noFill/>
        </p:spPr>
        <p:txBody>
          <a:bodyPr wrap="square" anchor="t" lIns="36576" rIns="36576" tIns="18288" bIns="18288">
            <a:spAutoFit/>
          </a:bodyPr>
          <a:lstStyle/>
          <a:p>
            <a:pPr algn="ctr"/>
            <a:r>
              <a:rPr sz="1600" b="0">
                <a:solidFill>
                  <a:srgbClr val="000000"/>
                </a:solidFill>
                <a:latin typeface="Source Sans 3"/>
              </a:rPr>
              <a:t>Measure 4</a:t>
            </a:r>
          </a:p>
        </p:txBody>
      </p:sp>
      <p:sp>
        <p:nvSpPr>
          <p:cNvPr id="60" name="TextBox 59"/>
          <p:cNvSpPr txBox="1"/>
          <p:nvPr/>
        </p:nvSpPr>
        <p:spPr>
          <a:xfrm>
            <a:off x="548640" y="5852160"/>
            <a:ext cx="11064240" cy="411480"/>
          </a:xfrm>
          <a:prstGeom prst="rect">
            <a:avLst/>
          </a:prstGeom>
          <a:noFill/>
        </p:spPr>
        <p:txBody>
          <a:bodyPr wrap="square" anchor="t" lIns="36576" rIns="36576" tIns="18288" bIns="18288">
            <a:spAutoFit/>
          </a:bodyPr>
          <a:lstStyle/>
          <a:p>
            <a:pPr algn="ctr"/>
            <a:r>
              <a:rPr sz="1800" b="0">
                <a:solidFill>
                  <a:srgbClr val="000000"/>
                </a:solidFill>
                <a:latin typeface="Source Sans 3"/>
              </a:rPr>
              <a:t>Teal: the chords you build (3 notes stacked). Black: the bassline in the file. Every chord’s root = the bass note.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5</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MIXING MOMENT: BALANCE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20</a:t>
            </a:r>
          </a:p>
        </p:txBody>
      </p:sp>
      <p:sp>
        <p:nvSpPr>
          <p:cNvPr id="10" name="Oval 9"/>
          <p:cNvSpPr/>
          <p:nvPr/>
        </p:nvSpPr>
        <p:spPr>
          <a:xfrm>
            <a:off x="548640" y="227685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03120"/>
            <a:ext cx="10698480" cy="772160"/>
          </a:xfrm>
          <a:prstGeom prst="rect">
            <a:avLst/>
          </a:prstGeom>
          <a:noFill/>
        </p:spPr>
        <p:txBody>
          <a:bodyPr wrap="square" anchor="t" lIns="36576" rIns="36576" tIns="18288" bIns="18288">
            <a:spAutoFit/>
          </a:bodyPr>
          <a:lstStyle/>
          <a:p>
            <a:pPr algn="l"/>
            <a:r>
              <a:rPr sz="3800" b="0">
                <a:solidFill>
                  <a:srgbClr val="000000"/>
                </a:solidFill>
                <a:latin typeface="Source Sans 3"/>
              </a:rPr>
              <a:t>Solo the chords, then the bass, then both</a:t>
            </a:r>
          </a:p>
        </p:txBody>
      </p:sp>
      <p:sp>
        <p:nvSpPr>
          <p:cNvPr id="12" name="Oval 11"/>
          <p:cNvSpPr/>
          <p:nvPr/>
        </p:nvSpPr>
        <p:spPr>
          <a:xfrm>
            <a:off x="548640" y="333857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164840"/>
            <a:ext cx="10698480" cy="772160"/>
          </a:xfrm>
          <a:prstGeom prst="rect">
            <a:avLst/>
          </a:prstGeom>
          <a:noFill/>
        </p:spPr>
        <p:txBody>
          <a:bodyPr wrap="square" anchor="t" lIns="36576" rIns="36576" tIns="18288" bIns="18288">
            <a:spAutoFit/>
          </a:bodyPr>
          <a:lstStyle/>
          <a:p>
            <a:pPr algn="l"/>
            <a:r>
              <a:rPr sz="3800" b="0">
                <a:solidFill>
                  <a:srgbClr val="000000"/>
                </a:solidFill>
                <a:latin typeface="Source Sans 3"/>
              </a:rPr>
              <a:t>Which one should the listener follow?</a:t>
            </a:r>
          </a:p>
        </p:txBody>
      </p:sp>
      <p:sp>
        <p:nvSpPr>
          <p:cNvPr id="14" name="Oval 13"/>
          <p:cNvSpPr/>
          <p:nvPr/>
        </p:nvSpPr>
        <p:spPr>
          <a:xfrm>
            <a:off x="548640" y="440029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226560"/>
            <a:ext cx="10698480" cy="772160"/>
          </a:xfrm>
          <a:prstGeom prst="rect">
            <a:avLst/>
          </a:prstGeom>
          <a:noFill/>
        </p:spPr>
        <p:txBody>
          <a:bodyPr wrap="square" anchor="t" lIns="36576" rIns="36576" tIns="18288" bIns="18288">
            <a:spAutoFit/>
          </a:bodyPr>
          <a:lstStyle/>
          <a:p>
            <a:pPr algn="l"/>
            <a:r>
              <a:rPr sz="3800" b="0">
                <a:solidFill>
                  <a:srgbClr val="000000"/>
                </a:solidFill>
                <a:latin typeface="Source Sans 3"/>
              </a:rPr>
              <a:t>Turn the chords down until the bass is clear</a:t>
            </a:r>
          </a:p>
        </p:txBody>
      </p:sp>
      <p:sp>
        <p:nvSpPr>
          <p:cNvPr id="16" name="Oval 15"/>
          <p:cNvSpPr/>
          <p:nvPr/>
        </p:nvSpPr>
        <p:spPr>
          <a:xfrm>
            <a:off x="548640" y="546201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5288280"/>
            <a:ext cx="10698480" cy="772160"/>
          </a:xfrm>
          <a:prstGeom prst="rect">
            <a:avLst/>
          </a:prstGeom>
          <a:noFill/>
        </p:spPr>
        <p:txBody>
          <a:bodyPr wrap="square" anchor="t" lIns="36576" rIns="36576" tIns="18288" bIns="18288">
            <a:spAutoFit/>
          </a:bodyPr>
          <a:lstStyle/>
          <a:p>
            <a:pPr algn="l"/>
            <a:r>
              <a:rPr sz="3800" b="0">
                <a:solidFill>
                  <a:srgbClr val="000000"/>
                </a:solidFill>
                <a:latin typeface="Source Sans 3"/>
              </a:rPr>
              <a:t>Turning down is a musical decision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5</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Chords by Ear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21</a:t>
            </a:r>
          </a:p>
        </p:txBody>
      </p:sp>
      <p:sp>
        <p:nvSpPr>
          <p:cNvPr id="10" name="Oval 9"/>
          <p:cNvSpPr/>
          <p:nvPr/>
        </p:nvSpPr>
        <p:spPr>
          <a:xfrm>
            <a:off x="548640" y="209397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10698480" cy="772160"/>
          </a:xfrm>
          <a:prstGeom prst="rect">
            <a:avLst/>
          </a:prstGeom>
          <a:noFill/>
        </p:spPr>
        <p:txBody>
          <a:bodyPr wrap="square" anchor="t" lIns="36576" rIns="36576" tIns="18288" bIns="18288">
            <a:spAutoFit/>
          </a:bodyPr>
          <a:lstStyle/>
          <a:p>
            <a:pPr algn="l"/>
            <a:r>
              <a:rPr sz="3800" b="0">
                <a:solidFill>
                  <a:srgbClr val="000000"/>
                </a:solidFill>
                <a:latin typeface="Source Sans 3"/>
              </a:rPr>
              <a:t>Point to your I chord.</a:t>
            </a:r>
          </a:p>
        </p:txBody>
      </p:sp>
      <p:sp>
        <p:nvSpPr>
          <p:cNvPr id="12" name="Oval 11"/>
          <p:cNvSpPr/>
          <p:nvPr/>
        </p:nvSpPr>
        <p:spPr>
          <a:xfrm>
            <a:off x="548640" y="281787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10698480" cy="772160"/>
          </a:xfrm>
          <a:prstGeom prst="rect">
            <a:avLst/>
          </a:prstGeom>
          <a:noFill/>
        </p:spPr>
        <p:txBody>
          <a:bodyPr wrap="square" anchor="t" lIns="36576" rIns="36576" tIns="18288" bIns="18288">
            <a:spAutoFit/>
          </a:bodyPr>
          <a:lstStyle/>
          <a:p>
            <a:pPr algn="l"/>
            <a:r>
              <a:rPr sz="3800" b="0">
                <a:solidFill>
                  <a:srgbClr val="000000"/>
                </a:solidFill>
                <a:latin typeface="Source Sans 3"/>
              </a:rPr>
              <a:t>Play it. Does it feel like home?</a:t>
            </a:r>
          </a:p>
        </p:txBody>
      </p:sp>
      <p:sp>
        <p:nvSpPr>
          <p:cNvPr id="14" name="Oval 13"/>
          <p:cNvSpPr/>
          <p:nvPr/>
        </p:nvSpPr>
        <p:spPr>
          <a:xfrm>
            <a:off x="548640" y="3541776"/>
            <a:ext cx="146304" cy="146304"/>
          </a:xfrm>
          <a:prstGeom prst="ellipse">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10698480" cy="772160"/>
          </a:xfrm>
          <a:prstGeom prst="rect">
            <a:avLst/>
          </a:prstGeom>
          <a:noFill/>
        </p:spPr>
        <p:txBody>
          <a:bodyPr wrap="square" anchor="t" lIns="36576" rIns="36576" tIns="18288" bIns="18288">
            <a:spAutoFit/>
          </a:bodyPr>
          <a:lstStyle/>
          <a:p>
            <a:pPr algn="l"/>
            <a:r>
              <a:rPr sz="3800" b="0">
                <a:solidFill>
                  <a:srgbClr val="000000"/>
                </a:solidFill>
                <a:latin typeface="Source Sans 3"/>
              </a:rPr>
              <a:t>That is the test.</a:t>
            </a:r>
          </a:p>
        </p:txBody>
      </p:sp>
      <p:pic>
        <p:nvPicPr>
          <p:cNvPr id="16" name="Picture 15" descr="deck-hero.png"/>
          <p:cNvPicPr>
            <a:picLocks noChangeAspect="1"/>
          </p:cNvPicPr>
          <p:nvPr/>
        </p:nvPicPr>
        <p:blipFill>
          <a:blip r:embed="rId2"/>
          <a:stretch>
            <a:fillRect/>
          </a:stretch>
        </p:blipFill>
        <p:spPr>
          <a:xfrm>
            <a:off x="3767328" y="4069080"/>
            <a:ext cx="4663440" cy="203118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Chords by Ear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