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minute. No audio is included in this deck. Open with my overview: build a band without the band. Use Logic’s Session Players, Drummer, Bass Player, and Keyboard Player, to create a realistic live-style arrangement. Customize their style, groove, and complexity, then add your own melody on top.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three questions aloud and take a few answers. Nothing is played from a speaker; describe one band and one song in two ways and let students imagine them. This sets up my goal that students adjust style, groove and complexity to create a realistic performance, and my teacher note that this project suits students who are less confident playing but have strong arrangement ideas.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overview and goals, shortened to fit the slide. Build a band without the band: use Logic's Session Players, Drummer, Bass Player and Keyboard Player, to create a realistic live-style arrangement, customize their style, groove and complexity, then add your own melody on top. My goals are to learn to use the Session Players, adjust style, groove and complexity to create a realistic performance, arrange a short piece with an intro, groove and ending, and add an original melody and mix for a polished final product.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project, from my pacing guide. Class 1: introduction, demo Session Players, and students set up and choose chord progressions. Class 2: customize the session players and begin arranging sections. Classes 3 to 5 are working days: arrange, add melody, refine. Class 6: final mix, bounce and prepare presentations. Class 7: presentations with Padlet Q and A peer feedback.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five steps of my project sheet, in order: set up, choose a chord progression, customize, arrange and add your melody. Then students mix and finalize, and present with Padlet feedback. Point to each box and say roughly when it happens: set up and chords today, customizing tomorrow, arranging and the melody on the working days. The step names are mine; the picture and its short labels are the kit's 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five vocabulary terms, shortened to fit the slide. Session Player: a Logic Pro virtual musician that generates realistic performances based on your settings. Groove: the rhythmic feel of a performance, how tight, loose or swinging it feels. Complexity: how busy or simple a session player's part is. Chord progression: a sequence of chords that provides the harmonic foundation of a piece. Arrangement: how different sections and instruments are organized across the timeline. The full definitions are on the vocabulary page.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and 2 of the project sheet, shortened to fit the slide. Step 1, set up: load Drummer, Bass Player, and Keyboard Player into your project. Step 2: choose a chord progression, borrow one from a song you like or create your own. The last two lines are the kit's own suggestions, not my steps: the Chord cheat sheet answers my fourth struggle, that chord progressions intimidate some students, and the Arrangement plan has a row for the chords. Demo loading all three players live.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A kit picture, not from my sheets: the four chords under the invented worked example, C, A minor, F and G, one chord for each bar, then repeat. The Roman numerals I, vi, IV and V are on the Chord cheat sheet in five keys. Ask students to say the chords aloud with you, one a bar, and then show them how to type the chords into the project. Nothing here is audio.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of the project sheet and tip 1, shortened to fit the slide. Customize: adjust each session player's style, groove, and complexity settings. My first tip: don't be afraid to change the instrument a session player is using, because it creates the notes and you choose the sound. My first struggle is students who leave everything on default, so push them to customize. The last line is the kit's own suggestion: the Players sheet is where they record what they set.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2. A kit picture of an invented piece: the same three Session Players in four sections, each with a different complexity from 1, simple, to 5, busy. The Keyboard Player is alone and simple in the intro, and the Drummer is at 5 in the B-section. Ask students which section would feel biggest and why. The scale from 1 to 5 is the kit's own, so that settings can be talked about; Logic shows them with its own controls. Nothing here is audio.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of the project sheet and my third struggle, shortened to fit the slide. Arrange: build an intro, main groove, and ending, and vary the energy between sections. My third struggle is students who don't vary sections, so the whole track sounds the same; show them how to change Drummer patterns and Bass complexity per section. The last line is the kit's own suggestion: the Arrangement plan is where they decide it on paper first.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the first working day after the settings. A kit picture of an invented piece: how busy the three players are in each of 24 bars. The intro is small, the groove is bigger, the B-section is the peak and the ending thins out. My tip 3 is to vary the complexity between sections so the intro feels different from the peak. Students can plan their own on the Arrangement plan.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An invented piece, Porch Light, described on paper; nothing here is audio. It is 24 bars at 96 BPM, which is 60 seconds, in four sections. Three Session Players come in and out with different complexity, there is a chord for every bar, and an original melody comes in at bar 9. The numbers, the settings and the weak and clear plans are on the worked example pages.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and tip 4, shortened to fit the slide. Add your melody: record or program an original melody over the top. My fourth tip: the melody is what makes this yours, so spend real time on it. My second struggle is that the melody is an afterthought, so dedicate this class to melody writing. The last line is the kit's own suggestion; the Melody planner lists the chord tones.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shortened to fit the slide: mix and finalize. Balance levels, apply EQ and effects, and bounce your track. The last line is the kit's own question for the Mix sheet: close your eyes and listen for the melody. Ask each student to play their intro and then their peak, and say what changed.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submission checklist from the project sheet, shortened to fit the slide. Show where students upload (your class page) and where the Padlet board is. The file name is Your Name, then Session Player's Studio. Check that every student has at least three Session Players with custom settings before they bounce.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rubric: five categories, each scored 1 to 5, for a total out of 25. Students score themselves first; the final grade is the average of their score and mine. The slide reads the 5 column of each category aloud. Hand out the rubric page so students can self-score before they present.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7, presentations with Padlet Q and A. Step 7 of the project sheet, shortened to fit the slide: create your own Padlet post with 3 questions you want classmates to answer, present to the class, and during classmates' presentations answer at least 2 of their 3 questions. The first two lines are the kit's own suggestions. Ask the class to name the chord progression before the presenter does.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my teacher note: this is a great project for students who are less confident with playing but have strong arrangement ideas. Ask a few students which player they changed the most. Tell them the next project starts from the menu. Reflection: point students to the Reflection page. A reflection is a written or oral conversation about how they did on the project and what they would do differently next time; they choose to write it or to talk it through with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2522164" y="896112"/>
            <a:ext cx="7147367" cy="2971800"/>
          </a:xfrm>
          <a:prstGeom prst="rect">
            <a:avLst/>
          </a:prstGeom>
        </p:spPr>
      </p:pic>
      <p:sp>
        <p:nvSpPr>
          <p:cNvPr id="4" name="TextBox 3"/>
          <p:cNvSpPr txBox="1"/>
          <p:nvPr/>
        </p:nvSpPr>
        <p:spPr>
          <a:xfrm>
            <a:off x="0" y="3931920"/>
            <a:ext cx="12191695" cy="1005840"/>
          </a:xfrm>
          <a:prstGeom prst="rect">
            <a:avLst/>
          </a:prstGeom>
          <a:noFill/>
        </p:spPr>
        <p:txBody>
          <a:bodyPr wrap="square" anchor="t" lIns="36576" rIns="36576" tIns="18288" bIns="18288">
            <a:spAutoFit/>
          </a:bodyPr>
          <a:lstStyle/>
          <a:p>
            <a:pPr algn="ctr"/>
            <a:r>
              <a:rPr sz="7200" b="1">
                <a:solidFill>
                  <a:srgbClr val="000000"/>
                </a:solidFill>
                <a:latin typeface="Oswald"/>
              </a:rPr>
              <a:t>SESSION PLAYER’S STUDIO</a:t>
            </a:r>
          </a:p>
        </p:txBody>
      </p:sp>
      <p:sp>
        <p:nvSpPr>
          <p:cNvPr id="5" name="TextBox 4"/>
          <p:cNvSpPr txBox="1"/>
          <p:nvPr/>
        </p:nvSpPr>
        <p:spPr>
          <a:xfrm>
            <a:off x="0" y="502920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Build a band without the band.</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2 · CLASS 1 · BUILD A BAND WITHOUT THE BAND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THINK: WHAT DOES A BAND DO?</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THINK, THEN SHARE</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D3E8EC"/>
                </a:solidFill>
                <a:latin typeface="Oswald"/>
              </a:rPr>
              <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describe a band playing the same slow song twice, first quietly and simply, then loud and busy. No audio is needed.</a:t>
            </a:r>
          </a:p>
        </p:txBody>
      </p:sp>
      <p:sp>
        <p:nvSpPr>
          <p:cNvPr id="14" name="Oval 13"/>
          <p:cNvSpPr/>
          <p:nvPr/>
        </p:nvSpPr>
        <p:spPr>
          <a:xfrm>
            <a:off x="548640" y="4069080"/>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did the drummer change?</a:t>
            </a:r>
          </a:p>
        </p:txBody>
      </p:sp>
      <p:sp>
        <p:nvSpPr>
          <p:cNvPr id="16" name="Oval 15"/>
          <p:cNvSpPr/>
          <p:nvPr/>
        </p:nvSpPr>
        <p:spPr>
          <a:xfrm>
            <a:off x="548640" y="4678680"/>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stayed the same?</a:t>
            </a:r>
          </a:p>
        </p:txBody>
      </p:sp>
      <p:sp>
        <p:nvSpPr>
          <p:cNvPr id="18" name="Oval 17"/>
          <p:cNvSpPr/>
          <p:nvPr/>
        </p:nvSpPr>
        <p:spPr>
          <a:xfrm>
            <a:off x="548640" y="5288280"/>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Who wrote the melody?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IS SESSION PLAYER’S STUDIO?</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Oval 9"/>
          <p:cNvSpPr/>
          <p:nvPr/>
        </p:nvSpPr>
        <p:spPr>
          <a:xfrm>
            <a:off x="548640" y="216712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Build a band without the band</a:t>
            </a:r>
          </a:p>
        </p:txBody>
      </p:sp>
      <p:sp>
        <p:nvSpPr>
          <p:cNvPr id="12" name="Oval 11"/>
          <p:cNvSpPr/>
          <p:nvPr/>
        </p:nvSpPr>
        <p:spPr>
          <a:xfrm>
            <a:off x="548640" y="311708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Drummer, Bass Player and Keyboard Player</a:t>
            </a:r>
          </a:p>
        </p:txBody>
      </p:sp>
      <p:sp>
        <p:nvSpPr>
          <p:cNvPr id="14" name="Oval 13"/>
          <p:cNvSpPr/>
          <p:nvPr/>
        </p:nvSpPr>
        <p:spPr>
          <a:xfrm>
            <a:off x="548640" y="406704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Customize style, groove and complexity</a:t>
            </a:r>
          </a:p>
        </p:txBody>
      </p:sp>
      <p:sp>
        <p:nvSpPr>
          <p:cNvPr id="16" name="Oval 15"/>
          <p:cNvSpPr/>
          <p:nvPr/>
        </p:nvSpPr>
        <p:spPr>
          <a:xfrm>
            <a:off x="548640" y="501700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Add your own melody on top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SEVEN CLASSES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10512"/>
            <a:ext cx="1554480" cy="523820"/>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1</a:t>
            </a:r>
          </a:p>
        </p:txBody>
      </p:sp>
      <p:sp>
        <p:nvSpPr>
          <p:cNvPr id="12" name="TextBox 11"/>
          <p:cNvSpPr txBox="1"/>
          <p:nvPr/>
        </p:nvSpPr>
        <p:spPr>
          <a:xfrm>
            <a:off x="2286000" y="1810512"/>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Build a band · five steps · five words · set up and choose chords</a:t>
            </a:r>
          </a:p>
        </p:txBody>
      </p:sp>
      <p:sp>
        <p:nvSpPr>
          <p:cNvPr id="13" name="Rounded Rectangle 12"/>
          <p:cNvSpPr/>
          <p:nvPr/>
        </p:nvSpPr>
        <p:spPr>
          <a:xfrm>
            <a:off x="548640" y="2444060"/>
            <a:ext cx="1554480" cy="523820"/>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44060"/>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2</a:t>
            </a:r>
          </a:p>
        </p:txBody>
      </p:sp>
      <p:sp>
        <p:nvSpPr>
          <p:cNvPr id="15" name="TextBox 14"/>
          <p:cNvSpPr txBox="1"/>
          <p:nvPr/>
        </p:nvSpPr>
        <p:spPr>
          <a:xfrm>
            <a:off x="2286000" y="2444060"/>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Customize style, groove and complexity</a:t>
            </a:r>
          </a:p>
        </p:txBody>
      </p:sp>
      <p:sp>
        <p:nvSpPr>
          <p:cNvPr id="16" name="Rounded Rectangle 15"/>
          <p:cNvSpPr/>
          <p:nvPr/>
        </p:nvSpPr>
        <p:spPr>
          <a:xfrm>
            <a:off x="548640" y="3077609"/>
            <a:ext cx="1554480" cy="523820"/>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77609"/>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3</a:t>
            </a:r>
          </a:p>
        </p:txBody>
      </p:sp>
      <p:sp>
        <p:nvSpPr>
          <p:cNvPr id="18" name="TextBox 17"/>
          <p:cNvSpPr txBox="1"/>
          <p:nvPr/>
        </p:nvSpPr>
        <p:spPr>
          <a:xfrm>
            <a:off x="2286000" y="3077609"/>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arrange, energy, worked example</a:t>
            </a:r>
          </a:p>
        </p:txBody>
      </p:sp>
      <p:sp>
        <p:nvSpPr>
          <p:cNvPr id="19" name="Rounded Rectangle 18"/>
          <p:cNvSpPr/>
          <p:nvPr/>
        </p:nvSpPr>
        <p:spPr>
          <a:xfrm>
            <a:off x="548640" y="3711157"/>
            <a:ext cx="1554480" cy="523820"/>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711157"/>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4</a:t>
            </a:r>
          </a:p>
        </p:txBody>
      </p:sp>
      <p:sp>
        <p:nvSpPr>
          <p:cNvPr id="21" name="TextBox 20"/>
          <p:cNvSpPr txBox="1"/>
          <p:nvPr/>
        </p:nvSpPr>
        <p:spPr>
          <a:xfrm>
            <a:off x="2286000" y="3711157"/>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add your melody</a:t>
            </a:r>
          </a:p>
        </p:txBody>
      </p:sp>
      <p:sp>
        <p:nvSpPr>
          <p:cNvPr id="22" name="Rounded Rectangle 21"/>
          <p:cNvSpPr/>
          <p:nvPr/>
        </p:nvSpPr>
        <p:spPr>
          <a:xfrm>
            <a:off x="548640" y="4344706"/>
            <a:ext cx="1554480" cy="523820"/>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344706"/>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5</a:t>
            </a:r>
          </a:p>
        </p:txBody>
      </p:sp>
      <p:sp>
        <p:nvSpPr>
          <p:cNvPr id="24" name="TextBox 23"/>
          <p:cNvSpPr txBox="1"/>
          <p:nvPr/>
        </p:nvSpPr>
        <p:spPr>
          <a:xfrm>
            <a:off x="2286000" y="4344706"/>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refine and mix</a:t>
            </a:r>
          </a:p>
        </p:txBody>
      </p:sp>
      <p:sp>
        <p:nvSpPr>
          <p:cNvPr id="25" name="Rounded Rectangle 24"/>
          <p:cNvSpPr/>
          <p:nvPr/>
        </p:nvSpPr>
        <p:spPr>
          <a:xfrm>
            <a:off x="548640" y="4978254"/>
            <a:ext cx="1554480" cy="523820"/>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978254"/>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6</a:t>
            </a:r>
          </a:p>
        </p:txBody>
      </p:sp>
      <p:sp>
        <p:nvSpPr>
          <p:cNvPr id="27" name="TextBox 26"/>
          <p:cNvSpPr txBox="1"/>
          <p:nvPr/>
        </p:nvSpPr>
        <p:spPr>
          <a:xfrm>
            <a:off x="2286000" y="4978254"/>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Checklist · rubric</a:t>
            </a:r>
          </a:p>
        </p:txBody>
      </p:sp>
      <p:sp>
        <p:nvSpPr>
          <p:cNvPr id="28" name="Rounded Rectangle 27"/>
          <p:cNvSpPr/>
          <p:nvPr/>
        </p:nvSpPr>
        <p:spPr>
          <a:xfrm>
            <a:off x="548640" y="5611803"/>
            <a:ext cx="1554480" cy="523820"/>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611803"/>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7</a:t>
            </a:r>
          </a:p>
        </p:txBody>
      </p:sp>
      <p:sp>
        <p:nvSpPr>
          <p:cNvPr id="30" name="TextBox 29"/>
          <p:cNvSpPr txBox="1"/>
          <p:nvPr/>
        </p:nvSpPr>
        <p:spPr>
          <a:xfrm>
            <a:off x="2286000" y="5611803"/>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Presentations with Padlet Q&amp;A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FIVE STEPS, THEN FINISH</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pic>
        <p:nvPicPr>
          <p:cNvPr id="10" name="Picture 9" descr="deck-cycle.png"/>
          <p:cNvPicPr>
            <a:picLocks noChangeAspect="1"/>
          </p:cNvPicPr>
          <p:nvPr/>
        </p:nvPicPr>
        <p:blipFill>
          <a:blip r:embed="rId2"/>
          <a:stretch>
            <a:fillRect/>
          </a:stretch>
        </p:blipFill>
        <p:spPr>
          <a:xfrm>
            <a:off x="548640" y="1810512"/>
            <a:ext cx="11091672" cy="1830126"/>
          </a:xfrm>
          <a:prstGeom prst="rect">
            <a:avLst/>
          </a:prstGeom>
        </p:spPr>
      </p:pic>
      <p:sp>
        <p:nvSpPr>
          <p:cNvPr id="11" name="Oval 10"/>
          <p:cNvSpPr/>
          <p:nvPr/>
        </p:nvSpPr>
        <p:spPr>
          <a:xfrm>
            <a:off x="548640" y="495604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Load three Session Players</a:t>
            </a:r>
          </a:p>
        </p:txBody>
      </p:sp>
      <p:sp>
        <p:nvSpPr>
          <p:cNvPr id="13" name="Oval 12"/>
          <p:cNvSpPr/>
          <p:nvPr/>
        </p:nvSpPr>
        <p:spPr>
          <a:xfrm>
            <a:off x="6190488" y="495604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Choose a chord progression</a:t>
            </a:r>
          </a:p>
        </p:txBody>
      </p:sp>
      <p:sp>
        <p:nvSpPr>
          <p:cNvPr id="15" name="Oval 14"/>
          <p:cNvSpPr/>
          <p:nvPr/>
        </p:nvSpPr>
        <p:spPr>
          <a:xfrm>
            <a:off x="548640" y="564184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Customize, then arrange</a:t>
            </a:r>
          </a:p>
        </p:txBody>
      </p:sp>
      <p:sp>
        <p:nvSpPr>
          <p:cNvPr id="17" name="Oval 16"/>
          <p:cNvSpPr/>
          <p:nvPr/>
        </p:nvSpPr>
        <p:spPr>
          <a:xfrm>
            <a:off x="6190488" y="564184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Add your melody, mix, present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FIVE WORDS TO KNOW</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10" name="Oval 9"/>
          <p:cNvSpPr/>
          <p:nvPr/>
        </p:nvSpPr>
        <p:spPr>
          <a:xfrm>
            <a:off x="548640" y="2148840"/>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Session Player: a virtual musician that plays for you</a:t>
            </a:r>
          </a:p>
        </p:txBody>
      </p:sp>
      <p:sp>
        <p:nvSpPr>
          <p:cNvPr id="12" name="Oval 11"/>
          <p:cNvSpPr/>
          <p:nvPr/>
        </p:nvSpPr>
        <p:spPr>
          <a:xfrm>
            <a:off x="548640" y="2872740"/>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7355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Groove: how tight, loose or swinging it feels</a:t>
            </a:r>
          </a:p>
        </p:txBody>
      </p:sp>
      <p:sp>
        <p:nvSpPr>
          <p:cNvPr id="14" name="Oval 13"/>
          <p:cNvSpPr/>
          <p:nvPr/>
        </p:nvSpPr>
        <p:spPr>
          <a:xfrm>
            <a:off x="548640" y="3596640"/>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4594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Complexity: how busy or simple a part is</a:t>
            </a:r>
          </a:p>
        </p:txBody>
      </p:sp>
      <p:sp>
        <p:nvSpPr>
          <p:cNvPr id="16" name="Oval 15"/>
          <p:cNvSpPr/>
          <p:nvPr/>
        </p:nvSpPr>
        <p:spPr>
          <a:xfrm>
            <a:off x="548640" y="4320540"/>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1833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Chord progression: the chords under a piece</a:t>
            </a:r>
          </a:p>
        </p:txBody>
      </p:sp>
      <p:sp>
        <p:nvSpPr>
          <p:cNvPr id="18" name="Oval 17"/>
          <p:cNvSpPr/>
          <p:nvPr/>
        </p:nvSpPr>
        <p:spPr>
          <a:xfrm>
            <a:off x="548640" y="5044440"/>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9072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Arrangement: how sections and instruments are laid out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1 AND 2: SET UP, CHOOSE CHORDS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Load Drummer, Bass Player and Keyboard Player</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Borrow a chord progression or make your own</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Stuck? Start from the Chord cheat sheet</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Write your chords on the Arrangement plan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A FOUR-BAR CHORD LOOP</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pic>
        <p:nvPicPr>
          <p:cNvPr id="10" name="Picture 9" descr="deck-chords.png"/>
          <p:cNvPicPr>
            <a:picLocks noChangeAspect="1"/>
          </p:cNvPicPr>
          <p:nvPr/>
        </p:nvPicPr>
        <p:blipFill>
          <a:blip r:embed="rId2"/>
          <a:stretch>
            <a:fillRect/>
          </a:stretch>
        </p:blipFill>
        <p:spPr>
          <a:xfrm>
            <a:off x="548640" y="1810512"/>
            <a:ext cx="11091672" cy="2018684"/>
          </a:xfrm>
          <a:prstGeom prst="rect">
            <a:avLst/>
          </a:prstGeom>
        </p:spPr>
      </p:pic>
      <p:sp>
        <p:nvSpPr>
          <p:cNvPr id="11" name="Oval 10"/>
          <p:cNvSpPr/>
          <p:nvPr/>
        </p:nvSpPr>
        <p:spPr>
          <a:xfrm>
            <a:off x="548640" y="495604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An invented loop, on paper</a:t>
            </a:r>
          </a:p>
        </p:txBody>
      </p:sp>
      <p:sp>
        <p:nvSpPr>
          <p:cNvPr id="13" name="Oval 12"/>
          <p:cNvSpPr/>
          <p:nvPr/>
        </p:nvSpPr>
        <p:spPr>
          <a:xfrm>
            <a:off x="6190488" y="495604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One chord for each bar</a:t>
            </a:r>
          </a:p>
        </p:txBody>
      </p:sp>
      <p:sp>
        <p:nvSpPr>
          <p:cNvPr id="15" name="Oval 14"/>
          <p:cNvSpPr/>
          <p:nvPr/>
        </p:nvSpPr>
        <p:spPr>
          <a:xfrm>
            <a:off x="548640" y="564184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Repeat it under every section</a:t>
            </a:r>
          </a:p>
        </p:txBody>
      </p:sp>
      <p:sp>
        <p:nvSpPr>
          <p:cNvPr id="17" name="Oval 16"/>
          <p:cNvSpPr/>
          <p:nvPr/>
        </p:nvSpPr>
        <p:spPr>
          <a:xfrm>
            <a:off x="6190488" y="564184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Change it in the B-section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 3: CUSTOMIZE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Adjust each player’s style, groove and complexity</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You can change the instrument a player uses</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The player makes the notes; you choose the sound</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Write your settings on the Players sheet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SAME PLAYERS, DIFFERENT SETTINGS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pic>
        <p:nvPicPr>
          <p:cNvPr id="10" name="Picture 9" descr="deck-settings.png"/>
          <p:cNvPicPr>
            <a:picLocks noChangeAspect="1"/>
          </p:cNvPicPr>
          <p:nvPr/>
        </p:nvPicPr>
        <p:blipFill>
          <a:blip r:embed="rId2"/>
          <a:stretch>
            <a:fillRect/>
          </a:stretch>
        </p:blipFill>
        <p:spPr>
          <a:xfrm>
            <a:off x="744263" y="1810512"/>
            <a:ext cx="10700425" cy="3017520"/>
          </a:xfrm>
          <a:prstGeom prst="rect">
            <a:avLst/>
          </a:prstGeom>
        </p:spPr>
      </p:pic>
      <p:sp>
        <p:nvSpPr>
          <p:cNvPr id="11" name="Oval 10"/>
          <p:cNvSpPr/>
          <p:nvPr/>
        </p:nvSpPr>
        <p:spPr>
          <a:xfrm>
            <a:off x="548640" y="5212079"/>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Same players in every section</a:t>
            </a:r>
          </a:p>
        </p:txBody>
      </p:sp>
      <p:sp>
        <p:nvSpPr>
          <p:cNvPr id="13" name="Oval 12"/>
          <p:cNvSpPr/>
          <p:nvPr/>
        </p:nvSpPr>
        <p:spPr>
          <a:xfrm>
            <a:off x="6190488" y="5212079"/>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The settings are what change</a:t>
            </a:r>
          </a:p>
        </p:txBody>
      </p:sp>
      <p:sp>
        <p:nvSpPr>
          <p:cNvPr id="15" name="Oval 14"/>
          <p:cNvSpPr/>
          <p:nvPr/>
        </p:nvSpPr>
        <p:spPr>
          <a:xfrm>
            <a:off x="548640" y="5897879"/>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Keys are simple in the intro</a:t>
            </a:r>
          </a:p>
        </p:txBody>
      </p:sp>
      <p:sp>
        <p:nvSpPr>
          <p:cNvPr id="17" name="Oval 16"/>
          <p:cNvSpPr/>
          <p:nvPr/>
        </p:nvSpPr>
        <p:spPr>
          <a:xfrm>
            <a:off x="6190488" y="5897879"/>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The B-section is the busiest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 4: ARRANGE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Build an intro, main groove and ending</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Vary the energy between sections</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Change Drummer patterns and Bass complexity per section</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Plan it on the Arrangement plan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ENERGY OVER ONE MINUTE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pic>
        <p:nvPicPr>
          <p:cNvPr id="10" name="Picture 9" descr="deck-arc.png"/>
          <p:cNvPicPr>
            <a:picLocks noChangeAspect="1"/>
          </p:cNvPicPr>
          <p:nvPr/>
        </p:nvPicPr>
        <p:blipFill>
          <a:blip r:embed="rId2"/>
          <a:stretch>
            <a:fillRect/>
          </a:stretch>
        </p:blipFill>
        <p:spPr>
          <a:xfrm>
            <a:off x="1408885" y="1810512"/>
            <a:ext cx="9371180" cy="3017520"/>
          </a:xfrm>
          <a:prstGeom prst="rect">
            <a:avLst/>
          </a:prstGeom>
        </p:spPr>
      </p:pic>
      <p:sp>
        <p:nvSpPr>
          <p:cNvPr id="11" name="Oval 10"/>
          <p:cNvSpPr/>
          <p:nvPr/>
        </p:nvSpPr>
        <p:spPr>
          <a:xfrm>
            <a:off x="548640" y="5212079"/>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An invented piece, on paper</a:t>
            </a:r>
          </a:p>
        </p:txBody>
      </p:sp>
      <p:sp>
        <p:nvSpPr>
          <p:cNvPr id="13" name="Oval 12"/>
          <p:cNvSpPr/>
          <p:nvPr/>
        </p:nvSpPr>
        <p:spPr>
          <a:xfrm>
            <a:off x="6190488" y="5212079"/>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Small intro, bigger groove</a:t>
            </a:r>
          </a:p>
        </p:txBody>
      </p:sp>
      <p:sp>
        <p:nvSpPr>
          <p:cNvPr id="15" name="Oval 14"/>
          <p:cNvSpPr/>
          <p:nvPr/>
        </p:nvSpPr>
        <p:spPr>
          <a:xfrm>
            <a:off x="548640" y="5897879"/>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The B-section is the peak</a:t>
            </a:r>
          </a:p>
        </p:txBody>
      </p:sp>
      <p:sp>
        <p:nvSpPr>
          <p:cNvPr id="17" name="Oval 16"/>
          <p:cNvSpPr/>
          <p:nvPr/>
        </p:nvSpPr>
        <p:spPr>
          <a:xfrm>
            <a:off x="6190488" y="5897879"/>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The ending thins out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60 SECONDS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pic>
        <p:nvPicPr>
          <p:cNvPr id="10" name="Picture 9" descr="deck-arrange.png"/>
          <p:cNvPicPr>
            <a:picLocks noChangeAspect="1"/>
          </p:cNvPicPr>
          <p:nvPr/>
        </p:nvPicPr>
        <p:blipFill>
          <a:blip r:embed="rId2"/>
          <a:stretch>
            <a:fillRect/>
          </a:stretch>
        </p:blipFill>
        <p:spPr>
          <a:xfrm>
            <a:off x="548640" y="1810512"/>
            <a:ext cx="11091672" cy="2883835"/>
          </a:xfrm>
          <a:prstGeom prst="rect">
            <a:avLst/>
          </a:prstGeom>
        </p:spPr>
      </p:pic>
      <p:sp>
        <p:nvSpPr>
          <p:cNvPr id="11" name="Oval 10"/>
          <p:cNvSpPr/>
          <p:nvPr/>
        </p:nvSpPr>
        <p:spPr>
          <a:xfrm>
            <a:off x="548640" y="5078394"/>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968666"/>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An invented 60-second piece</a:t>
            </a:r>
          </a:p>
        </p:txBody>
      </p:sp>
      <p:sp>
        <p:nvSpPr>
          <p:cNvPr id="13" name="Oval 12"/>
          <p:cNvSpPr/>
          <p:nvPr/>
        </p:nvSpPr>
        <p:spPr>
          <a:xfrm>
            <a:off x="6190488" y="5078394"/>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968666"/>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Four sections you can name</a:t>
            </a:r>
          </a:p>
        </p:txBody>
      </p:sp>
      <p:sp>
        <p:nvSpPr>
          <p:cNvPr id="15" name="Oval 14"/>
          <p:cNvSpPr/>
          <p:nvPr/>
        </p:nvSpPr>
        <p:spPr>
          <a:xfrm>
            <a:off x="548640" y="5764194"/>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654466"/>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 chord for every bar</a:t>
            </a:r>
          </a:p>
        </p:txBody>
      </p:sp>
      <p:sp>
        <p:nvSpPr>
          <p:cNvPr id="17" name="Oval 16"/>
          <p:cNvSpPr/>
          <p:nvPr/>
        </p:nvSpPr>
        <p:spPr>
          <a:xfrm>
            <a:off x="6190488" y="5764194"/>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654466"/>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Your melody sits on top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 5: ADD YOUR MELODY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10" name="Oval 9"/>
          <p:cNvSpPr/>
          <p:nvPr/>
        </p:nvSpPr>
        <p:spPr>
          <a:xfrm>
            <a:off x="548640" y="216712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Record or program an original melody</a:t>
            </a:r>
          </a:p>
        </p:txBody>
      </p:sp>
      <p:sp>
        <p:nvSpPr>
          <p:cNvPr id="12" name="Oval 11"/>
          <p:cNvSpPr/>
          <p:nvPr/>
        </p:nvSpPr>
        <p:spPr>
          <a:xfrm>
            <a:off x="548640" y="311708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The melody is what makes this yours</a:t>
            </a:r>
          </a:p>
        </p:txBody>
      </p:sp>
      <p:sp>
        <p:nvSpPr>
          <p:cNvPr id="14" name="Oval 13"/>
          <p:cNvSpPr/>
          <p:nvPr/>
        </p:nvSpPr>
        <p:spPr>
          <a:xfrm>
            <a:off x="548640" y="406704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Spend real time on it</a:t>
            </a:r>
          </a:p>
        </p:txBody>
      </p:sp>
      <p:sp>
        <p:nvSpPr>
          <p:cNvPr id="16" name="Oval 15"/>
          <p:cNvSpPr/>
          <p:nvPr/>
        </p:nvSpPr>
        <p:spPr>
          <a:xfrm>
            <a:off x="548640" y="501700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Use chord tones on the strong beats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5</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 6: MIX AND FINALIZE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Oval 9"/>
          <p:cNvSpPr/>
          <p:nvPr/>
        </p:nvSpPr>
        <p:spPr>
          <a:xfrm>
            <a:off x="548640" y="216712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Balance levels</a:t>
            </a:r>
          </a:p>
        </p:txBody>
      </p:sp>
      <p:sp>
        <p:nvSpPr>
          <p:cNvPr id="12" name="Oval 11"/>
          <p:cNvSpPr/>
          <p:nvPr/>
        </p:nvSpPr>
        <p:spPr>
          <a:xfrm>
            <a:off x="548640" y="311708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Apply EQ and effects</a:t>
            </a:r>
          </a:p>
        </p:txBody>
      </p:sp>
      <p:sp>
        <p:nvSpPr>
          <p:cNvPr id="14" name="Oval 13"/>
          <p:cNvSpPr/>
          <p:nvPr/>
        </p:nvSpPr>
        <p:spPr>
          <a:xfrm>
            <a:off x="548640" y="406704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Bounce your track</a:t>
            </a:r>
          </a:p>
        </p:txBody>
      </p:sp>
      <p:sp>
        <p:nvSpPr>
          <p:cNvPr id="16" name="Oval 15"/>
          <p:cNvSpPr/>
          <p:nvPr/>
        </p:nvSpPr>
        <p:spPr>
          <a:xfrm>
            <a:off x="548640" y="501700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Can you hear your melody over the band?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Rounded Rectangle 9"/>
          <p:cNvSpPr/>
          <p:nvPr/>
        </p:nvSpPr>
        <p:spPr>
          <a:xfrm>
            <a:off x="54864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Bounced .mp3 or .wav</a:t>
            </a:r>
          </a:p>
        </p:txBody>
      </p:sp>
      <p:sp>
        <p:nvSpPr>
          <p:cNvPr id="12" name="Rounded Rectangle 11"/>
          <p:cNvSpPr/>
          <p:nvPr/>
        </p:nvSpPr>
        <p:spPr>
          <a:xfrm>
            <a:off x="617220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Zipped .logicx project</a:t>
            </a:r>
          </a:p>
        </p:txBody>
      </p:sp>
      <p:sp>
        <p:nvSpPr>
          <p:cNvPr id="14" name="Rounded Rectangle 13"/>
          <p:cNvSpPr/>
          <p:nvPr/>
        </p:nvSpPr>
        <p:spPr>
          <a:xfrm>
            <a:off x="54864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Named: Your Name – Session Player’s Studio</a:t>
            </a:r>
          </a:p>
        </p:txBody>
      </p:sp>
      <p:sp>
        <p:nvSpPr>
          <p:cNvPr id="16" name="Rounded Rectangle 15"/>
          <p:cNvSpPr/>
          <p:nvPr/>
        </p:nvSpPr>
        <p:spPr>
          <a:xfrm>
            <a:off x="617220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At least 3 Session Players with custom settings</a:t>
            </a:r>
          </a:p>
        </p:txBody>
      </p:sp>
      <p:sp>
        <p:nvSpPr>
          <p:cNvPr id="18" name="Rounded Rectangle 17"/>
          <p:cNvSpPr/>
          <p:nvPr/>
        </p:nvSpPr>
        <p:spPr>
          <a:xfrm>
            <a:off x="54864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Padlet post with 3 questions</a:t>
            </a:r>
          </a:p>
        </p:txBody>
      </p:sp>
      <p:sp>
        <p:nvSpPr>
          <p:cNvPr id="20" name="Rounded Rectangle 19"/>
          <p:cNvSpPr/>
          <p:nvPr/>
        </p:nvSpPr>
        <p:spPr>
          <a:xfrm>
            <a:off x="617220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Answer 2 questions on classmates’ posts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sp>
        <p:nvSpPr>
          <p:cNvPr id="10" name="Rounded Rectangle 9"/>
          <p:cNvSpPr/>
          <p:nvPr/>
        </p:nvSpPr>
        <p:spPr>
          <a:xfrm>
            <a:off x="548640" y="181051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1051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CREATIVITY &amp; ORIGINALITY</a:t>
            </a:r>
          </a:p>
        </p:txBody>
      </p:sp>
      <p:sp>
        <p:nvSpPr>
          <p:cNvPr id="12" name="TextBox 11"/>
          <p:cNvSpPr txBox="1"/>
          <p:nvPr/>
        </p:nvSpPr>
        <p:spPr>
          <a:xfrm>
            <a:off x="4572000" y="181051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creativity; innovative, bold, and expressive</a:t>
            </a:r>
          </a:p>
        </p:txBody>
      </p:sp>
      <p:sp>
        <p:nvSpPr>
          <p:cNvPr id="13" name="TextBox 12"/>
          <p:cNvSpPr txBox="1"/>
          <p:nvPr/>
        </p:nvSpPr>
        <p:spPr>
          <a:xfrm>
            <a:off x="10744200" y="1810512"/>
            <a:ext cx="896112" cy="713232"/>
          </a:xfrm>
          <a:prstGeom prst="rect">
            <a:avLst/>
          </a:prstGeom>
          <a:noFill/>
        </p:spPr>
        <p:txBody>
          <a:bodyPr wrap="square" anchor="ctr" lIns="36576" rIns="36576" tIns="18288" bIns="18288">
            <a:spAutoFit/>
          </a:bodyPr>
          <a:lstStyle/>
          <a:p>
            <a:pPr algn="r"/>
            <a:r>
              <a:rPr sz="2400" b="1">
                <a:solidFill>
                  <a:srgbClr val="1F7A8C"/>
                </a:solidFill>
                <a:latin typeface="Oswald"/>
              </a:rPr>
              <a:t>/ 5</a:t>
            </a:r>
          </a:p>
        </p:txBody>
      </p:sp>
      <p:sp>
        <p:nvSpPr>
          <p:cNvPr id="14" name="Rounded Rectangle 13"/>
          <p:cNvSpPr/>
          <p:nvPr/>
        </p:nvSpPr>
        <p:spPr>
          <a:xfrm>
            <a:off x="548640" y="263347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3347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TECHNICAL SKILL / DAW USE</a:t>
            </a:r>
          </a:p>
        </p:txBody>
      </p:sp>
      <p:sp>
        <p:nvSpPr>
          <p:cNvPr id="16" name="TextBox 15"/>
          <p:cNvSpPr txBox="1"/>
          <p:nvPr/>
        </p:nvSpPr>
        <p:spPr>
          <a:xfrm>
            <a:off x="4572000" y="263347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Expert-level command of multiple Logic systems</a:t>
            </a:r>
          </a:p>
        </p:txBody>
      </p:sp>
      <p:sp>
        <p:nvSpPr>
          <p:cNvPr id="17" name="TextBox 16"/>
          <p:cNvSpPr txBox="1"/>
          <p:nvPr/>
        </p:nvSpPr>
        <p:spPr>
          <a:xfrm>
            <a:off x="10744200" y="2633472"/>
            <a:ext cx="896112" cy="713232"/>
          </a:xfrm>
          <a:prstGeom prst="rect">
            <a:avLst/>
          </a:prstGeom>
          <a:noFill/>
        </p:spPr>
        <p:txBody>
          <a:bodyPr wrap="square" anchor="ctr" lIns="36576" rIns="36576" tIns="18288" bIns="18288">
            <a:spAutoFit/>
          </a:bodyPr>
          <a:lstStyle/>
          <a:p>
            <a:pPr algn="r"/>
            <a:r>
              <a:rPr sz="2400" b="1">
                <a:solidFill>
                  <a:srgbClr val="1F7A8C"/>
                </a:solidFill>
                <a:latin typeface="Oswald"/>
              </a:rPr>
              <a:t>/ 5</a:t>
            </a:r>
          </a:p>
        </p:txBody>
      </p:sp>
      <p:sp>
        <p:nvSpPr>
          <p:cNvPr id="18" name="Rounded Rectangle 17"/>
          <p:cNvSpPr/>
          <p:nvPr/>
        </p:nvSpPr>
        <p:spPr>
          <a:xfrm>
            <a:off x="548640" y="345643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45643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COMPOSITION &amp; STRUCTURE</a:t>
            </a:r>
          </a:p>
        </p:txBody>
      </p:sp>
      <p:sp>
        <p:nvSpPr>
          <p:cNvPr id="20" name="TextBox 19"/>
          <p:cNvSpPr txBox="1"/>
          <p:nvPr/>
        </p:nvSpPr>
        <p:spPr>
          <a:xfrm>
            <a:off x="4572000" y="345643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Professional pacing, flow, and musical arc</a:t>
            </a:r>
          </a:p>
        </p:txBody>
      </p:sp>
      <p:sp>
        <p:nvSpPr>
          <p:cNvPr id="21" name="TextBox 20"/>
          <p:cNvSpPr txBox="1"/>
          <p:nvPr/>
        </p:nvSpPr>
        <p:spPr>
          <a:xfrm>
            <a:off x="10744200" y="3456432"/>
            <a:ext cx="896112" cy="713232"/>
          </a:xfrm>
          <a:prstGeom prst="rect">
            <a:avLst/>
          </a:prstGeom>
          <a:noFill/>
        </p:spPr>
        <p:txBody>
          <a:bodyPr wrap="square" anchor="ctr" lIns="36576" rIns="36576" tIns="18288" bIns="18288">
            <a:spAutoFit/>
          </a:bodyPr>
          <a:lstStyle/>
          <a:p>
            <a:pPr algn="r"/>
            <a:r>
              <a:rPr sz="2400" b="1">
                <a:solidFill>
                  <a:srgbClr val="1F7A8C"/>
                </a:solidFill>
                <a:latin typeface="Oswald"/>
              </a:rPr>
              <a:t>/ 5</a:t>
            </a:r>
          </a:p>
        </p:txBody>
      </p:sp>
      <p:sp>
        <p:nvSpPr>
          <p:cNvPr id="22" name="Rounded Rectangle 21"/>
          <p:cNvSpPr/>
          <p:nvPr/>
        </p:nvSpPr>
        <p:spPr>
          <a:xfrm>
            <a:off x="548640" y="427939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7939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SOUND DESIGN &amp; MIX QUALITY</a:t>
            </a:r>
          </a:p>
        </p:txBody>
      </p:sp>
      <p:sp>
        <p:nvSpPr>
          <p:cNvPr id="24" name="TextBox 23"/>
          <p:cNvSpPr txBox="1"/>
          <p:nvPr/>
        </p:nvSpPr>
        <p:spPr>
          <a:xfrm>
            <a:off x="4572000" y="427939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sound design; professional-quality mix</a:t>
            </a:r>
          </a:p>
        </p:txBody>
      </p:sp>
      <p:sp>
        <p:nvSpPr>
          <p:cNvPr id="25" name="TextBox 24"/>
          <p:cNvSpPr txBox="1"/>
          <p:nvPr/>
        </p:nvSpPr>
        <p:spPr>
          <a:xfrm>
            <a:off x="10744200" y="4279392"/>
            <a:ext cx="896112" cy="713232"/>
          </a:xfrm>
          <a:prstGeom prst="rect">
            <a:avLst/>
          </a:prstGeom>
          <a:noFill/>
        </p:spPr>
        <p:txBody>
          <a:bodyPr wrap="square" anchor="ctr" lIns="36576" rIns="36576" tIns="18288" bIns="18288">
            <a:spAutoFit/>
          </a:bodyPr>
          <a:lstStyle/>
          <a:p>
            <a:pPr algn="r"/>
            <a:r>
              <a:rPr sz="2400" b="1">
                <a:solidFill>
                  <a:srgbClr val="1F7A8C"/>
                </a:solidFill>
                <a:latin typeface="Oswald"/>
              </a:rPr>
              <a:t>/ 5</a:t>
            </a:r>
          </a:p>
        </p:txBody>
      </p:sp>
      <p:sp>
        <p:nvSpPr>
          <p:cNvPr id="26" name="Rounded Rectangle 25"/>
          <p:cNvSpPr/>
          <p:nvPr/>
        </p:nvSpPr>
        <p:spPr>
          <a:xfrm>
            <a:off x="548640" y="510235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0235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DOCUMENTATION &amp; PRESENTATION</a:t>
            </a:r>
          </a:p>
        </p:txBody>
      </p:sp>
      <p:sp>
        <p:nvSpPr>
          <p:cNvPr id="28" name="TextBox 27"/>
          <p:cNvSpPr txBox="1"/>
          <p:nvPr/>
        </p:nvSpPr>
        <p:spPr>
          <a:xfrm>
            <a:off x="4572000" y="510235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thorough insight and polished delivery</a:t>
            </a:r>
          </a:p>
        </p:txBody>
      </p:sp>
      <p:sp>
        <p:nvSpPr>
          <p:cNvPr id="29" name="TextBox 28"/>
          <p:cNvSpPr txBox="1"/>
          <p:nvPr/>
        </p:nvSpPr>
        <p:spPr>
          <a:xfrm>
            <a:off x="10744200" y="5102352"/>
            <a:ext cx="896112" cy="713232"/>
          </a:xfrm>
          <a:prstGeom prst="rect">
            <a:avLst/>
          </a:prstGeom>
          <a:noFill/>
        </p:spPr>
        <p:txBody>
          <a:bodyPr wrap="square" anchor="ctr" lIns="36576" rIns="36576" tIns="18288" bIns="18288">
            <a:spAutoFit/>
          </a:bodyPr>
          <a:lstStyle/>
          <a:p>
            <a:pPr algn="r"/>
            <a:r>
              <a:rPr sz="2400" b="1">
                <a:solidFill>
                  <a:srgbClr val="1F7A8C"/>
                </a:solidFill>
                <a:latin typeface="Oswald"/>
              </a:rPr>
              <a:t>/ 5</a:t>
            </a:r>
          </a:p>
        </p:txBody>
      </p:sp>
      <p:sp>
        <p:nvSpPr>
          <p:cNvPr id="30" name="TextBox 29"/>
          <p:cNvSpPr txBox="1"/>
          <p:nvPr/>
        </p:nvSpPr>
        <p:spPr>
          <a:xfrm>
            <a:off x="548640" y="5943600"/>
            <a:ext cx="11091672" cy="411480"/>
          </a:xfrm>
          <a:prstGeom prst="rect">
            <a:avLst/>
          </a:prstGeom>
          <a:noFill/>
        </p:spPr>
        <p:txBody>
          <a:bodyPr wrap="square" anchor="t" lIns="36576" rIns="36576" tIns="18288" bIns="18288">
            <a:spAutoFit/>
          </a:bodyPr>
          <a:lstStyle/>
          <a:p>
            <a:pPr algn="r"/>
            <a:r>
              <a:rPr sz="2000" b="1">
                <a:solidFill>
                  <a:srgbClr val="000000"/>
                </a:solidFill>
                <a:latin typeface="Oswald"/>
              </a:rPr>
              <a:t>SCORED 1–5 · FINAL GRADE = AVERAGE OF YOUR SCORE AND MINE ·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PRESENTATION DAY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18</a:t>
            </a:r>
          </a:p>
        </p:txBody>
      </p:sp>
      <p:sp>
        <p:nvSpPr>
          <p:cNvPr id="10" name="Oval 9"/>
          <p:cNvSpPr/>
          <p:nvPr/>
        </p:nvSpPr>
        <p:spPr>
          <a:xfrm>
            <a:off x="548640" y="216712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Play your track; name your three players</a:t>
            </a:r>
          </a:p>
        </p:txBody>
      </p:sp>
      <p:sp>
        <p:nvSpPr>
          <p:cNvPr id="12" name="Oval 11"/>
          <p:cNvSpPr/>
          <p:nvPr/>
        </p:nvSpPr>
        <p:spPr>
          <a:xfrm>
            <a:off x="548640" y="311708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Say what you changed in the intro and the peak</a:t>
            </a:r>
          </a:p>
        </p:txBody>
      </p:sp>
      <p:sp>
        <p:nvSpPr>
          <p:cNvPr id="14" name="Oval 13"/>
          <p:cNvSpPr/>
          <p:nvPr/>
        </p:nvSpPr>
        <p:spPr>
          <a:xfrm>
            <a:off x="548640" y="406704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Padlet post: 3 questions about your project</a:t>
            </a:r>
          </a:p>
        </p:txBody>
      </p:sp>
      <p:sp>
        <p:nvSpPr>
          <p:cNvPr id="16" name="Oval 15"/>
          <p:cNvSpPr/>
          <p:nvPr/>
        </p:nvSpPr>
        <p:spPr>
          <a:xfrm>
            <a:off x="548640" y="5017008"/>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Answer at least 2 of each classmate’s 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Session Player’s Studio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19</a:t>
            </a:r>
          </a:p>
        </p:txBody>
      </p:sp>
      <p:sp>
        <p:nvSpPr>
          <p:cNvPr id="10" name="Oval 9"/>
          <p:cNvSpPr/>
          <p:nvPr/>
        </p:nvSpPr>
        <p:spPr>
          <a:xfrm>
            <a:off x="548640" y="2057400"/>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built a band.</a:t>
            </a:r>
          </a:p>
        </p:txBody>
      </p:sp>
      <p:sp>
        <p:nvSpPr>
          <p:cNvPr id="12" name="Oval 11"/>
          <p:cNvSpPr/>
          <p:nvPr/>
        </p:nvSpPr>
        <p:spPr>
          <a:xfrm>
            <a:off x="548640" y="2781300"/>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441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shaped every part.</a:t>
            </a:r>
          </a:p>
        </p:txBody>
      </p:sp>
      <p:sp>
        <p:nvSpPr>
          <p:cNvPr id="14" name="Oval 13"/>
          <p:cNvSpPr/>
          <p:nvPr/>
        </p:nvSpPr>
        <p:spPr>
          <a:xfrm>
            <a:off x="548640" y="3505200"/>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680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wrote the melody.</a:t>
            </a:r>
          </a:p>
        </p:txBody>
      </p:sp>
      <p:sp>
        <p:nvSpPr>
          <p:cNvPr id="16" name="Oval 15"/>
          <p:cNvSpPr/>
          <p:nvPr/>
        </p:nvSpPr>
        <p:spPr>
          <a:xfrm>
            <a:off x="548640" y="4229100"/>
            <a:ext cx="146304" cy="14630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091939"/>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Now press play.</a:t>
            </a:r>
          </a:p>
        </p:txBody>
      </p:sp>
      <p:pic>
        <p:nvPicPr>
          <p:cNvPr id="18" name="Picture 17" descr="deck-hero.png"/>
          <p:cNvPicPr>
            <a:picLocks noChangeAspect="1"/>
          </p:cNvPicPr>
          <p:nvPr/>
        </p:nvPicPr>
        <p:blipFill>
          <a:blip r:embed="rId2"/>
          <a:stretch>
            <a:fillRect/>
          </a:stretch>
        </p:blipFill>
        <p:spPr>
          <a:xfrm>
            <a:off x="6519672" y="2103120"/>
            <a:ext cx="5120640" cy="2129108"/>
          </a:xfrm>
          <a:prstGeom prst="rect">
            <a:avLst/>
          </a:prstGeom>
        </p:spPr>
      </p:pic>
      <p:sp>
        <p:nvSpPr>
          <p:cNvPr id="19" name="Rounded Rectangle 18"/>
          <p:cNvSpPr/>
          <p:nvPr/>
        </p:nvSpPr>
        <p:spPr>
          <a:xfrm>
            <a:off x="548640" y="5349240"/>
            <a:ext cx="5852160" cy="960120"/>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394960"/>
            <a:ext cx="5486400" cy="365760"/>
          </a:xfrm>
          <a:prstGeom prst="rect">
            <a:avLst/>
          </a:prstGeom>
          <a:noFill/>
        </p:spPr>
        <p:txBody>
          <a:bodyPr wrap="square" anchor="t" lIns="36576" rIns="36576" tIns="18288" bIns="18288">
            <a:spAutoFit/>
          </a:bodyPr>
          <a:lstStyle/>
          <a:p>
            <a:pPr algn="l"/>
            <a:r>
              <a:rPr sz="2000" b="1">
                <a:solidFill>
                  <a:srgbClr val="FFFFFF"/>
                </a:solidFill>
                <a:latin typeface="Oswald"/>
              </a:rPr>
              <a:t>REFLECTION · PAGE 24</a:t>
            </a:r>
          </a:p>
        </p:txBody>
      </p:sp>
      <p:sp>
        <p:nvSpPr>
          <p:cNvPr id="21" name="TextBox 20"/>
          <p:cNvSpPr txBox="1"/>
          <p:nvPr/>
        </p:nvSpPr>
        <p:spPr>
          <a:xfrm>
            <a:off x="731520" y="5760720"/>
            <a:ext cx="5486400" cy="502920"/>
          </a:xfrm>
          <a:prstGeom prst="rect">
            <a:avLst/>
          </a:prstGeom>
          <a:noFill/>
        </p:spPr>
        <p:txBody>
          <a:bodyPr wrap="square" anchor="t" lIns="36576" rIns="36576" tIns="18288" bIns="18288">
            <a:spAutoFit/>
          </a:bodyPr>
          <a:lstStyle/>
          <a:p>
            <a:pPr algn="l"/>
            <a:r>
              <a:rPr sz="1500" b="0">
                <a:solidFill>
                  <a:srgbClr val="FFFFFF"/>
                </a:solidFill>
                <a:latin typeface="Source Sans 3"/>
              </a:rPr>
              <a:t>Write it or talk it through: what went well, what was hard, what you would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Player’s Studio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