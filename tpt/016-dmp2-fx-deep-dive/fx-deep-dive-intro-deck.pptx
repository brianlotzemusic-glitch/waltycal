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Before class, take a short stretch of one of your own projects (or any track you may play in class) and mix it twice in Logic Pro: once dry, once with EQ, pan and effects. No audio is included in this deck. Open with my overview: level up your mixing by using at least 5 different effects creatively and intentionally.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dry version first with no comment, then the mixed one. Take answers aloud: louder, clearer, wider, deeper, smoother. Ask what each change might have been. This sets up the whole project: every effect should have a reason. Keep your mix simple so students can name what they hear.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from the project sheet vocabulary: EQ adjusts the volume of specific frequencies; compression reduces the dynamic range; reverb simulates the reflections of a space; delay repeats a sound after a set time; panning places sounds left or right; modulation (chorus, phaser, flanger) adds movement. Students will add their own words on the vocabulary page.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review the 11 FX from class notes, listen to examples, choose a source. Classes 2 to 5 are core working days: apply FX, EQ all tracks, set panning. Class 6: final adjustments, bounce, and prepare the presentation and three Padlet questions.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revisit their notes on the 11 FX, then decide whether to remix their own earlier project or download a multitrack from Cambridge-MT. My tip: pick a song with 8 to 16 tracks, not a 40-track session. Pre-select the sessions yourself if you can (see the Source page in the resource).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common struggle: students apply FX randomly, without purpose. Push them to say why they use each effect. These four questions are the habit; they come back in the FX log and in the presentation. If a student breaks genre convention, my sheet says to be ready to explain the artistic reason. Less is more: a well-placed reverb or delay can transform a track.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The frequency range in six bands on a log scale, with an example EQ curve: a cut near 300 Hz and a boost near 3 kHz. The names (rumble, weight, mud, body, clarity, sparkle) are common mixing words, not rules. Ask students which band their favorite instrument lives in. Then go straight to the live demo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from my teacher notes: EQ feels invisible to beginners, so make dramatic cuts and boosts on a soloed track. Use a drum or bass track from your own project. Boost about 12 dB, sweep, then cut. Return to normal and ask what you fixed. EQ is the most powerful tool, so get it right before adding other effects.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invented eight-track session, described on paper only; nothing here is a recording. Kick, snare, bass and lead vocal sit in the center. Hi-hat, keys, guitar and shaker are spread: keys 40 left, shaker 30 left, hi-hat 25 right, guitar 45 right, so left and right balance (70 each). My struggle: students leave everything center. Play a professional mix of your choice and point out the width.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of effects on a send. In the mixer, click an empty Send slot on a track and choose Bus 1; Logic makes an Aux channel. Put a reverb on the Aux and turn the send up on each track that needs it. For a delay, the time follows the tempo: at 100 BPM a quarter note is 600 ms, an eighth 300 ms and a dotted eighth 450 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by the numbers, on an invented signal. Threshold is -18 dB and the ratio is 4:1. A peak at -6 dB is 12 dB over the threshold; the compressor lets only a quarter of that through, so it comes out 3 dB over, at -15 dB. The gain reduction is 9 dB. Real plug-ins add attack, release and make-up gain; students can explore those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EQ and pan every track. The requirement is that every track is EQ'd and panned thoughtfully, so check the Track map for empty boxes. Circulate and ask each student to solo a track, make one EQ move, and say what problem it fixes.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Steps 3 and 5 of the project sheet, shortened here: plan and apply at least 5 different effects, then check the mix on headphones and speakers. Always A/B test: bypass the plug-in and listen with and without it. Class 5 is a full working day with no new slide: refine the mix.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Steps 5 and 6 of the project sheet, shortened to fit the slide: adjust levels and FX settings, then finalize by bouncing and preparing to walk the class through the FX choices. Bounce: File, Bounce, Project or Section. Zip: Control-click the .logicx in Finder,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that the FX log is theirs: it is what they will use to walk the class through their choices.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final mix and explains the effects they chose and why. During classmates' presentations, every student answers at least 2 of their 3 questions on their Padlet post. If time allows, my mix critique idea fits here: play a volunteer mix on the main speakers.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builds: the primary mixing skills, a shift in focus entirely to post-production. Every student left with a mix where each effect has a reason. Remind them that EQ, pan and a single well-placed reverb or delay already go a long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971536" y="896112"/>
            <a:ext cx="4248623"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FX DEEP DIVE</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Tone. Depth. Space.</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EQ, PAN, REVERB AND DELAY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DRY, THEN MIXED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DRY, THEN MIXED</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DCE59A"/>
                </a:solidFill>
                <a:latin typeface="Oswald"/>
              </a:rPr>
              <a:t>The same track, played twice</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it with every effect bypassed, then with them on.</a:t>
            </a:r>
          </a:p>
        </p:txBody>
      </p:sp>
      <p:sp>
        <p:nvSpPr>
          <p:cNvPr id="14" name="Oval 13"/>
          <p:cNvSpPr/>
          <p:nvPr/>
        </p:nvSpPr>
        <p:spPr>
          <a:xfrm>
            <a:off x="548640" y="40690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changed between the two?</a:t>
            </a:r>
          </a:p>
        </p:txBody>
      </p:sp>
      <p:sp>
        <p:nvSpPr>
          <p:cNvPr id="16" name="Oval 15"/>
          <p:cNvSpPr/>
          <p:nvPr/>
        </p:nvSpPr>
        <p:spPr>
          <a:xfrm>
            <a:off x="548640" y="46786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effect did you notice first?</a:t>
            </a:r>
          </a:p>
        </p:txBody>
      </p:sp>
      <p:sp>
        <p:nvSpPr>
          <p:cNvPr id="18" name="Oval 17"/>
          <p:cNvSpPr/>
          <p:nvPr/>
        </p:nvSpPr>
        <p:spPr>
          <a:xfrm>
            <a:off x="548640" y="52882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Could you hear space, width or clarity?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DO EFFECTS DO?</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488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EQ shapes tone and clarity</a:t>
            </a:r>
          </a:p>
        </p:txBody>
      </p:sp>
      <p:sp>
        <p:nvSpPr>
          <p:cNvPr id="12" name="Oval 11"/>
          <p:cNvSpPr/>
          <p:nvPr/>
        </p:nvSpPr>
        <p:spPr>
          <a:xfrm>
            <a:off x="548640" y="28727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Compression evens out loud and quiet</a:t>
            </a:r>
          </a:p>
        </p:txBody>
      </p:sp>
      <p:sp>
        <p:nvSpPr>
          <p:cNvPr id="14" name="Oval 13"/>
          <p:cNvSpPr/>
          <p:nvPr/>
        </p:nvSpPr>
        <p:spPr>
          <a:xfrm>
            <a:off x="548640" y="35966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Reverb and delay add depth and space</a:t>
            </a:r>
          </a:p>
        </p:txBody>
      </p:sp>
      <p:sp>
        <p:nvSpPr>
          <p:cNvPr id="16" name="Oval 15"/>
          <p:cNvSpPr/>
          <p:nvPr/>
        </p:nvSpPr>
        <p:spPr>
          <a:xfrm>
            <a:off x="548640" y="43205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Panning adds width and separation</a:t>
            </a:r>
          </a:p>
        </p:txBody>
      </p:sp>
      <p:sp>
        <p:nvSpPr>
          <p:cNvPr id="18" name="Oval 17"/>
          <p:cNvSpPr/>
          <p:nvPr/>
        </p:nvSpPr>
        <p:spPr>
          <a:xfrm>
            <a:off x="548640" y="50444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Modulation adds movement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Dry and mixed · what effects do · choose a source · every effect needs a reason</a:t>
            </a:r>
          </a:p>
        </p:txBody>
      </p:sp>
      <p:sp>
        <p:nvSpPr>
          <p:cNvPr id="13" name="Rounded Rectangle 12"/>
          <p:cNvSpPr/>
          <p:nvPr/>
        </p:nvSpPr>
        <p:spPr>
          <a:xfrm>
            <a:off x="548640" y="2444060"/>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EQ demo · pan the band · reverb and delay · compression numbers</a:t>
            </a:r>
          </a:p>
        </p:txBody>
      </p:sp>
      <p:sp>
        <p:nvSpPr>
          <p:cNvPr id="16" name="Rounded Rectangle 15"/>
          <p:cNvSpPr/>
          <p:nvPr/>
        </p:nvSpPr>
        <p:spPr>
          <a:xfrm>
            <a:off x="548640" y="3077609"/>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EQ and pan every track</a:t>
            </a:r>
          </a:p>
        </p:txBody>
      </p:sp>
      <p:sp>
        <p:nvSpPr>
          <p:cNvPr id="19" name="Rounded Rectangle 18"/>
          <p:cNvSpPr/>
          <p:nvPr/>
        </p:nvSpPr>
        <p:spPr>
          <a:xfrm>
            <a:off x="548640" y="3711157"/>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effects with a reason</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refine the mix</a:t>
            </a:r>
          </a:p>
        </p:txBody>
      </p:sp>
      <p:sp>
        <p:nvSpPr>
          <p:cNvPr id="25" name="Rounded Rectangle 24"/>
          <p:cNvSpPr/>
          <p:nvPr/>
        </p:nvSpPr>
        <p:spPr>
          <a:xfrm>
            <a:off x="548640" y="4978254"/>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Refine and bounce · checklist · rubric · 3 questions</a:t>
            </a:r>
          </a:p>
        </p:txBody>
      </p:sp>
      <p:sp>
        <p:nvSpPr>
          <p:cNvPr id="28" name="Rounded Rectangle 27"/>
          <p:cNvSpPr/>
          <p:nvPr/>
        </p:nvSpPr>
        <p:spPr>
          <a:xfrm>
            <a:off x="548640" y="5611803"/>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REVIEW, CHOOSE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Review your notes on the 11 FX</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Choose: your own project or a multitrack</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 multitrack from Cambridge-MT: 8–16 tracks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Not a 40-track session</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Source log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EVERY EFFECT NEEDS A REASON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problem does this effect solve?</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do I hear when it is on?</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Does it fit the genre?</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Bypass it: is the mix better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WHERE SOUNDS LIVE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eqmap.png"/>
          <p:cNvPicPr>
            <a:picLocks noChangeAspect="1"/>
          </p:cNvPicPr>
          <p:nvPr/>
        </p:nvPicPr>
        <p:blipFill>
          <a:blip r:embed="rId2"/>
          <a:stretch>
            <a:fillRect/>
          </a:stretch>
        </p:blipFill>
        <p:spPr>
          <a:xfrm>
            <a:off x="548640" y="1810512"/>
            <a:ext cx="11091672" cy="2606543"/>
          </a:xfrm>
          <a:prstGeom prst="rect">
            <a:avLst/>
          </a:prstGeom>
        </p:spPr>
      </p:pic>
      <p:sp>
        <p:nvSpPr>
          <p:cNvPr id="11" name="Oval 10"/>
          <p:cNvSpPr/>
          <p:nvPr/>
        </p:nvSpPr>
        <p:spPr>
          <a:xfrm>
            <a:off x="548640"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Cut where tracks crowd each other</a:t>
            </a:r>
          </a:p>
        </p:txBody>
      </p:sp>
      <p:sp>
        <p:nvSpPr>
          <p:cNvPr id="13" name="Oval 12"/>
          <p:cNvSpPr/>
          <p:nvPr/>
        </p:nvSpPr>
        <p:spPr>
          <a:xfrm>
            <a:off x="6190488"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Boost to bring out what you love</a:t>
            </a:r>
          </a:p>
        </p:txBody>
      </p:sp>
      <p:sp>
        <p:nvSpPr>
          <p:cNvPr id="15" name="Oval 14"/>
          <p:cNvSpPr/>
          <p:nvPr/>
        </p:nvSpPr>
        <p:spPr>
          <a:xfrm>
            <a:off x="548640"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Muddy sounds often live near 300 Hz</a:t>
            </a:r>
          </a:p>
        </p:txBody>
      </p:sp>
      <p:sp>
        <p:nvSpPr>
          <p:cNvPr id="17" name="Oval 16"/>
          <p:cNvSpPr/>
          <p:nvPr/>
        </p:nvSpPr>
        <p:spPr>
          <a:xfrm>
            <a:off x="6190488"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Try a big move first, then back 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EQ ON A SOLOED TRACK</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Solo one track, open Channel EQ</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Boost a narrow band and sweep it slowly</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Now cut the same band: hear it vanish</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Un-solo: is the whole mix clearer?</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Bypass the EQ and compare (A/B)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PLACE THE BAND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panmap.png"/>
          <p:cNvPicPr>
            <a:picLocks noChangeAspect="1"/>
          </p:cNvPicPr>
          <p:nvPr/>
        </p:nvPicPr>
        <p:blipFill>
          <a:blip r:embed="rId2"/>
          <a:stretch>
            <a:fillRect/>
          </a:stretch>
        </p:blipFill>
        <p:spPr>
          <a:xfrm>
            <a:off x="548640" y="1810512"/>
            <a:ext cx="11091672" cy="2662001"/>
          </a:xfrm>
          <a:prstGeom prst="rect">
            <a:avLst/>
          </a:prstGeom>
        </p:spPr>
      </p:pic>
      <p:sp>
        <p:nvSpPr>
          <p:cNvPr id="11" name="Oval 10"/>
          <p:cNvSpPr/>
          <p:nvPr/>
        </p:nvSpPr>
        <p:spPr>
          <a:xfrm>
            <a:off x="548640"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Kick, snare, bass, vocal: center</a:t>
            </a:r>
          </a:p>
        </p:txBody>
      </p:sp>
      <p:sp>
        <p:nvSpPr>
          <p:cNvPr id="13" name="Oval 12"/>
          <p:cNvSpPr/>
          <p:nvPr/>
        </p:nvSpPr>
        <p:spPr>
          <a:xfrm>
            <a:off x="6190488"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Spread the rest, left and right</a:t>
            </a:r>
          </a:p>
        </p:txBody>
      </p:sp>
      <p:sp>
        <p:nvSpPr>
          <p:cNvPr id="15" name="Oval 14"/>
          <p:cNvSpPr/>
          <p:nvPr/>
        </p:nvSpPr>
        <p:spPr>
          <a:xfrm>
            <a:off x="548640"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Left and right weigh the same</a:t>
            </a:r>
          </a:p>
        </p:txBody>
      </p:sp>
      <p:sp>
        <p:nvSpPr>
          <p:cNvPr id="17" name="Oval 16"/>
          <p:cNvSpPr/>
          <p:nvPr/>
        </p:nvSpPr>
        <p:spPr>
          <a:xfrm>
            <a:off x="6190488"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Width comes from panning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REVERB AND DELAY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Click a Send slot, choose Bus 1 (an Aux appears)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one reverb to the Aux; send to taste</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Delay time from tempo: 1/8 at 100 BPM = 300 ms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Turn it down until you only miss it when off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COMPRESSION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pic>
        <p:nvPicPr>
          <p:cNvPr id="10" name="Picture 9" descr="deck-comp.png"/>
          <p:cNvPicPr>
            <a:picLocks noChangeAspect="1"/>
          </p:cNvPicPr>
          <p:nvPr/>
        </p:nvPicPr>
        <p:blipFill>
          <a:blip r:embed="rId2"/>
          <a:stretch>
            <a:fillRect/>
          </a:stretch>
        </p:blipFill>
        <p:spPr>
          <a:xfrm>
            <a:off x="2565212" y="1810512"/>
            <a:ext cx="7058526" cy="3017520"/>
          </a:xfrm>
          <a:prstGeom prst="rect">
            <a:avLst/>
          </a:prstGeom>
        </p:spPr>
      </p:pic>
      <p:sp>
        <p:nvSpPr>
          <p:cNvPr id="11" name="Oval 10"/>
          <p:cNvSpPr/>
          <p:nvPr/>
        </p:nvSpPr>
        <p:spPr>
          <a:xfrm>
            <a:off x="548640" y="52120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Quiet sounds pass through unchanged</a:t>
            </a:r>
          </a:p>
        </p:txBody>
      </p:sp>
      <p:sp>
        <p:nvSpPr>
          <p:cNvPr id="13" name="Oval 12"/>
          <p:cNvSpPr/>
          <p:nvPr/>
        </p:nvSpPr>
        <p:spPr>
          <a:xfrm>
            <a:off x="6190488" y="52120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Only the part over the line is squeezed</a:t>
            </a:r>
          </a:p>
        </p:txBody>
      </p:sp>
      <p:sp>
        <p:nvSpPr>
          <p:cNvPr id="15" name="Oval 14"/>
          <p:cNvSpPr/>
          <p:nvPr/>
        </p:nvSpPr>
        <p:spPr>
          <a:xfrm>
            <a:off x="548640" y="58978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higher ratio squeezes harder</a:t>
            </a:r>
          </a:p>
        </p:txBody>
      </p:sp>
      <p:sp>
        <p:nvSpPr>
          <p:cNvPr id="17" name="Oval 16"/>
          <p:cNvSpPr/>
          <p:nvPr/>
        </p:nvSpPr>
        <p:spPr>
          <a:xfrm>
            <a:off x="6190488" y="58978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Make-up gain brings the level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EQ AND PAN EVERY TRACK</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EQ every track, one at a time</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Pan each instrument into its own place</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Fill in the Track map</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Judge it in the whole mix, not only solo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EFFECTS WITH A REASON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Use at least 5 different FX</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the reason in your FX log</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A/B every effect: bypass, listen, decide</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Check on headphones and on speakers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REFINE, BOUNCE, PREPARE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Final level and FX tweaks</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Bounce a .mp3 or .wav</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Zip the .logicx project</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 of the final mix</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FX Deep Dive</a:t>
            </a:r>
          </a:p>
        </p:txBody>
      </p:sp>
      <p:sp>
        <p:nvSpPr>
          <p:cNvPr id="16" name="Rounded Rectangle 15"/>
          <p:cNvSpPr/>
          <p:nvPr/>
        </p:nvSpPr>
        <p:spPr>
          <a:xfrm>
            <a:off x="617220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At least 5 different FX, ready to discuss</a:t>
            </a:r>
          </a:p>
        </p:txBody>
      </p:sp>
      <p:sp>
        <p:nvSpPr>
          <p:cNvPr id="18" name="Rounded Rectangle 17"/>
          <p:cNvSpPr/>
          <p:nvPr/>
        </p:nvSpPr>
        <p:spPr>
          <a:xfrm>
            <a:off x="54864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All tracks EQ’d and panned</a:t>
            </a:r>
          </a:p>
        </p:txBody>
      </p:sp>
      <p:sp>
        <p:nvSpPr>
          <p:cNvPr id="20" name="Rounded Rectangle 19"/>
          <p:cNvSpPr/>
          <p:nvPr/>
        </p:nvSpPr>
        <p:spPr>
          <a:xfrm>
            <a:off x="617220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2" name="Rounded Rectangle 21"/>
          <p:cNvSpPr/>
          <p:nvPr/>
        </p:nvSpPr>
        <p:spPr>
          <a:xfrm>
            <a:off x="548640" y="519836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14350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Walk the class through your FX choices</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like a mixer: what did they do, and why?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a track.</a:t>
            </a:r>
          </a:p>
        </p:txBody>
      </p:sp>
      <p:sp>
        <p:nvSpPr>
          <p:cNvPr id="12" name="Oval 11"/>
          <p:cNvSpPr/>
          <p:nvPr/>
        </p:nvSpPr>
        <p:spPr>
          <a:xfrm>
            <a:off x="548640" y="27813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shaped tone and space.</a:t>
            </a:r>
          </a:p>
        </p:txBody>
      </p:sp>
      <p:sp>
        <p:nvSpPr>
          <p:cNvPr id="14" name="Oval 13"/>
          <p:cNvSpPr/>
          <p:nvPr/>
        </p:nvSpPr>
        <p:spPr>
          <a:xfrm>
            <a:off x="548640" y="35052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Every effect had a reason.</a:t>
            </a:r>
          </a:p>
        </p:txBody>
      </p:sp>
      <p:sp>
        <p:nvSpPr>
          <p:cNvPr id="16" name="Oval 15"/>
          <p:cNvSpPr/>
          <p:nvPr/>
        </p:nvSpPr>
        <p:spPr>
          <a:xfrm>
            <a:off x="548640" y="42291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it sounds like yours.</a:t>
            </a:r>
          </a:p>
        </p:txBody>
      </p:sp>
      <p:pic>
        <p:nvPicPr>
          <p:cNvPr id="18" name="Picture 17" descr="deck-hero.png"/>
          <p:cNvPicPr>
            <a:picLocks noChangeAspect="1"/>
          </p:cNvPicPr>
          <p:nvPr/>
        </p:nvPicPr>
        <p:blipFill>
          <a:blip r:embed="rId2"/>
          <a:stretch>
            <a:fillRect/>
          </a:stretch>
        </p:blipFill>
        <p:spPr>
          <a:xfrm>
            <a:off x="6519672" y="2103120"/>
            <a:ext cx="5120640" cy="358175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FX Deep Dive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