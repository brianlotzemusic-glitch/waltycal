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Before class, take a short stretch of one of your own projects (or any track you may play in class) and mix it twice in Logic Pro: once dry, once with EQ, pan and effects. No audio is included in this deck. Open with my overview: level up your mixing by using at least 5 different effects creatively and intentionally.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dry version first with no comment, then the mixed one. Take answers aloud: louder, clearer, wider, deeper, smoother. Ask what each change might have been. This sets up the whole project: every effect should have a reason. Keep your mix simple so students can name what they hear.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plain-English tour from the project sheet vocabulary: EQ adjusts the volume of specific frequencies; compression reduces the dynamic range; reverb simulates the reflections of a space; delay repeats a sound after a set time; panning places sounds left or right; modulation (chorus, phaser, flanger) adds movement. Students will add their own words on the vocabulary page.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review the 11 FX from class notes, listen to examples, choose a source. Classes 2 to 5 are core working days: apply FX, EQ all tracks, set panning. Class 6: final adjustments, bounce, and prepare the presentation and three Padlet questions. Class 7: presentations with Padlet peer feedback. Hand out the project sheet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of the project sheet, shortened to fit the slide. Students revisit their notes on the 11 FX, then decide whether to remix their own earlier project or download a multitrack from Cambridge-MT. My tip: pick a song with 8 to 16 tracks, not a 40-track session. Pre-select the sessions yourself if you can (see the Source page in the resource).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common struggle: students apply FX randomly, without purpose. Push them to say why they use each effect. These four questions are the habit; they come back in the FX log and in the presentation. If a student breaks genre convention, my sheet says to be ready to explain the artistic reason. Less is more: a well-placed reverb or delay can transform a track.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The frequency range in six bands on a log scale, with an example EQ curve: a cut near 300 Hz and a boost near 3 kHz. The names (rumble, weight, mud, body, clarity, sparkle) are common mixing words, not rules. Ask students which band their favorite instrument lives in. Then go straight to the live demo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demo from my teacher notes: EQ feels invisible to beginners, so make dramatic cuts and boosts on a soloed track. Use a drum or bass track from your own project. Boost about 12 dB, sweep, then cut. Return to normal and ask what you fixed. EQ is the most powerful tool, so get it right before adding other effects.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invented eight-track session, described on paper only; nothing here is a recording. Kick, snare, bass and lead vocal sit in the center. Hi-hat, keys, guitar and shaker are spread: keys 40 left, shaker 30 left, hi-hat 25 right, guitar 45 right, so left and right balance (70 each). My struggle: students leave everything center. Play a professional mix of your choice and point out the width.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demo of effects on a send. In the mixer, click an empty Send slot on a track and choose Bus 1; Logic makes an Aux channel. Put a reverb on the Aux and turn the send up on each track that needs it. For a delay, the time follows the tempo: at 100 BPM a quarter note is 600 ms, an eighth 300 ms and a dotted eighth 450 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Compression by the numbers, on an invented signal. Threshold is -18 dB and the ratio is 4:1. A peak at -6 dB is 12 dB over the threshold; the compressor lets only a quarter of that through, so it comes out 3 dB over, at -15 dB. The gain reduction is 9 dB. Real plug-ins add attack, release and make-up gain; students can explore those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is the first working day. Step 4 of the project sheet, shortened here: EQ and pan every track. The requirement is that every track is EQ'd and panned thoughtfully, so check the Track map for empty boxes. Circulate and ask each student to solo a track, make one EQ move, and say what problem it fixes.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4, a working day. Steps 3 and 5 of the project sheet, shortened here: plan and apply at least 5 different effects, then check the mix on headphones and speakers. Always A/B test: bypass the plug-in and listen with and without it. Class 5 is a full working day with no new slide: refine the mix.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6. Steps 5 and 6 of the project sheet, shortened to fit the slide: adjust levels and FX settings, then finalize by bouncing and preparing to walk the class through the FX choices. Bounce: File, Bounce, Project or Section. Zip: Control-click the .logicx in Finder, Compress. Students also write their three Padlet questions today.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in short form. Show where students upload (your class page) and where the Padlet board is. Remind students that the FX log is theirs: it is what they will use to walk the class through their choices.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Each student plays the final mix and explains the effects they chose and why. During classmates' presentations, every student answers at least 2 of their 3 questions on their Padlet post. If time allows, my mix critique idea fits here: play a volunteer mix on the main speakers.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what my teacher notes say this project builds: the primary mixing skills, a shift in focus entirely to post-production. Every student left with a mix where each effect has a reason. Remind them that EQ, pan and a single well-placed reverb or delay already go a long 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3971536" y="896112"/>
            <a:ext cx="4248623" cy="2971800"/>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FX DEEP DIVE</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Tone. Depth. Space.</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EQ, PAN, REVERB AND DELAY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DRY, THEN MIXED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DRY, THEN MIXED</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DCE59A"/>
                </a:solidFill>
                <a:latin typeface="Oswald"/>
              </a:rPr>
              <a:t>The same track, played twice</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it with every effect bypassed, then with them on.</a:t>
            </a:r>
          </a:p>
        </p:txBody>
      </p:sp>
      <p:sp>
        <p:nvSpPr>
          <p:cNvPr id="14" name="Oval 13"/>
          <p:cNvSpPr/>
          <p:nvPr/>
        </p:nvSpPr>
        <p:spPr>
          <a:xfrm>
            <a:off x="548640" y="4069080"/>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changed between the two?</a:t>
            </a:r>
          </a:p>
        </p:txBody>
      </p:sp>
      <p:sp>
        <p:nvSpPr>
          <p:cNvPr id="16" name="Oval 15"/>
          <p:cNvSpPr/>
          <p:nvPr/>
        </p:nvSpPr>
        <p:spPr>
          <a:xfrm>
            <a:off x="548640" y="4678680"/>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Which effect did you notice first?</a:t>
            </a:r>
          </a:p>
        </p:txBody>
      </p:sp>
      <p:sp>
        <p:nvSpPr>
          <p:cNvPr id="18" name="Oval 17"/>
          <p:cNvSpPr/>
          <p:nvPr/>
        </p:nvSpPr>
        <p:spPr>
          <a:xfrm>
            <a:off x="548640" y="5288280"/>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Could you hear space, width or clarity?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DO EFFECTS DO?</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48840"/>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EQ shapes tone and clarity</a:t>
            </a:r>
          </a:p>
        </p:txBody>
      </p:sp>
      <p:sp>
        <p:nvSpPr>
          <p:cNvPr id="12" name="Oval 11"/>
          <p:cNvSpPr/>
          <p:nvPr/>
        </p:nvSpPr>
        <p:spPr>
          <a:xfrm>
            <a:off x="548640" y="2872740"/>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7355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Compression evens out loud and quiet</a:t>
            </a:r>
          </a:p>
        </p:txBody>
      </p:sp>
      <p:sp>
        <p:nvSpPr>
          <p:cNvPr id="14" name="Oval 13"/>
          <p:cNvSpPr/>
          <p:nvPr/>
        </p:nvSpPr>
        <p:spPr>
          <a:xfrm>
            <a:off x="548640" y="3596640"/>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4594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Reverb and delay add depth and space</a:t>
            </a:r>
          </a:p>
        </p:txBody>
      </p:sp>
      <p:sp>
        <p:nvSpPr>
          <p:cNvPr id="16" name="Oval 15"/>
          <p:cNvSpPr/>
          <p:nvPr/>
        </p:nvSpPr>
        <p:spPr>
          <a:xfrm>
            <a:off x="548640" y="4320540"/>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1833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Panning adds width and separation</a:t>
            </a:r>
          </a:p>
        </p:txBody>
      </p:sp>
      <p:sp>
        <p:nvSpPr>
          <p:cNvPr id="18" name="Oval 17"/>
          <p:cNvSpPr/>
          <p:nvPr/>
        </p:nvSpPr>
        <p:spPr>
          <a:xfrm>
            <a:off x="548640" y="5044440"/>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9072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Modulation adds movement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Dry and mixed · what effects do · choose a source · every effect needs a reason</a:t>
            </a:r>
          </a:p>
        </p:txBody>
      </p:sp>
      <p:sp>
        <p:nvSpPr>
          <p:cNvPr id="13" name="Rounded Rectangle 12"/>
          <p:cNvSpPr/>
          <p:nvPr/>
        </p:nvSpPr>
        <p:spPr>
          <a:xfrm>
            <a:off x="548640" y="2444060"/>
            <a:ext cx="1554480" cy="523820"/>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EQ demo · pan the band · reverb and delay · compression numbers</a:t>
            </a:r>
          </a:p>
        </p:txBody>
      </p:sp>
      <p:sp>
        <p:nvSpPr>
          <p:cNvPr id="16" name="Rounded Rectangle 15"/>
          <p:cNvSpPr/>
          <p:nvPr/>
        </p:nvSpPr>
        <p:spPr>
          <a:xfrm>
            <a:off x="548640" y="3077609"/>
            <a:ext cx="1554480" cy="523820"/>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EQ and pan every track</a:t>
            </a:r>
          </a:p>
        </p:txBody>
      </p:sp>
      <p:sp>
        <p:nvSpPr>
          <p:cNvPr id="19" name="Rounded Rectangle 18"/>
          <p:cNvSpPr/>
          <p:nvPr/>
        </p:nvSpPr>
        <p:spPr>
          <a:xfrm>
            <a:off x="548640" y="3711157"/>
            <a:ext cx="1554480" cy="523820"/>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effects with a reason</a:t>
            </a:r>
          </a:p>
        </p:txBody>
      </p:sp>
      <p:sp>
        <p:nvSpPr>
          <p:cNvPr id="22" name="Rounded Rectangle 21"/>
          <p:cNvSpPr/>
          <p:nvPr/>
        </p:nvSpPr>
        <p:spPr>
          <a:xfrm>
            <a:off x="548640" y="4344706"/>
            <a:ext cx="1554480" cy="5238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refine the mix</a:t>
            </a:r>
          </a:p>
        </p:txBody>
      </p:sp>
      <p:sp>
        <p:nvSpPr>
          <p:cNvPr id="25" name="Rounded Rectangle 24"/>
          <p:cNvSpPr/>
          <p:nvPr/>
        </p:nvSpPr>
        <p:spPr>
          <a:xfrm>
            <a:off x="548640" y="4978254"/>
            <a:ext cx="1554480" cy="523820"/>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Refine and bounce · checklist · rubric · 3 questions</a:t>
            </a:r>
          </a:p>
        </p:txBody>
      </p:sp>
      <p:sp>
        <p:nvSpPr>
          <p:cNvPr id="28" name="Rounded Rectangle 27"/>
          <p:cNvSpPr/>
          <p:nvPr/>
        </p:nvSpPr>
        <p:spPr>
          <a:xfrm>
            <a:off x="548640" y="5611803"/>
            <a:ext cx="1554480" cy="523820"/>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1 AND 2: REVIEW, CHOOSE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Review your notes on the 11 FX</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Choose: your own project or a multitrack</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A multitrack from Cambridge-MT: 8–16 tracks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Not a 40-track session</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Fill in the Source log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EVERY EFFECT NEEDS A REASON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216712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What problem does this effect solve?</a:t>
            </a:r>
          </a:p>
        </p:txBody>
      </p:sp>
      <p:sp>
        <p:nvSpPr>
          <p:cNvPr id="12" name="Oval 11"/>
          <p:cNvSpPr/>
          <p:nvPr/>
        </p:nvSpPr>
        <p:spPr>
          <a:xfrm>
            <a:off x="548640" y="311708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What do I hear when it is on?</a:t>
            </a:r>
          </a:p>
        </p:txBody>
      </p:sp>
      <p:sp>
        <p:nvSpPr>
          <p:cNvPr id="14" name="Oval 13"/>
          <p:cNvSpPr/>
          <p:nvPr/>
        </p:nvSpPr>
        <p:spPr>
          <a:xfrm>
            <a:off x="548640" y="40670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Does it fit the genre?</a:t>
            </a:r>
          </a:p>
        </p:txBody>
      </p:sp>
      <p:sp>
        <p:nvSpPr>
          <p:cNvPr id="16" name="Oval 15"/>
          <p:cNvSpPr/>
          <p:nvPr/>
        </p:nvSpPr>
        <p:spPr>
          <a:xfrm>
            <a:off x="548640" y="501700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Bypass it: is the mix better with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WHERE SOUNDS LIVE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pic>
        <p:nvPicPr>
          <p:cNvPr id="10" name="Picture 9" descr="deck-eqmap.png"/>
          <p:cNvPicPr>
            <a:picLocks noChangeAspect="1"/>
          </p:cNvPicPr>
          <p:nvPr/>
        </p:nvPicPr>
        <p:blipFill>
          <a:blip r:embed="rId2"/>
          <a:stretch>
            <a:fillRect/>
          </a:stretch>
        </p:blipFill>
        <p:spPr>
          <a:xfrm>
            <a:off x="548640" y="1810512"/>
            <a:ext cx="11091672" cy="2606543"/>
          </a:xfrm>
          <a:prstGeom prst="rect">
            <a:avLst/>
          </a:prstGeom>
        </p:spPr>
      </p:pic>
      <p:sp>
        <p:nvSpPr>
          <p:cNvPr id="11" name="Oval 10"/>
          <p:cNvSpPr/>
          <p:nvPr/>
        </p:nvSpPr>
        <p:spPr>
          <a:xfrm>
            <a:off x="548640" y="49560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Cut where tracks crowd each other</a:t>
            </a:r>
          </a:p>
        </p:txBody>
      </p:sp>
      <p:sp>
        <p:nvSpPr>
          <p:cNvPr id="13" name="Oval 12"/>
          <p:cNvSpPr/>
          <p:nvPr/>
        </p:nvSpPr>
        <p:spPr>
          <a:xfrm>
            <a:off x="6190488" y="49560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Boost to bring out what you love</a:t>
            </a:r>
          </a:p>
        </p:txBody>
      </p:sp>
      <p:sp>
        <p:nvSpPr>
          <p:cNvPr id="15" name="Oval 14"/>
          <p:cNvSpPr/>
          <p:nvPr/>
        </p:nvSpPr>
        <p:spPr>
          <a:xfrm>
            <a:off x="548640" y="56418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Muddy sounds often live near 300 Hz</a:t>
            </a:r>
          </a:p>
        </p:txBody>
      </p:sp>
      <p:sp>
        <p:nvSpPr>
          <p:cNvPr id="17" name="Oval 16"/>
          <p:cNvSpPr/>
          <p:nvPr/>
        </p:nvSpPr>
        <p:spPr>
          <a:xfrm>
            <a:off x="6190488" y="56418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Try a big move first, then back off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EQ ON A SOLOED TRACK</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Solo one track, open Channel EQ</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Boost a narrow band and sweep it slowly</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Now cut the same band: hear it vanish</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Un-solo: is the whole mix clearer?</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Bypass the EQ and compare (A/B)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PLACE THE BAND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pic>
        <p:nvPicPr>
          <p:cNvPr id="10" name="Picture 9" descr="deck-panmap.png"/>
          <p:cNvPicPr>
            <a:picLocks noChangeAspect="1"/>
          </p:cNvPicPr>
          <p:nvPr/>
        </p:nvPicPr>
        <p:blipFill>
          <a:blip r:embed="rId2"/>
          <a:stretch>
            <a:fillRect/>
          </a:stretch>
        </p:blipFill>
        <p:spPr>
          <a:xfrm>
            <a:off x="548640" y="1810512"/>
            <a:ext cx="11091672" cy="2662001"/>
          </a:xfrm>
          <a:prstGeom prst="rect">
            <a:avLst/>
          </a:prstGeom>
        </p:spPr>
      </p:pic>
      <p:sp>
        <p:nvSpPr>
          <p:cNvPr id="11" name="Oval 10"/>
          <p:cNvSpPr/>
          <p:nvPr/>
        </p:nvSpPr>
        <p:spPr>
          <a:xfrm>
            <a:off x="548640" y="49560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Kick, snare, bass, vocal: center</a:t>
            </a:r>
          </a:p>
        </p:txBody>
      </p:sp>
      <p:sp>
        <p:nvSpPr>
          <p:cNvPr id="13" name="Oval 12"/>
          <p:cNvSpPr/>
          <p:nvPr/>
        </p:nvSpPr>
        <p:spPr>
          <a:xfrm>
            <a:off x="6190488" y="49560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Spread the rest, left and right</a:t>
            </a:r>
          </a:p>
        </p:txBody>
      </p:sp>
      <p:sp>
        <p:nvSpPr>
          <p:cNvPr id="15" name="Oval 14"/>
          <p:cNvSpPr/>
          <p:nvPr/>
        </p:nvSpPr>
        <p:spPr>
          <a:xfrm>
            <a:off x="548640" y="56418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Left and right weigh the same</a:t>
            </a:r>
          </a:p>
        </p:txBody>
      </p:sp>
      <p:sp>
        <p:nvSpPr>
          <p:cNvPr id="17" name="Oval 16"/>
          <p:cNvSpPr/>
          <p:nvPr/>
        </p:nvSpPr>
        <p:spPr>
          <a:xfrm>
            <a:off x="6190488" y="56418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Width comes from panning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REVERB AND DELAY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Click a Send slot, choose Bus 1 (an Aux appears)</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Add one reverb to the Aux; send to taste</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Delay time from tempo: 1/8 at 100 BPM = 300 ms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Turn it down until you only miss it when off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COMPRESSION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pic>
        <p:nvPicPr>
          <p:cNvPr id="10" name="Picture 9" descr="deck-comp.png"/>
          <p:cNvPicPr>
            <a:picLocks noChangeAspect="1"/>
          </p:cNvPicPr>
          <p:nvPr/>
        </p:nvPicPr>
        <p:blipFill>
          <a:blip r:embed="rId2"/>
          <a:stretch>
            <a:fillRect/>
          </a:stretch>
        </p:blipFill>
        <p:spPr>
          <a:xfrm>
            <a:off x="2565212" y="1810512"/>
            <a:ext cx="7058526" cy="3017520"/>
          </a:xfrm>
          <a:prstGeom prst="rect">
            <a:avLst/>
          </a:prstGeom>
        </p:spPr>
      </p:pic>
      <p:sp>
        <p:nvSpPr>
          <p:cNvPr id="11" name="Oval 10"/>
          <p:cNvSpPr/>
          <p:nvPr/>
        </p:nvSpPr>
        <p:spPr>
          <a:xfrm>
            <a:off x="548640" y="5212079"/>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Quiet sounds pass through unchanged</a:t>
            </a:r>
          </a:p>
        </p:txBody>
      </p:sp>
      <p:sp>
        <p:nvSpPr>
          <p:cNvPr id="13" name="Oval 12"/>
          <p:cNvSpPr/>
          <p:nvPr/>
        </p:nvSpPr>
        <p:spPr>
          <a:xfrm>
            <a:off x="6190488" y="5212079"/>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Only the part over the line is squeezed</a:t>
            </a:r>
          </a:p>
        </p:txBody>
      </p:sp>
      <p:sp>
        <p:nvSpPr>
          <p:cNvPr id="15" name="Oval 14"/>
          <p:cNvSpPr/>
          <p:nvPr/>
        </p:nvSpPr>
        <p:spPr>
          <a:xfrm>
            <a:off x="548640" y="5897879"/>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 higher ratio squeezes harder</a:t>
            </a:r>
          </a:p>
        </p:txBody>
      </p:sp>
      <p:sp>
        <p:nvSpPr>
          <p:cNvPr id="17" name="Oval 16"/>
          <p:cNvSpPr/>
          <p:nvPr/>
        </p:nvSpPr>
        <p:spPr>
          <a:xfrm>
            <a:off x="6190488" y="5897879"/>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Make-up gain brings the level back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WORKING DAY: EQ AND PAN EVERY TRACK</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10" name="Oval 9"/>
          <p:cNvSpPr/>
          <p:nvPr/>
        </p:nvSpPr>
        <p:spPr>
          <a:xfrm>
            <a:off x="548640" y="216712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EQ every track, one at a time</a:t>
            </a:r>
          </a:p>
        </p:txBody>
      </p:sp>
      <p:sp>
        <p:nvSpPr>
          <p:cNvPr id="12" name="Oval 11"/>
          <p:cNvSpPr/>
          <p:nvPr/>
        </p:nvSpPr>
        <p:spPr>
          <a:xfrm>
            <a:off x="548640" y="311708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Pan each instrument into its own place</a:t>
            </a:r>
          </a:p>
        </p:txBody>
      </p:sp>
      <p:sp>
        <p:nvSpPr>
          <p:cNvPr id="14" name="Oval 13"/>
          <p:cNvSpPr/>
          <p:nvPr/>
        </p:nvSpPr>
        <p:spPr>
          <a:xfrm>
            <a:off x="548640" y="40670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Fill in the Track map</a:t>
            </a:r>
          </a:p>
        </p:txBody>
      </p:sp>
      <p:sp>
        <p:nvSpPr>
          <p:cNvPr id="16" name="Oval 15"/>
          <p:cNvSpPr/>
          <p:nvPr/>
        </p:nvSpPr>
        <p:spPr>
          <a:xfrm>
            <a:off x="548640" y="501700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Judge it in the whole mix, not only solo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WORKING DAY: EFFECTS WITH A REASON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10" name="Oval 9"/>
          <p:cNvSpPr/>
          <p:nvPr/>
        </p:nvSpPr>
        <p:spPr>
          <a:xfrm>
            <a:off x="548640" y="216712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Use at least 5 different FX</a:t>
            </a:r>
          </a:p>
        </p:txBody>
      </p:sp>
      <p:sp>
        <p:nvSpPr>
          <p:cNvPr id="12" name="Oval 11"/>
          <p:cNvSpPr/>
          <p:nvPr/>
        </p:nvSpPr>
        <p:spPr>
          <a:xfrm>
            <a:off x="548640" y="311708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Write the reason in your FX log</a:t>
            </a:r>
          </a:p>
        </p:txBody>
      </p:sp>
      <p:sp>
        <p:nvSpPr>
          <p:cNvPr id="14" name="Oval 13"/>
          <p:cNvSpPr/>
          <p:nvPr/>
        </p:nvSpPr>
        <p:spPr>
          <a:xfrm>
            <a:off x="548640" y="40670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A/B every effect: bypass, listen, decide</a:t>
            </a:r>
          </a:p>
        </p:txBody>
      </p:sp>
      <p:sp>
        <p:nvSpPr>
          <p:cNvPr id="16" name="Oval 15"/>
          <p:cNvSpPr/>
          <p:nvPr/>
        </p:nvSpPr>
        <p:spPr>
          <a:xfrm>
            <a:off x="548640" y="501700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Check on headphones and on speakers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REFINE, BOUNCE, PREPARE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Oval 9"/>
          <p:cNvSpPr/>
          <p:nvPr/>
        </p:nvSpPr>
        <p:spPr>
          <a:xfrm>
            <a:off x="548640" y="216712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Final level and FX tweaks</a:t>
            </a:r>
          </a:p>
        </p:txBody>
      </p:sp>
      <p:sp>
        <p:nvSpPr>
          <p:cNvPr id="12" name="Oval 11"/>
          <p:cNvSpPr/>
          <p:nvPr/>
        </p:nvSpPr>
        <p:spPr>
          <a:xfrm>
            <a:off x="548640" y="311708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Bounce a .mp3 or .wav</a:t>
            </a:r>
          </a:p>
        </p:txBody>
      </p:sp>
      <p:sp>
        <p:nvSpPr>
          <p:cNvPr id="14" name="Oval 13"/>
          <p:cNvSpPr/>
          <p:nvPr/>
        </p:nvSpPr>
        <p:spPr>
          <a:xfrm>
            <a:off x="548640" y="40670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Zip the .logicx project</a:t>
            </a:r>
          </a:p>
        </p:txBody>
      </p:sp>
      <p:sp>
        <p:nvSpPr>
          <p:cNvPr id="16" name="Oval 15"/>
          <p:cNvSpPr/>
          <p:nvPr/>
        </p:nvSpPr>
        <p:spPr>
          <a:xfrm>
            <a:off x="548640" y="501700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Write your 3 Padlet questions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 of the final mix</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a:t>
            </a:r>
          </a:p>
        </p:txBody>
      </p:sp>
      <p:sp>
        <p:nvSpPr>
          <p:cNvPr id="14" name="Rounded Rectangle 13"/>
          <p:cNvSpPr/>
          <p:nvPr/>
        </p:nvSpPr>
        <p:spPr>
          <a:xfrm>
            <a:off x="548640" y="304952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299466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FX Deep Dive</a:t>
            </a:r>
          </a:p>
        </p:txBody>
      </p:sp>
      <p:sp>
        <p:nvSpPr>
          <p:cNvPr id="16" name="Rounded Rectangle 15"/>
          <p:cNvSpPr/>
          <p:nvPr/>
        </p:nvSpPr>
        <p:spPr>
          <a:xfrm>
            <a:off x="6172200" y="304952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299466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At least 5 different FX, ready to discuss</a:t>
            </a:r>
          </a:p>
        </p:txBody>
      </p:sp>
      <p:sp>
        <p:nvSpPr>
          <p:cNvPr id="18" name="Rounded Rectangle 17"/>
          <p:cNvSpPr/>
          <p:nvPr/>
        </p:nvSpPr>
        <p:spPr>
          <a:xfrm>
            <a:off x="548640" y="412394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06908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All tracks EQ’d and panned</a:t>
            </a:r>
          </a:p>
        </p:txBody>
      </p:sp>
      <p:sp>
        <p:nvSpPr>
          <p:cNvPr id="20" name="Rounded Rectangle 19"/>
          <p:cNvSpPr/>
          <p:nvPr/>
        </p:nvSpPr>
        <p:spPr>
          <a:xfrm>
            <a:off x="6172200" y="412394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06908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your 3 questions</a:t>
            </a:r>
          </a:p>
        </p:txBody>
      </p:sp>
      <p:sp>
        <p:nvSpPr>
          <p:cNvPr id="22" name="Rounded Rectangle 21"/>
          <p:cNvSpPr/>
          <p:nvPr/>
        </p:nvSpPr>
        <p:spPr>
          <a:xfrm>
            <a:off x="548640" y="519836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14350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5F6F00"/>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5F6F00"/>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5F6F00"/>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5F6F00"/>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5F6F00"/>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Oval 9"/>
          <p:cNvSpPr/>
          <p:nvPr/>
        </p:nvSpPr>
        <p:spPr>
          <a:xfrm>
            <a:off x="548640" y="216712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Walk the class through your FX choices</a:t>
            </a:r>
          </a:p>
        </p:txBody>
      </p:sp>
      <p:sp>
        <p:nvSpPr>
          <p:cNvPr id="12" name="Oval 11"/>
          <p:cNvSpPr/>
          <p:nvPr/>
        </p:nvSpPr>
        <p:spPr>
          <a:xfrm>
            <a:off x="548640" y="311708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4" name="Oval 13"/>
          <p:cNvSpPr/>
          <p:nvPr/>
        </p:nvSpPr>
        <p:spPr>
          <a:xfrm>
            <a:off x="548640" y="406704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
        <p:nvSpPr>
          <p:cNvPr id="16" name="Oval 15"/>
          <p:cNvSpPr/>
          <p:nvPr/>
        </p:nvSpPr>
        <p:spPr>
          <a:xfrm>
            <a:off x="548640" y="5017008"/>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Listen like a mixer: what did they do, and why?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FX Deep Dive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Oval 9"/>
          <p:cNvSpPr/>
          <p:nvPr/>
        </p:nvSpPr>
        <p:spPr>
          <a:xfrm>
            <a:off x="548640" y="2057400"/>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started with a track.</a:t>
            </a:r>
          </a:p>
        </p:txBody>
      </p:sp>
      <p:sp>
        <p:nvSpPr>
          <p:cNvPr id="12" name="Oval 11"/>
          <p:cNvSpPr/>
          <p:nvPr/>
        </p:nvSpPr>
        <p:spPr>
          <a:xfrm>
            <a:off x="548640" y="2781300"/>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shaped tone and space.</a:t>
            </a:r>
          </a:p>
        </p:txBody>
      </p:sp>
      <p:sp>
        <p:nvSpPr>
          <p:cNvPr id="14" name="Oval 13"/>
          <p:cNvSpPr/>
          <p:nvPr/>
        </p:nvSpPr>
        <p:spPr>
          <a:xfrm>
            <a:off x="548640" y="3505200"/>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Every effect had a reason.</a:t>
            </a:r>
          </a:p>
        </p:txBody>
      </p:sp>
      <p:sp>
        <p:nvSpPr>
          <p:cNvPr id="16" name="Oval 15"/>
          <p:cNvSpPr/>
          <p:nvPr/>
        </p:nvSpPr>
        <p:spPr>
          <a:xfrm>
            <a:off x="548640" y="4229100"/>
            <a:ext cx="146304" cy="146304"/>
          </a:xfrm>
          <a:prstGeom prst="ellipse">
            <a:avLst/>
          </a:prstGeom>
          <a:solidFill>
            <a:srgbClr val="5F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Now it sounds like yours.</a:t>
            </a:r>
          </a:p>
        </p:txBody>
      </p:sp>
      <p:pic>
        <p:nvPicPr>
          <p:cNvPr id="18" name="Picture 17" descr="deck-hero.png"/>
          <p:cNvPicPr>
            <a:picLocks noChangeAspect="1"/>
          </p:cNvPicPr>
          <p:nvPr/>
        </p:nvPicPr>
        <p:blipFill>
          <a:blip r:embed="rId2"/>
          <a:stretch>
            <a:fillRect/>
          </a:stretch>
        </p:blipFill>
        <p:spPr>
          <a:xfrm>
            <a:off x="6519672" y="2103120"/>
            <a:ext cx="5120640" cy="358175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FX Deep Dive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