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 the first two minutes. Today is a listening day: nobody builds anything in Logic. Have Crazy (Gnarls Barkley) and Blinding Lights (The Weeknd) cued up on YouTube or Spotify from your own account; no audio or video is included in this deck. Open with a question: you always know when the chorus is coming, even in a song you have never heard. How?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Plain-English definition, then the central insight of the unit, the line to land by the end of the week: sections feel different because of what is playing, not just because of a label. A chorus is not called a chorus because someone decided to call it that. It is called a chorus because it is texturally fuller, emotionally bigger and more memorable than the verse. That is a compositional decision, not a naming decision.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example 1, about 10 to 12 minutes. First listen, about 90 seconds: play without stopping; students raise a hand when they feel the section change. Do not define, just listen. Second listen: pause at each change and ask what came in or dropped out; label it on the board. Third listen: count the measures together out loud. Students usually discover on their own that sections land in multiples of 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between the two class examples. A section is not just a label: it has a job, and the job tells you how to build it. Point back to Crazy: where was the setup, where was the payoff? Mention that not every song has a pre-chorus or a bridge; students will hunt for them in their independent songs. The full descriptions are on the project sheet.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example 2, same process at a faster pace, with students leading more of the labeling. The verse is sparse and unsettled; the chorus erupts with full synth pad and drums, so the section change is physically felt. Push for musical answers to the last question (what came in, what got thicker), not just ‘it sounds louder’.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Independent analysis, about 20 minutes. Each student picks two of the four songs and completes a Song Form table for each: label every section, count the measures, note what is playing. Students play the songs from YouTube or Spotify on their own headphones. The image shows how a finished row looks, using the class example. Circulate and check that sections are labeled and measures counted.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share-out at the end of Day 1 is important. Ask: what patterns did you notice across all four songs? Let students get there before you show the bullets. These are the principles they will apply the next day. Students finish with the written response, two or three sentences, on the Compare the Forms page.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2 opens here. Arrangement is the decisions about which elements play in which sections: what comes in, what drops out, and when. Walk the picture left to right: the intro is one element, the verse adds bass and drums, the chorus adds the chord layer and the melody, the outro strips back. Count the black bars in each column: that count is the texture. The unit’s mixing concept is arrangement as mix.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worked example in Logic, a 5-minute whole-class demo. Do it live with one student’s chords or your own. After step 3 ask what changed; the notes did not, the texture did. After step 5 ask: can you hear the chorus get bigger? That is arrangement as mix. Students will repeat this on Day 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filled-in planning table for a short song in C major, I–V–vi–IV (C G Am F). Six sections, 32 measures, every section 4 or 8 bars. Read down the elements column: the intro has one element, the verses three, the choruses five, the outro two and then one. Every row names its transition. Compare it to Crazy: same 4s and 8s, chorus fullest, but shorter verses because this is a skeleton.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Enforce the planning table: do not let anyone open the arrangement view until the plan is filled in. Walk around and check: the chorus has more elements than the verse, the intro starts with fewer than the verse, every section change has a transition written down, and sections have real names, not Part 1 and Part 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transition types from earlier units are the vocabulary for every section change: fill, breakdown, cut and build. Ask students to name which type they will use at each change and why. A section change with no acknowledgment sounds like a loop. If you can, tap each one on a drum track so students hear the difference.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 out the project sheet and rubric. Students arrange their own chords, bass and melody into a song. Intro, verse and chorus are required; bridge and outro are encouraged. Sections are at least 4 measures each. The test for the whole project: can you hear which section you are in without looking at the screen?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four days: Day 1 the listening and the Song Form sheet, Day 2 the plan, the melody and the skeleton, Day 3 the chord layer, melody placement and drum transitions, Day 4 finish, submit and present. The six steps on the project sheet follow the same order.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deliverables from the submission checklist. Show where students submit (your class page) and where the feedback questions go (any class feedback board). Export: File › Bounce › Project or Section, MP3. Compress: in Finder, Control-click the .logicx project › Compress.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categories, each scored 2 to 5, for a total out of 25. Read the 5 column aloud so students know what great looks like: accurate sheets and real insight, a complete song with a beginning, middle and end, sections you can identify by ear, a mix that follows the arrangement, and a presentation that explains the choices section by section.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4, the last three minutes, after the presentations. Close with this line: what you just heard (intro, verse, chorus, verse, chorus) is the structure of almost every pop song ever released. You did not just copy that structure. You understood it well enough to build it yourself.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384048"/>
            <a:ext cx="12191695" cy="457200"/>
          </a:xfrm>
          <a:prstGeom prst="rect">
            <a:avLst/>
          </a:prstGeom>
          <a:noFill/>
        </p:spPr>
        <p:txBody>
          <a:bodyPr wrap="square" anchor="t" lIns="36576" rIns="36576" tIns="18288" bIns="18288">
            <a:spAutoFit/>
          </a:bodyPr>
          <a:lstStyle/>
          <a:p>
            <a:pPr algn="ctr"/>
            <a:r>
              <a:rPr sz="1600" b="0" spc="800">
                <a:solidFill>
                  <a:srgbClr val="000000"/>
                </a:solidFill>
                <a:latin typeface="Oswald"/>
              </a:rPr>
              <a:t>HUDSON BEAT</a:t>
            </a:r>
          </a:p>
        </p:txBody>
      </p:sp>
      <p:pic>
        <p:nvPicPr>
          <p:cNvPr id="3" name="Picture 2" descr="deck-hero.png"/>
          <p:cNvPicPr>
            <a:picLocks noChangeAspect="1"/>
          </p:cNvPicPr>
          <p:nvPr/>
        </p:nvPicPr>
        <p:blipFill>
          <a:blip r:embed="rId2"/>
          <a:stretch>
            <a:fillRect/>
          </a:stretch>
        </p:blipFill>
        <p:spPr>
          <a:xfrm>
            <a:off x="2167128" y="914400"/>
            <a:ext cx="7863840" cy="2720340"/>
          </a:xfrm>
          <a:prstGeom prst="rect">
            <a:avLst/>
          </a:prstGeom>
        </p:spPr>
      </p:pic>
      <p:sp>
        <p:nvSpPr>
          <p:cNvPr id="4" name="TextBox 3"/>
          <p:cNvSpPr txBox="1"/>
          <p:nvPr/>
        </p:nvSpPr>
        <p:spPr>
          <a:xfrm>
            <a:off x="0" y="3703320"/>
            <a:ext cx="12191695" cy="1188720"/>
          </a:xfrm>
          <a:prstGeom prst="rect">
            <a:avLst/>
          </a:prstGeom>
          <a:noFill/>
        </p:spPr>
        <p:txBody>
          <a:bodyPr wrap="square" anchor="t" lIns="36576" rIns="36576" tIns="18288" bIns="18288">
            <a:spAutoFit/>
          </a:bodyPr>
          <a:lstStyle/>
          <a:p>
            <a:pPr algn="ctr"/>
            <a:r>
              <a:rPr sz="8000" b="1">
                <a:solidFill>
                  <a:srgbClr val="000000"/>
                </a:solidFill>
                <a:latin typeface="Oswald"/>
              </a:rPr>
              <a:t>SONG FORM</a:t>
            </a:r>
          </a:p>
        </p:txBody>
      </p:sp>
      <p:sp>
        <p:nvSpPr>
          <p:cNvPr id="5" name="TextBox 4"/>
          <p:cNvSpPr txBox="1"/>
          <p:nvPr/>
        </p:nvSpPr>
        <p:spPr>
          <a:xfrm>
            <a:off x="0" y="4983480"/>
            <a:ext cx="12191695" cy="548640"/>
          </a:xfrm>
          <a:prstGeom prst="rect">
            <a:avLst/>
          </a:prstGeom>
          <a:noFill/>
        </p:spPr>
        <p:txBody>
          <a:bodyPr wrap="square" anchor="t" lIns="36576" rIns="36576" tIns="18288" bIns="18288">
            <a:spAutoFit/>
          </a:bodyPr>
          <a:lstStyle/>
          <a:p>
            <a:pPr algn="ctr"/>
            <a:r>
              <a:rPr sz="2800" b="0">
                <a:solidFill>
                  <a:srgbClr val="000000"/>
                </a:solidFill>
                <a:latin typeface="Oswald"/>
              </a:rPr>
              <a:t>Feat. Blinding Lights</a:t>
            </a:r>
          </a:p>
        </p:txBody>
      </p:sp>
      <p:sp>
        <p:nvSpPr>
          <p:cNvPr id="6" name="Rectangle 5"/>
          <p:cNvSpPr/>
          <p:nvPr/>
        </p:nvSpPr>
        <p:spPr>
          <a:xfrm>
            <a:off x="0" y="5989320"/>
            <a:ext cx="12191695" cy="868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108192"/>
            <a:ext cx="12191695" cy="548640"/>
          </a:xfrm>
          <a:prstGeom prst="rect">
            <a:avLst/>
          </a:prstGeom>
          <a:noFill/>
        </p:spPr>
        <p:txBody>
          <a:bodyPr wrap="square" anchor="t" lIns="36576" rIns="36576" tIns="18288" bIns="18288">
            <a:spAutoFit/>
          </a:bodyPr>
          <a:lstStyle/>
          <a:p>
            <a:pPr algn="ctr"/>
            <a:r>
              <a:rPr sz="2000" b="0" spc="200">
                <a:solidFill>
                  <a:srgbClr val="FFFFFF"/>
                </a:solidFill>
                <a:latin typeface="Oswald"/>
              </a:rPr>
              <a:t>DIGITAL MUSIC PRODUCTION · UNIT 5 · DAY 1 · SONG STRUCTURE IN LOGIC PRO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THE HECK IS SONG FORM?</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Song Form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a:t>
            </a:r>
          </a:p>
        </p:txBody>
      </p:sp>
      <p:sp>
        <p:nvSpPr>
          <p:cNvPr id="10" name="Oval 9"/>
          <p:cNvSpPr/>
          <p:nvPr/>
        </p:nvSpPr>
        <p:spPr>
          <a:xfrm>
            <a:off x="548640" y="2258568"/>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10312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The overall structure of a song</a:t>
            </a:r>
          </a:p>
        </p:txBody>
      </p:sp>
      <p:sp>
        <p:nvSpPr>
          <p:cNvPr id="12" name="Oval 11"/>
          <p:cNvSpPr/>
          <p:nvPr/>
        </p:nvSpPr>
        <p:spPr>
          <a:xfrm>
            <a:off x="548640" y="3122168"/>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672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How its sections are organized, beginning to end</a:t>
            </a:r>
          </a:p>
        </p:txBody>
      </p:sp>
      <p:sp>
        <p:nvSpPr>
          <p:cNvPr id="14" name="Oval 13"/>
          <p:cNvSpPr/>
          <p:nvPr/>
        </p:nvSpPr>
        <p:spPr>
          <a:xfrm>
            <a:off x="548640" y="3985767"/>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830319"/>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Intro · verse · chorus · bridge · outro</a:t>
            </a:r>
          </a:p>
        </p:txBody>
      </p:sp>
      <p:sp>
        <p:nvSpPr>
          <p:cNvPr id="16" name="Oval 15"/>
          <p:cNvSpPr/>
          <p:nvPr/>
        </p:nvSpPr>
        <p:spPr>
          <a:xfrm>
            <a:off x="548640" y="4849367"/>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69392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Sections feel different because of what is playing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LISTEN: FEEL THE CHANGE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Song Form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3</a:t>
            </a:r>
          </a:p>
        </p:txBody>
      </p:sp>
      <p:sp>
        <p:nvSpPr>
          <p:cNvPr id="10" name="Rounded Rectangle 9"/>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CRAZY</a:t>
            </a:r>
          </a:p>
        </p:txBody>
      </p:sp>
      <p:sp>
        <p:nvSpPr>
          <p:cNvPr id="12" name="TextBox 11"/>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C9B8F3"/>
                </a:solidFill>
                <a:latin typeface="Oswald"/>
              </a:rPr>
              <a:t>Gnarls Barkley</a:t>
            </a:r>
          </a:p>
        </p:txBody>
      </p:sp>
      <p:sp>
        <p:nvSpPr>
          <p:cNvPr id="13" name="TextBox 12"/>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Teacher: play the first 2–3 minutes from YouTube or Spotify.</a:t>
            </a:r>
          </a:p>
        </p:txBody>
      </p:sp>
      <p:sp>
        <p:nvSpPr>
          <p:cNvPr id="14" name="Oval 13"/>
          <p:cNvSpPr/>
          <p:nvPr/>
        </p:nvSpPr>
        <p:spPr>
          <a:xfrm>
            <a:off x="548640" y="4069080"/>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Raise your hand when the section changes</a:t>
            </a:r>
          </a:p>
        </p:txBody>
      </p:sp>
      <p:sp>
        <p:nvSpPr>
          <p:cNvPr id="16" name="Oval 15"/>
          <p:cNvSpPr/>
          <p:nvPr/>
        </p:nvSpPr>
        <p:spPr>
          <a:xfrm>
            <a:off x="548640" y="4678680"/>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5415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came in? What dropped out?</a:t>
            </a:r>
          </a:p>
        </p:txBody>
      </p:sp>
      <p:sp>
        <p:nvSpPr>
          <p:cNvPr id="18" name="Oval 17"/>
          <p:cNvSpPr/>
          <p:nvPr/>
        </p:nvSpPr>
        <p:spPr>
          <a:xfrm>
            <a:off x="548640" y="5288280"/>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1511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Count the measures: what number keeps showing 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EACH SECTION DOES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Song Form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4</a:t>
            </a:r>
          </a:p>
        </p:txBody>
      </p:sp>
      <p:sp>
        <p:nvSpPr>
          <p:cNvPr id="10" name="Rounded Rectangle 9"/>
          <p:cNvSpPr/>
          <p:nvPr/>
        </p:nvSpPr>
        <p:spPr>
          <a:xfrm>
            <a:off x="548640" y="1874519"/>
            <a:ext cx="3520440" cy="201168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39112"/>
            <a:ext cx="3154680" cy="640080"/>
          </a:xfrm>
          <a:prstGeom prst="rect">
            <a:avLst/>
          </a:prstGeom>
          <a:noFill/>
        </p:spPr>
        <p:txBody>
          <a:bodyPr wrap="square" anchor="t" lIns="36576" rIns="36576" tIns="18288" bIns="18288">
            <a:spAutoFit/>
          </a:bodyPr>
          <a:lstStyle/>
          <a:p>
            <a:pPr algn="ctr"/>
            <a:r>
              <a:rPr sz="3200" b="1">
                <a:solidFill>
                  <a:srgbClr val="6E44D6"/>
                </a:solidFill>
                <a:latin typeface="Oswald"/>
              </a:rPr>
              <a:t>INTRO</a:t>
            </a:r>
          </a:p>
        </p:txBody>
      </p:sp>
      <p:sp>
        <p:nvSpPr>
          <p:cNvPr id="12" name="TextBox 11"/>
          <p:cNvSpPr txBox="1"/>
          <p:nvPr/>
        </p:nvSpPr>
        <p:spPr>
          <a:xfrm>
            <a:off x="731520" y="2743200"/>
            <a:ext cx="3154680" cy="1051560"/>
          </a:xfrm>
          <a:prstGeom prst="rect">
            <a:avLst/>
          </a:prstGeom>
          <a:noFill/>
        </p:spPr>
        <p:txBody>
          <a:bodyPr wrap="square" anchor="t" lIns="36576" rIns="36576" tIns="18288" bIns="18288">
            <a:spAutoFit/>
          </a:bodyPr>
          <a:lstStyle/>
          <a:p>
            <a:pPr algn="ctr"/>
            <a:r>
              <a:rPr sz="2200" b="0">
                <a:solidFill>
                  <a:srgbClr val="000000"/>
                </a:solidFill>
                <a:latin typeface="Source Sans 3"/>
              </a:rPr>
              <a:t>Earns attention. Starts sparse and builds.</a:t>
            </a:r>
          </a:p>
        </p:txBody>
      </p:sp>
      <p:sp>
        <p:nvSpPr>
          <p:cNvPr id="13" name="Rounded Rectangle 12"/>
          <p:cNvSpPr/>
          <p:nvPr/>
        </p:nvSpPr>
        <p:spPr>
          <a:xfrm>
            <a:off x="4334255" y="1874519"/>
            <a:ext cx="3520440" cy="201168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7136" y="2039112"/>
            <a:ext cx="3154680" cy="640080"/>
          </a:xfrm>
          <a:prstGeom prst="rect">
            <a:avLst/>
          </a:prstGeom>
          <a:noFill/>
        </p:spPr>
        <p:txBody>
          <a:bodyPr wrap="square" anchor="t" lIns="36576" rIns="36576" tIns="18288" bIns="18288">
            <a:spAutoFit/>
          </a:bodyPr>
          <a:lstStyle/>
          <a:p>
            <a:pPr algn="ctr"/>
            <a:r>
              <a:rPr sz="3200" b="1">
                <a:solidFill>
                  <a:srgbClr val="6E44D6"/>
                </a:solidFill>
                <a:latin typeface="Oswald"/>
              </a:rPr>
              <a:t>VERSE</a:t>
            </a:r>
          </a:p>
        </p:txBody>
      </p:sp>
      <p:sp>
        <p:nvSpPr>
          <p:cNvPr id="15" name="TextBox 14"/>
          <p:cNvSpPr txBox="1"/>
          <p:nvPr/>
        </p:nvSpPr>
        <p:spPr>
          <a:xfrm>
            <a:off x="4517136" y="2743200"/>
            <a:ext cx="3154680" cy="1051560"/>
          </a:xfrm>
          <a:prstGeom prst="rect">
            <a:avLst/>
          </a:prstGeom>
          <a:noFill/>
        </p:spPr>
        <p:txBody>
          <a:bodyPr wrap="square" anchor="t" lIns="36576" rIns="36576" tIns="18288" bIns="18288">
            <a:spAutoFit/>
          </a:bodyPr>
          <a:lstStyle/>
          <a:p>
            <a:pPr algn="ctr"/>
            <a:r>
              <a:rPr sz="2200" b="0">
                <a:solidFill>
                  <a:srgbClr val="000000"/>
                </a:solidFill>
                <a:latin typeface="Source Sans 3"/>
              </a:rPr>
              <a:t>The setup. Sparser than the chorus.</a:t>
            </a:r>
          </a:p>
        </p:txBody>
      </p:sp>
      <p:sp>
        <p:nvSpPr>
          <p:cNvPr id="16" name="Rounded Rectangle 15"/>
          <p:cNvSpPr/>
          <p:nvPr/>
        </p:nvSpPr>
        <p:spPr>
          <a:xfrm>
            <a:off x="8119871" y="1874519"/>
            <a:ext cx="3520440" cy="201168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1" y="2039112"/>
            <a:ext cx="3154680" cy="640080"/>
          </a:xfrm>
          <a:prstGeom prst="rect">
            <a:avLst/>
          </a:prstGeom>
          <a:noFill/>
        </p:spPr>
        <p:txBody>
          <a:bodyPr wrap="square" anchor="t" lIns="36576" rIns="36576" tIns="18288" bIns="18288">
            <a:spAutoFit/>
          </a:bodyPr>
          <a:lstStyle/>
          <a:p>
            <a:pPr algn="ctr"/>
            <a:r>
              <a:rPr sz="3200" b="1">
                <a:solidFill>
                  <a:srgbClr val="6E44D6"/>
                </a:solidFill>
                <a:latin typeface="Oswald"/>
              </a:rPr>
              <a:t>PRE-CHORUS</a:t>
            </a:r>
          </a:p>
        </p:txBody>
      </p:sp>
      <p:sp>
        <p:nvSpPr>
          <p:cNvPr id="18" name="TextBox 17"/>
          <p:cNvSpPr txBox="1"/>
          <p:nvPr/>
        </p:nvSpPr>
        <p:spPr>
          <a:xfrm>
            <a:off x="8302751" y="2743200"/>
            <a:ext cx="3154680" cy="1051560"/>
          </a:xfrm>
          <a:prstGeom prst="rect">
            <a:avLst/>
          </a:prstGeom>
          <a:noFill/>
        </p:spPr>
        <p:txBody>
          <a:bodyPr wrap="square" anchor="t" lIns="36576" rIns="36576" tIns="18288" bIns="18288">
            <a:spAutoFit/>
          </a:bodyPr>
          <a:lstStyle/>
          <a:p>
            <a:pPr algn="ctr"/>
            <a:r>
              <a:rPr sz="2200" b="0">
                <a:solidFill>
                  <a:srgbClr val="000000"/>
                </a:solidFill>
                <a:latin typeface="Source Sans 3"/>
              </a:rPr>
              <a:t>Optional. Builds tension before the chorus.</a:t>
            </a:r>
          </a:p>
        </p:txBody>
      </p:sp>
      <p:sp>
        <p:nvSpPr>
          <p:cNvPr id="19" name="Rounded Rectangle 18"/>
          <p:cNvSpPr/>
          <p:nvPr/>
        </p:nvSpPr>
        <p:spPr>
          <a:xfrm>
            <a:off x="548640" y="4114800"/>
            <a:ext cx="3520440" cy="2011680"/>
          </a:xfrm>
          <a:prstGeom prst="roundRect">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279392"/>
            <a:ext cx="3154680" cy="640080"/>
          </a:xfrm>
          <a:prstGeom prst="rect">
            <a:avLst/>
          </a:prstGeom>
          <a:noFill/>
        </p:spPr>
        <p:txBody>
          <a:bodyPr wrap="square" anchor="t" lIns="36576" rIns="36576" tIns="18288" bIns="18288">
            <a:spAutoFit/>
          </a:bodyPr>
          <a:lstStyle/>
          <a:p>
            <a:pPr algn="ctr"/>
            <a:r>
              <a:rPr sz="3200" b="1">
                <a:solidFill>
                  <a:srgbClr val="FFFFFF"/>
                </a:solidFill>
                <a:latin typeface="Oswald"/>
              </a:rPr>
              <a:t>CHORUS</a:t>
            </a:r>
          </a:p>
        </p:txBody>
      </p:sp>
      <p:sp>
        <p:nvSpPr>
          <p:cNvPr id="21" name="TextBox 20"/>
          <p:cNvSpPr txBox="1"/>
          <p:nvPr/>
        </p:nvSpPr>
        <p:spPr>
          <a:xfrm>
            <a:off x="731520" y="4983480"/>
            <a:ext cx="3154680" cy="1051560"/>
          </a:xfrm>
          <a:prstGeom prst="rect">
            <a:avLst/>
          </a:prstGeom>
          <a:noFill/>
        </p:spPr>
        <p:txBody>
          <a:bodyPr wrap="square" anchor="t" lIns="36576" rIns="36576" tIns="18288" bIns="18288">
            <a:spAutoFit/>
          </a:bodyPr>
          <a:lstStyle/>
          <a:p>
            <a:pPr algn="ctr"/>
            <a:r>
              <a:rPr sz="2200" b="0">
                <a:solidFill>
                  <a:srgbClr val="FFFFFF"/>
                </a:solidFill>
                <a:latin typeface="Source Sans 3"/>
              </a:rPr>
              <a:t>The peak. Fuller, louder, same every time.</a:t>
            </a:r>
          </a:p>
        </p:txBody>
      </p:sp>
      <p:sp>
        <p:nvSpPr>
          <p:cNvPr id="22" name="Rounded Rectangle 21"/>
          <p:cNvSpPr/>
          <p:nvPr/>
        </p:nvSpPr>
        <p:spPr>
          <a:xfrm>
            <a:off x="4334255" y="4114800"/>
            <a:ext cx="3520440" cy="201168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17136" y="4279392"/>
            <a:ext cx="3154680" cy="640080"/>
          </a:xfrm>
          <a:prstGeom prst="rect">
            <a:avLst/>
          </a:prstGeom>
          <a:noFill/>
        </p:spPr>
        <p:txBody>
          <a:bodyPr wrap="square" anchor="t" lIns="36576" rIns="36576" tIns="18288" bIns="18288">
            <a:spAutoFit/>
          </a:bodyPr>
          <a:lstStyle/>
          <a:p>
            <a:pPr algn="ctr"/>
            <a:r>
              <a:rPr sz="3200" b="1">
                <a:solidFill>
                  <a:srgbClr val="6E44D6"/>
                </a:solidFill>
                <a:latin typeface="Oswald"/>
              </a:rPr>
              <a:t>BRIDGE</a:t>
            </a:r>
          </a:p>
        </p:txBody>
      </p:sp>
      <p:sp>
        <p:nvSpPr>
          <p:cNvPr id="24" name="TextBox 23"/>
          <p:cNvSpPr txBox="1"/>
          <p:nvPr/>
        </p:nvSpPr>
        <p:spPr>
          <a:xfrm>
            <a:off x="4517136" y="4983480"/>
            <a:ext cx="3154680" cy="1051560"/>
          </a:xfrm>
          <a:prstGeom prst="rect">
            <a:avLst/>
          </a:prstGeom>
          <a:noFill/>
        </p:spPr>
        <p:txBody>
          <a:bodyPr wrap="square" anchor="t" lIns="36576" rIns="36576" tIns="18288" bIns="18288">
            <a:spAutoFit/>
          </a:bodyPr>
          <a:lstStyle/>
          <a:p>
            <a:pPr algn="ctr"/>
            <a:r>
              <a:rPr sz="2200" b="0">
                <a:solidFill>
                  <a:srgbClr val="000000"/>
                </a:solidFill>
                <a:latin typeface="Source Sans 3"/>
              </a:rPr>
              <a:t>Breaks the pattern once, before the last chorus.</a:t>
            </a:r>
          </a:p>
        </p:txBody>
      </p:sp>
      <p:sp>
        <p:nvSpPr>
          <p:cNvPr id="25" name="Rounded Rectangle 24"/>
          <p:cNvSpPr/>
          <p:nvPr/>
        </p:nvSpPr>
        <p:spPr>
          <a:xfrm>
            <a:off x="8119871" y="4114800"/>
            <a:ext cx="3520440" cy="201168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02751" y="4279392"/>
            <a:ext cx="3154680" cy="640080"/>
          </a:xfrm>
          <a:prstGeom prst="rect">
            <a:avLst/>
          </a:prstGeom>
          <a:noFill/>
        </p:spPr>
        <p:txBody>
          <a:bodyPr wrap="square" anchor="t" lIns="36576" rIns="36576" tIns="18288" bIns="18288">
            <a:spAutoFit/>
          </a:bodyPr>
          <a:lstStyle/>
          <a:p>
            <a:pPr algn="ctr"/>
            <a:r>
              <a:rPr sz="3200" b="1">
                <a:solidFill>
                  <a:srgbClr val="6E44D6"/>
                </a:solidFill>
                <a:latin typeface="Oswald"/>
              </a:rPr>
              <a:t>OUTRO</a:t>
            </a:r>
          </a:p>
        </p:txBody>
      </p:sp>
      <p:sp>
        <p:nvSpPr>
          <p:cNvPr id="27" name="TextBox 26"/>
          <p:cNvSpPr txBox="1"/>
          <p:nvPr/>
        </p:nvSpPr>
        <p:spPr>
          <a:xfrm>
            <a:off x="8302751" y="4983480"/>
            <a:ext cx="3154680" cy="1051560"/>
          </a:xfrm>
          <a:prstGeom prst="rect">
            <a:avLst/>
          </a:prstGeom>
          <a:noFill/>
        </p:spPr>
        <p:txBody>
          <a:bodyPr wrap="square" anchor="t" lIns="36576" rIns="36576" tIns="18288" bIns="18288">
            <a:spAutoFit/>
          </a:bodyPr>
          <a:lstStyle/>
          <a:p>
            <a:pPr algn="ctr"/>
            <a:r>
              <a:rPr sz="2200" b="0">
                <a:solidFill>
                  <a:srgbClr val="000000"/>
                </a:solidFill>
                <a:latin typeface="Source Sans 3"/>
              </a:rPr>
              <a:t>Brings it home. Strips back. Ends cleanly.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LISTEN: SONG 2</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Song Form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5</a:t>
            </a:r>
          </a:p>
        </p:txBody>
      </p:sp>
      <p:sp>
        <p:nvSpPr>
          <p:cNvPr id="10" name="Rounded Rectangle 9"/>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BLINDING LIGHTS</a:t>
            </a:r>
          </a:p>
        </p:txBody>
      </p:sp>
      <p:sp>
        <p:nvSpPr>
          <p:cNvPr id="12" name="TextBox 11"/>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C9B8F3"/>
                </a:solidFill>
                <a:latin typeface="Oswald"/>
              </a:rPr>
              <a:t>The Weeknd</a:t>
            </a:r>
          </a:p>
        </p:txBody>
      </p:sp>
      <p:sp>
        <p:nvSpPr>
          <p:cNvPr id="13" name="TextBox 12"/>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Teacher: play the first 2–3 minutes from YouTube or Spotify.</a:t>
            </a:r>
          </a:p>
        </p:txBody>
      </p:sp>
      <p:sp>
        <p:nvSpPr>
          <p:cNvPr id="14" name="Oval 13"/>
          <p:cNvSpPr/>
          <p:nvPr/>
        </p:nvSpPr>
        <p:spPr>
          <a:xfrm>
            <a:off x="548640" y="4069080"/>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lead the labeling this time</a:t>
            </a:r>
          </a:p>
        </p:txBody>
      </p:sp>
      <p:sp>
        <p:nvSpPr>
          <p:cNvPr id="16" name="Oval 15"/>
          <p:cNvSpPr/>
          <p:nvPr/>
        </p:nvSpPr>
        <p:spPr>
          <a:xfrm>
            <a:off x="548640" y="4678680"/>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5415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Same structure as Crazy? What is different?</a:t>
            </a:r>
          </a:p>
        </p:txBody>
      </p:sp>
      <p:sp>
        <p:nvSpPr>
          <p:cNvPr id="18" name="Oval 17"/>
          <p:cNvSpPr/>
          <p:nvPr/>
        </p:nvSpPr>
        <p:spPr>
          <a:xfrm>
            <a:off x="548640" y="5288280"/>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1511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Why does the chorus feel bigger?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YOUR TURN: TWO SONGS ON YOUR OWN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Song Form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6</a:t>
            </a:r>
          </a:p>
        </p:txBody>
      </p:sp>
      <p:pic>
        <p:nvPicPr>
          <p:cNvPr id="10" name="Picture 9" descr="deck-sheet.png"/>
          <p:cNvPicPr>
            <a:picLocks noChangeAspect="1"/>
          </p:cNvPicPr>
          <p:nvPr/>
        </p:nvPicPr>
        <p:blipFill>
          <a:blip r:embed="rId2"/>
          <a:stretch>
            <a:fillRect/>
          </a:stretch>
        </p:blipFill>
        <p:spPr>
          <a:xfrm>
            <a:off x="548640" y="1810512"/>
            <a:ext cx="11091672" cy="1455782"/>
          </a:xfrm>
          <a:prstGeom prst="rect">
            <a:avLst/>
          </a:prstGeom>
        </p:spPr>
      </p:pic>
      <p:sp>
        <p:nvSpPr>
          <p:cNvPr id="11" name="TextBox 10"/>
          <p:cNvSpPr txBox="1"/>
          <p:nvPr/>
        </p:nvSpPr>
        <p:spPr>
          <a:xfrm>
            <a:off x="548640" y="3321157"/>
            <a:ext cx="11064240" cy="365760"/>
          </a:xfrm>
          <a:prstGeom prst="rect">
            <a:avLst/>
          </a:prstGeom>
          <a:noFill/>
        </p:spPr>
        <p:txBody>
          <a:bodyPr wrap="square" anchor="t" lIns="36576" rIns="36576" tIns="18288" bIns="18288">
            <a:spAutoFit/>
          </a:bodyPr>
          <a:lstStyle/>
          <a:p>
            <a:pPr algn="l"/>
            <a:r>
              <a:rPr sz="1700" b="0">
                <a:solidFill>
                  <a:srgbClr val="000000"/>
                </a:solidFill>
                <a:latin typeface="Source Sans 3"/>
              </a:rPr>
              <a:t>A finished table looks like this (class example). Now pick two of these. Find them on YouTube or Spotify:</a:t>
            </a:r>
          </a:p>
        </p:txBody>
      </p:sp>
      <p:sp>
        <p:nvSpPr>
          <p:cNvPr id="12" name="Rounded Rectangle 11"/>
          <p:cNvSpPr/>
          <p:nvPr/>
        </p:nvSpPr>
        <p:spPr>
          <a:xfrm>
            <a:off x="548640" y="3814933"/>
            <a:ext cx="5468112" cy="86868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814933"/>
            <a:ext cx="3291840" cy="868680"/>
          </a:xfrm>
          <a:prstGeom prst="rect">
            <a:avLst/>
          </a:prstGeom>
          <a:noFill/>
        </p:spPr>
        <p:txBody>
          <a:bodyPr wrap="square" anchor="ctr" lIns="36576" rIns="36576" tIns="18288" bIns="18288">
            <a:spAutoFit/>
          </a:bodyPr>
          <a:lstStyle/>
          <a:p>
            <a:pPr algn="l"/>
            <a:r>
              <a:rPr sz="2800" b="1">
                <a:solidFill>
                  <a:srgbClr val="FFFFFF"/>
                </a:solidFill>
                <a:latin typeface="Oswald"/>
              </a:rPr>
              <a:t>ANTI-HERO</a:t>
            </a:r>
          </a:p>
        </p:txBody>
      </p:sp>
      <p:sp>
        <p:nvSpPr>
          <p:cNvPr id="14" name="TextBox 13"/>
          <p:cNvSpPr txBox="1"/>
          <p:nvPr/>
        </p:nvSpPr>
        <p:spPr>
          <a:xfrm>
            <a:off x="3931920" y="3814933"/>
            <a:ext cx="1920240" cy="868680"/>
          </a:xfrm>
          <a:prstGeom prst="rect">
            <a:avLst/>
          </a:prstGeom>
          <a:noFill/>
        </p:spPr>
        <p:txBody>
          <a:bodyPr wrap="square" anchor="ctr" lIns="36576" rIns="36576" tIns="18288" bIns="18288">
            <a:spAutoFit/>
          </a:bodyPr>
          <a:lstStyle/>
          <a:p>
            <a:pPr algn="r"/>
            <a:r>
              <a:rPr sz="2000" b="0">
                <a:solidFill>
                  <a:srgbClr val="C9B8F3"/>
                </a:solidFill>
                <a:latin typeface="Oswald"/>
              </a:rPr>
              <a:t>Taylor Swift</a:t>
            </a:r>
          </a:p>
        </p:txBody>
      </p:sp>
      <p:sp>
        <p:nvSpPr>
          <p:cNvPr id="15" name="Rounded Rectangle 14"/>
          <p:cNvSpPr/>
          <p:nvPr/>
        </p:nvSpPr>
        <p:spPr>
          <a:xfrm>
            <a:off x="6172200" y="3814933"/>
            <a:ext cx="5468112" cy="86868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814933"/>
            <a:ext cx="3291840" cy="868680"/>
          </a:xfrm>
          <a:prstGeom prst="rect">
            <a:avLst/>
          </a:prstGeom>
          <a:noFill/>
        </p:spPr>
        <p:txBody>
          <a:bodyPr wrap="square" anchor="ctr" lIns="36576" rIns="36576" tIns="18288" bIns="18288">
            <a:spAutoFit/>
          </a:bodyPr>
          <a:lstStyle/>
          <a:p>
            <a:pPr algn="l"/>
            <a:r>
              <a:rPr sz="2800" b="1">
                <a:solidFill>
                  <a:srgbClr val="FFFFFF"/>
                </a:solidFill>
                <a:latin typeface="Oswald"/>
              </a:rPr>
              <a:t>GOOD 4 U</a:t>
            </a:r>
          </a:p>
        </p:txBody>
      </p:sp>
      <p:sp>
        <p:nvSpPr>
          <p:cNvPr id="17" name="TextBox 16"/>
          <p:cNvSpPr txBox="1"/>
          <p:nvPr/>
        </p:nvSpPr>
        <p:spPr>
          <a:xfrm>
            <a:off x="9555480" y="3814933"/>
            <a:ext cx="1920240" cy="868680"/>
          </a:xfrm>
          <a:prstGeom prst="rect">
            <a:avLst/>
          </a:prstGeom>
          <a:noFill/>
        </p:spPr>
        <p:txBody>
          <a:bodyPr wrap="square" anchor="ctr" lIns="36576" rIns="36576" tIns="18288" bIns="18288">
            <a:spAutoFit/>
          </a:bodyPr>
          <a:lstStyle/>
          <a:p>
            <a:pPr algn="r"/>
            <a:r>
              <a:rPr sz="2000" b="0">
                <a:solidFill>
                  <a:srgbClr val="C9B8F3"/>
                </a:solidFill>
                <a:latin typeface="Oswald"/>
              </a:rPr>
              <a:t>Olivia Rodrigo</a:t>
            </a:r>
          </a:p>
        </p:txBody>
      </p:sp>
      <p:sp>
        <p:nvSpPr>
          <p:cNvPr id="18" name="Rounded Rectangle 17"/>
          <p:cNvSpPr/>
          <p:nvPr/>
        </p:nvSpPr>
        <p:spPr>
          <a:xfrm>
            <a:off x="548640" y="4839061"/>
            <a:ext cx="5468112" cy="86868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39061"/>
            <a:ext cx="3291840" cy="868680"/>
          </a:xfrm>
          <a:prstGeom prst="rect">
            <a:avLst/>
          </a:prstGeom>
          <a:noFill/>
        </p:spPr>
        <p:txBody>
          <a:bodyPr wrap="square" anchor="ctr" lIns="36576" rIns="36576" tIns="18288" bIns="18288">
            <a:spAutoFit/>
          </a:bodyPr>
          <a:lstStyle/>
          <a:p>
            <a:pPr algn="l"/>
            <a:r>
              <a:rPr sz="2800" b="1">
                <a:solidFill>
                  <a:srgbClr val="FFFFFF"/>
                </a:solidFill>
                <a:latin typeface="Oswald"/>
              </a:rPr>
              <a:t>LEVITATING</a:t>
            </a:r>
          </a:p>
        </p:txBody>
      </p:sp>
      <p:sp>
        <p:nvSpPr>
          <p:cNvPr id="20" name="TextBox 19"/>
          <p:cNvSpPr txBox="1"/>
          <p:nvPr/>
        </p:nvSpPr>
        <p:spPr>
          <a:xfrm>
            <a:off x="3931920" y="4839061"/>
            <a:ext cx="1920240" cy="868680"/>
          </a:xfrm>
          <a:prstGeom prst="rect">
            <a:avLst/>
          </a:prstGeom>
          <a:noFill/>
        </p:spPr>
        <p:txBody>
          <a:bodyPr wrap="square" anchor="ctr" lIns="36576" rIns="36576" tIns="18288" bIns="18288">
            <a:spAutoFit/>
          </a:bodyPr>
          <a:lstStyle/>
          <a:p>
            <a:pPr algn="r"/>
            <a:r>
              <a:rPr sz="2000" b="0">
                <a:solidFill>
                  <a:srgbClr val="C9B8F3"/>
                </a:solidFill>
                <a:latin typeface="Oswald"/>
              </a:rPr>
              <a:t>Dua Lipa</a:t>
            </a:r>
          </a:p>
        </p:txBody>
      </p:sp>
      <p:sp>
        <p:nvSpPr>
          <p:cNvPr id="21" name="Rounded Rectangle 20"/>
          <p:cNvSpPr/>
          <p:nvPr/>
        </p:nvSpPr>
        <p:spPr>
          <a:xfrm>
            <a:off x="6172200" y="4839061"/>
            <a:ext cx="5468112" cy="86868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4839061"/>
            <a:ext cx="3291840" cy="868680"/>
          </a:xfrm>
          <a:prstGeom prst="rect">
            <a:avLst/>
          </a:prstGeom>
          <a:noFill/>
        </p:spPr>
        <p:txBody>
          <a:bodyPr wrap="square" anchor="ctr" lIns="36576" rIns="36576" tIns="18288" bIns="18288">
            <a:spAutoFit/>
          </a:bodyPr>
          <a:lstStyle/>
          <a:p>
            <a:pPr algn="l"/>
            <a:r>
              <a:rPr sz="2800" b="1">
                <a:solidFill>
                  <a:srgbClr val="FFFFFF"/>
                </a:solidFill>
                <a:latin typeface="Oswald"/>
              </a:rPr>
              <a:t>UPTOWN FUNK</a:t>
            </a:r>
          </a:p>
        </p:txBody>
      </p:sp>
      <p:sp>
        <p:nvSpPr>
          <p:cNvPr id="23" name="TextBox 22"/>
          <p:cNvSpPr txBox="1"/>
          <p:nvPr/>
        </p:nvSpPr>
        <p:spPr>
          <a:xfrm>
            <a:off x="9555480" y="4839061"/>
            <a:ext cx="1920240" cy="868680"/>
          </a:xfrm>
          <a:prstGeom prst="rect">
            <a:avLst/>
          </a:prstGeom>
          <a:noFill/>
        </p:spPr>
        <p:txBody>
          <a:bodyPr wrap="square" anchor="ctr" lIns="36576" rIns="36576" tIns="18288" bIns="18288">
            <a:spAutoFit/>
          </a:bodyPr>
          <a:lstStyle/>
          <a:p>
            <a:pPr algn="r"/>
            <a:r>
              <a:rPr sz="2000" b="0">
                <a:solidFill>
                  <a:srgbClr val="C9B8F3"/>
                </a:solidFill>
                <a:latin typeface="Oswald"/>
              </a:rPr>
              <a:t>Bruno Mars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SHOWED UP EVERY TIME?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Song Form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7</a:t>
            </a:r>
          </a:p>
        </p:txBody>
      </p:sp>
      <p:sp>
        <p:nvSpPr>
          <p:cNvPr id="10" name="Oval 9"/>
          <p:cNvSpPr/>
          <p:nvPr/>
        </p:nvSpPr>
        <p:spPr>
          <a:xfrm>
            <a:off x="548640" y="2258568"/>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10312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Sections are almost always 4 or 8 bars</a:t>
            </a:r>
          </a:p>
        </p:txBody>
      </p:sp>
      <p:sp>
        <p:nvSpPr>
          <p:cNvPr id="12" name="Oval 11"/>
          <p:cNvSpPr/>
          <p:nvPr/>
        </p:nvSpPr>
        <p:spPr>
          <a:xfrm>
            <a:off x="548640" y="3122168"/>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672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The chorus is fuller than the verse</a:t>
            </a:r>
          </a:p>
        </p:txBody>
      </p:sp>
      <p:sp>
        <p:nvSpPr>
          <p:cNvPr id="14" name="Oval 13"/>
          <p:cNvSpPr/>
          <p:nvPr/>
        </p:nvSpPr>
        <p:spPr>
          <a:xfrm>
            <a:off x="548640" y="3985767"/>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830319"/>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Intros build in; outros strip back</a:t>
            </a:r>
          </a:p>
        </p:txBody>
      </p:sp>
      <p:sp>
        <p:nvSpPr>
          <p:cNvPr id="16" name="Oval 15"/>
          <p:cNvSpPr/>
          <p:nvPr/>
        </p:nvSpPr>
        <p:spPr>
          <a:xfrm>
            <a:off x="548640" y="4849367"/>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69392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Write it down: your written response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ARRANGEMENT = WHAT PLAYS WHERE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Song Form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8</a:t>
            </a:r>
          </a:p>
        </p:txBody>
      </p:sp>
      <p:pic>
        <p:nvPicPr>
          <p:cNvPr id="10" name="Picture 9" descr="deck-arr.png"/>
          <p:cNvPicPr>
            <a:picLocks noChangeAspect="1"/>
          </p:cNvPicPr>
          <p:nvPr/>
        </p:nvPicPr>
        <p:blipFill>
          <a:blip r:embed="rId2"/>
          <a:stretch>
            <a:fillRect/>
          </a:stretch>
        </p:blipFill>
        <p:spPr>
          <a:xfrm>
            <a:off x="548640" y="1810512"/>
            <a:ext cx="11091672" cy="4037369"/>
          </a:xfrm>
          <a:prstGeom prst="rect">
            <a:avLst/>
          </a:prstGeom>
        </p:spPr>
      </p:pic>
      <p:sp>
        <p:nvSpPr>
          <p:cNvPr id="11" name="TextBox 10"/>
          <p:cNvSpPr txBox="1"/>
          <p:nvPr/>
        </p:nvSpPr>
        <p:spPr>
          <a:xfrm>
            <a:off x="548640" y="5921032"/>
            <a:ext cx="11064240" cy="411480"/>
          </a:xfrm>
          <a:prstGeom prst="rect">
            <a:avLst/>
          </a:prstGeom>
          <a:noFill/>
        </p:spPr>
        <p:txBody>
          <a:bodyPr wrap="square" anchor="t" lIns="36576" rIns="36576" tIns="18288" bIns="18288">
            <a:spAutoFit/>
          </a:bodyPr>
          <a:lstStyle/>
          <a:p>
            <a:pPr algn="l"/>
            <a:r>
              <a:rPr sz="1700" b="0">
                <a:solidFill>
                  <a:srgbClr val="000000"/>
                </a:solidFill>
                <a:latin typeface="Source Sans 3"/>
              </a:rPr>
              <a:t>The worked example: one lane per element, one column per section. Violet = the chord layer.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WATCH ME: THE CHORD LAYER</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Song Form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9</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822960"/>
          </a:xfrm>
          <a:prstGeom prst="rect">
            <a:avLst/>
          </a:prstGeom>
          <a:noFill/>
        </p:spPr>
        <p:txBody>
          <a:bodyPr wrap="square" anchor="ctr" lIns="36576" rIns="36576" tIns="18288" bIns="18288">
            <a:spAutoFit/>
          </a:bodyPr>
          <a:lstStyle/>
          <a:p>
            <a:pPr algn="l"/>
            <a:r>
              <a:rPr sz="2600" b="0">
                <a:solidFill>
                  <a:srgbClr val="000000"/>
                </a:solidFill>
                <a:latin typeface="Source Sans 3"/>
              </a:rPr>
              <a:t>Option-drag a chord region onto a new track below</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822960"/>
          </a:xfrm>
          <a:prstGeom prst="rect">
            <a:avLst/>
          </a:prstGeom>
          <a:noFill/>
        </p:spPr>
        <p:txBody>
          <a:bodyPr wrap="square" anchor="ctr" lIns="36576" rIns="36576" tIns="18288" bIns="18288">
            <a:spAutoFit/>
          </a:bodyPr>
          <a:lstStyle/>
          <a:p>
            <a:pPr algn="l"/>
            <a:r>
              <a:rPr sz="2600" b="0">
                <a:solidFill>
                  <a:srgbClr val="000000"/>
                </a:solidFill>
                <a:latin typeface="Source Sans 3"/>
              </a:rPr>
              <a:t>Change the instrument: a pad, a Rhodes, a slow-attack synth</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822960"/>
          </a:xfrm>
          <a:prstGeom prst="rect">
            <a:avLst/>
          </a:prstGeom>
          <a:noFill/>
        </p:spPr>
        <p:txBody>
          <a:bodyPr wrap="square" anchor="ctr" lIns="36576" rIns="36576" tIns="18288" bIns="18288">
            <a:spAutoFit/>
          </a:bodyPr>
          <a:lstStyle/>
          <a:p>
            <a:pPr algn="l"/>
            <a:r>
              <a:rPr sz="2600" b="0">
                <a:solidFill>
                  <a:srgbClr val="000000"/>
                </a:solidFill>
                <a:latin typeface="Source Sans 3"/>
              </a:rPr>
              <a:t>Play both together: thicker, same notes</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822960"/>
          </a:xfrm>
          <a:prstGeom prst="rect">
            <a:avLst/>
          </a:prstGeom>
          <a:noFill/>
        </p:spPr>
        <p:txBody>
          <a:bodyPr wrap="square" anchor="ctr" lIns="36576" rIns="36576" tIns="18288" bIns="18288">
            <a:spAutoFit/>
          </a:bodyPr>
          <a:lstStyle/>
          <a:p>
            <a:pPr algn="l"/>
            <a:r>
              <a:rPr sz="2600" b="0">
                <a:solidFill>
                  <a:srgbClr val="000000"/>
                </a:solidFill>
                <a:latin typeface="Source Sans 3"/>
              </a:rPr>
              <a:t>Mute the second track in the verse, unmute it in the chorus</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822960"/>
          </a:xfrm>
          <a:prstGeom prst="rect">
            <a:avLst/>
          </a:prstGeom>
          <a:noFill/>
        </p:spPr>
        <p:txBody>
          <a:bodyPr wrap="square" anchor="ctr" lIns="36576" rIns="36576" tIns="18288" bIns="18288">
            <a:spAutoFit/>
          </a:bodyPr>
          <a:lstStyle/>
          <a:p>
            <a:pPr algn="l"/>
            <a:r>
              <a:rPr sz="2600" b="0">
                <a:solidFill>
                  <a:srgbClr val="000000"/>
                </a:solidFill>
                <a:latin typeface="Source Sans 3"/>
              </a:rPr>
              <a:t>Play it all: can you hear the chorus get bigger?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WORKED EXAMPLE: A 32-MEASURE SKELETON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Song Form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10</a:t>
            </a:r>
          </a:p>
        </p:txBody>
      </p:sp>
      <p:pic>
        <p:nvPicPr>
          <p:cNvPr id="10" name="Picture 9" descr="deck-plan.png"/>
          <p:cNvPicPr>
            <a:picLocks noChangeAspect="1"/>
          </p:cNvPicPr>
          <p:nvPr/>
        </p:nvPicPr>
        <p:blipFill>
          <a:blip r:embed="rId2"/>
          <a:stretch>
            <a:fillRect/>
          </a:stretch>
        </p:blipFill>
        <p:spPr>
          <a:xfrm>
            <a:off x="548640" y="1810512"/>
            <a:ext cx="11091672" cy="4436669"/>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PLAN BEFORE YOU BUILD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Song Form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11</a:t>
            </a:r>
          </a:p>
        </p:txBody>
      </p:sp>
      <p:sp>
        <p:nvSpPr>
          <p:cNvPr id="10" name="Oval 9"/>
          <p:cNvSpPr/>
          <p:nvPr/>
        </p:nvSpPr>
        <p:spPr>
          <a:xfrm>
            <a:off x="548640" y="2244851"/>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103120"/>
            <a:ext cx="10698480" cy="629920"/>
          </a:xfrm>
          <a:prstGeom prst="rect">
            <a:avLst/>
          </a:prstGeom>
          <a:noFill/>
        </p:spPr>
        <p:txBody>
          <a:bodyPr wrap="square" anchor="t" lIns="36576" rIns="36576" tIns="18288" bIns="18288">
            <a:spAutoFit/>
          </a:bodyPr>
          <a:lstStyle/>
          <a:p>
            <a:pPr algn="l"/>
            <a:r>
              <a:rPr sz="3100" b="0">
                <a:solidFill>
                  <a:srgbClr val="000000"/>
                </a:solidFill>
                <a:latin typeface="Source Sans 3"/>
              </a:rPr>
              <a:t>Every section needs a name and a length</a:t>
            </a:r>
          </a:p>
        </p:txBody>
      </p:sp>
      <p:sp>
        <p:nvSpPr>
          <p:cNvPr id="12" name="Oval 11"/>
          <p:cNvSpPr/>
          <p:nvPr/>
        </p:nvSpPr>
        <p:spPr>
          <a:xfrm>
            <a:off x="548640" y="2973197"/>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831465"/>
            <a:ext cx="10698480" cy="629920"/>
          </a:xfrm>
          <a:prstGeom prst="rect">
            <a:avLst/>
          </a:prstGeom>
          <a:noFill/>
        </p:spPr>
        <p:txBody>
          <a:bodyPr wrap="square" anchor="t" lIns="36576" rIns="36576" tIns="18288" bIns="18288">
            <a:spAutoFit/>
          </a:bodyPr>
          <a:lstStyle/>
          <a:p>
            <a:pPr algn="l"/>
            <a:r>
              <a:rPr sz="3100" b="0">
                <a:solidFill>
                  <a:srgbClr val="000000"/>
                </a:solidFill>
                <a:latin typeface="Source Sans 3"/>
              </a:rPr>
              <a:t>…a list of what is playing</a:t>
            </a:r>
          </a:p>
        </p:txBody>
      </p:sp>
      <p:sp>
        <p:nvSpPr>
          <p:cNvPr id="14" name="Oval 13"/>
          <p:cNvSpPr/>
          <p:nvPr/>
        </p:nvSpPr>
        <p:spPr>
          <a:xfrm>
            <a:off x="548640" y="3701542"/>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559810"/>
            <a:ext cx="10698480" cy="629920"/>
          </a:xfrm>
          <a:prstGeom prst="rect">
            <a:avLst/>
          </a:prstGeom>
          <a:noFill/>
        </p:spPr>
        <p:txBody>
          <a:bodyPr wrap="square" anchor="t" lIns="36576" rIns="36576" tIns="18288" bIns="18288">
            <a:spAutoFit/>
          </a:bodyPr>
          <a:lstStyle/>
          <a:p>
            <a:pPr algn="l"/>
            <a:r>
              <a:rPr sz="3100" b="0">
                <a:solidFill>
                  <a:srgbClr val="000000"/>
                </a:solidFill>
                <a:latin typeface="Source Sans 3"/>
              </a:rPr>
              <a:t>…and a transition into the next one</a:t>
            </a:r>
          </a:p>
        </p:txBody>
      </p:sp>
      <p:sp>
        <p:nvSpPr>
          <p:cNvPr id="16" name="Oval 15"/>
          <p:cNvSpPr/>
          <p:nvPr/>
        </p:nvSpPr>
        <p:spPr>
          <a:xfrm>
            <a:off x="548640" y="4429887"/>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288155"/>
            <a:ext cx="10698480" cy="629920"/>
          </a:xfrm>
          <a:prstGeom prst="rect">
            <a:avLst/>
          </a:prstGeom>
          <a:noFill/>
        </p:spPr>
        <p:txBody>
          <a:bodyPr wrap="square" anchor="t" lIns="36576" rIns="36576" tIns="18288" bIns="18288">
            <a:spAutoFit/>
          </a:bodyPr>
          <a:lstStyle/>
          <a:p>
            <a:pPr algn="l"/>
            <a:r>
              <a:rPr sz="3100" b="0">
                <a:solidFill>
                  <a:srgbClr val="000000"/>
                </a:solidFill>
                <a:latin typeface="Source Sans 3"/>
              </a:rPr>
              <a:t>Fill in the planning table on paper first</a:t>
            </a:r>
          </a:p>
        </p:txBody>
      </p:sp>
      <p:sp>
        <p:nvSpPr>
          <p:cNvPr id="18" name="Oval 17"/>
          <p:cNvSpPr/>
          <p:nvPr/>
        </p:nvSpPr>
        <p:spPr>
          <a:xfrm>
            <a:off x="548640" y="5158232"/>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016500"/>
            <a:ext cx="10698480" cy="629920"/>
          </a:xfrm>
          <a:prstGeom prst="rect">
            <a:avLst/>
          </a:prstGeom>
          <a:noFill/>
        </p:spPr>
        <p:txBody>
          <a:bodyPr wrap="square" anchor="t" lIns="36576" rIns="36576" tIns="18288" bIns="18288">
            <a:spAutoFit/>
          </a:bodyPr>
          <a:lstStyle/>
          <a:p>
            <a:pPr algn="l"/>
            <a:r>
              <a:rPr sz="3100" b="0">
                <a:solidFill>
                  <a:srgbClr val="000000"/>
                </a:solidFill>
                <a:latin typeface="Source Sans 3"/>
              </a:rPr>
              <a:t>No arrangement work in Logic until your plan is checked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FOUR WAYS TO CHANGE SECTIONS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Song Form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12</a:t>
            </a:r>
          </a:p>
        </p:txBody>
      </p:sp>
      <p:sp>
        <p:nvSpPr>
          <p:cNvPr id="10" name="Rounded Rectangle 9"/>
          <p:cNvSpPr/>
          <p:nvPr/>
        </p:nvSpPr>
        <p:spPr>
          <a:xfrm>
            <a:off x="548640" y="1965960"/>
            <a:ext cx="2606040" cy="416052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572768" y="2240280"/>
            <a:ext cx="566928" cy="566928"/>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24028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3" name="TextBox 12"/>
          <p:cNvSpPr txBox="1"/>
          <p:nvPr/>
        </p:nvSpPr>
        <p:spPr>
          <a:xfrm>
            <a:off x="685800" y="3017520"/>
            <a:ext cx="2331720" cy="731520"/>
          </a:xfrm>
          <a:prstGeom prst="rect">
            <a:avLst/>
          </a:prstGeom>
          <a:noFill/>
        </p:spPr>
        <p:txBody>
          <a:bodyPr wrap="square" anchor="t" lIns="36576" rIns="36576" tIns="18288" bIns="18288">
            <a:spAutoFit/>
          </a:bodyPr>
          <a:lstStyle/>
          <a:p>
            <a:pPr algn="ctr"/>
            <a:r>
              <a:rPr sz="3400" b="1">
                <a:solidFill>
                  <a:srgbClr val="000000"/>
                </a:solidFill>
                <a:latin typeface="Oswald"/>
              </a:rPr>
              <a:t>FILL</a:t>
            </a:r>
          </a:p>
        </p:txBody>
      </p:sp>
      <p:sp>
        <p:nvSpPr>
          <p:cNvPr id="14" name="TextBox 13"/>
          <p:cNvSpPr txBox="1"/>
          <p:nvPr/>
        </p:nvSpPr>
        <p:spPr>
          <a:xfrm>
            <a:off x="731520" y="3886200"/>
            <a:ext cx="2240280" cy="2103120"/>
          </a:xfrm>
          <a:prstGeom prst="rect">
            <a:avLst/>
          </a:prstGeom>
          <a:noFill/>
        </p:spPr>
        <p:txBody>
          <a:bodyPr wrap="square" anchor="t" lIns="36576" rIns="36576" tIns="18288" bIns="18288">
            <a:spAutoFit/>
          </a:bodyPr>
          <a:lstStyle/>
          <a:p>
            <a:pPr algn="ctr"/>
            <a:r>
              <a:rPr sz="2400" b="0">
                <a:solidFill>
                  <a:srgbClr val="000000"/>
                </a:solidFill>
                <a:latin typeface="Source Sans 3"/>
              </a:rPr>
              <a:t>a short drum pattern that leads into the next section</a:t>
            </a:r>
          </a:p>
        </p:txBody>
      </p:sp>
      <p:sp>
        <p:nvSpPr>
          <p:cNvPr id="15" name="Rounded Rectangle 14"/>
          <p:cNvSpPr/>
          <p:nvPr/>
        </p:nvSpPr>
        <p:spPr>
          <a:xfrm>
            <a:off x="3364992" y="1965960"/>
            <a:ext cx="2606040" cy="416052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389120" y="224028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224028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8" name="TextBox 17"/>
          <p:cNvSpPr txBox="1"/>
          <p:nvPr/>
        </p:nvSpPr>
        <p:spPr>
          <a:xfrm>
            <a:off x="3502152" y="3017520"/>
            <a:ext cx="2331720" cy="731520"/>
          </a:xfrm>
          <a:prstGeom prst="rect">
            <a:avLst/>
          </a:prstGeom>
          <a:noFill/>
        </p:spPr>
        <p:txBody>
          <a:bodyPr wrap="square" anchor="t" lIns="36576" rIns="36576" tIns="18288" bIns="18288">
            <a:spAutoFit/>
          </a:bodyPr>
          <a:lstStyle/>
          <a:p>
            <a:pPr algn="ctr"/>
            <a:r>
              <a:rPr sz="3400" b="1">
                <a:solidFill>
                  <a:srgbClr val="000000"/>
                </a:solidFill>
                <a:latin typeface="Oswald"/>
              </a:rPr>
              <a:t>BREAKDOWN</a:t>
            </a:r>
          </a:p>
        </p:txBody>
      </p:sp>
      <p:sp>
        <p:nvSpPr>
          <p:cNvPr id="19" name="TextBox 18"/>
          <p:cNvSpPr txBox="1"/>
          <p:nvPr/>
        </p:nvSpPr>
        <p:spPr>
          <a:xfrm>
            <a:off x="3547872" y="3886200"/>
            <a:ext cx="2240280" cy="2103120"/>
          </a:xfrm>
          <a:prstGeom prst="rect">
            <a:avLst/>
          </a:prstGeom>
          <a:noFill/>
        </p:spPr>
        <p:txBody>
          <a:bodyPr wrap="square" anchor="t" lIns="36576" rIns="36576" tIns="18288" bIns="18288">
            <a:spAutoFit/>
          </a:bodyPr>
          <a:lstStyle/>
          <a:p>
            <a:pPr algn="ctr"/>
            <a:r>
              <a:rPr sz="2400" b="0">
                <a:solidFill>
                  <a:srgbClr val="000000"/>
                </a:solidFill>
                <a:latin typeface="Source Sans 3"/>
              </a:rPr>
              <a:t>elements drop out so the next section hits harder</a:t>
            </a:r>
          </a:p>
        </p:txBody>
      </p:sp>
      <p:sp>
        <p:nvSpPr>
          <p:cNvPr id="20" name="Rounded Rectangle 19"/>
          <p:cNvSpPr/>
          <p:nvPr/>
        </p:nvSpPr>
        <p:spPr>
          <a:xfrm>
            <a:off x="6181344" y="1965960"/>
            <a:ext cx="2606040" cy="416052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205472" y="2240280"/>
            <a:ext cx="566928" cy="566928"/>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05472" y="224028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23" name="TextBox 22"/>
          <p:cNvSpPr txBox="1"/>
          <p:nvPr/>
        </p:nvSpPr>
        <p:spPr>
          <a:xfrm>
            <a:off x="6318504" y="3017520"/>
            <a:ext cx="2331720" cy="731520"/>
          </a:xfrm>
          <a:prstGeom prst="rect">
            <a:avLst/>
          </a:prstGeom>
          <a:noFill/>
        </p:spPr>
        <p:txBody>
          <a:bodyPr wrap="square" anchor="t" lIns="36576" rIns="36576" tIns="18288" bIns="18288">
            <a:spAutoFit/>
          </a:bodyPr>
          <a:lstStyle/>
          <a:p>
            <a:pPr algn="ctr"/>
            <a:r>
              <a:rPr sz="3400" b="1">
                <a:solidFill>
                  <a:srgbClr val="000000"/>
                </a:solidFill>
                <a:latin typeface="Oswald"/>
              </a:rPr>
              <a:t>CUT</a:t>
            </a:r>
          </a:p>
        </p:txBody>
      </p:sp>
      <p:sp>
        <p:nvSpPr>
          <p:cNvPr id="24" name="TextBox 23"/>
          <p:cNvSpPr txBox="1"/>
          <p:nvPr/>
        </p:nvSpPr>
        <p:spPr>
          <a:xfrm>
            <a:off x="6364224" y="3886200"/>
            <a:ext cx="2240280" cy="2103120"/>
          </a:xfrm>
          <a:prstGeom prst="rect">
            <a:avLst/>
          </a:prstGeom>
          <a:noFill/>
        </p:spPr>
        <p:txBody>
          <a:bodyPr wrap="square" anchor="t" lIns="36576" rIns="36576" tIns="18288" bIns="18288">
            <a:spAutoFit/>
          </a:bodyPr>
          <a:lstStyle/>
          <a:p>
            <a:pPr algn="ctr"/>
            <a:r>
              <a:rPr sz="2400" b="0">
                <a:solidFill>
                  <a:srgbClr val="000000"/>
                </a:solidFill>
                <a:latin typeface="Source Sans 3"/>
              </a:rPr>
              <a:t>everything stops for a beat, then the new section starts</a:t>
            </a:r>
          </a:p>
        </p:txBody>
      </p:sp>
      <p:sp>
        <p:nvSpPr>
          <p:cNvPr id="25" name="Rounded Rectangle 24"/>
          <p:cNvSpPr/>
          <p:nvPr/>
        </p:nvSpPr>
        <p:spPr>
          <a:xfrm>
            <a:off x="8997696" y="1965960"/>
            <a:ext cx="2606040" cy="416052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021824" y="224028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21824" y="224028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8" name="TextBox 27"/>
          <p:cNvSpPr txBox="1"/>
          <p:nvPr/>
        </p:nvSpPr>
        <p:spPr>
          <a:xfrm>
            <a:off x="9134856" y="3017520"/>
            <a:ext cx="2331720" cy="731520"/>
          </a:xfrm>
          <a:prstGeom prst="rect">
            <a:avLst/>
          </a:prstGeom>
          <a:noFill/>
        </p:spPr>
        <p:txBody>
          <a:bodyPr wrap="square" anchor="t" lIns="36576" rIns="36576" tIns="18288" bIns="18288">
            <a:spAutoFit/>
          </a:bodyPr>
          <a:lstStyle/>
          <a:p>
            <a:pPr algn="ctr"/>
            <a:r>
              <a:rPr sz="3400" b="1">
                <a:solidFill>
                  <a:srgbClr val="000000"/>
                </a:solidFill>
                <a:latin typeface="Oswald"/>
              </a:rPr>
              <a:t>BUILD</a:t>
            </a:r>
          </a:p>
        </p:txBody>
      </p:sp>
      <p:sp>
        <p:nvSpPr>
          <p:cNvPr id="29" name="TextBox 28"/>
          <p:cNvSpPr txBox="1"/>
          <p:nvPr/>
        </p:nvSpPr>
        <p:spPr>
          <a:xfrm>
            <a:off x="9180576" y="3886200"/>
            <a:ext cx="2240280" cy="2103120"/>
          </a:xfrm>
          <a:prstGeom prst="rect">
            <a:avLst/>
          </a:prstGeom>
          <a:noFill/>
        </p:spPr>
        <p:txBody>
          <a:bodyPr wrap="square" anchor="t" lIns="36576" rIns="36576" tIns="18288" bIns="18288">
            <a:spAutoFit/>
          </a:bodyPr>
          <a:lstStyle/>
          <a:p>
            <a:pPr algn="ctr"/>
            <a:r>
              <a:rPr sz="2400" b="0">
                <a:solidFill>
                  <a:srgbClr val="000000"/>
                </a:solidFill>
                <a:latin typeface="Source Sans 3"/>
              </a:rPr>
              <a:t>energy rises (snare roll, rising notes) into the next section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YOUR PROJECT: SONG FORM</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Song Form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13</a:t>
            </a:r>
          </a:p>
        </p:txBody>
      </p:sp>
      <p:sp>
        <p:nvSpPr>
          <p:cNvPr id="10" name="Oval 9"/>
          <p:cNvSpPr/>
          <p:nvPr/>
        </p:nvSpPr>
        <p:spPr>
          <a:xfrm>
            <a:off x="548640" y="2258568"/>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10312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Four songs on the Song Form sheet + a written response</a:t>
            </a:r>
          </a:p>
        </p:txBody>
      </p:sp>
      <p:sp>
        <p:nvSpPr>
          <p:cNvPr id="12" name="Oval 11"/>
          <p:cNvSpPr/>
          <p:nvPr/>
        </p:nvSpPr>
        <p:spPr>
          <a:xfrm>
            <a:off x="548640" y="3122168"/>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672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Plan 4+ sections, each 4+ measures</a:t>
            </a:r>
          </a:p>
        </p:txBody>
      </p:sp>
      <p:sp>
        <p:nvSpPr>
          <p:cNvPr id="14" name="Oval 13"/>
          <p:cNvSpPr/>
          <p:nvPr/>
        </p:nvSpPr>
        <p:spPr>
          <a:xfrm>
            <a:off x="548640" y="3985767"/>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830319"/>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Build it in Logic with arrangement markers</a:t>
            </a:r>
          </a:p>
        </p:txBody>
      </p:sp>
      <p:sp>
        <p:nvSpPr>
          <p:cNvPr id="16" name="Oval 15"/>
          <p:cNvSpPr/>
          <p:nvPr/>
        </p:nvSpPr>
        <p:spPr>
          <a:xfrm>
            <a:off x="548640" y="4849367"/>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69392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Make the chorus feel bigger than the verse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THE STEPS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Song Form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14</a:t>
            </a:r>
          </a:p>
        </p:txBody>
      </p:sp>
      <p:sp>
        <p:nvSpPr>
          <p:cNvPr id="10" name="Rounded Rectangle 9"/>
          <p:cNvSpPr/>
          <p:nvPr/>
        </p:nvSpPr>
        <p:spPr>
          <a:xfrm>
            <a:off x="548640" y="1920240"/>
            <a:ext cx="1554480" cy="868680"/>
          </a:xfrm>
          <a:prstGeom prst="roundRect">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40"/>
            <a:ext cx="1554480" cy="868680"/>
          </a:xfrm>
          <a:prstGeom prst="rect">
            <a:avLst/>
          </a:prstGeom>
          <a:noFill/>
        </p:spPr>
        <p:txBody>
          <a:bodyPr wrap="square" anchor="ctr" lIns="36576" rIns="36576" tIns="18288" bIns="18288">
            <a:spAutoFit/>
          </a:bodyPr>
          <a:lstStyle/>
          <a:p>
            <a:pPr algn="ctr"/>
            <a:r>
              <a:rPr sz="2600" b="1">
                <a:solidFill>
                  <a:srgbClr val="FFFFFF"/>
                </a:solidFill>
                <a:latin typeface="Oswald"/>
              </a:rPr>
              <a:t>DAY 1</a:t>
            </a:r>
          </a:p>
        </p:txBody>
      </p:sp>
      <p:sp>
        <p:nvSpPr>
          <p:cNvPr id="12" name="TextBox 11"/>
          <p:cNvSpPr txBox="1"/>
          <p:nvPr/>
        </p:nvSpPr>
        <p:spPr>
          <a:xfrm>
            <a:off x="2331720" y="1901952"/>
            <a:ext cx="9235440" cy="502920"/>
          </a:xfrm>
          <a:prstGeom prst="rect">
            <a:avLst/>
          </a:prstGeom>
          <a:noFill/>
        </p:spPr>
        <p:txBody>
          <a:bodyPr wrap="square" anchor="t" lIns="36576" rIns="36576" tIns="18288" bIns="18288">
            <a:spAutoFit/>
          </a:bodyPr>
          <a:lstStyle/>
          <a:p>
            <a:pPr algn="l"/>
            <a:r>
              <a:rPr sz="2800" b="1">
                <a:solidFill>
                  <a:srgbClr val="000000"/>
                </a:solidFill>
                <a:latin typeface="Oswald"/>
              </a:rPr>
              <a:t>SONG FORM ANALYSIS: A LISTENING DAY</a:t>
            </a:r>
          </a:p>
        </p:txBody>
      </p:sp>
      <p:sp>
        <p:nvSpPr>
          <p:cNvPr id="13" name="TextBox 12"/>
          <p:cNvSpPr txBox="1"/>
          <p:nvPr/>
        </p:nvSpPr>
        <p:spPr>
          <a:xfrm>
            <a:off x="2331720" y="2377440"/>
            <a:ext cx="9235440" cy="457200"/>
          </a:xfrm>
          <a:prstGeom prst="rect">
            <a:avLst/>
          </a:prstGeom>
          <a:noFill/>
        </p:spPr>
        <p:txBody>
          <a:bodyPr wrap="square" anchor="t" lIns="36576" rIns="36576" tIns="18288" bIns="18288">
            <a:spAutoFit/>
          </a:bodyPr>
          <a:lstStyle/>
          <a:p>
            <a:pPr algn="l"/>
            <a:r>
              <a:rPr sz="2000" b="0">
                <a:solidFill>
                  <a:srgbClr val="000000"/>
                </a:solidFill>
                <a:latin typeface="Source Sans 3"/>
              </a:rPr>
              <a:t>Listen to 4 songs and map their form on the Song Form sheet; write what you noticed</a:t>
            </a:r>
          </a:p>
        </p:txBody>
      </p:sp>
      <p:sp>
        <p:nvSpPr>
          <p:cNvPr id="14" name="Rounded Rectangle 13"/>
          <p:cNvSpPr/>
          <p:nvPr/>
        </p:nvSpPr>
        <p:spPr>
          <a:xfrm>
            <a:off x="548640" y="3017520"/>
            <a:ext cx="1554480" cy="86868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017520"/>
            <a:ext cx="1554480" cy="868680"/>
          </a:xfrm>
          <a:prstGeom prst="rect">
            <a:avLst/>
          </a:prstGeom>
          <a:noFill/>
        </p:spPr>
        <p:txBody>
          <a:bodyPr wrap="square" anchor="ctr" lIns="36576" rIns="36576" tIns="18288" bIns="18288">
            <a:spAutoFit/>
          </a:bodyPr>
          <a:lstStyle/>
          <a:p>
            <a:pPr algn="ctr"/>
            <a:r>
              <a:rPr sz="2600" b="1">
                <a:solidFill>
                  <a:srgbClr val="FFFFFF"/>
                </a:solidFill>
                <a:latin typeface="Oswald"/>
              </a:rPr>
              <a:t>DAY 2</a:t>
            </a:r>
          </a:p>
        </p:txBody>
      </p:sp>
      <p:sp>
        <p:nvSpPr>
          <p:cNvPr id="16" name="TextBox 15"/>
          <p:cNvSpPr txBox="1"/>
          <p:nvPr/>
        </p:nvSpPr>
        <p:spPr>
          <a:xfrm>
            <a:off x="2331720" y="2999232"/>
            <a:ext cx="9235440" cy="502920"/>
          </a:xfrm>
          <a:prstGeom prst="rect">
            <a:avLst/>
          </a:prstGeom>
          <a:noFill/>
        </p:spPr>
        <p:txBody>
          <a:bodyPr wrap="square" anchor="t" lIns="36576" rIns="36576" tIns="18288" bIns="18288">
            <a:spAutoFit/>
          </a:bodyPr>
          <a:lstStyle/>
          <a:p>
            <a:pPr algn="l"/>
            <a:r>
              <a:rPr sz="2800" b="1">
                <a:solidFill>
                  <a:srgbClr val="000000"/>
                </a:solidFill>
                <a:latin typeface="Oswald"/>
              </a:rPr>
              <a:t>PLAN + BUILD THE SKELETON</a:t>
            </a:r>
          </a:p>
        </p:txBody>
      </p:sp>
      <p:sp>
        <p:nvSpPr>
          <p:cNvPr id="17" name="TextBox 16"/>
          <p:cNvSpPr txBox="1"/>
          <p:nvPr/>
        </p:nvSpPr>
        <p:spPr>
          <a:xfrm>
            <a:off x="2331720" y="3474720"/>
            <a:ext cx="9235440" cy="457200"/>
          </a:xfrm>
          <a:prstGeom prst="rect">
            <a:avLst/>
          </a:prstGeom>
          <a:noFill/>
        </p:spPr>
        <p:txBody>
          <a:bodyPr wrap="square" anchor="t" lIns="36576" rIns="36576" tIns="18288" bIns="18288">
            <a:spAutoFit/>
          </a:bodyPr>
          <a:lstStyle/>
          <a:p>
            <a:pPr algn="l"/>
            <a:r>
              <a:rPr sz="2000" b="0">
                <a:solidFill>
                  <a:srgbClr val="000000"/>
                </a:solidFill>
                <a:latin typeface="Source Sans 3"/>
              </a:rPr>
              <a:t>Add your melody, fill in the planning table, build the skeleton with arrangement markers</a:t>
            </a:r>
          </a:p>
        </p:txBody>
      </p:sp>
      <p:sp>
        <p:nvSpPr>
          <p:cNvPr id="18" name="Rounded Rectangle 17"/>
          <p:cNvSpPr/>
          <p:nvPr/>
        </p:nvSpPr>
        <p:spPr>
          <a:xfrm>
            <a:off x="548640" y="4114800"/>
            <a:ext cx="1554480" cy="86868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114800"/>
            <a:ext cx="1554480" cy="868680"/>
          </a:xfrm>
          <a:prstGeom prst="rect">
            <a:avLst/>
          </a:prstGeom>
          <a:noFill/>
        </p:spPr>
        <p:txBody>
          <a:bodyPr wrap="square" anchor="ctr" lIns="36576" rIns="36576" tIns="18288" bIns="18288">
            <a:spAutoFit/>
          </a:bodyPr>
          <a:lstStyle/>
          <a:p>
            <a:pPr algn="ctr"/>
            <a:r>
              <a:rPr sz="2600" b="1">
                <a:solidFill>
                  <a:srgbClr val="FFFFFF"/>
                </a:solidFill>
                <a:latin typeface="Oswald"/>
              </a:rPr>
              <a:t>DAY 3</a:t>
            </a:r>
          </a:p>
        </p:txBody>
      </p:sp>
      <p:sp>
        <p:nvSpPr>
          <p:cNvPr id="20" name="TextBox 19"/>
          <p:cNvSpPr txBox="1"/>
          <p:nvPr/>
        </p:nvSpPr>
        <p:spPr>
          <a:xfrm>
            <a:off x="2331720" y="4096512"/>
            <a:ext cx="9235440" cy="502920"/>
          </a:xfrm>
          <a:prstGeom prst="rect">
            <a:avLst/>
          </a:prstGeom>
          <a:noFill/>
        </p:spPr>
        <p:txBody>
          <a:bodyPr wrap="square" anchor="t" lIns="36576" rIns="36576" tIns="18288" bIns="18288">
            <a:spAutoFit/>
          </a:bodyPr>
          <a:lstStyle/>
          <a:p>
            <a:pPr algn="l"/>
            <a:r>
              <a:rPr sz="2800" b="1">
                <a:solidFill>
                  <a:srgbClr val="000000"/>
                </a:solidFill>
                <a:latin typeface="Oswald"/>
              </a:rPr>
              <a:t>DIFFERENTIATE THE SECTIONS</a:t>
            </a:r>
          </a:p>
        </p:txBody>
      </p:sp>
      <p:sp>
        <p:nvSpPr>
          <p:cNvPr id="21" name="TextBox 20"/>
          <p:cNvSpPr txBox="1"/>
          <p:nvPr/>
        </p:nvSpPr>
        <p:spPr>
          <a:xfrm>
            <a:off x="2331720" y="4572000"/>
            <a:ext cx="9235440" cy="457200"/>
          </a:xfrm>
          <a:prstGeom prst="rect">
            <a:avLst/>
          </a:prstGeom>
          <a:noFill/>
        </p:spPr>
        <p:txBody>
          <a:bodyPr wrap="square" anchor="t" lIns="36576" rIns="36576" tIns="18288" bIns="18288">
            <a:spAutoFit/>
          </a:bodyPr>
          <a:lstStyle/>
          <a:p>
            <a:pPr algn="l"/>
            <a:r>
              <a:rPr sz="2000" b="0">
                <a:solidFill>
                  <a:srgbClr val="000000"/>
                </a:solidFill>
                <a:latin typeface="Source Sans 3"/>
              </a:rPr>
              <a:t>Chord layer, melody only where it belongs, a drum transition at every change</a:t>
            </a:r>
          </a:p>
        </p:txBody>
      </p:sp>
      <p:sp>
        <p:nvSpPr>
          <p:cNvPr id="22" name="Rounded Rectangle 21"/>
          <p:cNvSpPr/>
          <p:nvPr/>
        </p:nvSpPr>
        <p:spPr>
          <a:xfrm>
            <a:off x="548640" y="5212079"/>
            <a:ext cx="1554480" cy="86868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212079"/>
            <a:ext cx="1554480" cy="868680"/>
          </a:xfrm>
          <a:prstGeom prst="rect">
            <a:avLst/>
          </a:prstGeom>
          <a:noFill/>
        </p:spPr>
        <p:txBody>
          <a:bodyPr wrap="square" anchor="ctr" lIns="36576" rIns="36576" tIns="18288" bIns="18288">
            <a:spAutoFit/>
          </a:bodyPr>
          <a:lstStyle/>
          <a:p>
            <a:pPr algn="ctr"/>
            <a:r>
              <a:rPr sz="2600" b="1">
                <a:solidFill>
                  <a:srgbClr val="FFFFFF"/>
                </a:solidFill>
                <a:latin typeface="Oswald"/>
              </a:rPr>
              <a:t>DAY 4</a:t>
            </a:r>
          </a:p>
        </p:txBody>
      </p:sp>
      <p:sp>
        <p:nvSpPr>
          <p:cNvPr id="24" name="TextBox 23"/>
          <p:cNvSpPr txBox="1"/>
          <p:nvPr/>
        </p:nvSpPr>
        <p:spPr>
          <a:xfrm>
            <a:off x="2331720" y="5193792"/>
            <a:ext cx="9235440" cy="502920"/>
          </a:xfrm>
          <a:prstGeom prst="rect">
            <a:avLst/>
          </a:prstGeom>
          <a:noFill/>
        </p:spPr>
        <p:txBody>
          <a:bodyPr wrap="square" anchor="t" lIns="36576" rIns="36576" tIns="18288" bIns="18288">
            <a:spAutoFit/>
          </a:bodyPr>
          <a:lstStyle/>
          <a:p>
            <a:pPr algn="l"/>
            <a:r>
              <a:rPr sz="2800" b="1">
                <a:solidFill>
                  <a:srgbClr val="000000"/>
                </a:solidFill>
                <a:latin typeface="Oswald"/>
              </a:rPr>
              <a:t>FINISH, SUBMIT, PRESENT</a:t>
            </a:r>
          </a:p>
        </p:txBody>
      </p:sp>
      <p:sp>
        <p:nvSpPr>
          <p:cNvPr id="25" name="TextBox 24"/>
          <p:cNvSpPr txBox="1"/>
          <p:nvPr/>
        </p:nvSpPr>
        <p:spPr>
          <a:xfrm>
            <a:off x="2331720" y="5669279"/>
            <a:ext cx="9235440" cy="457200"/>
          </a:xfrm>
          <a:prstGeom prst="rect">
            <a:avLst/>
          </a:prstGeom>
          <a:noFill/>
        </p:spPr>
        <p:txBody>
          <a:bodyPr wrap="square" anchor="t" lIns="36576" rIns="36576" tIns="18288" bIns="18288">
            <a:spAutoFit/>
          </a:bodyPr>
          <a:lstStyle/>
          <a:p>
            <a:pPr algn="l"/>
            <a:r>
              <a:rPr sz="2000" b="0">
                <a:solidFill>
                  <a:srgbClr val="000000"/>
                </a:solidFill>
                <a:latin typeface="Source Sans 3"/>
              </a:rPr>
              <a:t>Finish the mix, export and submit, present: point to your chorus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YOU TURN IN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Song Form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15</a:t>
            </a:r>
          </a:p>
        </p:txBody>
      </p:sp>
      <p:sp>
        <p:nvSpPr>
          <p:cNvPr id="10" name="Rounded Rectangle 9"/>
          <p:cNvSpPr/>
          <p:nvPr/>
        </p:nvSpPr>
        <p:spPr>
          <a:xfrm>
            <a:off x="548640" y="20391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9659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Song Form sheet: 4 songs + written response</a:t>
            </a:r>
          </a:p>
        </p:txBody>
      </p:sp>
      <p:sp>
        <p:nvSpPr>
          <p:cNvPr id="12" name="Rounded Rectangle 11"/>
          <p:cNvSpPr/>
          <p:nvPr/>
        </p:nvSpPr>
        <p:spPr>
          <a:xfrm>
            <a:off x="6172200" y="20391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19659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Planning table, filled in before building</a:t>
            </a:r>
          </a:p>
        </p:txBody>
      </p:sp>
      <p:sp>
        <p:nvSpPr>
          <p:cNvPr id="14" name="Rounded Rectangle 13"/>
          <p:cNvSpPr/>
          <p:nvPr/>
        </p:nvSpPr>
        <p:spPr>
          <a:xfrm>
            <a:off x="548640" y="345643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38328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4+ sections with arrangement markers, 4+ measures each</a:t>
            </a:r>
          </a:p>
        </p:txBody>
      </p:sp>
      <p:sp>
        <p:nvSpPr>
          <p:cNvPr id="16" name="Rounded Rectangle 15"/>
          <p:cNvSpPr/>
          <p:nvPr/>
        </p:nvSpPr>
        <p:spPr>
          <a:xfrm>
            <a:off x="6172200" y="345643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338328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Chord layer on a second instrument + a transition at every change</a:t>
            </a:r>
          </a:p>
        </p:txBody>
      </p:sp>
      <p:sp>
        <p:nvSpPr>
          <p:cNvPr id="18" name="Rounded Rectangle 17"/>
          <p:cNvSpPr/>
          <p:nvPr/>
        </p:nvSpPr>
        <p:spPr>
          <a:xfrm>
            <a:off x="548640" y="487375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80060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MP3 + compressed .logicx, named Your Name – Song Form</a:t>
            </a:r>
          </a:p>
        </p:txBody>
      </p:sp>
      <p:sp>
        <p:nvSpPr>
          <p:cNvPr id="20" name="Rounded Rectangle 19"/>
          <p:cNvSpPr/>
          <p:nvPr/>
        </p:nvSpPr>
        <p:spPr>
          <a:xfrm>
            <a:off x="6172200" y="487375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480060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Three feedback questions before presenting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HOW IT’S SCORED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Song Form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16</a:t>
            </a:r>
          </a:p>
        </p:txBody>
      </p:sp>
      <p:sp>
        <p:nvSpPr>
          <p:cNvPr id="10" name="Rounded Rectangle 9"/>
          <p:cNvSpPr/>
          <p:nvPr/>
        </p:nvSpPr>
        <p:spPr>
          <a:xfrm>
            <a:off x="548640" y="1874519"/>
            <a:ext cx="393192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74519"/>
            <a:ext cx="3657600" cy="713232"/>
          </a:xfrm>
          <a:prstGeom prst="rect">
            <a:avLst/>
          </a:prstGeom>
          <a:noFill/>
        </p:spPr>
        <p:txBody>
          <a:bodyPr wrap="square" anchor="ctr" lIns="36576" rIns="36576" tIns="18288" bIns="18288">
            <a:spAutoFit/>
          </a:bodyPr>
          <a:lstStyle/>
          <a:p>
            <a:pPr algn="l"/>
            <a:r>
              <a:rPr sz="1800" b="1">
                <a:solidFill>
                  <a:srgbClr val="FFFFFF"/>
                </a:solidFill>
                <a:latin typeface="Oswald"/>
              </a:rPr>
              <a:t>SONG FORM ANALYSIS</a:t>
            </a:r>
          </a:p>
        </p:txBody>
      </p:sp>
      <p:sp>
        <p:nvSpPr>
          <p:cNvPr id="12" name="TextBox 11"/>
          <p:cNvSpPr txBox="1"/>
          <p:nvPr/>
        </p:nvSpPr>
        <p:spPr>
          <a:xfrm>
            <a:off x="4663440" y="1874519"/>
            <a:ext cx="6035040" cy="713232"/>
          </a:xfrm>
          <a:prstGeom prst="rect">
            <a:avLst/>
          </a:prstGeom>
          <a:noFill/>
        </p:spPr>
        <p:txBody>
          <a:bodyPr wrap="square" anchor="ctr" lIns="36576" rIns="36576" tIns="18288" bIns="18288">
            <a:spAutoFit/>
          </a:bodyPr>
          <a:lstStyle/>
          <a:p>
            <a:pPr algn="l"/>
            <a:r>
              <a:rPr sz="1700" b="0">
                <a:solidFill>
                  <a:srgbClr val="000000"/>
                </a:solidFill>
                <a:latin typeface="Source Sans 3"/>
              </a:rPr>
              <a:t>5 = All four sheets accurate; the written response shows real insight into song structure.</a:t>
            </a:r>
          </a:p>
        </p:txBody>
      </p:sp>
      <p:sp>
        <p:nvSpPr>
          <p:cNvPr id="13" name="TextBox 12"/>
          <p:cNvSpPr txBox="1"/>
          <p:nvPr/>
        </p:nvSpPr>
        <p:spPr>
          <a:xfrm>
            <a:off x="10698480" y="1874519"/>
            <a:ext cx="941832" cy="713232"/>
          </a:xfrm>
          <a:prstGeom prst="rect">
            <a:avLst/>
          </a:prstGeom>
          <a:noFill/>
        </p:spPr>
        <p:txBody>
          <a:bodyPr wrap="square" anchor="ctr" lIns="36576" rIns="36576" tIns="18288" bIns="18288">
            <a:spAutoFit/>
          </a:bodyPr>
          <a:lstStyle/>
          <a:p>
            <a:pPr algn="r"/>
            <a:r>
              <a:rPr sz="2200" b="1">
                <a:solidFill>
                  <a:srgbClr val="6E44D6"/>
                </a:solidFill>
                <a:latin typeface="Oswald"/>
              </a:rPr>
              <a:t>/ 5</a:t>
            </a:r>
          </a:p>
        </p:txBody>
      </p:sp>
      <p:sp>
        <p:nvSpPr>
          <p:cNvPr id="14" name="Rounded Rectangle 13"/>
          <p:cNvSpPr/>
          <p:nvPr/>
        </p:nvSpPr>
        <p:spPr>
          <a:xfrm>
            <a:off x="548640" y="2715768"/>
            <a:ext cx="393192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715768"/>
            <a:ext cx="3657600" cy="713232"/>
          </a:xfrm>
          <a:prstGeom prst="rect">
            <a:avLst/>
          </a:prstGeom>
          <a:noFill/>
        </p:spPr>
        <p:txBody>
          <a:bodyPr wrap="square" anchor="ctr" lIns="36576" rIns="36576" tIns="18288" bIns="18288">
            <a:spAutoFit/>
          </a:bodyPr>
          <a:lstStyle/>
          <a:p>
            <a:pPr algn="l"/>
            <a:r>
              <a:rPr sz="1800" b="1">
                <a:solidFill>
                  <a:srgbClr val="FFFFFF"/>
                </a:solidFill>
                <a:latin typeface="Oswald"/>
              </a:rPr>
              <a:t>SONG FORM STRUCTURE</a:t>
            </a:r>
          </a:p>
        </p:txBody>
      </p:sp>
      <p:sp>
        <p:nvSpPr>
          <p:cNvPr id="16" name="TextBox 15"/>
          <p:cNvSpPr txBox="1"/>
          <p:nvPr/>
        </p:nvSpPr>
        <p:spPr>
          <a:xfrm>
            <a:off x="4663440" y="2715768"/>
            <a:ext cx="6035040" cy="713232"/>
          </a:xfrm>
          <a:prstGeom prst="rect">
            <a:avLst/>
          </a:prstGeom>
          <a:noFill/>
        </p:spPr>
        <p:txBody>
          <a:bodyPr wrap="square" anchor="ctr" lIns="36576" rIns="36576" tIns="18288" bIns="18288">
            <a:spAutoFit/>
          </a:bodyPr>
          <a:lstStyle/>
          <a:p>
            <a:pPr algn="l"/>
            <a:r>
              <a:rPr sz="1700" b="0">
                <a:solidFill>
                  <a:srgbClr val="000000"/>
                </a:solidFill>
                <a:latin typeface="Source Sans 3"/>
              </a:rPr>
              <a:t>5 = A clearly planned, complete song with a beginning, middle and end.</a:t>
            </a:r>
          </a:p>
        </p:txBody>
      </p:sp>
      <p:sp>
        <p:nvSpPr>
          <p:cNvPr id="17" name="TextBox 16"/>
          <p:cNvSpPr txBox="1"/>
          <p:nvPr/>
        </p:nvSpPr>
        <p:spPr>
          <a:xfrm>
            <a:off x="10698480" y="2715768"/>
            <a:ext cx="941832" cy="713232"/>
          </a:xfrm>
          <a:prstGeom prst="rect">
            <a:avLst/>
          </a:prstGeom>
          <a:noFill/>
        </p:spPr>
        <p:txBody>
          <a:bodyPr wrap="square" anchor="ctr" lIns="36576" rIns="36576" tIns="18288" bIns="18288">
            <a:spAutoFit/>
          </a:bodyPr>
          <a:lstStyle/>
          <a:p>
            <a:pPr algn="r"/>
            <a:r>
              <a:rPr sz="2200" b="1">
                <a:solidFill>
                  <a:srgbClr val="6E44D6"/>
                </a:solidFill>
                <a:latin typeface="Oswald"/>
              </a:rPr>
              <a:t>/ 5</a:t>
            </a:r>
          </a:p>
        </p:txBody>
      </p:sp>
      <p:sp>
        <p:nvSpPr>
          <p:cNvPr id="18" name="Rounded Rectangle 17"/>
          <p:cNvSpPr/>
          <p:nvPr/>
        </p:nvSpPr>
        <p:spPr>
          <a:xfrm>
            <a:off x="548640" y="3557015"/>
            <a:ext cx="393192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557015"/>
            <a:ext cx="3657600" cy="713232"/>
          </a:xfrm>
          <a:prstGeom prst="rect">
            <a:avLst/>
          </a:prstGeom>
          <a:noFill/>
        </p:spPr>
        <p:txBody>
          <a:bodyPr wrap="square" anchor="ctr" lIns="36576" rIns="36576" tIns="18288" bIns="18288">
            <a:spAutoFit/>
          </a:bodyPr>
          <a:lstStyle/>
          <a:p>
            <a:pPr algn="l"/>
            <a:r>
              <a:rPr sz="1800" b="1">
                <a:solidFill>
                  <a:srgbClr val="FFFFFF"/>
                </a:solidFill>
                <a:latin typeface="Oswald"/>
              </a:rPr>
              <a:t>SECTION DIFFERENTIATION</a:t>
            </a:r>
          </a:p>
        </p:txBody>
      </p:sp>
      <p:sp>
        <p:nvSpPr>
          <p:cNvPr id="20" name="TextBox 19"/>
          <p:cNvSpPr txBox="1"/>
          <p:nvPr/>
        </p:nvSpPr>
        <p:spPr>
          <a:xfrm>
            <a:off x="4663440" y="3557015"/>
            <a:ext cx="6035040" cy="713232"/>
          </a:xfrm>
          <a:prstGeom prst="rect">
            <a:avLst/>
          </a:prstGeom>
          <a:noFill/>
        </p:spPr>
        <p:txBody>
          <a:bodyPr wrap="square" anchor="ctr" lIns="36576" rIns="36576" tIns="18288" bIns="18288">
            <a:spAutoFit/>
          </a:bodyPr>
          <a:lstStyle/>
          <a:p>
            <a:pPr algn="l"/>
            <a:r>
              <a:rPr sz="1700" b="0">
                <a:solidFill>
                  <a:srgbClr val="000000"/>
                </a:solidFill>
                <a:latin typeface="Source Sans 3"/>
              </a:rPr>
              <a:t>5 = Distinct textures: a listener can name the section by ear.</a:t>
            </a:r>
          </a:p>
        </p:txBody>
      </p:sp>
      <p:sp>
        <p:nvSpPr>
          <p:cNvPr id="21" name="TextBox 20"/>
          <p:cNvSpPr txBox="1"/>
          <p:nvPr/>
        </p:nvSpPr>
        <p:spPr>
          <a:xfrm>
            <a:off x="10698480" y="3557015"/>
            <a:ext cx="941832" cy="713232"/>
          </a:xfrm>
          <a:prstGeom prst="rect">
            <a:avLst/>
          </a:prstGeom>
          <a:noFill/>
        </p:spPr>
        <p:txBody>
          <a:bodyPr wrap="square" anchor="ctr" lIns="36576" rIns="36576" tIns="18288" bIns="18288">
            <a:spAutoFit/>
          </a:bodyPr>
          <a:lstStyle/>
          <a:p>
            <a:pPr algn="r"/>
            <a:r>
              <a:rPr sz="2200" b="1">
                <a:solidFill>
                  <a:srgbClr val="6E44D6"/>
                </a:solidFill>
                <a:latin typeface="Oswald"/>
              </a:rPr>
              <a:t>/ 5</a:t>
            </a:r>
          </a:p>
        </p:txBody>
      </p:sp>
      <p:sp>
        <p:nvSpPr>
          <p:cNvPr id="22" name="Rounded Rectangle 21"/>
          <p:cNvSpPr/>
          <p:nvPr/>
        </p:nvSpPr>
        <p:spPr>
          <a:xfrm>
            <a:off x="548640" y="4398264"/>
            <a:ext cx="393192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398264"/>
            <a:ext cx="3657600" cy="713232"/>
          </a:xfrm>
          <a:prstGeom prst="rect">
            <a:avLst/>
          </a:prstGeom>
          <a:noFill/>
        </p:spPr>
        <p:txBody>
          <a:bodyPr wrap="square" anchor="ctr" lIns="36576" rIns="36576" tIns="18288" bIns="18288">
            <a:spAutoFit/>
          </a:bodyPr>
          <a:lstStyle/>
          <a:p>
            <a:pPr algn="l"/>
            <a:r>
              <a:rPr sz="1800" b="1">
                <a:solidFill>
                  <a:srgbClr val="FFFFFF"/>
                </a:solidFill>
                <a:latin typeface="Oswald"/>
              </a:rPr>
              <a:t>ARRANGEMENT AS MIX</a:t>
            </a:r>
          </a:p>
        </p:txBody>
      </p:sp>
      <p:sp>
        <p:nvSpPr>
          <p:cNvPr id="24" name="TextBox 23"/>
          <p:cNvSpPr txBox="1"/>
          <p:nvPr/>
        </p:nvSpPr>
        <p:spPr>
          <a:xfrm>
            <a:off x="4663440" y="4398264"/>
            <a:ext cx="6035040" cy="713232"/>
          </a:xfrm>
          <a:prstGeom prst="rect">
            <a:avLst/>
          </a:prstGeom>
          <a:noFill/>
        </p:spPr>
        <p:txBody>
          <a:bodyPr wrap="square" anchor="ctr" lIns="36576" rIns="36576" tIns="18288" bIns="18288">
            <a:spAutoFit/>
          </a:bodyPr>
          <a:lstStyle/>
          <a:p>
            <a:pPr algn="l"/>
            <a:r>
              <a:rPr sz="1700" b="0">
                <a:solidFill>
                  <a:srgbClr val="000000"/>
                </a:solidFill>
                <a:latin typeface="Source Sans 3"/>
              </a:rPr>
              <a:t>5 = Arrangement and mix work as one; nothing is clipping.</a:t>
            </a:r>
          </a:p>
        </p:txBody>
      </p:sp>
      <p:sp>
        <p:nvSpPr>
          <p:cNvPr id="25" name="TextBox 24"/>
          <p:cNvSpPr txBox="1"/>
          <p:nvPr/>
        </p:nvSpPr>
        <p:spPr>
          <a:xfrm>
            <a:off x="10698480" y="4398264"/>
            <a:ext cx="941832" cy="713232"/>
          </a:xfrm>
          <a:prstGeom prst="rect">
            <a:avLst/>
          </a:prstGeom>
          <a:noFill/>
        </p:spPr>
        <p:txBody>
          <a:bodyPr wrap="square" anchor="ctr" lIns="36576" rIns="36576" tIns="18288" bIns="18288">
            <a:spAutoFit/>
          </a:bodyPr>
          <a:lstStyle/>
          <a:p>
            <a:pPr algn="r"/>
            <a:r>
              <a:rPr sz="2200" b="1">
                <a:solidFill>
                  <a:srgbClr val="6E44D6"/>
                </a:solidFill>
                <a:latin typeface="Oswald"/>
              </a:rPr>
              <a:t>/ 5</a:t>
            </a:r>
          </a:p>
        </p:txBody>
      </p:sp>
      <p:sp>
        <p:nvSpPr>
          <p:cNvPr id="26" name="Rounded Rectangle 25"/>
          <p:cNvSpPr/>
          <p:nvPr/>
        </p:nvSpPr>
        <p:spPr>
          <a:xfrm>
            <a:off x="548640" y="5239512"/>
            <a:ext cx="393192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239512"/>
            <a:ext cx="3657600" cy="713232"/>
          </a:xfrm>
          <a:prstGeom prst="rect">
            <a:avLst/>
          </a:prstGeom>
          <a:noFill/>
        </p:spPr>
        <p:txBody>
          <a:bodyPr wrap="square" anchor="ctr" lIns="36576" rIns="36576" tIns="18288" bIns="18288">
            <a:spAutoFit/>
          </a:bodyPr>
          <a:lstStyle/>
          <a:p>
            <a:pPr algn="l"/>
            <a:r>
              <a:rPr sz="1800" b="1">
                <a:solidFill>
                  <a:srgbClr val="FFFFFF"/>
                </a:solidFill>
                <a:latin typeface="Oswald"/>
              </a:rPr>
              <a:t>DOCUMENTATION &amp; PRESENTATION</a:t>
            </a:r>
          </a:p>
        </p:txBody>
      </p:sp>
      <p:sp>
        <p:nvSpPr>
          <p:cNvPr id="28" name="TextBox 27"/>
          <p:cNvSpPr txBox="1"/>
          <p:nvPr/>
        </p:nvSpPr>
        <p:spPr>
          <a:xfrm>
            <a:off x="4663440" y="5239512"/>
            <a:ext cx="6035040" cy="713232"/>
          </a:xfrm>
          <a:prstGeom prst="rect">
            <a:avLst/>
          </a:prstGeom>
          <a:noFill/>
        </p:spPr>
        <p:txBody>
          <a:bodyPr wrap="square" anchor="ctr" lIns="36576" rIns="36576" tIns="18288" bIns="18288">
            <a:spAutoFit/>
          </a:bodyPr>
          <a:lstStyle/>
          <a:p>
            <a:pPr algn="l"/>
            <a:r>
              <a:rPr sz="1700" b="0">
                <a:solidFill>
                  <a:srgbClr val="000000"/>
                </a:solidFill>
                <a:latin typeface="Source Sans 3"/>
              </a:rPr>
              <a:t>5 = On time, named correctly; explains form choices section by section; three feedback questions.</a:t>
            </a:r>
          </a:p>
        </p:txBody>
      </p:sp>
      <p:sp>
        <p:nvSpPr>
          <p:cNvPr id="29" name="TextBox 28"/>
          <p:cNvSpPr txBox="1"/>
          <p:nvPr/>
        </p:nvSpPr>
        <p:spPr>
          <a:xfrm>
            <a:off x="10698480" y="5239512"/>
            <a:ext cx="941832" cy="713232"/>
          </a:xfrm>
          <a:prstGeom prst="rect">
            <a:avLst/>
          </a:prstGeom>
          <a:noFill/>
        </p:spPr>
        <p:txBody>
          <a:bodyPr wrap="square" anchor="ctr" lIns="36576" rIns="36576" tIns="18288" bIns="18288">
            <a:spAutoFit/>
          </a:bodyPr>
          <a:lstStyle/>
          <a:p>
            <a:pPr algn="r"/>
            <a:r>
              <a:rPr sz="2200" b="1">
                <a:solidFill>
                  <a:srgbClr val="6E44D6"/>
                </a:solidFill>
                <a:latin typeface="Oswald"/>
              </a:rPr>
              <a:t>/ 5</a:t>
            </a:r>
          </a:p>
        </p:txBody>
      </p:sp>
      <p:sp>
        <p:nvSpPr>
          <p:cNvPr id="30" name="TextBox 29"/>
          <p:cNvSpPr txBox="1"/>
          <p:nvPr/>
        </p:nvSpPr>
        <p:spPr>
          <a:xfrm>
            <a:off x="8229600" y="6035040"/>
            <a:ext cx="3410712" cy="365760"/>
          </a:xfrm>
          <a:prstGeom prst="rect">
            <a:avLst/>
          </a:prstGeom>
          <a:noFill/>
        </p:spPr>
        <p:txBody>
          <a:bodyPr wrap="square" anchor="t" lIns="36576" rIns="36576" tIns="18288" bIns="18288">
            <a:spAutoFit/>
          </a:bodyPr>
          <a:lstStyle/>
          <a:p>
            <a:pPr algn="r"/>
            <a:r>
              <a:rPr sz="2000" b="1">
                <a:solidFill>
                  <a:srgbClr val="000000"/>
                </a:solidFill>
                <a:latin typeface="Oswald"/>
              </a:rPr>
              <a:t>TOTAL / 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ONE LAST THING…</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Song Form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17</a:t>
            </a:r>
          </a:p>
        </p:txBody>
      </p:sp>
      <p:sp>
        <p:nvSpPr>
          <p:cNvPr id="10" name="Oval 9"/>
          <p:cNvSpPr/>
          <p:nvPr/>
        </p:nvSpPr>
        <p:spPr>
          <a:xfrm>
            <a:off x="548640" y="2130552"/>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65960"/>
            <a:ext cx="10698480" cy="731520"/>
          </a:xfrm>
          <a:prstGeom prst="rect">
            <a:avLst/>
          </a:prstGeom>
          <a:noFill/>
        </p:spPr>
        <p:txBody>
          <a:bodyPr wrap="square" anchor="t" lIns="36576" rIns="36576" tIns="18288" bIns="18288">
            <a:spAutoFit/>
          </a:bodyPr>
          <a:lstStyle/>
          <a:p>
            <a:pPr algn="l"/>
            <a:r>
              <a:rPr sz="3600" b="0">
                <a:solidFill>
                  <a:srgbClr val="000000"/>
                </a:solidFill>
                <a:latin typeface="Source Sans 3"/>
              </a:rPr>
              <a:t>Sections feel different because of what is playing.</a:t>
            </a:r>
          </a:p>
        </p:txBody>
      </p:sp>
      <p:sp>
        <p:nvSpPr>
          <p:cNvPr id="12" name="Oval 11"/>
          <p:cNvSpPr/>
          <p:nvPr/>
        </p:nvSpPr>
        <p:spPr>
          <a:xfrm>
            <a:off x="548640" y="2839212"/>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674620"/>
            <a:ext cx="10698480" cy="731520"/>
          </a:xfrm>
          <a:prstGeom prst="rect">
            <a:avLst/>
          </a:prstGeom>
          <a:noFill/>
        </p:spPr>
        <p:txBody>
          <a:bodyPr wrap="square" anchor="t" lIns="36576" rIns="36576" tIns="18288" bIns="18288">
            <a:spAutoFit/>
          </a:bodyPr>
          <a:lstStyle/>
          <a:p>
            <a:pPr algn="l"/>
            <a:r>
              <a:rPr sz="3600" b="0">
                <a:solidFill>
                  <a:srgbClr val="000000"/>
                </a:solidFill>
                <a:latin typeface="Source Sans 3"/>
              </a:rPr>
              <a:t>Write once, arrange many times.</a:t>
            </a:r>
          </a:p>
        </p:txBody>
      </p:sp>
      <p:sp>
        <p:nvSpPr>
          <p:cNvPr id="14" name="Oval 13"/>
          <p:cNvSpPr/>
          <p:nvPr/>
        </p:nvSpPr>
        <p:spPr>
          <a:xfrm>
            <a:off x="548640" y="3547872"/>
            <a:ext cx="146304" cy="146304"/>
          </a:xfrm>
          <a:prstGeom prst="ellipse">
            <a:avLst/>
          </a:prstGeom>
          <a:solidFill>
            <a:srgbClr val="6E4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383280"/>
            <a:ext cx="10698480" cy="731520"/>
          </a:xfrm>
          <a:prstGeom prst="rect">
            <a:avLst/>
          </a:prstGeom>
          <a:noFill/>
        </p:spPr>
        <p:txBody>
          <a:bodyPr wrap="square" anchor="t" lIns="36576" rIns="36576" tIns="18288" bIns="18288">
            <a:spAutoFit/>
          </a:bodyPr>
          <a:lstStyle/>
          <a:p>
            <a:pPr algn="l"/>
            <a:r>
              <a:rPr sz="3600" b="0">
                <a:solidFill>
                  <a:srgbClr val="000000"/>
                </a:solidFill>
                <a:latin typeface="Source Sans 3"/>
              </a:rPr>
              <a:t>You built the form yourself.</a:t>
            </a:r>
          </a:p>
        </p:txBody>
      </p:sp>
      <p:pic>
        <p:nvPicPr>
          <p:cNvPr id="16" name="Picture 15" descr="deck-hero.png"/>
          <p:cNvPicPr>
            <a:picLocks noChangeAspect="1"/>
          </p:cNvPicPr>
          <p:nvPr/>
        </p:nvPicPr>
        <p:blipFill>
          <a:blip r:embed="rId2"/>
          <a:stretch>
            <a:fillRect/>
          </a:stretch>
        </p:blipFill>
        <p:spPr>
          <a:xfrm>
            <a:off x="3127248" y="4343400"/>
            <a:ext cx="5943600" cy="205607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Song Form · Intro deck</dc:title>
  <dc:subject/>
  <dc:creator>Brian Lotze · Hudson Beat</dc:creator>
  <cp:keywords/>
  <dc:description>Designed with the help of digital and AI tools, and checked by hand.</dc:description>
  <cp:lastModifiedBy>Steve Canny</cp:lastModifiedBy>
  <cp:revision>1</cp:revision>
  <dcterms:created xsi:type="dcterms:W3CDTF">2013-01-27T09:14:16Z</dcterms:created>
  <dcterms:modified xsi:type="dcterms:W3CDTF">2013-01-27T09:15:58Z</dcterms:modified>
  <cp:category/>
</cp:coreProperties>
</file>