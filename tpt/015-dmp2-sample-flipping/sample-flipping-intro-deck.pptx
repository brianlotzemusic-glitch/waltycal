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1, the first minute. Before class, pick one cleared sample from your own set (page 4 of the resource shows how to build one) and make a 30-second flip of it in Logic Pro. No audio is included in this deck. Open with my overview: take one sample and flip it into something entirely your own.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the raw sample first with no comment, then your flip. Take answers aloud: chopped, reversed, pitched, repeated, drums added. The point of the project is in my notes: students must actually chop, pitch or manipulate the sample, not just loop it. Keep your flip short and a bit rough on purpose.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Plain-English definition from the project sheet vocabulary: a sample is a recorded piece of audio used as raw material; flipping is transforming it through chopping, pitching or reversing; chopping is cutting it into smaller pieces to rearrange and replay. From my overview: this is how some of the biggest producers in hip-hop, R&amp;B and electronic music work.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of the project, from my pacing guide. Class 1: introduction and Quick Sampler demo, select a sample. Class 2: deep dive into Quick Sampler, begin building. Classes 3 to 5 are working days. Class 6: final mix and bounce, presentations prepared. Class 7: presentations with Padlet feedback. Hand out the project sheet and the Sample log now.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teacher notes call this project a natural entry point for discussing sampling ethics and copyright. Use two or three of the discussion questions from the ethics page of the resource (page 5). Keep it short and honest: using someone else's recording generally needs their permission, which is why this class uses samples you have cleared. This is not legal advice.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listen to the set with headphones and fill in the Sample log (page 12). File names that carry the key and tempo help, as in my guidelines: make sure the key fits the sample. My struggles list warns that students give up quickly if the sample does not sound cool at once, so tell them a plain sample can still become a great flip.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2. This is an original practice sample, described on paper only; nothing here is a recording. It runs 9.6 seconds, which is 4 bars at 100 BPM (one bar is 2.4 seconds). Cut into 8 slices of 1.2 seconds, each slice is 2 beats and slice 4 starts at 3.6 seconds. Students' samples will differ; the arithmetic is the habit to teach.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three-minute demo, using your own cleared sample. Here the three modes are shortened from the longer descriptions on the reference page; the project sheet says to demo Classic, One Shot and Slice early because the modes confuse students. Drop in the sample, switch modes, and play each. Show Reverse and the pitch control. Menu names vary a little by Logic version.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8 slices, rearranged into 8 slots of 2 beats: 4 bars, 9.6 seconds. Slice 1 repeats, slices 2 and 3 are reversed, and slice 8 drops an octave. In Classic mode, down 12 semitones doubles the length of a slice: 1.2 seconds becomes 2.4, exactly one bar. Ask students which move they would try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demo. An Electronic Drum Kit loads Drum Machine Designer. Control-click in the drum track, Create Pattern Region, double-click for the Step Sequencer. My tip: your drums set the tone, so match the style. Drum patterns must be self-created. Leave a gap where a chop lands so the two do not fight.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3 is the first working day. Step 3 of the project sheet, shortened here: build the beat. Students also record their chops by playing Quick Sampler from the keyboard or by drawing notes in the Piano Roll. Circulate and ask each student to play you the raw sample and then their loop; push anyone who is only looping the sample to chop or pitch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4, a working day. Step 4, shortened here: add bass, chords, melodies and additional elements. From my guidelines, keep the layers appropriate to the style and put effects on different tracks so each can have its own volume and plug-ins. Class 5 is a full working day with no new slide: refine the track.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6, final mix and bounce. Steps 5 and 6 of the project sheet, shortened to fit the slide: mix with EQ, pan and balance, then finalize by bouncing and preparing the presentation. Ask every student to show you one EQ move and one pan move before they bounce. Bounce: File, Bounce, Project or Section. Zip: Control-click the .logicx in Finder, Compress.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submission checklist from the project sheet, in short form. Show where students upload (your class page) and where the Padlet board is. Remind students that the Sample log (page 12) is theirs to keep: it records where the sample came from.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rubric: five categories, each scored 1 to 5, for a total out of 25. Students score themselves first; the final grade is the average of their score and mine. The slide reads the 5 column of each category aloud. Hand out the rubric page so students can self-score before they present.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7, presentations with Padlet Q and A. Each student plays the raw sample and then the flip, so the class can hear the transformation. During classmates' presentations, every student answers at least 2 of their 3 questions on their Padlet post. Two minutes per student keeps the day moving.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what my teacher notes say this project builds: Quick Sampler proficiency, drum programming and creative transformation, plus a first look at sampling ethics. Every student made a complete track from a single source. That is how producers 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384048"/>
            <a:ext cx="12191695" cy="457200"/>
          </a:xfrm>
          <a:prstGeom prst="rect">
            <a:avLst/>
          </a:prstGeom>
          <a:noFill/>
        </p:spPr>
        <p:txBody>
          <a:bodyPr wrap="square" anchor="t" lIns="36576" rIns="36576" tIns="18288" bIns="18288">
            <a:spAutoFit/>
          </a:bodyPr>
          <a:lstStyle/>
          <a:p>
            <a:pPr algn="ctr"/>
            <a:r>
              <a:rPr sz="1600" b="0" spc="800">
                <a:solidFill>
                  <a:srgbClr val="000000"/>
                </a:solidFill>
                <a:latin typeface="Oswald"/>
              </a:rPr>
              <a:t>HUDSON BEAT</a:t>
            </a:r>
          </a:p>
        </p:txBody>
      </p:sp>
      <p:pic>
        <p:nvPicPr>
          <p:cNvPr id="3" name="Picture 2" descr="deck-hero.png"/>
          <p:cNvPicPr>
            <a:picLocks noChangeAspect="1"/>
          </p:cNvPicPr>
          <p:nvPr/>
        </p:nvPicPr>
        <p:blipFill>
          <a:blip r:embed="rId2"/>
          <a:stretch>
            <a:fillRect/>
          </a:stretch>
        </p:blipFill>
        <p:spPr>
          <a:xfrm>
            <a:off x="3330705" y="896112"/>
            <a:ext cx="5530284" cy="2971800"/>
          </a:xfrm>
          <a:prstGeom prst="rect">
            <a:avLst/>
          </a:prstGeom>
        </p:spPr>
      </p:pic>
      <p:sp>
        <p:nvSpPr>
          <p:cNvPr id="4" name="TextBox 3"/>
          <p:cNvSpPr txBox="1"/>
          <p:nvPr/>
        </p:nvSpPr>
        <p:spPr>
          <a:xfrm>
            <a:off x="0" y="3931920"/>
            <a:ext cx="12191695" cy="1005840"/>
          </a:xfrm>
          <a:prstGeom prst="rect">
            <a:avLst/>
          </a:prstGeom>
          <a:noFill/>
        </p:spPr>
        <p:txBody>
          <a:bodyPr wrap="square" anchor="t" lIns="36576" rIns="36576" tIns="18288" bIns="18288">
            <a:spAutoFit/>
          </a:bodyPr>
          <a:lstStyle/>
          <a:p>
            <a:pPr algn="ctr"/>
            <a:r>
              <a:rPr sz="7200" b="1">
                <a:solidFill>
                  <a:srgbClr val="000000"/>
                </a:solidFill>
                <a:latin typeface="Oswald"/>
              </a:rPr>
              <a:t>SAMPLE FLIPPING</a:t>
            </a:r>
          </a:p>
        </p:txBody>
      </p:sp>
      <p:sp>
        <p:nvSpPr>
          <p:cNvPr id="5" name="TextBox 4"/>
          <p:cNvSpPr txBox="1"/>
          <p:nvPr/>
        </p:nvSpPr>
        <p:spPr>
          <a:xfrm>
            <a:off x="0" y="5029200"/>
            <a:ext cx="12191695" cy="548640"/>
          </a:xfrm>
          <a:prstGeom prst="rect">
            <a:avLst/>
          </a:prstGeom>
          <a:noFill/>
        </p:spPr>
        <p:txBody>
          <a:bodyPr wrap="square" anchor="t" lIns="36576" rIns="36576" tIns="18288" bIns="18288">
            <a:spAutoFit/>
          </a:bodyPr>
          <a:lstStyle/>
          <a:p>
            <a:pPr algn="ctr"/>
            <a:r>
              <a:rPr sz="2800" b="0">
                <a:solidFill>
                  <a:srgbClr val="000000"/>
                </a:solidFill>
                <a:latin typeface="Oswald"/>
              </a:rPr>
              <a:t>Chop. Pitch. Flip.</a:t>
            </a:r>
          </a:p>
        </p:txBody>
      </p:sp>
      <p:sp>
        <p:nvSpPr>
          <p:cNvPr id="6" name="Rectangle 5"/>
          <p:cNvSpPr/>
          <p:nvPr/>
        </p:nvSpPr>
        <p:spPr>
          <a:xfrm>
            <a:off x="0" y="5989320"/>
            <a:ext cx="12191695" cy="8686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6108192"/>
            <a:ext cx="12191695" cy="548640"/>
          </a:xfrm>
          <a:prstGeom prst="rect">
            <a:avLst/>
          </a:prstGeom>
          <a:noFill/>
        </p:spPr>
        <p:txBody>
          <a:bodyPr wrap="square" anchor="t" lIns="36576" rIns="36576" tIns="18288" bIns="18288">
            <a:spAutoFit/>
          </a:bodyPr>
          <a:lstStyle/>
          <a:p>
            <a:pPr algn="ctr"/>
            <a:r>
              <a:rPr sz="2000" b="0" spc="200">
                <a:solidFill>
                  <a:srgbClr val="FFFFFF"/>
                </a:solidFill>
                <a:latin typeface="Oswald"/>
              </a:rPr>
              <a:t>DIGITAL MUSIC PRODUCTION 2 · CLASS 1 · CHOP, PITCH AND FLIP IN LOGIC PRO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LISTEN: BEFORE AND AFTER</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Sample Flipping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2</a:t>
            </a:r>
          </a:p>
        </p:txBody>
      </p:sp>
      <p:sp>
        <p:nvSpPr>
          <p:cNvPr id="10" name="Rounded Rectangle 9"/>
          <p:cNvSpPr/>
          <p:nvPr/>
        </p:nvSpPr>
        <p:spPr>
          <a:xfrm>
            <a:off x="548640" y="1828800"/>
            <a:ext cx="11091672" cy="182880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920240"/>
            <a:ext cx="10515600" cy="640080"/>
          </a:xfrm>
          <a:prstGeom prst="rect">
            <a:avLst/>
          </a:prstGeom>
          <a:noFill/>
        </p:spPr>
        <p:txBody>
          <a:bodyPr wrap="square" anchor="t" lIns="36576" rIns="36576" tIns="18288" bIns="18288">
            <a:spAutoFit/>
          </a:bodyPr>
          <a:lstStyle/>
          <a:p>
            <a:pPr algn="l"/>
            <a:r>
              <a:rPr sz="3600" b="1">
                <a:solidFill>
                  <a:srgbClr val="FFFFFF"/>
                </a:solidFill>
                <a:latin typeface="Oswald"/>
              </a:rPr>
              <a:t>YOUR OWN CLEARED SAMPLE, PLAYED TWICE</a:t>
            </a:r>
          </a:p>
        </p:txBody>
      </p:sp>
      <p:sp>
        <p:nvSpPr>
          <p:cNvPr id="12" name="TextBox 11"/>
          <p:cNvSpPr txBox="1"/>
          <p:nvPr/>
        </p:nvSpPr>
        <p:spPr>
          <a:xfrm>
            <a:off x="822960" y="2578608"/>
            <a:ext cx="10515600" cy="457200"/>
          </a:xfrm>
          <a:prstGeom prst="rect">
            <a:avLst/>
          </a:prstGeom>
          <a:noFill/>
        </p:spPr>
        <p:txBody>
          <a:bodyPr wrap="square" anchor="t" lIns="36576" rIns="36576" tIns="18288" bIns="18288">
            <a:spAutoFit/>
          </a:bodyPr>
          <a:lstStyle/>
          <a:p>
            <a:pPr algn="l"/>
            <a:r>
              <a:rPr sz="2400" b="0">
                <a:solidFill>
                  <a:srgbClr val="F3DF9C"/>
                </a:solidFill>
                <a:latin typeface="Oswald"/>
              </a:rPr>
              <a:t/>
            </a:r>
          </a:p>
        </p:txBody>
      </p:sp>
      <p:sp>
        <p:nvSpPr>
          <p:cNvPr id="13" name="TextBox 12"/>
          <p:cNvSpPr txBox="1"/>
          <p:nvPr/>
        </p:nvSpPr>
        <p:spPr>
          <a:xfrm>
            <a:off x="822960" y="3090672"/>
            <a:ext cx="10515600" cy="457200"/>
          </a:xfrm>
          <a:prstGeom prst="rect">
            <a:avLst/>
          </a:prstGeom>
          <a:noFill/>
        </p:spPr>
        <p:txBody>
          <a:bodyPr wrap="square" anchor="t" lIns="36576" rIns="36576" tIns="18288" bIns="18288">
            <a:spAutoFit/>
          </a:bodyPr>
          <a:lstStyle/>
          <a:p>
            <a:pPr algn="l"/>
            <a:r>
              <a:rPr sz="1800" b="0">
                <a:solidFill>
                  <a:srgbClr val="FFFFFF"/>
                </a:solidFill>
                <a:latin typeface="Source Sans 3"/>
              </a:rPr>
              <a:t>Teacher: play the raw sample, then your 30-second flip.</a:t>
            </a:r>
          </a:p>
        </p:txBody>
      </p:sp>
      <p:sp>
        <p:nvSpPr>
          <p:cNvPr id="14" name="Oval 13"/>
          <p:cNvSpPr/>
          <p:nvPr/>
        </p:nvSpPr>
        <p:spPr>
          <a:xfrm>
            <a:off x="548640" y="4069080"/>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319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What did I do to it?</a:t>
            </a:r>
          </a:p>
        </p:txBody>
      </p:sp>
      <p:sp>
        <p:nvSpPr>
          <p:cNvPr id="16" name="Oval 15"/>
          <p:cNvSpPr/>
          <p:nvPr/>
        </p:nvSpPr>
        <p:spPr>
          <a:xfrm>
            <a:off x="548640" y="4678680"/>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5415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Which tiny piece did I use again and again?</a:t>
            </a:r>
          </a:p>
        </p:txBody>
      </p:sp>
      <p:sp>
        <p:nvSpPr>
          <p:cNvPr id="18" name="Oval 17"/>
          <p:cNvSpPr/>
          <p:nvPr/>
        </p:nvSpPr>
        <p:spPr>
          <a:xfrm>
            <a:off x="548640" y="5288280"/>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1511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Could you hear the original inside the new track?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WHAT THE HECK IS FLIPPING?</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Sample Flipping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3</a:t>
            </a:r>
          </a:p>
        </p:txBody>
      </p:sp>
      <p:sp>
        <p:nvSpPr>
          <p:cNvPr id="10" name="Oval 9"/>
          <p:cNvSpPr/>
          <p:nvPr/>
        </p:nvSpPr>
        <p:spPr>
          <a:xfrm>
            <a:off x="548640" y="2167128"/>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Taking a sample and making something new from it</a:t>
            </a:r>
          </a:p>
        </p:txBody>
      </p:sp>
      <p:sp>
        <p:nvSpPr>
          <p:cNvPr id="12" name="Oval 11"/>
          <p:cNvSpPr/>
          <p:nvPr/>
        </p:nvSpPr>
        <p:spPr>
          <a:xfrm>
            <a:off x="548640" y="3117088"/>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Chop it into pieces</a:t>
            </a:r>
          </a:p>
        </p:txBody>
      </p:sp>
      <p:sp>
        <p:nvSpPr>
          <p:cNvPr id="14" name="Oval 13"/>
          <p:cNvSpPr/>
          <p:nvPr/>
        </p:nvSpPr>
        <p:spPr>
          <a:xfrm>
            <a:off x="548640" y="4067048"/>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Pitch it, reverse it, stretch it</a:t>
            </a:r>
          </a:p>
        </p:txBody>
      </p:sp>
      <p:sp>
        <p:nvSpPr>
          <p:cNvPr id="16" name="Oval 15"/>
          <p:cNvSpPr/>
          <p:nvPr/>
        </p:nvSpPr>
        <p:spPr>
          <a:xfrm>
            <a:off x="548640" y="5017008"/>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Rearrange the pieces and build around them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SEVEN CLASSES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Sample Flipping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4</a:t>
            </a:r>
          </a:p>
        </p:txBody>
      </p:sp>
      <p:sp>
        <p:nvSpPr>
          <p:cNvPr id="10" name="Rounded Rectangle 9"/>
          <p:cNvSpPr/>
          <p:nvPr/>
        </p:nvSpPr>
        <p:spPr>
          <a:xfrm>
            <a:off x="548640" y="1810512"/>
            <a:ext cx="1554480" cy="523820"/>
          </a:xfrm>
          <a:prstGeom prst="roundRect">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10512"/>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1</a:t>
            </a:r>
          </a:p>
        </p:txBody>
      </p:sp>
      <p:sp>
        <p:nvSpPr>
          <p:cNvPr id="12" name="TextBox 11"/>
          <p:cNvSpPr txBox="1"/>
          <p:nvPr/>
        </p:nvSpPr>
        <p:spPr>
          <a:xfrm>
            <a:off x="2286000" y="1810512"/>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Before and after · what flipping is · ethics · choose a sample</a:t>
            </a:r>
          </a:p>
        </p:txBody>
      </p:sp>
      <p:sp>
        <p:nvSpPr>
          <p:cNvPr id="13" name="Rounded Rectangle 12"/>
          <p:cNvSpPr/>
          <p:nvPr/>
        </p:nvSpPr>
        <p:spPr>
          <a:xfrm>
            <a:off x="548640" y="2444060"/>
            <a:ext cx="1554480" cy="523820"/>
          </a:xfrm>
          <a:prstGeom prst="roundRect">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444060"/>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2</a:t>
            </a:r>
          </a:p>
        </p:txBody>
      </p:sp>
      <p:sp>
        <p:nvSpPr>
          <p:cNvPr id="15" name="TextBox 14"/>
          <p:cNvSpPr txBox="1"/>
          <p:nvPr/>
        </p:nvSpPr>
        <p:spPr>
          <a:xfrm>
            <a:off x="2286000" y="2444060"/>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Slice it · the three modes · flip it · drums that fit</a:t>
            </a:r>
          </a:p>
        </p:txBody>
      </p:sp>
      <p:sp>
        <p:nvSpPr>
          <p:cNvPr id="16" name="Rounded Rectangle 15"/>
          <p:cNvSpPr/>
          <p:nvPr/>
        </p:nvSpPr>
        <p:spPr>
          <a:xfrm>
            <a:off x="548640" y="3077609"/>
            <a:ext cx="1554480" cy="523820"/>
          </a:xfrm>
          <a:prstGeom prst="roundRect">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77609"/>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3</a:t>
            </a:r>
          </a:p>
        </p:txBody>
      </p:sp>
      <p:sp>
        <p:nvSpPr>
          <p:cNvPr id="18" name="TextBox 17"/>
          <p:cNvSpPr txBox="1"/>
          <p:nvPr/>
        </p:nvSpPr>
        <p:spPr>
          <a:xfrm>
            <a:off x="2286000" y="3077609"/>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Working day: build your beat</a:t>
            </a:r>
          </a:p>
        </p:txBody>
      </p:sp>
      <p:sp>
        <p:nvSpPr>
          <p:cNvPr id="19" name="Rounded Rectangle 18"/>
          <p:cNvSpPr/>
          <p:nvPr/>
        </p:nvSpPr>
        <p:spPr>
          <a:xfrm>
            <a:off x="548640" y="3711157"/>
            <a:ext cx="1554480" cy="523820"/>
          </a:xfrm>
          <a:prstGeom prst="roundRect">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711157"/>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4</a:t>
            </a:r>
          </a:p>
        </p:txBody>
      </p:sp>
      <p:sp>
        <p:nvSpPr>
          <p:cNvPr id="21" name="TextBox 20"/>
          <p:cNvSpPr txBox="1"/>
          <p:nvPr/>
        </p:nvSpPr>
        <p:spPr>
          <a:xfrm>
            <a:off x="2286000" y="3711157"/>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Working day: layer and arrange</a:t>
            </a:r>
          </a:p>
        </p:txBody>
      </p:sp>
      <p:sp>
        <p:nvSpPr>
          <p:cNvPr id="22" name="Rounded Rectangle 21"/>
          <p:cNvSpPr/>
          <p:nvPr/>
        </p:nvSpPr>
        <p:spPr>
          <a:xfrm>
            <a:off x="548640" y="4344706"/>
            <a:ext cx="1554480" cy="52382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344706"/>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5</a:t>
            </a:r>
          </a:p>
        </p:txBody>
      </p:sp>
      <p:sp>
        <p:nvSpPr>
          <p:cNvPr id="24" name="TextBox 23"/>
          <p:cNvSpPr txBox="1"/>
          <p:nvPr/>
        </p:nvSpPr>
        <p:spPr>
          <a:xfrm>
            <a:off x="2286000" y="4344706"/>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Working day: refine</a:t>
            </a:r>
          </a:p>
        </p:txBody>
      </p:sp>
      <p:sp>
        <p:nvSpPr>
          <p:cNvPr id="25" name="Rounded Rectangle 24"/>
          <p:cNvSpPr/>
          <p:nvPr/>
        </p:nvSpPr>
        <p:spPr>
          <a:xfrm>
            <a:off x="548640" y="4978254"/>
            <a:ext cx="1554480" cy="523820"/>
          </a:xfrm>
          <a:prstGeom prst="roundRect">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978254"/>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6</a:t>
            </a:r>
          </a:p>
        </p:txBody>
      </p:sp>
      <p:sp>
        <p:nvSpPr>
          <p:cNvPr id="27" name="TextBox 26"/>
          <p:cNvSpPr txBox="1"/>
          <p:nvPr/>
        </p:nvSpPr>
        <p:spPr>
          <a:xfrm>
            <a:off x="2286000" y="4978254"/>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Mix and bounce · checklist · rubric · 3 questions</a:t>
            </a:r>
          </a:p>
        </p:txBody>
      </p:sp>
      <p:sp>
        <p:nvSpPr>
          <p:cNvPr id="28" name="Rounded Rectangle 27"/>
          <p:cNvSpPr/>
          <p:nvPr/>
        </p:nvSpPr>
        <p:spPr>
          <a:xfrm>
            <a:off x="548640" y="5611803"/>
            <a:ext cx="1554480" cy="523820"/>
          </a:xfrm>
          <a:prstGeom prst="roundRect">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5611803"/>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7</a:t>
            </a:r>
          </a:p>
        </p:txBody>
      </p:sp>
      <p:sp>
        <p:nvSpPr>
          <p:cNvPr id="30" name="TextBox 29"/>
          <p:cNvSpPr txBox="1"/>
          <p:nvPr/>
        </p:nvSpPr>
        <p:spPr>
          <a:xfrm>
            <a:off x="2286000" y="5611803"/>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Presentations with Padlet Q&amp;A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SAMPLING: ART AND ETHICS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Sample Flipping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5</a:t>
            </a:r>
          </a:p>
        </p:txBody>
      </p:sp>
      <p:sp>
        <p:nvSpPr>
          <p:cNvPr id="10" name="Oval 9"/>
          <p:cNvSpPr/>
          <p:nvPr/>
        </p:nvSpPr>
        <p:spPr>
          <a:xfrm>
            <a:off x="548640" y="2148840"/>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Producers have always built new music from old sounds</a:t>
            </a:r>
          </a:p>
        </p:txBody>
      </p:sp>
      <p:sp>
        <p:nvSpPr>
          <p:cNvPr id="12" name="Oval 11"/>
          <p:cNvSpPr/>
          <p:nvPr/>
        </p:nvSpPr>
        <p:spPr>
          <a:xfrm>
            <a:off x="548640" y="2872740"/>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7355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Whose sound is it?</a:t>
            </a:r>
          </a:p>
        </p:txBody>
      </p:sp>
      <p:sp>
        <p:nvSpPr>
          <p:cNvPr id="14" name="Oval 13"/>
          <p:cNvSpPr/>
          <p:nvPr/>
        </p:nvSpPr>
        <p:spPr>
          <a:xfrm>
            <a:off x="548640" y="3596640"/>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4594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Is it cleared, public domain, or yours?</a:t>
            </a:r>
          </a:p>
        </p:txBody>
      </p:sp>
      <p:sp>
        <p:nvSpPr>
          <p:cNvPr id="16" name="Oval 15"/>
          <p:cNvSpPr/>
          <p:nvPr/>
        </p:nvSpPr>
        <p:spPr>
          <a:xfrm>
            <a:off x="548640" y="4320540"/>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1833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Our samples are cleared for this class</a:t>
            </a:r>
          </a:p>
        </p:txBody>
      </p:sp>
      <p:sp>
        <p:nvSpPr>
          <p:cNvPr id="18" name="Oval 17"/>
          <p:cNvSpPr/>
          <p:nvPr/>
        </p:nvSpPr>
        <p:spPr>
          <a:xfrm>
            <a:off x="548640" y="5044440"/>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49072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Write down where your sample came from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STEP 1: LISTEN AND CHOOSE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Sample Flipping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6</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Browse the provided samples</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Listen with headphones, more than once</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Note the key and tempo from the file name</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Pick one you can hear a use for</a:t>
            </a:r>
          </a:p>
        </p:txBody>
      </p:sp>
      <p:sp>
        <p:nvSpPr>
          <p:cNvPr id="22" name="Oval 21"/>
          <p:cNvSpPr/>
          <p:nvPr/>
        </p:nvSpPr>
        <p:spPr>
          <a:xfrm>
            <a:off x="548640" y="539495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39495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5</a:t>
            </a:r>
          </a:p>
        </p:txBody>
      </p:sp>
      <p:sp>
        <p:nvSpPr>
          <p:cNvPr id="24" name="TextBox 23"/>
          <p:cNvSpPr txBox="1"/>
          <p:nvPr/>
        </p:nvSpPr>
        <p:spPr>
          <a:xfrm>
            <a:off x="1325880" y="530352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Fill in the Sample log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WORKED EXAMPLE: SLICE A SAMPLE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Sample Flipping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7</a:t>
            </a:r>
          </a:p>
        </p:txBody>
      </p:sp>
      <p:pic>
        <p:nvPicPr>
          <p:cNvPr id="10" name="Picture 9" descr="deck-slices.png"/>
          <p:cNvPicPr>
            <a:picLocks noChangeAspect="1"/>
          </p:cNvPicPr>
          <p:nvPr/>
        </p:nvPicPr>
        <p:blipFill>
          <a:blip r:embed="rId2"/>
          <a:stretch>
            <a:fillRect/>
          </a:stretch>
        </p:blipFill>
        <p:spPr>
          <a:xfrm>
            <a:off x="548640" y="1810512"/>
            <a:ext cx="11091672" cy="2229426"/>
          </a:xfrm>
          <a:prstGeom prst="rect">
            <a:avLst/>
          </a:prstGeom>
        </p:spPr>
      </p:pic>
      <p:sp>
        <p:nvSpPr>
          <p:cNvPr id="11" name="Oval 10"/>
          <p:cNvSpPr/>
          <p:nvPr/>
        </p:nvSpPr>
        <p:spPr>
          <a:xfrm>
            <a:off x="548640" y="4956048"/>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8 slices of 1.2 s</a:t>
            </a:r>
          </a:p>
        </p:txBody>
      </p:sp>
      <p:sp>
        <p:nvSpPr>
          <p:cNvPr id="13" name="Oval 12"/>
          <p:cNvSpPr/>
          <p:nvPr/>
        </p:nvSpPr>
        <p:spPr>
          <a:xfrm>
            <a:off x="6190488" y="4956048"/>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9.6 s = 4 bars at 100 BPM</a:t>
            </a:r>
          </a:p>
        </p:txBody>
      </p:sp>
      <p:sp>
        <p:nvSpPr>
          <p:cNvPr id="15" name="Oval 14"/>
          <p:cNvSpPr/>
          <p:nvPr/>
        </p:nvSpPr>
        <p:spPr>
          <a:xfrm>
            <a:off x="548640" y="5641848"/>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Each slice = 2 beats</a:t>
            </a:r>
          </a:p>
        </p:txBody>
      </p:sp>
      <p:sp>
        <p:nvSpPr>
          <p:cNvPr id="17" name="Oval 16"/>
          <p:cNvSpPr/>
          <p:nvPr/>
        </p:nvSpPr>
        <p:spPr>
          <a:xfrm>
            <a:off x="6190488" y="5641848"/>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Cut at the start of a sound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WATCH ME: THE THREE MODES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Sample Flipping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8</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Classic: the sample plays across the keys, pitch follows the key</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One Shot: a key plays the whole sample</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Slice: the sample is cut up, one slice per key</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Drop in a sample, try all three</a:t>
            </a:r>
          </a:p>
        </p:txBody>
      </p:sp>
      <p:sp>
        <p:nvSpPr>
          <p:cNvPr id="22" name="Oval 21"/>
          <p:cNvSpPr/>
          <p:nvPr/>
        </p:nvSpPr>
        <p:spPr>
          <a:xfrm>
            <a:off x="548640" y="539495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39495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5</a:t>
            </a:r>
          </a:p>
        </p:txBody>
      </p:sp>
      <p:sp>
        <p:nvSpPr>
          <p:cNvPr id="24" name="TextBox 23"/>
          <p:cNvSpPr txBox="1"/>
          <p:nvPr/>
        </p:nvSpPr>
        <p:spPr>
          <a:xfrm>
            <a:off x="1325880" y="530352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Reverse, pitch, then play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WORKED EXAMPLE: FLIP IT</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Sample Flipping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9</a:t>
            </a:r>
          </a:p>
        </p:txBody>
      </p:sp>
      <p:pic>
        <p:nvPicPr>
          <p:cNvPr id="10" name="Picture 9" descr="deck-flip.png"/>
          <p:cNvPicPr>
            <a:picLocks noChangeAspect="1"/>
          </p:cNvPicPr>
          <p:nvPr/>
        </p:nvPicPr>
        <p:blipFill>
          <a:blip r:embed="rId2"/>
          <a:stretch>
            <a:fillRect/>
          </a:stretch>
        </p:blipFill>
        <p:spPr>
          <a:xfrm>
            <a:off x="548640" y="1810512"/>
            <a:ext cx="11091672" cy="2162876"/>
          </a:xfrm>
          <a:prstGeom prst="rect">
            <a:avLst/>
          </a:prstGeom>
        </p:spPr>
      </p:pic>
      <p:sp>
        <p:nvSpPr>
          <p:cNvPr id="11" name="Oval 10"/>
          <p:cNvSpPr/>
          <p:nvPr/>
        </p:nvSpPr>
        <p:spPr>
          <a:xfrm>
            <a:off x="548640" y="4956048"/>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8 slots of 2 beats, 4 bars</a:t>
            </a:r>
          </a:p>
        </p:txBody>
      </p:sp>
      <p:sp>
        <p:nvSpPr>
          <p:cNvPr id="13" name="Oval 12"/>
          <p:cNvSpPr/>
          <p:nvPr/>
        </p:nvSpPr>
        <p:spPr>
          <a:xfrm>
            <a:off x="6190488" y="4956048"/>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Reverse slices 2 and 3</a:t>
            </a:r>
          </a:p>
        </p:txBody>
      </p:sp>
      <p:sp>
        <p:nvSpPr>
          <p:cNvPr id="15" name="Oval 14"/>
          <p:cNvSpPr/>
          <p:nvPr/>
        </p:nvSpPr>
        <p:spPr>
          <a:xfrm>
            <a:off x="548640" y="5641848"/>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Slice 8 down an octave</a:t>
            </a:r>
          </a:p>
        </p:txBody>
      </p:sp>
      <p:sp>
        <p:nvSpPr>
          <p:cNvPr id="17" name="Oval 16"/>
          <p:cNvSpPr/>
          <p:nvPr/>
        </p:nvSpPr>
        <p:spPr>
          <a:xfrm>
            <a:off x="6190488" y="5641848"/>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Same slices, new order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WATCH ME: DRUMS THAT FIT</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Sample Flipping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10</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New track: an Electronic Drum Kit (Drum Machine Designer)</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Pattern region, Step Sequencer</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Kick, snare, hi-hat: leave space for the chops</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Match the style the flip is heading toward</a:t>
            </a:r>
          </a:p>
        </p:txBody>
      </p:sp>
      <p:sp>
        <p:nvSpPr>
          <p:cNvPr id="22" name="Oval 21"/>
          <p:cNvSpPr/>
          <p:nvPr/>
        </p:nvSpPr>
        <p:spPr>
          <a:xfrm>
            <a:off x="548640" y="539495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39495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5</a:t>
            </a:r>
          </a:p>
        </p:txBody>
      </p:sp>
      <p:sp>
        <p:nvSpPr>
          <p:cNvPr id="24" name="TextBox 23"/>
          <p:cNvSpPr txBox="1"/>
          <p:nvPr/>
        </p:nvSpPr>
        <p:spPr>
          <a:xfrm>
            <a:off x="1325880" y="530352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Vary the velocity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3</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BUILD YOUR BEAT</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Sample Flipping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11</a:t>
            </a:r>
          </a:p>
        </p:txBody>
      </p:sp>
      <p:sp>
        <p:nvSpPr>
          <p:cNvPr id="10" name="Oval 9"/>
          <p:cNvSpPr/>
          <p:nvPr/>
        </p:nvSpPr>
        <p:spPr>
          <a:xfrm>
            <a:off x="548640" y="2167128"/>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Program your own drum pattern</a:t>
            </a:r>
          </a:p>
        </p:txBody>
      </p:sp>
      <p:sp>
        <p:nvSpPr>
          <p:cNvPr id="12" name="Oval 11"/>
          <p:cNvSpPr/>
          <p:nvPr/>
        </p:nvSpPr>
        <p:spPr>
          <a:xfrm>
            <a:off x="548640" y="3117088"/>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Match the style of your flip</a:t>
            </a:r>
          </a:p>
        </p:txBody>
      </p:sp>
      <p:sp>
        <p:nvSpPr>
          <p:cNvPr id="14" name="Oval 13"/>
          <p:cNvSpPr/>
          <p:nvPr/>
        </p:nvSpPr>
        <p:spPr>
          <a:xfrm>
            <a:off x="548640" y="4067048"/>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Play the chops on the keys, record them</a:t>
            </a:r>
          </a:p>
        </p:txBody>
      </p:sp>
      <p:sp>
        <p:nvSpPr>
          <p:cNvPr id="16" name="Oval 15"/>
          <p:cNvSpPr/>
          <p:nvPr/>
        </p:nvSpPr>
        <p:spPr>
          <a:xfrm>
            <a:off x="548640" y="5017008"/>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Keep the best take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4</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LAYER AND ARRANGE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Sample Flipping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12</a:t>
            </a:r>
          </a:p>
        </p:txBody>
      </p:sp>
      <p:sp>
        <p:nvSpPr>
          <p:cNvPr id="10" name="Oval 9"/>
          <p:cNvSpPr/>
          <p:nvPr/>
        </p:nvSpPr>
        <p:spPr>
          <a:xfrm>
            <a:off x="548640" y="2167128"/>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Bass, chords, melodies and extras</a:t>
            </a:r>
          </a:p>
        </p:txBody>
      </p:sp>
      <p:sp>
        <p:nvSpPr>
          <p:cNvPr id="12" name="Oval 11"/>
          <p:cNvSpPr/>
          <p:nvPr/>
        </p:nvSpPr>
        <p:spPr>
          <a:xfrm>
            <a:off x="548640" y="3117088"/>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Keep it appropriate to the style</a:t>
            </a:r>
          </a:p>
        </p:txBody>
      </p:sp>
      <p:sp>
        <p:nvSpPr>
          <p:cNvPr id="14" name="Oval 13"/>
          <p:cNvSpPr/>
          <p:nvPr/>
        </p:nvSpPr>
        <p:spPr>
          <a:xfrm>
            <a:off x="548640" y="4067048"/>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Give the track a beginning, a middle and an end</a:t>
            </a:r>
          </a:p>
        </p:txBody>
      </p:sp>
      <p:sp>
        <p:nvSpPr>
          <p:cNvPr id="16" name="Oval 15"/>
          <p:cNvSpPr/>
          <p:nvPr/>
        </p:nvSpPr>
        <p:spPr>
          <a:xfrm>
            <a:off x="548640" y="5017008"/>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Put each sound on its own track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6</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MIX AND BOUNCE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Sample Flipping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13</a:t>
            </a:r>
          </a:p>
        </p:txBody>
      </p:sp>
      <p:sp>
        <p:nvSpPr>
          <p:cNvPr id="10" name="Oval 9"/>
          <p:cNvSpPr/>
          <p:nvPr/>
        </p:nvSpPr>
        <p:spPr>
          <a:xfrm>
            <a:off x="548640" y="2167128"/>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EQ every track</a:t>
            </a:r>
          </a:p>
        </p:txBody>
      </p:sp>
      <p:sp>
        <p:nvSpPr>
          <p:cNvPr id="12" name="Oval 11"/>
          <p:cNvSpPr/>
          <p:nvPr/>
        </p:nvSpPr>
        <p:spPr>
          <a:xfrm>
            <a:off x="548640" y="3117088"/>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Pan and balance everything</a:t>
            </a:r>
          </a:p>
        </p:txBody>
      </p:sp>
      <p:sp>
        <p:nvSpPr>
          <p:cNvPr id="14" name="Oval 13"/>
          <p:cNvSpPr/>
          <p:nvPr/>
        </p:nvSpPr>
        <p:spPr>
          <a:xfrm>
            <a:off x="548640" y="4067048"/>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Bounce a .mp3 or .wav</a:t>
            </a:r>
          </a:p>
        </p:txBody>
      </p:sp>
      <p:sp>
        <p:nvSpPr>
          <p:cNvPr id="16" name="Oval 15"/>
          <p:cNvSpPr/>
          <p:nvPr/>
        </p:nvSpPr>
        <p:spPr>
          <a:xfrm>
            <a:off x="548640" y="5017008"/>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Zip the .logicx project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6</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WHAT YOU TURN IN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Sample Flipping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14</a:t>
            </a:r>
          </a:p>
        </p:txBody>
      </p:sp>
      <p:sp>
        <p:nvSpPr>
          <p:cNvPr id="10" name="Rounded Rectangle 9"/>
          <p:cNvSpPr/>
          <p:nvPr/>
        </p:nvSpPr>
        <p:spPr>
          <a:xfrm>
            <a:off x="548640" y="197510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920240"/>
            <a:ext cx="4892040" cy="1298448"/>
          </a:xfrm>
          <a:prstGeom prst="rect">
            <a:avLst/>
          </a:prstGeom>
          <a:noFill/>
        </p:spPr>
        <p:txBody>
          <a:bodyPr wrap="square" anchor="t" lIns="36576" rIns="36576" tIns="18288" bIns="18288">
            <a:spAutoFit/>
          </a:bodyPr>
          <a:lstStyle/>
          <a:p>
            <a:pPr algn="l"/>
            <a:r>
              <a:rPr sz="2200" b="0">
                <a:solidFill>
                  <a:srgbClr val="000000"/>
                </a:solidFill>
                <a:latin typeface="Source Sans 3"/>
              </a:rPr>
              <a:t>Bounced .mp3 or .wav uploaded</a:t>
            </a:r>
          </a:p>
        </p:txBody>
      </p:sp>
      <p:sp>
        <p:nvSpPr>
          <p:cNvPr id="12" name="Rounded Rectangle 11"/>
          <p:cNvSpPr/>
          <p:nvPr/>
        </p:nvSpPr>
        <p:spPr>
          <a:xfrm>
            <a:off x="6172200" y="197510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1920240"/>
            <a:ext cx="4892040" cy="1298448"/>
          </a:xfrm>
          <a:prstGeom prst="rect">
            <a:avLst/>
          </a:prstGeom>
          <a:noFill/>
        </p:spPr>
        <p:txBody>
          <a:bodyPr wrap="square" anchor="t" lIns="36576" rIns="36576" tIns="18288" bIns="18288">
            <a:spAutoFit/>
          </a:bodyPr>
          <a:lstStyle/>
          <a:p>
            <a:pPr algn="l"/>
            <a:r>
              <a:rPr sz="2200" b="0">
                <a:solidFill>
                  <a:srgbClr val="000000"/>
                </a:solidFill>
                <a:latin typeface="Source Sans 3"/>
              </a:rPr>
              <a:t>Zipped .logicx project uploaded</a:t>
            </a:r>
          </a:p>
        </p:txBody>
      </p:sp>
      <p:sp>
        <p:nvSpPr>
          <p:cNvPr id="14" name="Rounded Rectangle 13"/>
          <p:cNvSpPr/>
          <p:nvPr/>
        </p:nvSpPr>
        <p:spPr>
          <a:xfrm>
            <a:off x="548640" y="334670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291840"/>
            <a:ext cx="4892040" cy="1298448"/>
          </a:xfrm>
          <a:prstGeom prst="rect">
            <a:avLst/>
          </a:prstGeom>
          <a:noFill/>
        </p:spPr>
        <p:txBody>
          <a:bodyPr wrap="square" anchor="t" lIns="36576" rIns="36576" tIns="18288" bIns="18288">
            <a:spAutoFit/>
          </a:bodyPr>
          <a:lstStyle/>
          <a:p>
            <a:pPr algn="l"/>
            <a:r>
              <a:rPr sz="2200" b="0">
                <a:solidFill>
                  <a:srgbClr val="000000"/>
                </a:solidFill>
                <a:latin typeface="Source Sans 3"/>
              </a:rPr>
              <a:t>Named: Your Name – Sample Flipping</a:t>
            </a:r>
          </a:p>
        </p:txBody>
      </p:sp>
      <p:sp>
        <p:nvSpPr>
          <p:cNvPr id="16" name="Rounded Rectangle 15"/>
          <p:cNvSpPr/>
          <p:nvPr/>
        </p:nvSpPr>
        <p:spPr>
          <a:xfrm>
            <a:off x="6172200" y="334670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0" y="3291840"/>
            <a:ext cx="4892040" cy="1298448"/>
          </a:xfrm>
          <a:prstGeom prst="rect">
            <a:avLst/>
          </a:prstGeom>
          <a:noFill/>
        </p:spPr>
        <p:txBody>
          <a:bodyPr wrap="square" anchor="t" lIns="36576" rIns="36576" tIns="18288" bIns="18288">
            <a:spAutoFit/>
          </a:bodyPr>
          <a:lstStyle/>
          <a:p>
            <a:pPr algn="l"/>
            <a:r>
              <a:rPr sz="2200" b="0">
                <a:solidFill>
                  <a:srgbClr val="000000"/>
                </a:solidFill>
                <a:latin typeface="Source Sans 3"/>
              </a:rPr>
              <a:t>Padlet post with your 3 questions</a:t>
            </a:r>
          </a:p>
        </p:txBody>
      </p:sp>
      <p:sp>
        <p:nvSpPr>
          <p:cNvPr id="18" name="Rounded Rectangle 17"/>
          <p:cNvSpPr/>
          <p:nvPr/>
        </p:nvSpPr>
        <p:spPr>
          <a:xfrm>
            <a:off x="548640" y="4718303"/>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663440"/>
            <a:ext cx="4892040" cy="1298448"/>
          </a:xfrm>
          <a:prstGeom prst="rect">
            <a:avLst/>
          </a:prstGeom>
          <a:noFill/>
        </p:spPr>
        <p:txBody>
          <a:bodyPr wrap="square" anchor="t" lIns="36576" rIns="36576" tIns="18288" bIns="18288">
            <a:spAutoFit/>
          </a:bodyPr>
          <a:lstStyle/>
          <a:p>
            <a:pPr algn="l"/>
            <a:r>
              <a:rPr sz="2200" b="0">
                <a:solidFill>
                  <a:srgbClr val="000000"/>
                </a:solidFill>
                <a:latin typeface="Source Sans 3"/>
              </a:rPr>
              <a:t>Answer 2 questions on classmates’ posts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6</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HOW IT’S SCORED</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Sample Flipping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15</a:t>
            </a:r>
          </a:p>
        </p:txBody>
      </p:sp>
      <p:sp>
        <p:nvSpPr>
          <p:cNvPr id="10" name="Rounded Rectangle 9"/>
          <p:cNvSpPr/>
          <p:nvPr/>
        </p:nvSpPr>
        <p:spPr>
          <a:xfrm>
            <a:off x="548640" y="181051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1051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CREATIVITY &amp; ORIGINALITY</a:t>
            </a:r>
          </a:p>
        </p:txBody>
      </p:sp>
      <p:sp>
        <p:nvSpPr>
          <p:cNvPr id="12" name="TextBox 11"/>
          <p:cNvSpPr txBox="1"/>
          <p:nvPr/>
        </p:nvSpPr>
        <p:spPr>
          <a:xfrm>
            <a:off x="4572000" y="181051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Exceptional creativity; innovative, bold, and expressive</a:t>
            </a:r>
          </a:p>
        </p:txBody>
      </p:sp>
      <p:sp>
        <p:nvSpPr>
          <p:cNvPr id="13" name="TextBox 12"/>
          <p:cNvSpPr txBox="1"/>
          <p:nvPr/>
        </p:nvSpPr>
        <p:spPr>
          <a:xfrm>
            <a:off x="10744200" y="1810512"/>
            <a:ext cx="896112" cy="713232"/>
          </a:xfrm>
          <a:prstGeom prst="rect">
            <a:avLst/>
          </a:prstGeom>
          <a:noFill/>
        </p:spPr>
        <p:txBody>
          <a:bodyPr wrap="square" anchor="ctr" lIns="36576" rIns="36576" tIns="18288" bIns="18288">
            <a:spAutoFit/>
          </a:bodyPr>
          <a:lstStyle/>
          <a:p>
            <a:pPr algn="r"/>
            <a:r>
              <a:rPr sz="2400" b="1">
                <a:solidFill>
                  <a:srgbClr val="B07D00"/>
                </a:solidFill>
                <a:latin typeface="Oswald"/>
              </a:rPr>
              <a:t>/ 5</a:t>
            </a:r>
          </a:p>
        </p:txBody>
      </p:sp>
      <p:sp>
        <p:nvSpPr>
          <p:cNvPr id="14" name="Rounded Rectangle 13"/>
          <p:cNvSpPr/>
          <p:nvPr/>
        </p:nvSpPr>
        <p:spPr>
          <a:xfrm>
            <a:off x="548640" y="263347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63347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TECHNICAL SKILL / DAW USE</a:t>
            </a:r>
          </a:p>
        </p:txBody>
      </p:sp>
      <p:sp>
        <p:nvSpPr>
          <p:cNvPr id="16" name="TextBox 15"/>
          <p:cNvSpPr txBox="1"/>
          <p:nvPr/>
        </p:nvSpPr>
        <p:spPr>
          <a:xfrm>
            <a:off x="4572000" y="263347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Expert-level command of multiple Logic systems</a:t>
            </a:r>
          </a:p>
        </p:txBody>
      </p:sp>
      <p:sp>
        <p:nvSpPr>
          <p:cNvPr id="17" name="TextBox 16"/>
          <p:cNvSpPr txBox="1"/>
          <p:nvPr/>
        </p:nvSpPr>
        <p:spPr>
          <a:xfrm>
            <a:off x="10744200" y="2633472"/>
            <a:ext cx="896112" cy="713232"/>
          </a:xfrm>
          <a:prstGeom prst="rect">
            <a:avLst/>
          </a:prstGeom>
          <a:noFill/>
        </p:spPr>
        <p:txBody>
          <a:bodyPr wrap="square" anchor="ctr" lIns="36576" rIns="36576" tIns="18288" bIns="18288">
            <a:spAutoFit/>
          </a:bodyPr>
          <a:lstStyle/>
          <a:p>
            <a:pPr algn="r"/>
            <a:r>
              <a:rPr sz="2400" b="1">
                <a:solidFill>
                  <a:srgbClr val="B07D00"/>
                </a:solidFill>
                <a:latin typeface="Oswald"/>
              </a:rPr>
              <a:t>/ 5</a:t>
            </a:r>
          </a:p>
        </p:txBody>
      </p:sp>
      <p:sp>
        <p:nvSpPr>
          <p:cNvPr id="18" name="Rounded Rectangle 17"/>
          <p:cNvSpPr/>
          <p:nvPr/>
        </p:nvSpPr>
        <p:spPr>
          <a:xfrm>
            <a:off x="548640" y="345643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45643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COMPOSITION &amp; STRUCTURE</a:t>
            </a:r>
          </a:p>
        </p:txBody>
      </p:sp>
      <p:sp>
        <p:nvSpPr>
          <p:cNvPr id="20" name="TextBox 19"/>
          <p:cNvSpPr txBox="1"/>
          <p:nvPr/>
        </p:nvSpPr>
        <p:spPr>
          <a:xfrm>
            <a:off x="4572000" y="345643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Professional pacing, flow, and musical arc</a:t>
            </a:r>
          </a:p>
        </p:txBody>
      </p:sp>
      <p:sp>
        <p:nvSpPr>
          <p:cNvPr id="21" name="TextBox 20"/>
          <p:cNvSpPr txBox="1"/>
          <p:nvPr/>
        </p:nvSpPr>
        <p:spPr>
          <a:xfrm>
            <a:off x="10744200" y="3456432"/>
            <a:ext cx="896112" cy="713232"/>
          </a:xfrm>
          <a:prstGeom prst="rect">
            <a:avLst/>
          </a:prstGeom>
          <a:noFill/>
        </p:spPr>
        <p:txBody>
          <a:bodyPr wrap="square" anchor="ctr" lIns="36576" rIns="36576" tIns="18288" bIns="18288">
            <a:spAutoFit/>
          </a:bodyPr>
          <a:lstStyle/>
          <a:p>
            <a:pPr algn="r"/>
            <a:r>
              <a:rPr sz="2400" b="1">
                <a:solidFill>
                  <a:srgbClr val="B07D00"/>
                </a:solidFill>
                <a:latin typeface="Oswald"/>
              </a:rPr>
              <a:t>/ 5</a:t>
            </a:r>
          </a:p>
        </p:txBody>
      </p:sp>
      <p:sp>
        <p:nvSpPr>
          <p:cNvPr id="22" name="Rounded Rectangle 21"/>
          <p:cNvSpPr/>
          <p:nvPr/>
        </p:nvSpPr>
        <p:spPr>
          <a:xfrm>
            <a:off x="548640" y="427939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27939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SOUND DESIGN &amp; MIX QUALITY</a:t>
            </a:r>
          </a:p>
        </p:txBody>
      </p:sp>
      <p:sp>
        <p:nvSpPr>
          <p:cNvPr id="24" name="TextBox 23"/>
          <p:cNvSpPr txBox="1"/>
          <p:nvPr/>
        </p:nvSpPr>
        <p:spPr>
          <a:xfrm>
            <a:off x="4572000" y="427939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Exceptional sound design; professional-quality mix</a:t>
            </a:r>
          </a:p>
        </p:txBody>
      </p:sp>
      <p:sp>
        <p:nvSpPr>
          <p:cNvPr id="25" name="TextBox 24"/>
          <p:cNvSpPr txBox="1"/>
          <p:nvPr/>
        </p:nvSpPr>
        <p:spPr>
          <a:xfrm>
            <a:off x="10744200" y="4279392"/>
            <a:ext cx="896112" cy="713232"/>
          </a:xfrm>
          <a:prstGeom prst="rect">
            <a:avLst/>
          </a:prstGeom>
          <a:noFill/>
        </p:spPr>
        <p:txBody>
          <a:bodyPr wrap="square" anchor="ctr" lIns="36576" rIns="36576" tIns="18288" bIns="18288">
            <a:spAutoFit/>
          </a:bodyPr>
          <a:lstStyle/>
          <a:p>
            <a:pPr algn="r"/>
            <a:r>
              <a:rPr sz="2400" b="1">
                <a:solidFill>
                  <a:srgbClr val="B07D00"/>
                </a:solidFill>
                <a:latin typeface="Oswald"/>
              </a:rPr>
              <a:t>/ 5</a:t>
            </a:r>
          </a:p>
        </p:txBody>
      </p:sp>
      <p:sp>
        <p:nvSpPr>
          <p:cNvPr id="26" name="Rounded Rectangle 25"/>
          <p:cNvSpPr/>
          <p:nvPr/>
        </p:nvSpPr>
        <p:spPr>
          <a:xfrm>
            <a:off x="548640" y="510235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10235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DOCUMENTATION &amp; PRESENTATION</a:t>
            </a:r>
          </a:p>
        </p:txBody>
      </p:sp>
      <p:sp>
        <p:nvSpPr>
          <p:cNvPr id="28" name="TextBox 27"/>
          <p:cNvSpPr txBox="1"/>
          <p:nvPr/>
        </p:nvSpPr>
        <p:spPr>
          <a:xfrm>
            <a:off x="4572000" y="510235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Exceptional; thorough insight and polished delivery</a:t>
            </a:r>
          </a:p>
        </p:txBody>
      </p:sp>
      <p:sp>
        <p:nvSpPr>
          <p:cNvPr id="29" name="TextBox 28"/>
          <p:cNvSpPr txBox="1"/>
          <p:nvPr/>
        </p:nvSpPr>
        <p:spPr>
          <a:xfrm>
            <a:off x="10744200" y="5102352"/>
            <a:ext cx="896112" cy="713232"/>
          </a:xfrm>
          <a:prstGeom prst="rect">
            <a:avLst/>
          </a:prstGeom>
          <a:noFill/>
        </p:spPr>
        <p:txBody>
          <a:bodyPr wrap="square" anchor="ctr" lIns="36576" rIns="36576" tIns="18288" bIns="18288">
            <a:spAutoFit/>
          </a:bodyPr>
          <a:lstStyle/>
          <a:p>
            <a:pPr algn="r"/>
            <a:r>
              <a:rPr sz="2400" b="1">
                <a:solidFill>
                  <a:srgbClr val="B07D00"/>
                </a:solidFill>
                <a:latin typeface="Oswald"/>
              </a:rPr>
              <a:t>/ 5</a:t>
            </a:r>
          </a:p>
        </p:txBody>
      </p:sp>
      <p:sp>
        <p:nvSpPr>
          <p:cNvPr id="30" name="TextBox 29"/>
          <p:cNvSpPr txBox="1"/>
          <p:nvPr/>
        </p:nvSpPr>
        <p:spPr>
          <a:xfrm>
            <a:off x="548640" y="5943600"/>
            <a:ext cx="11091672" cy="411480"/>
          </a:xfrm>
          <a:prstGeom prst="rect">
            <a:avLst/>
          </a:prstGeom>
          <a:noFill/>
        </p:spPr>
        <p:txBody>
          <a:bodyPr wrap="square" anchor="t" lIns="36576" rIns="36576" tIns="18288" bIns="18288">
            <a:spAutoFit/>
          </a:bodyPr>
          <a:lstStyle/>
          <a:p>
            <a:pPr algn="r"/>
            <a:r>
              <a:rPr sz="2000" b="1">
                <a:solidFill>
                  <a:srgbClr val="000000"/>
                </a:solidFill>
                <a:latin typeface="Oswald"/>
              </a:rPr>
              <a:t>SCORED 1–5 · FINAL GRADE = AVERAGE OF YOUR SCORE AND MINE · / 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7</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PRESENTATION DAY</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Sample Flipping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16</a:t>
            </a:r>
          </a:p>
        </p:txBody>
      </p:sp>
      <p:sp>
        <p:nvSpPr>
          <p:cNvPr id="10" name="Oval 9"/>
          <p:cNvSpPr/>
          <p:nvPr/>
        </p:nvSpPr>
        <p:spPr>
          <a:xfrm>
            <a:off x="548640" y="2167128"/>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Play the raw sample, then your track</a:t>
            </a:r>
          </a:p>
        </p:txBody>
      </p:sp>
      <p:sp>
        <p:nvSpPr>
          <p:cNvPr id="12" name="Oval 11"/>
          <p:cNvSpPr/>
          <p:nvPr/>
        </p:nvSpPr>
        <p:spPr>
          <a:xfrm>
            <a:off x="548640" y="3117088"/>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Your Padlet post: 3 questions about your project</a:t>
            </a:r>
          </a:p>
        </p:txBody>
      </p:sp>
      <p:sp>
        <p:nvSpPr>
          <p:cNvPr id="14" name="Oval 13"/>
          <p:cNvSpPr/>
          <p:nvPr/>
        </p:nvSpPr>
        <p:spPr>
          <a:xfrm>
            <a:off x="548640" y="4067048"/>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Answer at least 2 of each classmate’s 3</a:t>
            </a:r>
          </a:p>
        </p:txBody>
      </p:sp>
      <p:sp>
        <p:nvSpPr>
          <p:cNvPr id="16" name="Oval 15"/>
          <p:cNvSpPr/>
          <p:nvPr/>
        </p:nvSpPr>
        <p:spPr>
          <a:xfrm>
            <a:off x="548640" y="5017008"/>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Listen like a producer: what did they do to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7</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ONE LAST THING…</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Sample Flipping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17</a:t>
            </a:r>
          </a:p>
        </p:txBody>
      </p:sp>
      <p:sp>
        <p:nvSpPr>
          <p:cNvPr id="10" name="Oval 9"/>
          <p:cNvSpPr/>
          <p:nvPr/>
        </p:nvSpPr>
        <p:spPr>
          <a:xfrm>
            <a:off x="548640" y="2057400"/>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202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started with one sample.</a:t>
            </a:r>
          </a:p>
        </p:txBody>
      </p:sp>
      <p:sp>
        <p:nvSpPr>
          <p:cNvPr id="12" name="Oval 11"/>
          <p:cNvSpPr/>
          <p:nvPr/>
        </p:nvSpPr>
        <p:spPr>
          <a:xfrm>
            <a:off x="548640" y="2781300"/>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6441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chopped it and flipped it.</a:t>
            </a:r>
          </a:p>
        </p:txBody>
      </p:sp>
      <p:sp>
        <p:nvSpPr>
          <p:cNvPr id="14" name="Oval 13"/>
          <p:cNvSpPr/>
          <p:nvPr/>
        </p:nvSpPr>
        <p:spPr>
          <a:xfrm>
            <a:off x="548640" y="3505200"/>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3680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built the drums yourself.</a:t>
            </a:r>
          </a:p>
        </p:txBody>
      </p:sp>
      <p:sp>
        <p:nvSpPr>
          <p:cNvPr id="16" name="Oval 15"/>
          <p:cNvSpPr/>
          <p:nvPr/>
        </p:nvSpPr>
        <p:spPr>
          <a:xfrm>
            <a:off x="548640" y="4229100"/>
            <a:ext cx="146304" cy="146304"/>
          </a:xfrm>
          <a:prstGeom prst="ellipse">
            <a:avLst/>
          </a:prstGeom>
          <a:solidFill>
            <a:srgbClr val="B07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091939"/>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Now it’s yours.</a:t>
            </a:r>
          </a:p>
        </p:txBody>
      </p:sp>
      <p:pic>
        <p:nvPicPr>
          <p:cNvPr id="18" name="Picture 17" descr="deck-hero.png"/>
          <p:cNvPicPr>
            <a:picLocks noChangeAspect="1"/>
          </p:cNvPicPr>
          <p:nvPr/>
        </p:nvPicPr>
        <p:blipFill>
          <a:blip r:embed="rId2"/>
          <a:stretch>
            <a:fillRect/>
          </a:stretch>
        </p:blipFill>
        <p:spPr>
          <a:xfrm>
            <a:off x="6519672" y="2103120"/>
            <a:ext cx="5120640" cy="275167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Sample Flipping · Intro deck</dc:title>
  <dc:subject/>
  <dc:creator>Brian Lotze · Hudson Beat</dc:creator>
  <cp:keywords/>
  <dc:description>Designed with the help of digital and AI tools, and checked by hand.</dc:description>
  <cp:lastModifiedBy>Steve Canny</cp:lastModifiedBy>
  <cp:revision>1</cp:revision>
  <dcterms:created xsi:type="dcterms:W3CDTF">2013-01-27T09:14:16Z</dcterms:created>
  <dcterms:modified xsi:type="dcterms:W3CDTF">2013-01-27T09:15:58Z</dcterms:modified>
  <cp:category/>
</cp:coreProperties>
</file>