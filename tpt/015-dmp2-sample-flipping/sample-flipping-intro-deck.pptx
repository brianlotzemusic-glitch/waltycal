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Before class, pick one cleared sample from your own set (page 4 of the resource shows how to build one) and make a 30-second flip of it in Logic Pro. No audio is included in this deck. Open with my overview: take one sample and flip it into something entirely your 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raw sample first with no comment, then your flip. Take answers aloud: chopped, reversed, pitched, repeated, drums added. The point of the project is in my notes: students must actually chop, pitch or manipulate the sample, not just loop it. Keep your flip short and a bit rough on purpose.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Plain-English definition from the project sheet vocabulary: a sample is a recorded piece of audio used as raw material; flipping is transforming it through chopping, pitching or reversing; chopping is cutting it into smaller pieces to rearrange and replay. From my overview: this is how some of the biggest producers in hip-hop, R&amp;B and electronic music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and Quick Sampler demo, select a sample. Class 2: deep dive into Quick Sampler, begin building. Classes 3 to 5 are working days. Class 6: final mix and bounce, presentations prepared. Class 7: presentations with Padlet feedback. Hand out the project sheet and the Sample log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teacher notes call this project a natural entry point for discussing sampling ethics and copyright. Use two or three of the discussion questions from the ethics page of the resource (page 5). Keep it short and honest: using someone else's recording generally needs their permission, which is why this class uses samples you have cleared. This is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listen to the set with headphones and fill in the Sample log (page 12). File names that carry the key and tempo help, as in my guidelines: make sure the key fits the sample. My struggles list warns that students give up quickly if the sample does not sound cool at once, so tell them a plain sample can still become a great flip.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This is an original practice sample, described on paper only; nothing here is a recording. It runs 9.6 seconds, which is 4 bars at 100 BPM (one bar is 2.4 seconds). Cut into 8 slices of 1.2 seconds, each slice is 2 beats and slice 4 starts at 3.6 seconds. Students' samples will differ; the arithmetic is the habit to teach.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three-minute demo, using your own cleared sample. Here the three modes are shortened from the longer descriptions on the reference page; the project sheet says to demo Classic, One Shot and Slice early because the modes confuse students. Drop in the sample, switch modes, and play each. Show Reverse and the pitch control. Menu names vary a little by Logic version.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8 slices, rearranged into 8 slots of 2 beats: 4 bars, 9.6 seconds. Slice 1 repeats, slices 2 and 3 are reversed, and slice 8 drops an octave. In Classic mode, down 12 semitones doubles the length of a slice: 1.2 seconds becomes 2.4, exactly one bar. Ask students which move they would try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demo. An Electronic Drum Kit loads Drum Machine Designer. Control-click in the drum track, Create Pattern Region, double-click for the Step Sequencer. My tip: your drums set the tone, so match the style. Drum patterns must be self-created. Leave a gap where a chop lands so the two do not fight.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is the first working day. Step 3 of the project sheet, shortened here: build the beat. Students also record their chops by playing Quick Sampler from the keyboard or by drawing notes in the Piano Roll. Circulate and ask each student to play you the raw sample and then their loop; push anyone who is only looping the sample to chop or pitch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4, a working day. Step 4, shortened here: add bass, chords, melodies and additional elements. From my guidelines, keep the layers appropriate to the style and put effects on different tracks so each can have its own volume and plug-ins. Class 5 is a full working day with no new slide: refine the track.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final mix and bounce. Steps 5 and 6 of the project sheet, shortened to fit the slide: mix with EQ, pan and balance, then finalize by bouncing and preparing the presentation. Ask every student to show you one EQ move and one pan move before they bounce. Bounce: File, Bounce, Project or Section. Zip: Control-click the .logicx in Finder, Compress.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in short form. Show where students upload (your class page) and where the Padlet board is. Remind students that the Sample log (page 12) is theirs to keep: it records where the sample came from.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Each student plays the raw sample and then the flip, so the class can hear the transformation. During classmates' presentations, every student answers at least 2 of their 3 questions on their Padlet post. Two minutes per student keeps the day moving.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my teacher notes say this project builds: Quick Sampler proficiency, drum programming and creative transformation, plus a first look at sampling ethics. Every student made a complete track from a single source. That is how producers work. Reflection: point students to the Reflection page. A reflection is a written or oral conversation about how they did on the project and what they would do differently next time; they choose to write it or to talk it through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3330705" y="896112"/>
            <a:ext cx="5530284"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SAMPLE FLIPPING</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Chop. Pitch. Flip.</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CHOP, PITCH AND FLIP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BEFORE AND AFTER</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YOUR OWN CLEARED SAMPLE, PLAYED TWICE</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F3DF9C"/>
                </a:solidFill>
                <a:latin typeface="Oswald"/>
              </a:rPr>
              <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the raw sample, then your 30-second flip.</a:t>
            </a:r>
          </a:p>
        </p:txBody>
      </p:sp>
      <p:sp>
        <p:nvSpPr>
          <p:cNvPr id="14" name="Oval 13"/>
          <p:cNvSpPr/>
          <p:nvPr/>
        </p:nvSpPr>
        <p:spPr>
          <a:xfrm>
            <a:off x="548640" y="406908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did I do to it?</a:t>
            </a:r>
          </a:p>
        </p:txBody>
      </p:sp>
      <p:sp>
        <p:nvSpPr>
          <p:cNvPr id="16" name="Oval 15"/>
          <p:cNvSpPr/>
          <p:nvPr/>
        </p:nvSpPr>
        <p:spPr>
          <a:xfrm>
            <a:off x="548640" y="467868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tiny piece did I use again and again?</a:t>
            </a:r>
          </a:p>
        </p:txBody>
      </p:sp>
      <p:sp>
        <p:nvSpPr>
          <p:cNvPr id="18" name="Oval 17"/>
          <p:cNvSpPr/>
          <p:nvPr/>
        </p:nvSpPr>
        <p:spPr>
          <a:xfrm>
            <a:off x="548640" y="528828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Could you hear the original inside the new track?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THE HECK IS FLIPPING?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Taking a sample and making something new from it</a:t>
            </a:r>
          </a:p>
        </p:txBody>
      </p:sp>
      <p:sp>
        <p:nvSpPr>
          <p:cNvPr id="12" name="Oval 11"/>
          <p:cNvSpPr/>
          <p:nvPr/>
        </p:nvSpPr>
        <p:spPr>
          <a:xfrm>
            <a:off x="548640" y="311708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Chop it into pieces</a:t>
            </a:r>
          </a:p>
        </p:txBody>
      </p:sp>
      <p:sp>
        <p:nvSpPr>
          <p:cNvPr id="14" name="Oval 13"/>
          <p:cNvSpPr/>
          <p:nvPr/>
        </p:nvSpPr>
        <p:spPr>
          <a:xfrm>
            <a:off x="548640" y="40670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Pitch it, reverse it, stretch it</a:t>
            </a:r>
          </a:p>
        </p:txBody>
      </p:sp>
      <p:sp>
        <p:nvSpPr>
          <p:cNvPr id="16" name="Oval 15"/>
          <p:cNvSpPr/>
          <p:nvPr/>
        </p:nvSpPr>
        <p:spPr>
          <a:xfrm>
            <a:off x="548640" y="501700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Rearrange the pieces and build around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Before and after · what flipping is · ethics · choose a sample</a:t>
            </a:r>
          </a:p>
        </p:txBody>
      </p:sp>
      <p:sp>
        <p:nvSpPr>
          <p:cNvPr id="13" name="Rounded Rectangle 12"/>
          <p:cNvSpPr/>
          <p:nvPr/>
        </p:nvSpPr>
        <p:spPr>
          <a:xfrm>
            <a:off x="548640" y="2444060"/>
            <a:ext cx="1554480" cy="523820"/>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Slice it · the three modes · flip it · drums that fit</a:t>
            </a:r>
          </a:p>
        </p:txBody>
      </p:sp>
      <p:sp>
        <p:nvSpPr>
          <p:cNvPr id="16" name="Rounded Rectangle 15"/>
          <p:cNvSpPr/>
          <p:nvPr/>
        </p:nvSpPr>
        <p:spPr>
          <a:xfrm>
            <a:off x="548640" y="3077609"/>
            <a:ext cx="1554480" cy="523820"/>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build your beat</a:t>
            </a:r>
          </a:p>
        </p:txBody>
      </p:sp>
      <p:sp>
        <p:nvSpPr>
          <p:cNvPr id="19" name="Rounded Rectangle 18"/>
          <p:cNvSpPr/>
          <p:nvPr/>
        </p:nvSpPr>
        <p:spPr>
          <a:xfrm>
            <a:off x="548640" y="3711157"/>
            <a:ext cx="1554480" cy="523820"/>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layer and arrange</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refine</a:t>
            </a:r>
          </a:p>
        </p:txBody>
      </p:sp>
      <p:sp>
        <p:nvSpPr>
          <p:cNvPr id="25" name="Rounded Rectangle 24"/>
          <p:cNvSpPr/>
          <p:nvPr/>
        </p:nvSpPr>
        <p:spPr>
          <a:xfrm>
            <a:off x="548640" y="4978254"/>
            <a:ext cx="1554480" cy="523820"/>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Mix and bounce · checklist · rubric · 3 questions</a:t>
            </a:r>
          </a:p>
        </p:txBody>
      </p:sp>
      <p:sp>
        <p:nvSpPr>
          <p:cNvPr id="28" name="Rounded Rectangle 27"/>
          <p:cNvSpPr/>
          <p:nvPr/>
        </p:nvSpPr>
        <p:spPr>
          <a:xfrm>
            <a:off x="548640" y="5611803"/>
            <a:ext cx="1554480" cy="523820"/>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SAMPLING: ART AND ETHICS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10" name="Oval 9"/>
          <p:cNvSpPr/>
          <p:nvPr/>
        </p:nvSpPr>
        <p:spPr>
          <a:xfrm>
            <a:off x="548640" y="214884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Producers have always built new music from old sounds</a:t>
            </a:r>
          </a:p>
        </p:txBody>
      </p:sp>
      <p:sp>
        <p:nvSpPr>
          <p:cNvPr id="12" name="Oval 11"/>
          <p:cNvSpPr/>
          <p:nvPr/>
        </p:nvSpPr>
        <p:spPr>
          <a:xfrm>
            <a:off x="548640" y="287274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7355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Whose sound is it?</a:t>
            </a:r>
          </a:p>
        </p:txBody>
      </p:sp>
      <p:sp>
        <p:nvSpPr>
          <p:cNvPr id="14" name="Oval 13"/>
          <p:cNvSpPr/>
          <p:nvPr/>
        </p:nvSpPr>
        <p:spPr>
          <a:xfrm>
            <a:off x="548640" y="359664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594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Is it cleared, public domain, or yours?</a:t>
            </a:r>
          </a:p>
        </p:txBody>
      </p:sp>
      <p:sp>
        <p:nvSpPr>
          <p:cNvPr id="16" name="Oval 15"/>
          <p:cNvSpPr/>
          <p:nvPr/>
        </p:nvSpPr>
        <p:spPr>
          <a:xfrm>
            <a:off x="548640" y="432054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1833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Our samples are cleared for this class</a:t>
            </a:r>
          </a:p>
        </p:txBody>
      </p:sp>
      <p:sp>
        <p:nvSpPr>
          <p:cNvPr id="18" name="Oval 17"/>
          <p:cNvSpPr/>
          <p:nvPr/>
        </p:nvSpPr>
        <p:spPr>
          <a:xfrm>
            <a:off x="548640" y="504444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9072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Write down where your sample came from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1: LISTEN AND CHOOSE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Browse the provided samples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Listen with headphones, more than once</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Note the key and tempo from the file name</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Pick one you can hear a use for</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Fill in the Sample 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SLICE A SAMPLE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pic>
        <p:nvPicPr>
          <p:cNvPr id="10" name="Picture 9" descr="deck-slices.png"/>
          <p:cNvPicPr>
            <a:picLocks noChangeAspect="1"/>
          </p:cNvPicPr>
          <p:nvPr/>
        </p:nvPicPr>
        <p:blipFill>
          <a:blip r:embed="rId2"/>
          <a:stretch>
            <a:fillRect/>
          </a:stretch>
        </p:blipFill>
        <p:spPr>
          <a:xfrm>
            <a:off x="548640" y="1810512"/>
            <a:ext cx="11091672" cy="2229426"/>
          </a:xfrm>
          <a:prstGeom prst="rect">
            <a:avLst/>
          </a:prstGeom>
        </p:spPr>
      </p:pic>
      <p:sp>
        <p:nvSpPr>
          <p:cNvPr id="11" name="Oval 10"/>
          <p:cNvSpPr/>
          <p:nvPr/>
        </p:nvSpPr>
        <p:spPr>
          <a:xfrm>
            <a:off x="548640" y="49560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8 slices of 1.2 s</a:t>
            </a:r>
          </a:p>
        </p:txBody>
      </p:sp>
      <p:sp>
        <p:nvSpPr>
          <p:cNvPr id="13" name="Oval 12"/>
          <p:cNvSpPr/>
          <p:nvPr/>
        </p:nvSpPr>
        <p:spPr>
          <a:xfrm>
            <a:off x="6190488" y="49560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9.6 s = 4 bars at 100 BPM</a:t>
            </a:r>
          </a:p>
        </p:txBody>
      </p:sp>
      <p:sp>
        <p:nvSpPr>
          <p:cNvPr id="15" name="Oval 14"/>
          <p:cNvSpPr/>
          <p:nvPr/>
        </p:nvSpPr>
        <p:spPr>
          <a:xfrm>
            <a:off x="548640" y="56418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Each slice = 2 beats</a:t>
            </a:r>
          </a:p>
        </p:txBody>
      </p:sp>
      <p:sp>
        <p:nvSpPr>
          <p:cNvPr id="17" name="Oval 16"/>
          <p:cNvSpPr/>
          <p:nvPr/>
        </p:nvSpPr>
        <p:spPr>
          <a:xfrm>
            <a:off x="6190488" y="56418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Cut at the start of a sound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THE THREE MODES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Classic: the sample plays across the keys, pitch follows the key</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One Shot: a key plays the whole sample</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Slice: the sample is cut up, one slice per key</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Drop in a sample, try all three</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Reverse, pitch, then play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FLIP IT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pic>
        <p:nvPicPr>
          <p:cNvPr id="10" name="Picture 9" descr="deck-flip.png"/>
          <p:cNvPicPr>
            <a:picLocks noChangeAspect="1"/>
          </p:cNvPicPr>
          <p:nvPr/>
        </p:nvPicPr>
        <p:blipFill>
          <a:blip r:embed="rId2"/>
          <a:stretch>
            <a:fillRect/>
          </a:stretch>
        </p:blipFill>
        <p:spPr>
          <a:xfrm>
            <a:off x="548640" y="1810512"/>
            <a:ext cx="11091672" cy="2162876"/>
          </a:xfrm>
          <a:prstGeom prst="rect">
            <a:avLst/>
          </a:prstGeom>
        </p:spPr>
      </p:pic>
      <p:sp>
        <p:nvSpPr>
          <p:cNvPr id="11" name="Oval 10"/>
          <p:cNvSpPr/>
          <p:nvPr/>
        </p:nvSpPr>
        <p:spPr>
          <a:xfrm>
            <a:off x="548640" y="49560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8 slots of 2 beats, 4 bars</a:t>
            </a:r>
          </a:p>
        </p:txBody>
      </p:sp>
      <p:sp>
        <p:nvSpPr>
          <p:cNvPr id="13" name="Oval 12"/>
          <p:cNvSpPr/>
          <p:nvPr/>
        </p:nvSpPr>
        <p:spPr>
          <a:xfrm>
            <a:off x="6190488" y="49560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Reverse slices 2 and 3</a:t>
            </a:r>
          </a:p>
        </p:txBody>
      </p:sp>
      <p:sp>
        <p:nvSpPr>
          <p:cNvPr id="15" name="Oval 14"/>
          <p:cNvSpPr/>
          <p:nvPr/>
        </p:nvSpPr>
        <p:spPr>
          <a:xfrm>
            <a:off x="548640" y="56418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Slice 8 down an octave</a:t>
            </a:r>
          </a:p>
        </p:txBody>
      </p:sp>
      <p:sp>
        <p:nvSpPr>
          <p:cNvPr id="17" name="Oval 16"/>
          <p:cNvSpPr/>
          <p:nvPr/>
        </p:nvSpPr>
        <p:spPr>
          <a:xfrm>
            <a:off x="6190488" y="56418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Same slices, new order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DRUMS THAT FIT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New track: an Electronic Drum Kit (Drum Machine Designer)</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Pattern region, Step Sequencer</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Kick, snare, hi-hat: leave space for the chops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Match the style the flip is heading toward</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Vary the velocity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BUILD YOUR BEAT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Oval 9"/>
          <p:cNvSpPr/>
          <p:nvPr/>
        </p:nvSpPr>
        <p:spPr>
          <a:xfrm>
            <a:off x="548640" y="216712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Program your own drum pattern</a:t>
            </a:r>
          </a:p>
        </p:txBody>
      </p:sp>
      <p:sp>
        <p:nvSpPr>
          <p:cNvPr id="12" name="Oval 11"/>
          <p:cNvSpPr/>
          <p:nvPr/>
        </p:nvSpPr>
        <p:spPr>
          <a:xfrm>
            <a:off x="548640" y="311708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Match the style of your flip</a:t>
            </a:r>
          </a:p>
        </p:txBody>
      </p:sp>
      <p:sp>
        <p:nvSpPr>
          <p:cNvPr id="14" name="Oval 13"/>
          <p:cNvSpPr/>
          <p:nvPr/>
        </p:nvSpPr>
        <p:spPr>
          <a:xfrm>
            <a:off x="548640" y="40670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the chops on the keys, record them</a:t>
            </a:r>
          </a:p>
        </p:txBody>
      </p:sp>
      <p:sp>
        <p:nvSpPr>
          <p:cNvPr id="16" name="Oval 15"/>
          <p:cNvSpPr/>
          <p:nvPr/>
        </p:nvSpPr>
        <p:spPr>
          <a:xfrm>
            <a:off x="548640" y="501700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Keep the best take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LAYER AND ARRANGE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Oval 9"/>
          <p:cNvSpPr/>
          <p:nvPr/>
        </p:nvSpPr>
        <p:spPr>
          <a:xfrm>
            <a:off x="548640" y="216712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Bass, chords, melodies and extras</a:t>
            </a:r>
          </a:p>
        </p:txBody>
      </p:sp>
      <p:sp>
        <p:nvSpPr>
          <p:cNvPr id="12" name="Oval 11"/>
          <p:cNvSpPr/>
          <p:nvPr/>
        </p:nvSpPr>
        <p:spPr>
          <a:xfrm>
            <a:off x="548640" y="311708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Keep it appropriate to the style</a:t>
            </a:r>
          </a:p>
        </p:txBody>
      </p:sp>
      <p:sp>
        <p:nvSpPr>
          <p:cNvPr id="14" name="Oval 13"/>
          <p:cNvSpPr/>
          <p:nvPr/>
        </p:nvSpPr>
        <p:spPr>
          <a:xfrm>
            <a:off x="548640" y="40670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Give the track a beginning, a middle and an end</a:t>
            </a:r>
          </a:p>
        </p:txBody>
      </p:sp>
      <p:sp>
        <p:nvSpPr>
          <p:cNvPr id="16" name="Oval 15"/>
          <p:cNvSpPr/>
          <p:nvPr/>
        </p:nvSpPr>
        <p:spPr>
          <a:xfrm>
            <a:off x="548640" y="501700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Put each sound on its own track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MIX AND BOUNCE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Oval 9"/>
          <p:cNvSpPr/>
          <p:nvPr/>
        </p:nvSpPr>
        <p:spPr>
          <a:xfrm>
            <a:off x="548640" y="216712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EQ every track</a:t>
            </a:r>
          </a:p>
        </p:txBody>
      </p:sp>
      <p:sp>
        <p:nvSpPr>
          <p:cNvPr id="12" name="Oval 11"/>
          <p:cNvSpPr/>
          <p:nvPr/>
        </p:nvSpPr>
        <p:spPr>
          <a:xfrm>
            <a:off x="548640" y="311708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Pan and balance everything</a:t>
            </a:r>
          </a:p>
        </p:txBody>
      </p:sp>
      <p:sp>
        <p:nvSpPr>
          <p:cNvPr id="14" name="Oval 13"/>
          <p:cNvSpPr/>
          <p:nvPr/>
        </p:nvSpPr>
        <p:spPr>
          <a:xfrm>
            <a:off x="548640" y="40670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Bounce a .mp3 or .wav</a:t>
            </a:r>
          </a:p>
        </p:txBody>
      </p:sp>
      <p:sp>
        <p:nvSpPr>
          <p:cNvPr id="16" name="Oval 15"/>
          <p:cNvSpPr/>
          <p:nvPr/>
        </p:nvSpPr>
        <p:spPr>
          <a:xfrm>
            <a:off x="548640" y="501700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Zip the .logicx project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 uploaded</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 uploaded</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Sample Flipping</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your 3 questions</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B07D00"/>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B07D00"/>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B07D00"/>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B07D00"/>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B07D00"/>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Oval 9"/>
          <p:cNvSpPr/>
          <p:nvPr/>
        </p:nvSpPr>
        <p:spPr>
          <a:xfrm>
            <a:off x="548640" y="216712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the raw sample, then your track</a:t>
            </a:r>
          </a:p>
        </p:txBody>
      </p:sp>
      <p:sp>
        <p:nvSpPr>
          <p:cNvPr id="12" name="Oval 11"/>
          <p:cNvSpPr/>
          <p:nvPr/>
        </p:nvSpPr>
        <p:spPr>
          <a:xfrm>
            <a:off x="548640" y="311708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4" name="Oval 13"/>
          <p:cNvSpPr/>
          <p:nvPr/>
        </p:nvSpPr>
        <p:spPr>
          <a:xfrm>
            <a:off x="548640" y="406704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
        <p:nvSpPr>
          <p:cNvPr id="16" name="Oval 15"/>
          <p:cNvSpPr/>
          <p:nvPr/>
        </p:nvSpPr>
        <p:spPr>
          <a:xfrm>
            <a:off x="548640" y="5017008"/>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Listen like a producer: what did they do to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Sample Flipping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Oval 9"/>
          <p:cNvSpPr/>
          <p:nvPr/>
        </p:nvSpPr>
        <p:spPr>
          <a:xfrm>
            <a:off x="548640" y="205740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started with one sample.</a:t>
            </a:r>
          </a:p>
        </p:txBody>
      </p:sp>
      <p:sp>
        <p:nvSpPr>
          <p:cNvPr id="12" name="Oval 11"/>
          <p:cNvSpPr/>
          <p:nvPr/>
        </p:nvSpPr>
        <p:spPr>
          <a:xfrm>
            <a:off x="548640" y="278130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chopped it and flipped it.</a:t>
            </a:r>
          </a:p>
        </p:txBody>
      </p:sp>
      <p:sp>
        <p:nvSpPr>
          <p:cNvPr id="14" name="Oval 13"/>
          <p:cNvSpPr/>
          <p:nvPr/>
        </p:nvSpPr>
        <p:spPr>
          <a:xfrm>
            <a:off x="548640" y="350520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built the drums yourself.</a:t>
            </a:r>
          </a:p>
        </p:txBody>
      </p:sp>
      <p:sp>
        <p:nvSpPr>
          <p:cNvPr id="16" name="Oval 15"/>
          <p:cNvSpPr/>
          <p:nvPr/>
        </p:nvSpPr>
        <p:spPr>
          <a:xfrm>
            <a:off x="548640" y="4229100"/>
            <a:ext cx="146304" cy="146304"/>
          </a:xfrm>
          <a:prstGeom prst="ellipse">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it’s yours.</a:t>
            </a:r>
          </a:p>
        </p:txBody>
      </p:sp>
      <p:pic>
        <p:nvPicPr>
          <p:cNvPr id="18" name="Picture 17" descr="deck-hero.png"/>
          <p:cNvPicPr>
            <a:picLocks noChangeAspect="1"/>
          </p:cNvPicPr>
          <p:nvPr/>
        </p:nvPicPr>
        <p:blipFill>
          <a:blip r:embed="rId2"/>
          <a:stretch>
            <a:fillRect/>
          </a:stretch>
        </p:blipFill>
        <p:spPr>
          <a:xfrm>
            <a:off x="6519672" y="2103120"/>
            <a:ext cx="5120640" cy="2751670"/>
          </a:xfrm>
          <a:prstGeom prst="rect">
            <a:avLst/>
          </a:prstGeom>
        </p:spPr>
      </p:pic>
      <p:sp>
        <p:nvSpPr>
          <p:cNvPr id="19" name="Rounded Rectangle 18"/>
          <p:cNvSpPr/>
          <p:nvPr/>
        </p:nvSpPr>
        <p:spPr>
          <a:xfrm>
            <a:off x="548640" y="5349240"/>
            <a:ext cx="5852160" cy="960120"/>
          </a:xfrm>
          <a:prstGeom prst="roundRect">
            <a:avLst/>
          </a:prstGeom>
          <a:solidFill>
            <a:srgbClr val="B0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94960"/>
            <a:ext cx="5486400" cy="365760"/>
          </a:xfrm>
          <a:prstGeom prst="rect">
            <a:avLst/>
          </a:prstGeom>
          <a:noFill/>
        </p:spPr>
        <p:txBody>
          <a:bodyPr wrap="square" anchor="t" lIns="36576" rIns="36576" tIns="18288" bIns="18288">
            <a:spAutoFit/>
          </a:bodyPr>
          <a:lstStyle/>
          <a:p>
            <a:pPr algn="l"/>
            <a:r>
              <a:rPr sz="2000" b="1">
                <a:solidFill>
                  <a:srgbClr val="FFFFFF"/>
                </a:solidFill>
                <a:latin typeface="Oswald"/>
              </a:rPr>
              <a:t>REFLECTION · PAGE 21</a:t>
            </a:r>
          </a:p>
        </p:txBody>
      </p:sp>
      <p:sp>
        <p:nvSpPr>
          <p:cNvPr id="21" name="TextBox 20"/>
          <p:cNvSpPr txBox="1"/>
          <p:nvPr/>
        </p:nvSpPr>
        <p:spPr>
          <a:xfrm>
            <a:off x="731520" y="5760720"/>
            <a:ext cx="5486400" cy="502920"/>
          </a:xfrm>
          <a:prstGeom prst="rect">
            <a:avLst/>
          </a:prstGeom>
          <a:noFill/>
        </p:spPr>
        <p:txBody>
          <a:bodyPr wrap="square" anchor="t" lIns="36576" rIns="36576" tIns="18288" bIns="18288">
            <a:spAutoFit/>
          </a:bodyPr>
          <a:lstStyle/>
          <a:p>
            <a:pPr algn="l"/>
            <a:r>
              <a:rPr sz="1500" b="0">
                <a:solidFill>
                  <a:srgbClr val="FFFFFF"/>
                </a:solidFill>
                <a:latin typeface="Source Sans 3"/>
              </a:rPr>
              <a:t>Write it or talk it through: what went well, what was hard, what you would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Flipping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