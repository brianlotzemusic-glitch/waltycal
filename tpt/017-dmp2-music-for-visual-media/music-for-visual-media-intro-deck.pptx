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Before class, pick one short scene you are allowed to show (your own footage, or a clip your school may use) that has a clear mood and a few obvious moments. No video or audio is included in this deck. Open with my overview: choose a clip of 2 to 3 minutes and compose an original soundtrack in Logic Pro that matches its mood, pacing and emotional arc.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your scene with the sound off first, with no comment. Then play it with music. Take answers aloud: the feeling, the speed, the surprise. Ask where the music matched an action on screen. This sets up the whole project. If you want my before and after idea from the teacher notes, this is it: the same clip with and without music.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plain-English tour using the vocabulary on the project sheet. Scoring is writing music to accompany visual media. Mood is the emotional tone. Synchronization means aligning musical events with moments on screen, and a hit point is one such moment. Sound design is the effects. Students add their own words on the vocabulary page. Silence and space can be powerful.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students select and import their video and study it. Class 2: plan the score, marking key moments and deciding on mood and instrumentation. Classes 3 to 5 are working days: compose, layer and sync. Class 6: final mix, bounce, sync the audio to the video, prepare presentations. Class 7: presentations with Padlet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Students choose a clip of 2 to 3 minutes that inspires them and import it into Logic, then watch it multiple times, noting mood, pacing and key visual moments. My tip: watch it at least five times before composing. The Clip log is where they record where it came from.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common struggle: students pick clips that are too long or too complex. Encourage 1 to 2 minutes of actual scored content inside the 2 to 3 minute window. The project sheet allows your own clip or one from YouTube or Vimeo. Clips belong to their makers, so students record the source on the Clip log and check the site's terms before anyone posts a finished video.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An invented 90-second scene, described on paper only; nothing here is a video. Three scenes, six numbered hit points, and a loudness curve under them. Notice that the curve follows the picture: quiet, build, a drop to silence at the pop, then a release. Ask students where the hit points would be in their own clips. Then go straight to the Logic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from my teacher notes: synchronization is hard, so show how to use markers in Logic and count frames. Open a movie you may show, show the Marker track, and add three markers. Switch the display to SMPTE time and point out the frames. Use markers to flag key visual moments you want to hit, as my tips say.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120 BPM a beat is half a second and a bar of four beats is 2 seconds. A hit at 0:08 lands exactly on bar 5, beat 1. A hit at 0:17.5 lands on bar 9, beat 4. Slow the tempo to 100 BPM and a bar is 2.4 seconds, so the hit at 0:08 falls between beats. This is why some students set the tempo to fit their hit points. It is a trick, not a rule.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of the project sheet, shortened to fit the slide: decide where the music builds, drops, shifts and hits visual cues. Students use the Score plan for mood and instruments and the Cue sheet for the hit points with times. My pacing guide for Class 2 says: plan the score, mark key moments, decide on mood and instrumentation.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fourth common struggle: students forget about dynamic range, so everything is the same volume the whole time. The top row is flat; the bottom row follows the story, goes nearly silent at the pop, and then releases. Ask which one feels like it belongs to the picture. Show students volume automation as one tool and note that the music does not have to fill every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Step 4 of the project sheet, shortened here: build your score in Logic, starting with the backbone and layering in detail. My second common struggle: students compose music they like instead of music that fits the video. Keep redirecting to the visuals. Circulate and ask each student what the picture is doing right now.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a working day. Step 5 of the project sheet, shortened here: fine-tune timing to the visuals and add sound effects if desired. Students use the Sync log to check each hit point. Class 5 is a full working day with no new slide: layer, sync and shape the dynamics. Ask each student to play you one hit point and tell you where it lands.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 6 of the project sheet, shortened to fit the slide: bounce the audio and prepare the video with your music for presentation. In Logic you can export the audio to the movie, or play the video and the bounce together. Zip the .logicx in Finder (Control-click, Compress). Students also write their three Padlet questions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in short form. Show where students upload (your class page) and where the Padlet board is. Remind students to check that the finished video plays with sound before they present, and that the clip's original music is muted.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Each student plays the video with the score and explains the mood, the hit points and the creative choices. During classmates' presentations, every student answers at least 2 of their 3 questions on their Padlet post. If time allows, show one before and after: the same video with the music muted, then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builds: synchronization skills, emotional storytelling through music, and arrangement for narrative purposes. It is one of the most rewarding projects when students nail the sync. Remind them that music does not have to fill every second.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1340967" y="896112"/>
            <a:ext cx="9509760" cy="2447512"/>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MUSIC FOR VISUAL MEDIA</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Score the picture.</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MOOD, TIMING AND HIT POINTS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SOUND OFF, THEN SOUND 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SOUND OFF, THEN ON</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EDCDB5"/>
                </a:solidFill>
                <a:latin typeface="Oswald"/>
              </a:rPr>
              <a:t>The same scene, played twice</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the scene once with the sound off, then with a score.</a:t>
            </a:r>
          </a:p>
        </p:txBody>
      </p:sp>
      <p:sp>
        <p:nvSpPr>
          <p:cNvPr id="14" name="Oval 13"/>
          <p:cNvSpPr/>
          <p:nvPr/>
        </p:nvSpPr>
        <p:spPr>
          <a:xfrm>
            <a:off x="548640" y="406908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did the music tell you that the picture did not?</a:t>
            </a:r>
          </a:p>
        </p:txBody>
      </p:sp>
      <p:sp>
        <p:nvSpPr>
          <p:cNvPr id="16" name="Oval 15"/>
          <p:cNvSpPr/>
          <p:nvPr/>
        </p:nvSpPr>
        <p:spPr>
          <a:xfrm>
            <a:off x="548640" y="467868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Where did the music change when the picture changed?</a:t>
            </a:r>
          </a:p>
        </p:txBody>
      </p:sp>
      <p:sp>
        <p:nvSpPr>
          <p:cNvPr id="18" name="Oval 17"/>
          <p:cNvSpPr/>
          <p:nvPr/>
        </p:nvSpPr>
        <p:spPr>
          <a:xfrm>
            <a:off x="548640" y="528828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Was there a moment of silence?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DOES A SCORE DO?</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488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Sets the mood: tense, joyful, mysterious</a:t>
            </a:r>
          </a:p>
        </p:txBody>
      </p:sp>
      <p:sp>
        <p:nvSpPr>
          <p:cNvPr id="12" name="Oval 11"/>
          <p:cNvSpPr/>
          <p:nvPr/>
        </p:nvSpPr>
        <p:spPr>
          <a:xfrm>
            <a:off x="548640" y="28727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Matches the pacing of the cuts</a:t>
            </a:r>
          </a:p>
        </p:txBody>
      </p:sp>
      <p:sp>
        <p:nvSpPr>
          <p:cNvPr id="14" name="Oval 13"/>
          <p:cNvSpPr/>
          <p:nvPr/>
        </p:nvSpPr>
        <p:spPr>
          <a:xfrm>
            <a:off x="548640" y="35966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Follows the emotional arc</a:t>
            </a:r>
          </a:p>
        </p:txBody>
      </p:sp>
      <p:sp>
        <p:nvSpPr>
          <p:cNvPr id="16" name="Oval 15"/>
          <p:cNvSpPr/>
          <p:nvPr/>
        </p:nvSpPr>
        <p:spPr>
          <a:xfrm>
            <a:off x="548640" y="43205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Hits specific moments on screen</a:t>
            </a:r>
          </a:p>
        </p:txBody>
      </p:sp>
      <p:sp>
        <p:nvSpPr>
          <p:cNvPr id="18" name="Oval 17"/>
          <p:cNvSpPr/>
          <p:nvPr/>
        </p:nvSpPr>
        <p:spPr>
          <a:xfrm>
            <a:off x="548640" y="50444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Knows when to be quiet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Sound off, then on · what a score does · choose a clip · study it</a:t>
            </a:r>
          </a:p>
        </p:txBody>
      </p:sp>
      <p:sp>
        <p:nvSpPr>
          <p:cNvPr id="13" name="Rounded Rectangle 12"/>
          <p:cNvSpPr/>
          <p:nvPr/>
        </p:nvSpPr>
        <p:spPr>
          <a:xfrm>
            <a:off x="548640" y="2444060"/>
            <a:ext cx="1554480" cy="523820"/>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Timeline · markers demo · bars and seconds · plan · dynamics</a:t>
            </a:r>
          </a:p>
        </p:txBody>
      </p:sp>
      <p:sp>
        <p:nvSpPr>
          <p:cNvPr id="16" name="Rounded Rectangle 15"/>
          <p:cNvSpPr/>
          <p:nvPr/>
        </p:nvSpPr>
        <p:spPr>
          <a:xfrm>
            <a:off x="548640" y="3077609"/>
            <a:ext cx="1554480" cy="523820"/>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compose the backbone</a:t>
            </a:r>
          </a:p>
        </p:txBody>
      </p:sp>
      <p:sp>
        <p:nvSpPr>
          <p:cNvPr id="19" name="Rounded Rectangle 18"/>
          <p:cNvSpPr/>
          <p:nvPr/>
        </p:nvSpPr>
        <p:spPr>
          <a:xfrm>
            <a:off x="548640" y="3711157"/>
            <a:ext cx="1554480" cy="523820"/>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sync and refine</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layer, sync, shape</a:t>
            </a:r>
          </a:p>
        </p:txBody>
      </p:sp>
      <p:sp>
        <p:nvSpPr>
          <p:cNvPr id="25" name="Rounded Rectangle 24"/>
          <p:cNvSpPr/>
          <p:nvPr/>
        </p:nvSpPr>
        <p:spPr>
          <a:xfrm>
            <a:off x="548640" y="4978254"/>
            <a:ext cx="1554480" cy="523820"/>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Finalize · checklist · rubric · 3 questions</a:t>
            </a:r>
          </a:p>
        </p:txBody>
      </p:sp>
      <p:sp>
        <p:nvSpPr>
          <p:cNvPr id="28" name="Rounded Rectangle 27"/>
          <p:cNvSpPr/>
          <p:nvPr/>
        </p:nvSpPr>
        <p:spPr>
          <a:xfrm>
            <a:off x="548640" y="5611803"/>
            <a:ext cx="1554480" cy="523820"/>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CHOOSE, STUDY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Find a clip of 2–3 minutes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Import it into Logic</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Watch it at least 5 times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Note the mood, pacing and key moments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Clip log and Watch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CHOOSE A CLIP YOU CAN USE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488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1–2 minutes of real scored content</a:t>
            </a:r>
          </a:p>
        </p:txBody>
      </p:sp>
      <p:sp>
        <p:nvSpPr>
          <p:cNvPr id="12" name="Oval 11"/>
          <p:cNvSpPr/>
          <p:nvPr/>
        </p:nvSpPr>
        <p:spPr>
          <a:xfrm>
            <a:off x="548640" y="28727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Few scenes, clear moments</a:t>
            </a:r>
          </a:p>
        </p:txBody>
      </p:sp>
      <p:sp>
        <p:nvSpPr>
          <p:cNvPr id="14" name="Oval 13"/>
          <p:cNvSpPr/>
          <p:nvPr/>
        </p:nvSpPr>
        <p:spPr>
          <a:xfrm>
            <a:off x="548640" y="35966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Your own footage, or a clip you may use</a:t>
            </a:r>
          </a:p>
        </p:txBody>
      </p:sp>
      <p:sp>
        <p:nvSpPr>
          <p:cNvPr id="16" name="Oval 15"/>
          <p:cNvSpPr/>
          <p:nvPr/>
        </p:nvSpPr>
        <p:spPr>
          <a:xfrm>
            <a:off x="548640" y="43205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Know where it came from</a:t>
            </a:r>
          </a:p>
        </p:txBody>
      </p:sp>
      <p:sp>
        <p:nvSpPr>
          <p:cNvPr id="18" name="Oval 17"/>
          <p:cNvSpPr/>
          <p:nvPr/>
        </p:nvSpPr>
        <p:spPr>
          <a:xfrm>
            <a:off x="548640" y="504444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Mute the clip’s own music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WHERE THE MUSIC HITS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pic>
        <p:nvPicPr>
          <p:cNvPr id="10" name="Picture 9" descr="deck-timeline.png"/>
          <p:cNvPicPr>
            <a:picLocks noChangeAspect="1"/>
          </p:cNvPicPr>
          <p:nvPr/>
        </p:nvPicPr>
        <p:blipFill>
          <a:blip r:embed="rId2"/>
          <a:stretch>
            <a:fillRect/>
          </a:stretch>
        </p:blipFill>
        <p:spPr>
          <a:xfrm>
            <a:off x="548640" y="1810512"/>
            <a:ext cx="11091672" cy="2279339"/>
          </a:xfrm>
          <a:prstGeom prst="rect">
            <a:avLst/>
          </a:prstGeom>
        </p:spPr>
      </p:pic>
      <p:sp>
        <p:nvSpPr>
          <p:cNvPr id="11" name="Oval 10"/>
          <p:cNvSpPr/>
          <p:nvPr/>
        </p:nvSpPr>
        <p:spPr>
          <a:xfrm>
            <a:off x="548640" y="49560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Three scenes, six hit points</a:t>
            </a:r>
          </a:p>
        </p:txBody>
      </p:sp>
      <p:sp>
        <p:nvSpPr>
          <p:cNvPr id="13" name="Oval 12"/>
          <p:cNvSpPr/>
          <p:nvPr/>
        </p:nvSpPr>
        <p:spPr>
          <a:xfrm>
            <a:off x="6190488" y="49560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curve follows the picture</a:t>
            </a:r>
          </a:p>
        </p:txBody>
      </p:sp>
      <p:sp>
        <p:nvSpPr>
          <p:cNvPr id="15" name="Oval 14"/>
          <p:cNvSpPr/>
          <p:nvPr/>
        </p:nvSpPr>
        <p:spPr>
          <a:xfrm>
            <a:off x="548640" y="56418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It gets quiet before the pop</a:t>
            </a:r>
          </a:p>
        </p:txBody>
      </p:sp>
      <p:sp>
        <p:nvSpPr>
          <p:cNvPr id="17" name="Oval 16"/>
          <p:cNvSpPr/>
          <p:nvPr/>
        </p:nvSpPr>
        <p:spPr>
          <a:xfrm>
            <a:off x="6190488" y="56418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Hit points sit on the timeline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MARKERS IN LOGIC</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File, Movie, Open Movie: the clip appears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Play it and stop on a key moment</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Add a marker there and name it</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Read the time in SMPTE: minutes, seconds, frames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Mark every moment you want to hit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BARS AND SECONDS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pic>
        <p:nvPicPr>
          <p:cNvPr id="10" name="Picture 9" descr="deck-grid.png"/>
          <p:cNvPicPr>
            <a:picLocks noChangeAspect="1"/>
          </p:cNvPicPr>
          <p:nvPr/>
        </p:nvPicPr>
        <p:blipFill>
          <a:blip r:embed="rId2"/>
          <a:stretch>
            <a:fillRect/>
          </a:stretch>
        </p:blipFill>
        <p:spPr>
          <a:xfrm>
            <a:off x="2108320" y="1810512"/>
            <a:ext cx="7972311" cy="3017520"/>
          </a:xfrm>
          <a:prstGeom prst="rect">
            <a:avLst/>
          </a:prstGeom>
        </p:spPr>
      </p:pic>
      <p:sp>
        <p:nvSpPr>
          <p:cNvPr id="11" name="Oval 10"/>
          <p:cNvSpPr/>
          <p:nvPr/>
        </p:nvSpPr>
        <p:spPr>
          <a:xfrm>
            <a:off x="548640" y="52120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bar is four beats</a:t>
            </a:r>
          </a:p>
        </p:txBody>
      </p:sp>
      <p:sp>
        <p:nvSpPr>
          <p:cNvPr id="13" name="Oval 12"/>
          <p:cNvSpPr/>
          <p:nvPr/>
        </p:nvSpPr>
        <p:spPr>
          <a:xfrm>
            <a:off x="6190488" y="52120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Seconds divided by bar length</a:t>
            </a:r>
          </a:p>
        </p:txBody>
      </p:sp>
      <p:sp>
        <p:nvSpPr>
          <p:cNvPr id="15" name="Oval 14"/>
          <p:cNvSpPr/>
          <p:nvPr/>
        </p:nvSpPr>
        <p:spPr>
          <a:xfrm>
            <a:off x="548640" y="58978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Pick a tempo that lands the hits</a:t>
            </a:r>
          </a:p>
        </p:txBody>
      </p:sp>
      <p:sp>
        <p:nvSpPr>
          <p:cNvPr id="17" name="Oval 16"/>
          <p:cNvSpPr/>
          <p:nvPr/>
        </p:nvSpPr>
        <p:spPr>
          <a:xfrm>
            <a:off x="6190488" y="58978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Hits between beats feel loose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PLAN YOUR SCORE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Where does the music build?</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Where does it drop?</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Where does it shift?</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Where does it hit a cue?</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Score plan and Cue sheet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SHAPE THE DYNAMICS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pic>
        <p:nvPicPr>
          <p:cNvPr id="10" name="Picture 9" descr="deck-dyn.png"/>
          <p:cNvPicPr>
            <a:picLocks noChangeAspect="1"/>
          </p:cNvPicPr>
          <p:nvPr/>
        </p:nvPicPr>
        <p:blipFill>
          <a:blip r:embed="rId2"/>
          <a:stretch>
            <a:fillRect/>
          </a:stretch>
        </p:blipFill>
        <p:spPr>
          <a:xfrm>
            <a:off x="1689337" y="1810512"/>
            <a:ext cx="8810277" cy="3017520"/>
          </a:xfrm>
          <a:prstGeom prst="rect">
            <a:avLst/>
          </a:prstGeom>
        </p:spPr>
      </p:pic>
      <p:sp>
        <p:nvSpPr>
          <p:cNvPr id="11" name="Oval 10"/>
          <p:cNvSpPr/>
          <p:nvPr/>
        </p:nvSpPr>
        <p:spPr>
          <a:xfrm>
            <a:off x="548640" y="52120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Flat means the same all the way</a:t>
            </a:r>
          </a:p>
        </p:txBody>
      </p:sp>
      <p:sp>
        <p:nvSpPr>
          <p:cNvPr id="13" name="Oval 12"/>
          <p:cNvSpPr/>
          <p:nvPr/>
        </p:nvSpPr>
        <p:spPr>
          <a:xfrm>
            <a:off x="6190488" y="52120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Shape follows the story</a:t>
            </a:r>
          </a:p>
        </p:txBody>
      </p:sp>
      <p:sp>
        <p:nvSpPr>
          <p:cNvPr id="15" name="Oval 14"/>
          <p:cNvSpPr/>
          <p:nvPr/>
        </p:nvSpPr>
        <p:spPr>
          <a:xfrm>
            <a:off x="548640" y="58978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Silence is a choice</a:t>
            </a:r>
          </a:p>
        </p:txBody>
      </p:sp>
      <p:sp>
        <p:nvSpPr>
          <p:cNvPr id="17" name="Oval 16"/>
          <p:cNvSpPr/>
          <p:nvPr/>
        </p:nvSpPr>
        <p:spPr>
          <a:xfrm>
            <a:off x="6190488" y="5897879"/>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Loud means more after quiet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 COMPOSE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Start with the backbone</a:t>
            </a:r>
          </a:p>
        </p:txBody>
      </p:sp>
      <p:sp>
        <p:nvSpPr>
          <p:cNvPr id="12" name="Oval 11"/>
          <p:cNvSpPr/>
          <p:nvPr/>
        </p:nvSpPr>
        <p:spPr>
          <a:xfrm>
            <a:off x="548640" y="311708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Layer in detail</a:t>
            </a:r>
          </a:p>
        </p:txBody>
      </p:sp>
      <p:sp>
        <p:nvSpPr>
          <p:cNvPr id="14" name="Oval 13"/>
          <p:cNvSpPr/>
          <p:nvPr/>
        </p:nvSpPr>
        <p:spPr>
          <a:xfrm>
            <a:off x="548640" y="40670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Keep looking at the picture</a:t>
            </a:r>
          </a:p>
        </p:txBody>
      </p:sp>
      <p:sp>
        <p:nvSpPr>
          <p:cNvPr id="16" name="Oval 15"/>
          <p:cNvSpPr/>
          <p:nvPr/>
        </p:nvSpPr>
        <p:spPr>
          <a:xfrm>
            <a:off x="548640" y="501700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Music you like is not the goal: music that fits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 SYNC AND REFINE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Check every hit point against the picture</a:t>
            </a:r>
          </a:p>
        </p:txBody>
      </p:sp>
      <p:sp>
        <p:nvSpPr>
          <p:cNvPr id="12" name="Oval 11"/>
          <p:cNvSpPr/>
          <p:nvPr/>
        </p:nvSpPr>
        <p:spPr>
          <a:xfrm>
            <a:off x="548640" y="311708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Nudge by frames, not guesses</a:t>
            </a:r>
          </a:p>
        </p:txBody>
      </p:sp>
      <p:sp>
        <p:nvSpPr>
          <p:cNvPr id="14" name="Oval 13"/>
          <p:cNvSpPr/>
          <p:nvPr/>
        </p:nvSpPr>
        <p:spPr>
          <a:xfrm>
            <a:off x="548640" y="40670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Add sound effects if you like</a:t>
            </a:r>
          </a:p>
        </p:txBody>
      </p:sp>
      <p:sp>
        <p:nvSpPr>
          <p:cNvPr id="16" name="Oval 15"/>
          <p:cNvSpPr/>
          <p:nvPr/>
        </p:nvSpPr>
        <p:spPr>
          <a:xfrm>
            <a:off x="548640" y="501700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Leave space: silence is a choice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FINALIZE AND BOUNCE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Final mix and levels</a:t>
            </a:r>
          </a:p>
        </p:txBody>
      </p:sp>
      <p:sp>
        <p:nvSpPr>
          <p:cNvPr id="12" name="Oval 11"/>
          <p:cNvSpPr/>
          <p:nvPr/>
        </p:nvSpPr>
        <p:spPr>
          <a:xfrm>
            <a:off x="548640" y="311708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Bounce a .mp3 or .wav</a:t>
            </a:r>
          </a:p>
        </p:txBody>
      </p:sp>
      <p:sp>
        <p:nvSpPr>
          <p:cNvPr id="14" name="Oval 13"/>
          <p:cNvSpPr/>
          <p:nvPr/>
        </p:nvSpPr>
        <p:spPr>
          <a:xfrm>
            <a:off x="548640" y="40670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Put your music on the video</a:t>
            </a:r>
          </a:p>
        </p:txBody>
      </p:sp>
      <p:sp>
        <p:nvSpPr>
          <p:cNvPr id="16" name="Oval 15"/>
          <p:cNvSpPr/>
          <p:nvPr/>
        </p:nvSpPr>
        <p:spPr>
          <a:xfrm>
            <a:off x="548640" y="501700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Write your 3 Padlet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Music for Visual Media</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Video with synced audio ready</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8A3B12"/>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8A3B12"/>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8A3B12"/>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8A3B12"/>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8A3B12"/>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Oval 9"/>
          <p:cNvSpPr/>
          <p:nvPr/>
        </p:nvSpPr>
        <p:spPr>
          <a:xfrm>
            <a:off x="548640" y="216712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video with your score</a:t>
            </a:r>
          </a:p>
        </p:txBody>
      </p:sp>
      <p:sp>
        <p:nvSpPr>
          <p:cNvPr id="12" name="Oval 11"/>
          <p:cNvSpPr/>
          <p:nvPr/>
        </p:nvSpPr>
        <p:spPr>
          <a:xfrm>
            <a:off x="548640" y="311708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Walk us through your choices</a:t>
            </a:r>
          </a:p>
        </p:txBody>
      </p:sp>
      <p:sp>
        <p:nvSpPr>
          <p:cNvPr id="14" name="Oval 13"/>
          <p:cNvSpPr/>
          <p:nvPr/>
        </p:nvSpPr>
        <p:spPr>
          <a:xfrm>
            <a:off x="548640" y="406704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Music for Visual Media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05740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started with silence.</a:t>
            </a:r>
          </a:p>
        </p:txBody>
      </p:sp>
      <p:sp>
        <p:nvSpPr>
          <p:cNvPr id="12" name="Oval 11"/>
          <p:cNvSpPr/>
          <p:nvPr/>
        </p:nvSpPr>
        <p:spPr>
          <a:xfrm>
            <a:off x="548640" y="278130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watched until you knew it.</a:t>
            </a:r>
          </a:p>
        </p:txBody>
      </p:sp>
      <p:sp>
        <p:nvSpPr>
          <p:cNvPr id="14" name="Oval 13"/>
          <p:cNvSpPr/>
          <p:nvPr/>
        </p:nvSpPr>
        <p:spPr>
          <a:xfrm>
            <a:off x="548640" y="350520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hit the moments.</a:t>
            </a:r>
          </a:p>
        </p:txBody>
      </p:sp>
      <p:sp>
        <p:nvSpPr>
          <p:cNvPr id="16" name="Oval 15"/>
          <p:cNvSpPr/>
          <p:nvPr/>
        </p:nvSpPr>
        <p:spPr>
          <a:xfrm>
            <a:off x="548640" y="4229100"/>
            <a:ext cx="146304" cy="146304"/>
          </a:xfrm>
          <a:prstGeom prst="ellipse">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it feels like one thing.</a:t>
            </a:r>
          </a:p>
        </p:txBody>
      </p:sp>
      <p:pic>
        <p:nvPicPr>
          <p:cNvPr id="18" name="Picture 17" descr="deck-hero.png"/>
          <p:cNvPicPr>
            <a:picLocks noChangeAspect="1"/>
          </p:cNvPicPr>
          <p:nvPr/>
        </p:nvPicPr>
        <p:blipFill>
          <a:blip r:embed="rId2"/>
          <a:stretch>
            <a:fillRect/>
          </a:stretch>
        </p:blipFill>
        <p:spPr>
          <a:xfrm>
            <a:off x="6519672" y="2103120"/>
            <a:ext cx="5120640" cy="1317891"/>
          </a:xfrm>
          <a:prstGeom prst="rect">
            <a:avLst/>
          </a:prstGeom>
        </p:spPr>
      </p:pic>
      <p:sp>
        <p:nvSpPr>
          <p:cNvPr id="19" name="Rounded Rectangle 18"/>
          <p:cNvSpPr/>
          <p:nvPr/>
        </p:nvSpPr>
        <p:spPr>
          <a:xfrm>
            <a:off x="548640" y="5349240"/>
            <a:ext cx="5852160" cy="960120"/>
          </a:xfrm>
          <a:prstGeom prst="roundRect">
            <a:avLst/>
          </a:prstGeom>
          <a:solidFill>
            <a:srgbClr val="8A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25</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for Visual Media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