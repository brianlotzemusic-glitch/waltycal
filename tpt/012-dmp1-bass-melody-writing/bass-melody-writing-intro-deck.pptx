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 the first minute. Have Seven Nation Army (The White Stripes) and, for Day 2, Stand by Me (Ben E. King) cued up on YouTube or Spotify from your own account; no audio or video is included in this deck. Open Logic with the chords-and-bassline file on the class speakers. Open with a question: what is the part of a song you hum in the shower?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Plain-English definition, kept short. Say the line from my course plan now and keep saying it all week: Simple and repetitive will always beat complicated and forgettable. The bass is the other half of this unit: it anchors the bottom while the melody defines the top.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five minutes. The famous riff of Seven Nation Army is seven notes long and uses only five different notes, all from one scale, and whole stadiums sing it back. Students usually guess far more notes. Point out: short, repetitive, singable. That is the target for their own melody.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my Part 2 teacher notes: play the C major scale and the A natural minor scale for the class. Ask which sounds brighter and which darker. Do not explain yet. Most students hear C major as bright and A minor as darker, even though both use only white keys: the home note changed.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insight from my teacher notes: a scale is not an exercise. It is the ingredient list for a key. Every note in a melody should come from the scale; if it does, it will sound like it belongs. Students who built these scales in Unit 3 check them against the Reference Card and play them; others complete Part 2 of the packet now.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of the unit. Days 1 and 2: a short melody over the chords and bassline you already have. End of Day 2: look hard at a bassline and discover its rule. Day 3: choose your own four chords and write a bassline that follows them. Day 4: present both. Hand out the melody project sheet now.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methods from my course plan. None is more correct than another; students should try at least two today. Play it in suits students who can already hear an idea; drawing a rhythm first and clicking one note at a time suit students who freeze at the keyboard; the step sequencer suits short rhythmic hooks. Quantize is not cheating: it fixes timing, not notes.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possible answer in a C major file, over the chords and bassline from Unit 3: one measure per chord, the same rhythm in every measure, starting on the root C, going up then down. Every note is a white key from the C major scale, and each measure starts on a note of its chord, so it sounds like it belongs. The A minor version is in the kit.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two-minute demo, then students work. Unit 3 students open their own chords project and Save As Your Name — Building Blocks Part 2; others open your file. Show the OCT button before anyone records, or the melody lands in the bass register. Record, select the notes, press Q. Then copy the region across the progression.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 rules from my project sheet, on screen while students write. If a student cannot start: set a 2-measure loop and just play around on the white keys; record anything. If a melody feels aimless: pick one note, play it in a rhythm you like, then move one note up or down.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2 opens with two students playing their melody alongside the file: does it sound like it belongs? Then the submission checklist. Show where students submit (your class page). Export: File › Bounce › Project or Section, MP3. Compress: in Finder, Control-click the .logicx project and choose Compress.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categories, each scored 2 to 5, for a total out of 15. Read the 5 column aloud: in key, short, starts or ends on the root, with a clear contour that sounds like it belongs; the piano roll used confidently with both entry methods understood; on time, named correctly, and the melody choices explained clearly.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mixing concept for this unit, about seven minutes. Solo the bass, solo the melody, then play both: does it sound muddy? Instruments have frequency homes, and mixing means giving each one space to live. Students open Channel EQ on the melody and turn on the low cut (high-pass); on the bass they turn on the high cut. They do not need parametric EQ yet.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three minutes, then the packet. The bass riff in Stand by Me plays the same pattern four times, starting each time on the root of the new chord: I, vi, IV, V in A major. Do not say that yet. Let students notice that the riff moves when the harmony moves, then send them to the bassline in their own file and the Part 4 analysis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reveal, from my Part 4 teacher notes. After students have answered the analysis questions, ask: what did you find? Let two or three students answer. Then write the rule on the board and say: every bassline you have ever heard follows this rule. Everything else is rhythm and decoration on top of this one idea.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3. Students choose four chords from their Reference Card and write the Roman numeral and root note for each before opening Logic, then answer the why question. Push back before they build: tell me what you want this to feel like. Which Roman numerals would create that feeling? The example shown is one possible plan.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possible answer for the plan on the last slide, I–V–vi–IV in C major. Every measure starts on the chord's root. Measures 1 and 2 use one rhythm idea, measures 3 and 4 a second one, and the last note, G, leads back into the loop. One note at a time: no overlaps. It breathes: nothing busier than eighth notes.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demo. Get the roots right first: place the root of each chord for the full duration of that chord before adding anything else. Then add rhythm. A bassline that is too busy is worse than one that is too simple. Any overlap in the bass track is an error.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Part 4 submission checklist, condensed. The written explanation of why students chose their progression is on the project sheet under the planning table. Students export and submit before the presentation day, the same way as the melody.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categories, each scored 2 to 5, for a total out of 15. Read the 5 column aloud: monophonic, following every chord change with a clear rhythmic identity; a progression with a clear emotional character explained in Roman numeral language; on time, named correctly, and chord choices presented with Roman numerals.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4. Each student plays their melody, then their bassline over their chords, and answers the question that matters: why did you choose this progression, what did you want it to feel like? A student who answers in Roman numeral language has internalized the unit; one who says it sounded good has not yet.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full picture from my teacher notes: in this unit you wrote a melody, built chords, and wrote a bassline. Those three things together are the foundation of every song ever written. Next unit, Song Form, arranges them into sections.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384048"/>
            <a:ext cx="12191695" cy="457200"/>
          </a:xfrm>
          <a:prstGeom prst="rect">
            <a:avLst/>
          </a:prstGeom>
          <a:noFill/>
        </p:spPr>
        <p:txBody>
          <a:bodyPr wrap="square" anchor="t" lIns="36576" rIns="36576" tIns="18288" bIns="18288">
            <a:spAutoFit/>
          </a:bodyPr>
          <a:lstStyle/>
          <a:p>
            <a:pPr algn="ctr"/>
            <a:r>
              <a:rPr sz="1600" b="0" spc="800">
                <a:solidFill>
                  <a:srgbClr val="000000"/>
                </a:solidFill>
                <a:latin typeface="Oswald"/>
              </a:rPr>
              <a:t>HUDSON BEAT</a:t>
            </a:r>
          </a:p>
        </p:txBody>
      </p:sp>
      <p:pic>
        <p:nvPicPr>
          <p:cNvPr id="3" name="Picture 2" descr="deck-hero.png"/>
          <p:cNvPicPr>
            <a:picLocks noChangeAspect="1"/>
          </p:cNvPicPr>
          <p:nvPr/>
        </p:nvPicPr>
        <p:blipFill>
          <a:blip r:embed="rId2"/>
          <a:stretch>
            <a:fillRect/>
          </a:stretch>
        </p:blipFill>
        <p:spPr>
          <a:xfrm>
            <a:off x="4041648" y="841248"/>
            <a:ext cx="4114800" cy="2807208"/>
          </a:xfrm>
          <a:prstGeom prst="rect">
            <a:avLst/>
          </a:prstGeom>
        </p:spPr>
      </p:pic>
      <p:sp>
        <p:nvSpPr>
          <p:cNvPr id="4" name="TextBox 3"/>
          <p:cNvSpPr txBox="1"/>
          <p:nvPr/>
        </p:nvSpPr>
        <p:spPr>
          <a:xfrm>
            <a:off x="0" y="3931920"/>
            <a:ext cx="12191695" cy="1005840"/>
          </a:xfrm>
          <a:prstGeom prst="rect">
            <a:avLst/>
          </a:prstGeom>
          <a:noFill/>
        </p:spPr>
        <p:txBody>
          <a:bodyPr wrap="square" anchor="t" lIns="36576" rIns="36576" tIns="18288" bIns="18288">
            <a:spAutoFit/>
          </a:bodyPr>
          <a:lstStyle/>
          <a:p>
            <a:pPr algn="ctr"/>
            <a:r>
              <a:rPr sz="7200" b="1">
                <a:solidFill>
                  <a:srgbClr val="000000"/>
                </a:solidFill>
                <a:latin typeface="Oswald"/>
              </a:rPr>
              <a:t>BASS &amp; MELODY WRITING</a:t>
            </a:r>
          </a:p>
        </p:txBody>
      </p:sp>
      <p:sp>
        <p:nvSpPr>
          <p:cNvPr id="5" name="TextBox 4"/>
          <p:cNvSpPr txBox="1"/>
          <p:nvPr/>
        </p:nvSpPr>
        <p:spPr>
          <a:xfrm>
            <a:off x="0" y="5029200"/>
            <a:ext cx="12191695" cy="548640"/>
          </a:xfrm>
          <a:prstGeom prst="rect">
            <a:avLst/>
          </a:prstGeom>
          <a:noFill/>
        </p:spPr>
        <p:txBody>
          <a:bodyPr wrap="square" anchor="t" lIns="36576" rIns="36576" tIns="18288" bIns="18288">
            <a:spAutoFit/>
          </a:bodyPr>
          <a:lstStyle/>
          <a:p>
            <a:pPr algn="ctr"/>
            <a:r>
              <a:rPr sz="2800" b="0">
                <a:solidFill>
                  <a:srgbClr val="000000"/>
                </a:solidFill>
                <a:latin typeface="Oswald"/>
              </a:rPr>
              <a:t>Feat. Seven Nation Army</a:t>
            </a:r>
          </a:p>
        </p:txBody>
      </p:sp>
      <p:sp>
        <p:nvSpPr>
          <p:cNvPr id="6" name="Rectangle 5"/>
          <p:cNvSpPr/>
          <p:nvPr/>
        </p:nvSpPr>
        <p:spPr>
          <a:xfrm>
            <a:off x="0" y="5989320"/>
            <a:ext cx="12191695"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108192"/>
            <a:ext cx="12191695" cy="548640"/>
          </a:xfrm>
          <a:prstGeom prst="rect">
            <a:avLst/>
          </a:prstGeom>
          <a:noFill/>
        </p:spPr>
        <p:txBody>
          <a:bodyPr wrap="square" anchor="t" lIns="36576" rIns="36576" tIns="18288" bIns="18288">
            <a:spAutoFit/>
          </a:bodyPr>
          <a:lstStyle/>
          <a:p>
            <a:pPr algn="ctr"/>
            <a:r>
              <a:rPr sz="2000" b="0" spc="200">
                <a:solidFill>
                  <a:srgbClr val="FFFFFF"/>
                </a:solidFill>
                <a:latin typeface="Oswald"/>
              </a:rPr>
              <a:t>DIGITAL MUSIC PRODUCTION · UNIT 4 · DAY 1 · BASSLINES AND MELODIES IN LOGIC PRO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THE HECK IS A MELODY?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a:t>
            </a:r>
          </a:p>
        </p:txBody>
      </p:sp>
      <p:sp>
        <p:nvSpPr>
          <p:cNvPr id="10" name="Oval 9"/>
          <p:cNvSpPr/>
          <p:nvPr/>
        </p:nvSpPr>
        <p:spPr>
          <a:xfrm>
            <a:off x="548640" y="2167128"/>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The tune you hum after the song ends</a:t>
            </a:r>
          </a:p>
        </p:txBody>
      </p:sp>
      <p:sp>
        <p:nvSpPr>
          <p:cNvPr id="12" name="Oval 11"/>
          <p:cNvSpPr/>
          <p:nvPr/>
        </p:nvSpPr>
        <p:spPr>
          <a:xfrm>
            <a:off x="548640" y="3117088"/>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One note at a time, on top of the chords</a:t>
            </a:r>
          </a:p>
        </p:txBody>
      </p:sp>
      <p:sp>
        <p:nvSpPr>
          <p:cNvPr id="14" name="Oval 13"/>
          <p:cNvSpPr/>
          <p:nvPr/>
        </p:nvSpPr>
        <p:spPr>
          <a:xfrm>
            <a:off x="548640" y="4067048"/>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Short, repetitive and singable</a:t>
            </a:r>
          </a:p>
        </p:txBody>
      </p:sp>
      <p:sp>
        <p:nvSpPr>
          <p:cNvPr id="16" name="Oval 15"/>
          <p:cNvSpPr/>
          <p:nvPr/>
        </p:nvSpPr>
        <p:spPr>
          <a:xfrm>
            <a:off x="548640" y="5017008"/>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Simple and repetitive wins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A MELODY A STADIUM CAN SING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3</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SEVEN NATION ARMY</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C9D8F5"/>
                </a:solidFill>
                <a:latin typeface="Oswald"/>
              </a:rPr>
              <a:t>The White Stripes</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play the first 30 seconds from YouTube or Spotify.</a:t>
            </a:r>
          </a:p>
        </p:txBody>
      </p:sp>
      <p:sp>
        <p:nvSpPr>
          <p:cNvPr id="14" name="Oval 13"/>
          <p:cNvSpPr/>
          <p:nvPr/>
        </p:nvSpPr>
        <p:spPr>
          <a:xfrm>
            <a:off x="548640" y="4069080"/>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How many different notes do you hear?</a:t>
            </a:r>
          </a:p>
        </p:txBody>
      </p:sp>
      <p:sp>
        <p:nvSpPr>
          <p:cNvPr id="16" name="Oval 15"/>
          <p:cNvSpPr/>
          <p:nvPr/>
        </p:nvSpPr>
        <p:spPr>
          <a:xfrm>
            <a:off x="548640" y="4678680"/>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How many times does it repeat?</a:t>
            </a:r>
          </a:p>
        </p:txBody>
      </p:sp>
      <p:sp>
        <p:nvSpPr>
          <p:cNvPr id="18" name="Oval 17"/>
          <p:cNvSpPr/>
          <p:nvPr/>
        </p:nvSpPr>
        <p:spPr>
          <a:xfrm>
            <a:off x="548640" y="5288280"/>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Could you hum it after one listen?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BRIGHT OR DARK?</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4</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C MAJOR SCALE  ›  A NATURAL MINOR SCALE</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C9D8F5"/>
                </a:solidFill>
                <a:latin typeface="Oswald"/>
              </a:rPr>
              <a:t>teacher plays on a piano sound</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Same seven white keys, two starting notes.</a:t>
            </a:r>
          </a:p>
        </p:txBody>
      </p:sp>
      <p:sp>
        <p:nvSpPr>
          <p:cNvPr id="14" name="Oval 13"/>
          <p:cNvSpPr/>
          <p:nvPr/>
        </p:nvSpPr>
        <p:spPr>
          <a:xfrm>
            <a:off x="548640" y="4069080"/>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Which one sounds brighter?</a:t>
            </a:r>
          </a:p>
        </p:txBody>
      </p:sp>
      <p:sp>
        <p:nvSpPr>
          <p:cNvPr id="16" name="Oval 15"/>
          <p:cNvSpPr/>
          <p:nvPr/>
        </p:nvSpPr>
        <p:spPr>
          <a:xfrm>
            <a:off x="548640" y="4678680"/>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Which one sounds darker?</a:t>
            </a:r>
          </a:p>
        </p:txBody>
      </p:sp>
      <p:sp>
        <p:nvSpPr>
          <p:cNvPr id="18" name="Oval 17"/>
          <p:cNvSpPr/>
          <p:nvPr/>
        </p:nvSpPr>
        <p:spPr>
          <a:xfrm>
            <a:off x="548640" y="5288280"/>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changed?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A SCALE IS YOUR INGREDIENT LIST</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5</a:t>
            </a:r>
          </a:p>
        </p:txBody>
      </p:sp>
      <p:sp>
        <p:nvSpPr>
          <p:cNvPr id="10" name="TextBox 9"/>
          <p:cNvSpPr txBox="1"/>
          <p:nvPr/>
        </p:nvSpPr>
        <p:spPr>
          <a:xfrm>
            <a:off x="548640" y="1874519"/>
            <a:ext cx="11064240" cy="502920"/>
          </a:xfrm>
          <a:prstGeom prst="rect">
            <a:avLst/>
          </a:prstGeom>
          <a:noFill/>
        </p:spPr>
        <p:txBody>
          <a:bodyPr wrap="square" anchor="t" lIns="36576" rIns="36576" tIns="18288" bIns="18288">
            <a:spAutoFit/>
          </a:bodyPr>
          <a:lstStyle/>
          <a:p>
            <a:pPr algn="l"/>
            <a:r>
              <a:rPr sz="2600" b="1">
                <a:solidFill>
                  <a:srgbClr val="2159C9"/>
                </a:solidFill>
                <a:latin typeface="Oswald"/>
              </a:rPr>
              <a:t>C MAJOR  ·  W - W - H - W - W - W - H</a:t>
            </a:r>
          </a:p>
        </p:txBody>
      </p:sp>
      <p:sp>
        <p:nvSpPr>
          <p:cNvPr id="11" name="Rounded Rectangle 10"/>
          <p:cNvSpPr/>
          <p:nvPr/>
        </p:nvSpPr>
        <p:spPr>
          <a:xfrm>
            <a:off x="548640" y="2532887"/>
            <a:ext cx="914400" cy="914400"/>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32887"/>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C</a:t>
            </a:r>
          </a:p>
        </p:txBody>
      </p:sp>
      <p:sp>
        <p:nvSpPr>
          <p:cNvPr id="13" name="TextBox 12"/>
          <p:cNvSpPr txBox="1"/>
          <p:nvPr/>
        </p:nvSpPr>
        <p:spPr>
          <a:xfrm>
            <a:off x="1463040" y="2715768"/>
            <a:ext cx="457200" cy="548640"/>
          </a:xfrm>
          <a:prstGeom prst="rect">
            <a:avLst/>
          </a:prstGeom>
          <a:noFill/>
        </p:spPr>
        <p:txBody>
          <a:bodyPr wrap="square" anchor="ctr" lIns="36576" rIns="36576" tIns="18288" bIns="18288">
            <a:spAutoFit/>
          </a:bodyPr>
          <a:lstStyle/>
          <a:p>
            <a:pPr algn="ctr"/>
            <a:r>
              <a:rPr sz="2000" b="1">
                <a:solidFill>
                  <a:srgbClr val="2159C9"/>
                </a:solidFill>
                <a:latin typeface="Oswald"/>
              </a:rPr>
              <a:t>W</a:t>
            </a:r>
          </a:p>
        </p:txBody>
      </p:sp>
      <p:sp>
        <p:nvSpPr>
          <p:cNvPr id="14" name="Rounded Rectangle 13"/>
          <p:cNvSpPr/>
          <p:nvPr/>
        </p:nvSpPr>
        <p:spPr>
          <a:xfrm>
            <a:off x="1920240" y="2532887"/>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20240" y="2532887"/>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D</a:t>
            </a:r>
          </a:p>
        </p:txBody>
      </p:sp>
      <p:sp>
        <p:nvSpPr>
          <p:cNvPr id="16" name="TextBox 15"/>
          <p:cNvSpPr txBox="1"/>
          <p:nvPr/>
        </p:nvSpPr>
        <p:spPr>
          <a:xfrm>
            <a:off x="2834640" y="2715768"/>
            <a:ext cx="457200" cy="548640"/>
          </a:xfrm>
          <a:prstGeom prst="rect">
            <a:avLst/>
          </a:prstGeom>
          <a:noFill/>
        </p:spPr>
        <p:txBody>
          <a:bodyPr wrap="square" anchor="ctr" lIns="36576" rIns="36576" tIns="18288" bIns="18288">
            <a:spAutoFit/>
          </a:bodyPr>
          <a:lstStyle/>
          <a:p>
            <a:pPr algn="ctr"/>
            <a:r>
              <a:rPr sz="2000" b="1">
                <a:solidFill>
                  <a:srgbClr val="2159C9"/>
                </a:solidFill>
                <a:latin typeface="Oswald"/>
              </a:rPr>
              <a:t>W</a:t>
            </a:r>
          </a:p>
        </p:txBody>
      </p:sp>
      <p:sp>
        <p:nvSpPr>
          <p:cNvPr id="17" name="Rounded Rectangle 16"/>
          <p:cNvSpPr/>
          <p:nvPr/>
        </p:nvSpPr>
        <p:spPr>
          <a:xfrm>
            <a:off x="3291840" y="2532887"/>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91840" y="2532887"/>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E</a:t>
            </a:r>
          </a:p>
        </p:txBody>
      </p:sp>
      <p:sp>
        <p:nvSpPr>
          <p:cNvPr id="19" name="TextBox 18"/>
          <p:cNvSpPr txBox="1"/>
          <p:nvPr/>
        </p:nvSpPr>
        <p:spPr>
          <a:xfrm>
            <a:off x="4206240" y="2715768"/>
            <a:ext cx="457200" cy="548640"/>
          </a:xfrm>
          <a:prstGeom prst="rect">
            <a:avLst/>
          </a:prstGeom>
          <a:noFill/>
        </p:spPr>
        <p:txBody>
          <a:bodyPr wrap="square" anchor="ctr" lIns="36576" rIns="36576" tIns="18288" bIns="18288">
            <a:spAutoFit/>
          </a:bodyPr>
          <a:lstStyle/>
          <a:p>
            <a:pPr algn="ctr"/>
            <a:r>
              <a:rPr sz="2000" b="1">
                <a:solidFill>
                  <a:srgbClr val="2159C9"/>
                </a:solidFill>
                <a:latin typeface="Oswald"/>
              </a:rPr>
              <a:t>H</a:t>
            </a:r>
          </a:p>
        </p:txBody>
      </p:sp>
      <p:sp>
        <p:nvSpPr>
          <p:cNvPr id="20" name="Rounded Rectangle 19"/>
          <p:cNvSpPr/>
          <p:nvPr/>
        </p:nvSpPr>
        <p:spPr>
          <a:xfrm>
            <a:off x="4663440" y="2532887"/>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0" y="2532887"/>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F</a:t>
            </a:r>
          </a:p>
        </p:txBody>
      </p:sp>
      <p:sp>
        <p:nvSpPr>
          <p:cNvPr id="22" name="TextBox 21"/>
          <p:cNvSpPr txBox="1"/>
          <p:nvPr/>
        </p:nvSpPr>
        <p:spPr>
          <a:xfrm>
            <a:off x="5577840" y="2715768"/>
            <a:ext cx="457200" cy="548640"/>
          </a:xfrm>
          <a:prstGeom prst="rect">
            <a:avLst/>
          </a:prstGeom>
          <a:noFill/>
        </p:spPr>
        <p:txBody>
          <a:bodyPr wrap="square" anchor="ctr" lIns="36576" rIns="36576" tIns="18288" bIns="18288">
            <a:spAutoFit/>
          </a:bodyPr>
          <a:lstStyle/>
          <a:p>
            <a:pPr algn="ctr"/>
            <a:r>
              <a:rPr sz="2000" b="1">
                <a:solidFill>
                  <a:srgbClr val="2159C9"/>
                </a:solidFill>
                <a:latin typeface="Oswald"/>
              </a:rPr>
              <a:t>W</a:t>
            </a:r>
          </a:p>
        </p:txBody>
      </p:sp>
      <p:sp>
        <p:nvSpPr>
          <p:cNvPr id="23" name="Rounded Rectangle 22"/>
          <p:cNvSpPr/>
          <p:nvPr/>
        </p:nvSpPr>
        <p:spPr>
          <a:xfrm>
            <a:off x="6035040" y="2532887"/>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0" y="2532887"/>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G</a:t>
            </a:r>
          </a:p>
        </p:txBody>
      </p:sp>
      <p:sp>
        <p:nvSpPr>
          <p:cNvPr id="25" name="TextBox 24"/>
          <p:cNvSpPr txBox="1"/>
          <p:nvPr/>
        </p:nvSpPr>
        <p:spPr>
          <a:xfrm>
            <a:off x="6949440" y="2715768"/>
            <a:ext cx="457200" cy="548640"/>
          </a:xfrm>
          <a:prstGeom prst="rect">
            <a:avLst/>
          </a:prstGeom>
          <a:noFill/>
        </p:spPr>
        <p:txBody>
          <a:bodyPr wrap="square" anchor="ctr" lIns="36576" rIns="36576" tIns="18288" bIns="18288">
            <a:spAutoFit/>
          </a:bodyPr>
          <a:lstStyle/>
          <a:p>
            <a:pPr algn="ctr"/>
            <a:r>
              <a:rPr sz="2000" b="1">
                <a:solidFill>
                  <a:srgbClr val="2159C9"/>
                </a:solidFill>
                <a:latin typeface="Oswald"/>
              </a:rPr>
              <a:t>W</a:t>
            </a:r>
          </a:p>
        </p:txBody>
      </p:sp>
      <p:sp>
        <p:nvSpPr>
          <p:cNvPr id="26" name="Rounded Rectangle 25"/>
          <p:cNvSpPr/>
          <p:nvPr/>
        </p:nvSpPr>
        <p:spPr>
          <a:xfrm>
            <a:off x="7406640" y="2532887"/>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2532887"/>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A</a:t>
            </a:r>
          </a:p>
        </p:txBody>
      </p:sp>
      <p:sp>
        <p:nvSpPr>
          <p:cNvPr id="28" name="TextBox 27"/>
          <p:cNvSpPr txBox="1"/>
          <p:nvPr/>
        </p:nvSpPr>
        <p:spPr>
          <a:xfrm>
            <a:off x="8321040" y="2715768"/>
            <a:ext cx="457200" cy="548640"/>
          </a:xfrm>
          <a:prstGeom prst="rect">
            <a:avLst/>
          </a:prstGeom>
          <a:noFill/>
        </p:spPr>
        <p:txBody>
          <a:bodyPr wrap="square" anchor="ctr" lIns="36576" rIns="36576" tIns="18288" bIns="18288">
            <a:spAutoFit/>
          </a:bodyPr>
          <a:lstStyle/>
          <a:p>
            <a:pPr algn="ctr"/>
            <a:r>
              <a:rPr sz="2000" b="1">
                <a:solidFill>
                  <a:srgbClr val="2159C9"/>
                </a:solidFill>
                <a:latin typeface="Oswald"/>
              </a:rPr>
              <a:t>W</a:t>
            </a:r>
          </a:p>
        </p:txBody>
      </p:sp>
      <p:sp>
        <p:nvSpPr>
          <p:cNvPr id="29" name="Rounded Rectangle 28"/>
          <p:cNvSpPr/>
          <p:nvPr/>
        </p:nvSpPr>
        <p:spPr>
          <a:xfrm>
            <a:off x="8778240" y="2532887"/>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78240" y="2532887"/>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B</a:t>
            </a:r>
          </a:p>
        </p:txBody>
      </p:sp>
      <p:sp>
        <p:nvSpPr>
          <p:cNvPr id="31" name="TextBox 30"/>
          <p:cNvSpPr txBox="1"/>
          <p:nvPr/>
        </p:nvSpPr>
        <p:spPr>
          <a:xfrm>
            <a:off x="9692640" y="2715768"/>
            <a:ext cx="457200" cy="548640"/>
          </a:xfrm>
          <a:prstGeom prst="rect">
            <a:avLst/>
          </a:prstGeom>
          <a:noFill/>
        </p:spPr>
        <p:txBody>
          <a:bodyPr wrap="square" anchor="ctr" lIns="36576" rIns="36576" tIns="18288" bIns="18288">
            <a:spAutoFit/>
          </a:bodyPr>
          <a:lstStyle/>
          <a:p>
            <a:pPr algn="ctr"/>
            <a:r>
              <a:rPr sz="2000" b="1">
                <a:solidFill>
                  <a:srgbClr val="2159C9"/>
                </a:solidFill>
                <a:latin typeface="Oswald"/>
              </a:rPr>
              <a:t>H</a:t>
            </a:r>
          </a:p>
        </p:txBody>
      </p:sp>
      <p:sp>
        <p:nvSpPr>
          <p:cNvPr id="32" name="Rounded Rectangle 31"/>
          <p:cNvSpPr/>
          <p:nvPr/>
        </p:nvSpPr>
        <p:spPr>
          <a:xfrm>
            <a:off x="10149840" y="2532887"/>
            <a:ext cx="914400" cy="914400"/>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49840" y="2532887"/>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C</a:t>
            </a:r>
          </a:p>
        </p:txBody>
      </p:sp>
      <p:sp>
        <p:nvSpPr>
          <p:cNvPr id="34" name="TextBox 33"/>
          <p:cNvSpPr txBox="1"/>
          <p:nvPr/>
        </p:nvSpPr>
        <p:spPr>
          <a:xfrm>
            <a:off x="548640" y="3840479"/>
            <a:ext cx="11064240" cy="502920"/>
          </a:xfrm>
          <a:prstGeom prst="rect">
            <a:avLst/>
          </a:prstGeom>
          <a:noFill/>
        </p:spPr>
        <p:txBody>
          <a:bodyPr wrap="square" anchor="t" lIns="36576" rIns="36576" tIns="18288" bIns="18288">
            <a:spAutoFit/>
          </a:bodyPr>
          <a:lstStyle/>
          <a:p>
            <a:pPr algn="l"/>
            <a:r>
              <a:rPr sz="2600" b="1">
                <a:solidFill>
                  <a:srgbClr val="000000"/>
                </a:solidFill>
                <a:latin typeface="Oswald"/>
              </a:rPr>
              <a:t>A NATURAL MINOR  ·  W - H - W - W - H - W - W</a:t>
            </a:r>
          </a:p>
        </p:txBody>
      </p:sp>
      <p:sp>
        <p:nvSpPr>
          <p:cNvPr id="35" name="Rounded Rectangle 34"/>
          <p:cNvSpPr/>
          <p:nvPr/>
        </p:nvSpPr>
        <p:spPr>
          <a:xfrm>
            <a:off x="548640" y="4498847"/>
            <a:ext cx="914400" cy="914400"/>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4498847"/>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A</a:t>
            </a:r>
          </a:p>
        </p:txBody>
      </p:sp>
      <p:sp>
        <p:nvSpPr>
          <p:cNvPr id="37" name="TextBox 36"/>
          <p:cNvSpPr txBox="1"/>
          <p:nvPr/>
        </p:nvSpPr>
        <p:spPr>
          <a:xfrm>
            <a:off x="1463040" y="4681727"/>
            <a:ext cx="457200" cy="548640"/>
          </a:xfrm>
          <a:prstGeom prst="rect">
            <a:avLst/>
          </a:prstGeom>
          <a:noFill/>
        </p:spPr>
        <p:txBody>
          <a:bodyPr wrap="square" anchor="ctr" lIns="36576" rIns="36576" tIns="18288" bIns="18288">
            <a:spAutoFit/>
          </a:bodyPr>
          <a:lstStyle/>
          <a:p>
            <a:pPr algn="ctr"/>
            <a:r>
              <a:rPr sz="2000" b="1">
                <a:solidFill>
                  <a:srgbClr val="2159C9"/>
                </a:solidFill>
                <a:latin typeface="Oswald"/>
              </a:rPr>
              <a:t>W</a:t>
            </a:r>
          </a:p>
        </p:txBody>
      </p:sp>
      <p:sp>
        <p:nvSpPr>
          <p:cNvPr id="38" name="Rounded Rectangle 37"/>
          <p:cNvSpPr/>
          <p:nvPr/>
        </p:nvSpPr>
        <p:spPr>
          <a:xfrm>
            <a:off x="1920240" y="4498847"/>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920240" y="4498847"/>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B</a:t>
            </a:r>
          </a:p>
        </p:txBody>
      </p:sp>
      <p:sp>
        <p:nvSpPr>
          <p:cNvPr id="40" name="TextBox 39"/>
          <p:cNvSpPr txBox="1"/>
          <p:nvPr/>
        </p:nvSpPr>
        <p:spPr>
          <a:xfrm>
            <a:off x="2834640" y="4681727"/>
            <a:ext cx="457200" cy="548640"/>
          </a:xfrm>
          <a:prstGeom prst="rect">
            <a:avLst/>
          </a:prstGeom>
          <a:noFill/>
        </p:spPr>
        <p:txBody>
          <a:bodyPr wrap="square" anchor="ctr" lIns="36576" rIns="36576" tIns="18288" bIns="18288">
            <a:spAutoFit/>
          </a:bodyPr>
          <a:lstStyle/>
          <a:p>
            <a:pPr algn="ctr"/>
            <a:r>
              <a:rPr sz="2000" b="1">
                <a:solidFill>
                  <a:srgbClr val="2159C9"/>
                </a:solidFill>
                <a:latin typeface="Oswald"/>
              </a:rPr>
              <a:t>H</a:t>
            </a:r>
          </a:p>
        </p:txBody>
      </p:sp>
      <p:sp>
        <p:nvSpPr>
          <p:cNvPr id="41" name="Rounded Rectangle 40"/>
          <p:cNvSpPr/>
          <p:nvPr/>
        </p:nvSpPr>
        <p:spPr>
          <a:xfrm>
            <a:off x="3291840" y="4498847"/>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91840" y="4498847"/>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C</a:t>
            </a:r>
          </a:p>
        </p:txBody>
      </p:sp>
      <p:sp>
        <p:nvSpPr>
          <p:cNvPr id="43" name="TextBox 42"/>
          <p:cNvSpPr txBox="1"/>
          <p:nvPr/>
        </p:nvSpPr>
        <p:spPr>
          <a:xfrm>
            <a:off x="4206240" y="4681727"/>
            <a:ext cx="457200" cy="548640"/>
          </a:xfrm>
          <a:prstGeom prst="rect">
            <a:avLst/>
          </a:prstGeom>
          <a:noFill/>
        </p:spPr>
        <p:txBody>
          <a:bodyPr wrap="square" anchor="ctr" lIns="36576" rIns="36576" tIns="18288" bIns="18288">
            <a:spAutoFit/>
          </a:bodyPr>
          <a:lstStyle/>
          <a:p>
            <a:pPr algn="ctr"/>
            <a:r>
              <a:rPr sz="2000" b="1">
                <a:solidFill>
                  <a:srgbClr val="2159C9"/>
                </a:solidFill>
                <a:latin typeface="Oswald"/>
              </a:rPr>
              <a:t>W</a:t>
            </a:r>
          </a:p>
        </p:txBody>
      </p:sp>
      <p:sp>
        <p:nvSpPr>
          <p:cNvPr id="44" name="Rounded Rectangle 43"/>
          <p:cNvSpPr/>
          <p:nvPr/>
        </p:nvSpPr>
        <p:spPr>
          <a:xfrm>
            <a:off x="4663440" y="4498847"/>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63440" y="4498847"/>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D</a:t>
            </a:r>
          </a:p>
        </p:txBody>
      </p:sp>
      <p:sp>
        <p:nvSpPr>
          <p:cNvPr id="46" name="TextBox 45"/>
          <p:cNvSpPr txBox="1"/>
          <p:nvPr/>
        </p:nvSpPr>
        <p:spPr>
          <a:xfrm>
            <a:off x="5577840" y="4681727"/>
            <a:ext cx="457200" cy="548640"/>
          </a:xfrm>
          <a:prstGeom prst="rect">
            <a:avLst/>
          </a:prstGeom>
          <a:noFill/>
        </p:spPr>
        <p:txBody>
          <a:bodyPr wrap="square" anchor="ctr" lIns="36576" rIns="36576" tIns="18288" bIns="18288">
            <a:spAutoFit/>
          </a:bodyPr>
          <a:lstStyle/>
          <a:p>
            <a:pPr algn="ctr"/>
            <a:r>
              <a:rPr sz="2000" b="1">
                <a:solidFill>
                  <a:srgbClr val="2159C9"/>
                </a:solidFill>
                <a:latin typeface="Oswald"/>
              </a:rPr>
              <a:t>W</a:t>
            </a:r>
          </a:p>
        </p:txBody>
      </p:sp>
      <p:sp>
        <p:nvSpPr>
          <p:cNvPr id="47" name="Rounded Rectangle 46"/>
          <p:cNvSpPr/>
          <p:nvPr/>
        </p:nvSpPr>
        <p:spPr>
          <a:xfrm>
            <a:off x="6035040" y="4498847"/>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035040" y="4498847"/>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E</a:t>
            </a:r>
          </a:p>
        </p:txBody>
      </p:sp>
      <p:sp>
        <p:nvSpPr>
          <p:cNvPr id="49" name="TextBox 48"/>
          <p:cNvSpPr txBox="1"/>
          <p:nvPr/>
        </p:nvSpPr>
        <p:spPr>
          <a:xfrm>
            <a:off x="6949440" y="4681727"/>
            <a:ext cx="457200" cy="548640"/>
          </a:xfrm>
          <a:prstGeom prst="rect">
            <a:avLst/>
          </a:prstGeom>
          <a:noFill/>
        </p:spPr>
        <p:txBody>
          <a:bodyPr wrap="square" anchor="ctr" lIns="36576" rIns="36576" tIns="18288" bIns="18288">
            <a:spAutoFit/>
          </a:bodyPr>
          <a:lstStyle/>
          <a:p>
            <a:pPr algn="ctr"/>
            <a:r>
              <a:rPr sz="2000" b="1">
                <a:solidFill>
                  <a:srgbClr val="2159C9"/>
                </a:solidFill>
                <a:latin typeface="Oswald"/>
              </a:rPr>
              <a:t>H</a:t>
            </a:r>
          </a:p>
        </p:txBody>
      </p:sp>
      <p:sp>
        <p:nvSpPr>
          <p:cNvPr id="50" name="Rounded Rectangle 49"/>
          <p:cNvSpPr/>
          <p:nvPr/>
        </p:nvSpPr>
        <p:spPr>
          <a:xfrm>
            <a:off x="7406640" y="4498847"/>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406640" y="4498847"/>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F</a:t>
            </a:r>
          </a:p>
        </p:txBody>
      </p:sp>
      <p:sp>
        <p:nvSpPr>
          <p:cNvPr id="52" name="TextBox 51"/>
          <p:cNvSpPr txBox="1"/>
          <p:nvPr/>
        </p:nvSpPr>
        <p:spPr>
          <a:xfrm>
            <a:off x="8321040" y="4681727"/>
            <a:ext cx="457200" cy="548640"/>
          </a:xfrm>
          <a:prstGeom prst="rect">
            <a:avLst/>
          </a:prstGeom>
          <a:noFill/>
        </p:spPr>
        <p:txBody>
          <a:bodyPr wrap="square" anchor="ctr" lIns="36576" rIns="36576" tIns="18288" bIns="18288">
            <a:spAutoFit/>
          </a:bodyPr>
          <a:lstStyle/>
          <a:p>
            <a:pPr algn="ctr"/>
            <a:r>
              <a:rPr sz="2000" b="1">
                <a:solidFill>
                  <a:srgbClr val="2159C9"/>
                </a:solidFill>
                <a:latin typeface="Oswald"/>
              </a:rPr>
              <a:t>W</a:t>
            </a:r>
          </a:p>
        </p:txBody>
      </p:sp>
      <p:sp>
        <p:nvSpPr>
          <p:cNvPr id="53" name="Rounded Rectangle 52"/>
          <p:cNvSpPr/>
          <p:nvPr/>
        </p:nvSpPr>
        <p:spPr>
          <a:xfrm>
            <a:off x="8778240" y="4498847"/>
            <a:ext cx="914400" cy="9144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778240" y="4498847"/>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G</a:t>
            </a:r>
          </a:p>
        </p:txBody>
      </p:sp>
      <p:sp>
        <p:nvSpPr>
          <p:cNvPr id="55" name="TextBox 54"/>
          <p:cNvSpPr txBox="1"/>
          <p:nvPr/>
        </p:nvSpPr>
        <p:spPr>
          <a:xfrm>
            <a:off x="9692640" y="4681727"/>
            <a:ext cx="457200" cy="548640"/>
          </a:xfrm>
          <a:prstGeom prst="rect">
            <a:avLst/>
          </a:prstGeom>
          <a:noFill/>
        </p:spPr>
        <p:txBody>
          <a:bodyPr wrap="square" anchor="ctr" lIns="36576" rIns="36576" tIns="18288" bIns="18288">
            <a:spAutoFit/>
          </a:bodyPr>
          <a:lstStyle/>
          <a:p>
            <a:pPr algn="ctr"/>
            <a:r>
              <a:rPr sz="2000" b="1">
                <a:solidFill>
                  <a:srgbClr val="2159C9"/>
                </a:solidFill>
                <a:latin typeface="Oswald"/>
              </a:rPr>
              <a:t>W</a:t>
            </a:r>
          </a:p>
        </p:txBody>
      </p:sp>
      <p:sp>
        <p:nvSpPr>
          <p:cNvPr id="56" name="Rounded Rectangle 55"/>
          <p:cNvSpPr/>
          <p:nvPr/>
        </p:nvSpPr>
        <p:spPr>
          <a:xfrm>
            <a:off x="10149840" y="4498847"/>
            <a:ext cx="914400" cy="914400"/>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149840" y="4498847"/>
            <a:ext cx="914400" cy="914400"/>
          </a:xfrm>
          <a:prstGeom prst="rect">
            <a:avLst/>
          </a:prstGeom>
          <a:noFill/>
        </p:spPr>
        <p:txBody>
          <a:bodyPr wrap="square" anchor="ctr" lIns="36576" rIns="36576" tIns="18288" bIns="18288">
            <a:spAutoFit/>
          </a:bodyPr>
          <a:lstStyle/>
          <a:p>
            <a:pPr algn="ctr"/>
            <a:r>
              <a:rPr sz="3400" b="1">
                <a:solidFill>
                  <a:srgbClr val="FFFFFF"/>
                </a:solidFill>
                <a:latin typeface="Oswald"/>
              </a:rPr>
              <a:t>A</a:t>
            </a:r>
          </a:p>
        </p:txBody>
      </p:sp>
      <p:sp>
        <p:nvSpPr>
          <p:cNvPr id="58" name="Rounded Rectangle 57"/>
          <p:cNvSpPr/>
          <p:nvPr/>
        </p:nvSpPr>
        <p:spPr>
          <a:xfrm>
            <a:off x="548640" y="5715000"/>
            <a:ext cx="11091672" cy="566928"/>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8640" y="5715000"/>
            <a:ext cx="11091672" cy="566928"/>
          </a:xfrm>
          <a:prstGeom prst="rect">
            <a:avLst/>
          </a:prstGeom>
          <a:noFill/>
        </p:spPr>
        <p:txBody>
          <a:bodyPr wrap="square" anchor="ctr" lIns="36576" rIns="36576" tIns="18288" bIns="18288">
            <a:spAutoFit/>
          </a:bodyPr>
          <a:lstStyle/>
          <a:p>
            <a:pPr algn="ctr"/>
            <a:r>
              <a:rPr sz="2200" b="1">
                <a:solidFill>
                  <a:srgbClr val="FFFFFF"/>
                </a:solidFill>
                <a:latin typeface="Source Sans 3"/>
              </a:rPr>
              <a:t>Every white key is a safe note. Start or end on the root: C or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FOUR DAYS, TWO SHORT PROJECTS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6</a:t>
            </a:r>
          </a:p>
        </p:txBody>
      </p:sp>
      <p:sp>
        <p:nvSpPr>
          <p:cNvPr id="10" name="Rounded Rectangle 9"/>
          <p:cNvSpPr/>
          <p:nvPr/>
        </p:nvSpPr>
        <p:spPr>
          <a:xfrm>
            <a:off x="548640" y="1828800"/>
            <a:ext cx="1554480" cy="868680"/>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28800"/>
            <a:ext cx="1554480" cy="868680"/>
          </a:xfrm>
          <a:prstGeom prst="rect">
            <a:avLst/>
          </a:prstGeom>
          <a:noFill/>
        </p:spPr>
        <p:txBody>
          <a:bodyPr wrap="square" anchor="ctr" lIns="36576" rIns="36576" tIns="18288" bIns="18288">
            <a:spAutoFit/>
          </a:bodyPr>
          <a:lstStyle/>
          <a:p>
            <a:pPr algn="ctr"/>
            <a:r>
              <a:rPr sz="2600" b="1">
                <a:solidFill>
                  <a:srgbClr val="FFFFFF"/>
                </a:solidFill>
                <a:latin typeface="Oswald"/>
              </a:rPr>
              <a:t>DAY 1</a:t>
            </a:r>
          </a:p>
        </p:txBody>
      </p:sp>
      <p:sp>
        <p:nvSpPr>
          <p:cNvPr id="12" name="TextBox 11"/>
          <p:cNvSpPr txBox="1"/>
          <p:nvPr/>
        </p:nvSpPr>
        <p:spPr>
          <a:xfrm>
            <a:off x="2331720" y="1810512"/>
            <a:ext cx="9326880" cy="457200"/>
          </a:xfrm>
          <a:prstGeom prst="rect">
            <a:avLst/>
          </a:prstGeom>
          <a:noFill/>
        </p:spPr>
        <p:txBody>
          <a:bodyPr wrap="square" anchor="t" lIns="36576" rIns="36576" tIns="18288" bIns="18288">
            <a:spAutoFit/>
          </a:bodyPr>
          <a:lstStyle/>
          <a:p>
            <a:pPr algn="l"/>
            <a:r>
              <a:rPr sz="2400" b="1">
                <a:solidFill>
                  <a:srgbClr val="000000"/>
                </a:solidFill>
                <a:latin typeface="Oswald"/>
              </a:rPr>
              <a:t>SCALES + MELODY START  ·  MELODY</a:t>
            </a:r>
          </a:p>
        </p:txBody>
      </p:sp>
      <p:sp>
        <p:nvSpPr>
          <p:cNvPr id="13" name="TextBox 12"/>
          <p:cNvSpPr txBox="1"/>
          <p:nvPr/>
        </p:nvSpPr>
        <p:spPr>
          <a:xfrm>
            <a:off x="2331720" y="2267712"/>
            <a:ext cx="9326880" cy="411480"/>
          </a:xfrm>
          <a:prstGeom prst="rect">
            <a:avLst/>
          </a:prstGeom>
          <a:noFill/>
        </p:spPr>
        <p:txBody>
          <a:bodyPr wrap="square" anchor="t" lIns="36576" rIns="36576" tIns="18288" bIns="18288">
            <a:spAutoFit/>
          </a:bodyPr>
          <a:lstStyle/>
          <a:p>
            <a:pPr algn="l"/>
            <a:r>
              <a:rPr sz="1800" b="0">
                <a:solidFill>
                  <a:srgbClr val="000000"/>
                </a:solidFill>
                <a:latin typeface="Source Sans 3"/>
              </a:rPr>
              <a:t>A melody is short, repetitive and singable; scales; four ways to write it; start your melody</a:t>
            </a:r>
          </a:p>
        </p:txBody>
      </p:sp>
      <p:sp>
        <p:nvSpPr>
          <p:cNvPr id="14" name="Rounded Rectangle 13"/>
          <p:cNvSpPr/>
          <p:nvPr/>
        </p:nvSpPr>
        <p:spPr>
          <a:xfrm>
            <a:off x="548640" y="2926080"/>
            <a:ext cx="1554480" cy="868680"/>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926080"/>
            <a:ext cx="1554480" cy="868680"/>
          </a:xfrm>
          <a:prstGeom prst="rect">
            <a:avLst/>
          </a:prstGeom>
          <a:noFill/>
        </p:spPr>
        <p:txBody>
          <a:bodyPr wrap="square" anchor="ctr" lIns="36576" rIns="36576" tIns="18288" bIns="18288">
            <a:spAutoFit/>
          </a:bodyPr>
          <a:lstStyle/>
          <a:p>
            <a:pPr algn="ctr"/>
            <a:r>
              <a:rPr sz="2600" b="1">
                <a:solidFill>
                  <a:srgbClr val="FFFFFF"/>
                </a:solidFill>
                <a:latin typeface="Oswald"/>
              </a:rPr>
              <a:t>DAY 2</a:t>
            </a:r>
          </a:p>
        </p:txBody>
      </p:sp>
      <p:sp>
        <p:nvSpPr>
          <p:cNvPr id="16" name="TextBox 15"/>
          <p:cNvSpPr txBox="1"/>
          <p:nvPr/>
        </p:nvSpPr>
        <p:spPr>
          <a:xfrm>
            <a:off x="2331720" y="2907792"/>
            <a:ext cx="9326880" cy="457200"/>
          </a:xfrm>
          <a:prstGeom prst="rect">
            <a:avLst/>
          </a:prstGeom>
          <a:noFill/>
        </p:spPr>
        <p:txBody>
          <a:bodyPr wrap="square" anchor="t" lIns="36576" rIns="36576" tIns="18288" bIns="18288">
            <a:spAutoFit/>
          </a:bodyPr>
          <a:lstStyle/>
          <a:p>
            <a:pPr algn="l"/>
            <a:r>
              <a:rPr sz="2400" b="1">
                <a:solidFill>
                  <a:srgbClr val="000000"/>
                </a:solidFill>
                <a:latin typeface="Oswald"/>
              </a:rPr>
              <a:t>FINISH THE MELODY, MEET THE BASS RULE  ·  MELODY + THE BASS RULE</a:t>
            </a:r>
          </a:p>
        </p:txBody>
      </p:sp>
      <p:sp>
        <p:nvSpPr>
          <p:cNvPr id="17" name="TextBox 16"/>
          <p:cNvSpPr txBox="1"/>
          <p:nvPr/>
        </p:nvSpPr>
        <p:spPr>
          <a:xfrm>
            <a:off x="2331720" y="3364992"/>
            <a:ext cx="9326880" cy="411480"/>
          </a:xfrm>
          <a:prstGeom prst="rect">
            <a:avLst/>
          </a:prstGeom>
          <a:noFill/>
        </p:spPr>
        <p:txBody>
          <a:bodyPr wrap="square" anchor="t" lIns="36576" rIns="36576" tIns="18288" bIns="18288">
            <a:spAutoFit/>
          </a:bodyPr>
          <a:lstStyle/>
          <a:p>
            <a:pPr algn="l"/>
            <a:r>
              <a:rPr sz="1800" b="0">
                <a:solidFill>
                  <a:srgbClr val="000000"/>
                </a:solidFill>
                <a:latin typeface="Source Sans 3"/>
              </a:rPr>
              <a:t>Finish the melody; frequency separation; look hard at a bassline and find the rule</a:t>
            </a:r>
          </a:p>
        </p:txBody>
      </p:sp>
      <p:sp>
        <p:nvSpPr>
          <p:cNvPr id="18" name="Rounded Rectangle 17"/>
          <p:cNvSpPr/>
          <p:nvPr/>
        </p:nvSpPr>
        <p:spPr>
          <a:xfrm>
            <a:off x="548640" y="4023360"/>
            <a:ext cx="1554480" cy="86868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023360"/>
            <a:ext cx="1554480" cy="868680"/>
          </a:xfrm>
          <a:prstGeom prst="rect">
            <a:avLst/>
          </a:prstGeom>
          <a:noFill/>
        </p:spPr>
        <p:txBody>
          <a:bodyPr wrap="square" anchor="ctr" lIns="36576" rIns="36576" tIns="18288" bIns="18288">
            <a:spAutoFit/>
          </a:bodyPr>
          <a:lstStyle/>
          <a:p>
            <a:pPr algn="ctr"/>
            <a:r>
              <a:rPr sz="2600" b="1">
                <a:solidFill>
                  <a:srgbClr val="FFFFFF"/>
                </a:solidFill>
                <a:latin typeface="Oswald"/>
              </a:rPr>
              <a:t>DAY 3</a:t>
            </a:r>
          </a:p>
        </p:txBody>
      </p:sp>
      <p:sp>
        <p:nvSpPr>
          <p:cNvPr id="20" name="TextBox 19"/>
          <p:cNvSpPr txBox="1"/>
          <p:nvPr/>
        </p:nvSpPr>
        <p:spPr>
          <a:xfrm>
            <a:off x="2331720" y="4005072"/>
            <a:ext cx="9326880" cy="457200"/>
          </a:xfrm>
          <a:prstGeom prst="rect">
            <a:avLst/>
          </a:prstGeom>
          <a:noFill/>
        </p:spPr>
        <p:txBody>
          <a:bodyPr wrap="square" anchor="t" lIns="36576" rIns="36576" tIns="18288" bIns="18288">
            <a:spAutoFit/>
          </a:bodyPr>
          <a:lstStyle/>
          <a:p>
            <a:pPr algn="l"/>
            <a:r>
              <a:rPr sz="2400" b="1">
                <a:solidFill>
                  <a:srgbClr val="000000"/>
                </a:solidFill>
                <a:latin typeface="Oswald"/>
              </a:rPr>
              <a:t>PLAN + BUILD THE BASSLINE  ·  BASSLINE</a:t>
            </a:r>
          </a:p>
        </p:txBody>
      </p:sp>
      <p:sp>
        <p:nvSpPr>
          <p:cNvPr id="21" name="TextBox 20"/>
          <p:cNvSpPr txBox="1"/>
          <p:nvPr/>
        </p:nvSpPr>
        <p:spPr>
          <a:xfrm>
            <a:off x="2331720" y="4462272"/>
            <a:ext cx="9326880" cy="411480"/>
          </a:xfrm>
          <a:prstGeom prst="rect">
            <a:avLst/>
          </a:prstGeom>
          <a:noFill/>
        </p:spPr>
        <p:txBody>
          <a:bodyPr wrap="square" anchor="t" lIns="36576" rIns="36576" tIns="18288" bIns="18288">
            <a:spAutoFit/>
          </a:bodyPr>
          <a:lstStyle/>
          <a:p>
            <a:pPr algn="l"/>
            <a:r>
              <a:rPr sz="1800" b="0">
                <a:solidFill>
                  <a:srgbClr val="000000"/>
                </a:solidFill>
                <a:latin typeface="Source Sans 3"/>
              </a:rPr>
              <a:t>Plan four chords with Roman numerals; roots first, then rhythm; build the bassline</a:t>
            </a:r>
          </a:p>
        </p:txBody>
      </p:sp>
      <p:sp>
        <p:nvSpPr>
          <p:cNvPr id="22" name="Rounded Rectangle 21"/>
          <p:cNvSpPr/>
          <p:nvPr/>
        </p:nvSpPr>
        <p:spPr>
          <a:xfrm>
            <a:off x="548640" y="5120640"/>
            <a:ext cx="1554480" cy="86868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120640"/>
            <a:ext cx="1554480" cy="868680"/>
          </a:xfrm>
          <a:prstGeom prst="rect">
            <a:avLst/>
          </a:prstGeom>
          <a:noFill/>
        </p:spPr>
        <p:txBody>
          <a:bodyPr wrap="square" anchor="ctr" lIns="36576" rIns="36576" tIns="18288" bIns="18288">
            <a:spAutoFit/>
          </a:bodyPr>
          <a:lstStyle/>
          <a:p>
            <a:pPr algn="ctr"/>
            <a:r>
              <a:rPr sz="2600" b="1">
                <a:solidFill>
                  <a:srgbClr val="FFFFFF"/>
                </a:solidFill>
                <a:latin typeface="Oswald"/>
              </a:rPr>
              <a:t>DAY 4</a:t>
            </a:r>
          </a:p>
        </p:txBody>
      </p:sp>
      <p:sp>
        <p:nvSpPr>
          <p:cNvPr id="24" name="TextBox 23"/>
          <p:cNvSpPr txBox="1"/>
          <p:nvPr/>
        </p:nvSpPr>
        <p:spPr>
          <a:xfrm>
            <a:off x="2331720" y="5102352"/>
            <a:ext cx="9326880" cy="457200"/>
          </a:xfrm>
          <a:prstGeom prst="rect">
            <a:avLst/>
          </a:prstGeom>
          <a:noFill/>
        </p:spPr>
        <p:txBody>
          <a:bodyPr wrap="square" anchor="t" lIns="36576" rIns="36576" tIns="18288" bIns="18288">
            <a:spAutoFit/>
          </a:bodyPr>
          <a:lstStyle/>
          <a:p>
            <a:pPr algn="l"/>
            <a:r>
              <a:rPr sz="2400" b="1">
                <a:solidFill>
                  <a:srgbClr val="000000"/>
                </a:solidFill>
                <a:latin typeface="Oswald"/>
              </a:rPr>
              <a:t>PRESENTATIONS  ·  PRESENT</a:t>
            </a:r>
          </a:p>
        </p:txBody>
      </p:sp>
      <p:sp>
        <p:nvSpPr>
          <p:cNvPr id="25" name="TextBox 24"/>
          <p:cNvSpPr txBox="1"/>
          <p:nvPr/>
        </p:nvSpPr>
        <p:spPr>
          <a:xfrm>
            <a:off x="2331720" y="5559552"/>
            <a:ext cx="9326880" cy="411480"/>
          </a:xfrm>
          <a:prstGeom prst="rect">
            <a:avLst/>
          </a:prstGeom>
          <a:noFill/>
        </p:spPr>
        <p:txBody>
          <a:bodyPr wrap="square" anchor="t" lIns="36576" rIns="36576" tIns="18288" bIns="18288">
            <a:spAutoFit/>
          </a:bodyPr>
          <a:lstStyle/>
          <a:p>
            <a:pPr algn="l"/>
            <a:r>
              <a:rPr sz="1800" b="0">
                <a:solidFill>
                  <a:srgbClr val="000000"/>
                </a:solidFill>
                <a:latin typeface="Source Sans 3"/>
              </a:rPr>
              <a:t>Play it, explain it: what key, what Roman numerals, what did you want it to feel like?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FOUR WAYS TO WRITE A MELODY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7</a:t>
            </a:r>
          </a:p>
        </p:txBody>
      </p:sp>
      <p:sp>
        <p:nvSpPr>
          <p:cNvPr id="10" name="Rounded Rectangle 9"/>
          <p:cNvSpPr/>
          <p:nvPr/>
        </p:nvSpPr>
        <p:spPr>
          <a:xfrm>
            <a:off x="548640" y="1810512"/>
            <a:ext cx="5449824" cy="1828800"/>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83664"/>
            <a:ext cx="5449824" cy="768096"/>
          </a:xfrm>
          <a:prstGeom prst="rect">
            <a:avLst/>
          </a:prstGeom>
          <a:noFill/>
        </p:spPr>
        <p:txBody>
          <a:bodyPr wrap="square" anchor="ctr" lIns="36576" rIns="36576" tIns="18288" bIns="18288">
            <a:spAutoFit/>
          </a:bodyPr>
          <a:lstStyle/>
          <a:p>
            <a:pPr algn="ctr"/>
            <a:r>
              <a:rPr sz="3000" b="1">
                <a:solidFill>
                  <a:srgbClr val="FFFFFF"/>
                </a:solidFill>
                <a:latin typeface="Oswald"/>
              </a:rPr>
              <a:t>1  ·  Play it in</a:t>
            </a:r>
          </a:p>
        </p:txBody>
      </p:sp>
      <p:sp>
        <p:nvSpPr>
          <p:cNvPr id="12" name="TextBox 11"/>
          <p:cNvSpPr txBox="1"/>
          <p:nvPr/>
        </p:nvSpPr>
        <p:spPr>
          <a:xfrm>
            <a:off x="685800" y="2633472"/>
            <a:ext cx="5175504" cy="950976"/>
          </a:xfrm>
          <a:prstGeom prst="rect">
            <a:avLst/>
          </a:prstGeom>
          <a:noFill/>
        </p:spPr>
        <p:txBody>
          <a:bodyPr wrap="square" anchor="t" lIns="36576" rIns="36576" tIns="18288" bIns="18288">
            <a:spAutoFit/>
          </a:bodyPr>
          <a:lstStyle/>
          <a:p>
            <a:pPr algn="ctr"/>
            <a:r>
              <a:rPr sz="2000" b="0">
                <a:solidFill>
                  <a:srgbClr val="FFFFFF"/>
                </a:solidFill>
                <a:latin typeface="Source Sans 3"/>
              </a:rPr>
              <a:t>Good when you can already hear an idea in your head.</a:t>
            </a:r>
          </a:p>
        </p:txBody>
      </p:sp>
      <p:sp>
        <p:nvSpPr>
          <p:cNvPr id="13" name="Rounded Rectangle 12"/>
          <p:cNvSpPr/>
          <p:nvPr/>
        </p:nvSpPr>
        <p:spPr>
          <a:xfrm>
            <a:off x="6190488" y="1810512"/>
            <a:ext cx="5449824"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90488" y="1883664"/>
            <a:ext cx="5449824" cy="768096"/>
          </a:xfrm>
          <a:prstGeom prst="rect">
            <a:avLst/>
          </a:prstGeom>
          <a:noFill/>
        </p:spPr>
        <p:txBody>
          <a:bodyPr wrap="square" anchor="ctr" lIns="36576" rIns="36576" tIns="18288" bIns="18288">
            <a:spAutoFit/>
          </a:bodyPr>
          <a:lstStyle/>
          <a:p>
            <a:pPr algn="ctr"/>
            <a:r>
              <a:rPr sz="3000" b="1">
                <a:solidFill>
                  <a:srgbClr val="FFFFFF"/>
                </a:solidFill>
                <a:latin typeface="Oswald"/>
              </a:rPr>
              <a:t>2  ·  Draw a rhythm first</a:t>
            </a:r>
          </a:p>
        </p:txBody>
      </p:sp>
      <p:sp>
        <p:nvSpPr>
          <p:cNvPr id="15" name="TextBox 14"/>
          <p:cNvSpPr txBox="1"/>
          <p:nvPr/>
        </p:nvSpPr>
        <p:spPr>
          <a:xfrm>
            <a:off x="6327648" y="2633472"/>
            <a:ext cx="5175504" cy="950976"/>
          </a:xfrm>
          <a:prstGeom prst="rect">
            <a:avLst/>
          </a:prstGeom>
          <a:noFill/>
        </p:spPr>
        <p:txBody>
          <a:bodyPr wrap="square" anchor="t" lIns="36576" rIns="36576" tIns="18288" bIns="18288">
            <a:spAutoFit/>
          </a:bodyPr>
          <a:lstStyle/>
          <a:p>
            <a:pPr algn="ctr"/>
            <a:r>
              <a:rPr sz="2000" b="0">
                <a:solidFill>
                  <a:srgbClr val="FFFFFF"/>
                </a:solidFill>
                <a:latin typeface="Source Sans 3"/>
              </a:rPr>
              <a:t>Good when you have a groove but no tune yet.</a:t>
            </a:r>
          </a:p>
        </p:txBody>
      </p:sp>
      <p:sp>
        <p:nvSpPr>
          <p:cNvPr id="16" name="Rounded Rectangle 15"/>
          <p:cNvSpPr/>
          <p:nvPr/>
        </p:nvSpPr>
        <p:spPr>
          <a:xfrm>
            <a:off x="548640" y="3803904"/>
            <a:ext cx="5449824"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877056"/>
            <a:ext cx="5449824" cy="768096"/>
          </a:xfrm>
          <a:prstGeom prst="rect">
            <a:avLst/>
          </a:prstGeom>
          <a:noFill/>
        </p:spPr>
        <p:txBody>
          <a:bodyPr wrap="square" anchor="ctr" lIns="36576" rIns="36576" tIns="18288" bIns="18288">
            <a:spAutoFit/>
          </a:bodyPr>
          <a:lstStyle/>
          <a:p>
            <a:pPr algn="ctr"/>
            <a:r>
              <a:rPr sz="3000" b="1">
                <a:solidFill>
                  <a:srgbClr val="FFFFFF"/>
                </a:solidFill>
                <a:latin typeface="Oswald"/>
              </a:rPr>
              <a:t>3  ·  Click one note, move it</a:t>
            </a:r>
          </a:p>
        </p:txBody>
      </p:sp>
      <p:sp>
        <p:nvSpPr>
          <p:cNvPr id="18" name="TextBox 17"/>
          <p:cNvSpPr txBox="1"/>
          <p:nvPr/>
        </p:nvSpPr>
        <p:spPr>
          <a:xfrm>
            <a:off x="685800" y="4626864"/>
            <a:ext cx="5175504" cy="950976"/>
          </a:xfrm>
          <a:prstGeom prst="rect">
            <a:avLst/>
          </a:prstGeom>
          <a:noFill/>
        </p:spPr>
        <p:txBody>
          <a:bodyPr wrap="square" anchor="t" lIns="36576" rIns="36576" tIns="18288" bIns="18288">
            <a:spAutoFit/>
          </a:bodyPr>
          <a:lstStyle/>
          <a:p>
            <a:pPr algn="ctr"/>
            <a:r>
              <a:rPr sz="2000" b="0">
                <a:solidFill>
                  <a:srgbClr val="FFFFFF"/>
                </a:solidFill>
                <a:latin typeface="Source Sans 3"/>
              </a:rPr>
              <a:t>Good when you want to build slowly, one decision at a time.</a:t>
            </a:r>
          </a:p>
        </p:txBody>
      </p:sp>
      <p:sp>
        <p:nvSpPr>
          <p:cNvPr id="19" name="Rounded Rectangle 18"/>
          <p:cNvSpPr/>
          <p:nvPr/>
        </p:nvSpPr>
        <p:spPr>
          <a:xfrm>
            <a:off x="6190488" y="3803904"/>
            <a:ext cx="5449824"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0488" y="3877056"/>
            <a:ext cx="5449824" cy="768096"/>
          </a:xfrm>
          <a:prstGeom prst="rect">
            <a:avLst/>
          </a:prstGeom>
          <a:noFill/>
        </p:spPr>
        <p:txBody>
          <a:bodyPr wrap="square" anchor="ctr" lIns="36576" rIns="36576" tIns="18288" bIns="18288">
            <a:spAutoFit/>
          </a:bodyPr>
          <a:lstStyle/>
          <a:p>
            <a:pPr algn="ctr"/>
            <a:r>
              <a:rPr sz="3000" b="1">
                <a:solidFill>
                  <a:srgbClr val="FFFFFF"/>
                </a:solidFill>
                <a:latin typeface="Oswald"/>
              </a:rPr>
              <a:t>4  ·  Use the step sequencer</a:t>
            </a:r>
          </a:p>
        </p:txBody>
      </p:sp>
      <p:sp>
        <p:nvSpPr>
          <p:cNvPr id="21" name="TextBox 20"/>
          <p:cNvSpPr txBox="1"/>
          <p:nvPr/>
        </p:nvSpPr>
        <p:spPr>
          <a:xfrm>
            <a:off x="6327648" y="4626864"/>
            <a:ext cx="5175504" cy="950976"/>
          </a:xfrm>
          <a:prstGeom prst="rect">
            <a:avLst/>
          </a:prstGeom>
          <a:noFill/>
        </p:spPr>
        <p:txBody>
          <a:bodyPr wrap="square" anchor="t" lIns="36576" rIns="36576" tIns="18288" bIns="18288">
            <a:spAutoFit/>
          </a:bodyPr>
          <a:lstStyle/>
          <a:p>
            <a:pPr algn="ctr"/>
            <a:r>
              <a:rPr sz="2000" b="0">
                <a:solidFill>
                  <a:srgbClr val="FFFFFF"/>
                </a:solidFill>
                <a:latin typeface="Source Sans 3"/>
              </a:rPr>
              <a:t>Good when you want a short, repeating, rhythmic hook.</a:t>
            </a:r>
          </a:p>
        </p:txBody>
      </p:sp>
      <p:sp>
        <p:nvSpPr>
          <p:cNvPr id="22" name="TextBox 21"/>
          <p:cNvSpPr txBox="1"/>
          <p:nvPr/>
        </p:nvSpPr>
        <p:spPr>
          <a:xfrm>
            <a:off x="548640" y="5870448"/>
            <a:ext cx="11064240" cy="365760"/>
          </a:xfrm>
          <a:prstGeom prst="rect">
            <a:avLst/>
          </a:prstGeom>
          <a:noFill/>
        </p:spPr>
        <p:txBody>
          <a:bodyPr wrap="square" anchor="t" lIns="36576" rIns="36576" tIns="18288" bIns="18288">
            <a:spAutoFit/>
          </a:bodyPr>
          <a:lstStyle/>
          <a:p>
            <a:pPr algn="ctr"/>
            <a:r>
              <a:rPr sz="1800" b="0">
                <a:solidFill>
                  <a:srgbClr val="000000"/>
                </a:solidFill>
                <a:latin typeface="Source Sans 3"/>
              </a:rPr>
              <a:t>Whichever way: 2 or 4 measures, notes from your scale, start or end on the root.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A MELODY OVER THE CHORDS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8</a:t>
            </a:r>
          </a:p>
        </p:txBody>
      </p:sp>
      <p:pic>
        <p:nvPicPr>
          <p:cNvPr id="10" name="Picture 9" descr="deck-melroll.png"/>
          <p:cNvPicPr>
            <a:picLocks noChangeAspect="1"/>
          </p:cNvPicPr>
          <p:nvPr/>
        </p:nvPicPr>
        <p:blipFill>
          <a:blip r:embed="rId2"/>
          <a:stretch>
            <a:fillRect/>
          </a:stretch>
        </p:blipFill>
        <p:spPr>
          <a:xfrm>
            <a:off x="548640" y="1810512"/>
            <a:ext cx="6523472" cy="4453128"/>
          </a:xfrm>
          <a:prstGeom prst="rect">
            <a:avLst/>
          </a:prstGeom>
        </p:spPr>
      </p:pic>
      <p:sp>
        <p:nvSpPr>
          <p:cNvPr id="11" name="Oval 10"/>
          <p:cNvSpPr/>
          <p:nvPr/>
        </p:nvSpPr>
        <p:spPr>
          <a:xfrm>
            <a:off x="7818120" y="2029968"/>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0728" y="1920240"/>
            <a:ext cx="3529584" cy="960120"/>
          </a:xfrm>
          <a:prstGeom prst="rect">
            <a:avLst/>
          </a:prstGeom>
          <a:noFill/>
        </p:spPr>
        <p:txBody>
          <a:bodyPr wrap="square" anchor="t" lIns="36576" rIns="36576" tIns="18288" bIns="18288">
            <a:spAutoFit/>
          </a:bodyPr>
          <a:lstStyle/>
          <a:p>
            <a:pPr algn="l"/>
            <a:r>
              <a:rPr sz="2000" b="0">
                <a:solidFill>
                  <a:srgbClr val="000000"/>
                </a:solidFill>
                <a:latin typeface="Source Sans 3"/>
              </a:rPr>
              <a:t>Blue: your melody, one note at a time</a:t>
            </a:r>
          </a:p>
        </p:txBody>
      </p:sp>
      <p:sp>
        <p:nvSpPr>
          <p:cNvPr id="13" name="Oval 12"/>
          <p:cNvSpPr/>
          <p:nvPr/>
        </p:nvSpPr>
        <p:spPr>
          <a:xfrm>
            <a:off x="7818120" y="3054096"/>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10728" y="2944368"/>
            <a:ext cx="3529584" cy="960120"/>
          </a:xfrm>
          <a:prstGeom prst="rect">
            <a:avLst/>
          </a:prstGeom>
          <a:noFill/>
        </p:spPr>
        <p:txBody>
          <a:bodyPr wrap="square" anchor="t" lIns="36576" rIns="36576" tIns="18288" bIns="18288">
            <a:spAutoFit/>
          </a:bodyPr>
          <a:lstStyle/>
          <a:p>
            <a:pPr algn="l"/>
            <a:r>
              <a:rPr sz="2000" b="0">
                <a:solidFill>
                  <a:srgbClr val="000000"/>
                </a:solidFill>
                <a:latin typeface="Source Sans 3"/>
              </a:rPr>
              <a:t>Black: the bassline already in the file</a:t>
            </a:r>
          </a:p>
        </p:txBody>
      </p:sp>
      <p:sp>
        <p:nvSpPr>
          <p:cNvPr id="15" name="Oval 14"/>
          <p:cNvSpPr/>
          <p:nvPr/>
        </p:nvSpPr>
        <p:spPr>
          <a:xfrm>
            <a:off x="7818120" y="4078224"/>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0728" y="3968496"/>
            <a:ext cx="3529584" cy="960120"/>
          </a:xfrm>
          <a:prstGeom prst="rect">
            <a:avLst/>
          </a:prstGeom>
          <a:noFill/>
        </p:spPr>
        <p:txBody>
          <a:bodyPr wrap="square" anchor="t" lIns="36576" rIns="36576" tIns="18288" bIns="18288">
            <a:spAutoFit/>
          </a:bodyPr>
          <a:lstStyle/>
          <a:p>
            <a:pPr algn="l"/>
            <a:r>
              <a:rPr sz="2000" b="0">
                <a:solidFill>
                  <a:srgbClr val="000000"/>
                </a:solidFill>
                <a:latin typeface="Source Sans 3"/>
              </a:rPr>
              <a:t>Each measure starts on a note of its chord</a:t>
            </a:r>
          </a:p>
        </p:txBody>
      </p:sp>
      <p:sp>
        <p:nvSpPr>
          <p:cNvPr id="17" name="Oval 16"/>
          <p:cNvSpPr/>
          <p:nvPr/>
        </p:nvSpPr>
        <p:spPr>
          <a:xfrm>
            <a:off x="7818120" y="5102352"/>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10728" y="4992624"/>
            <a:ext cx="3529584" cy="960120"/>
          </a:xfrm>
          <a:prstGeom prst="rect">
            <a:avLst/>
          </a:prstGeom>
          <a:noFill/>
        </p:spPr>
        <p:txBody>
          <a:bodyPr wrap="square" anchor="t" lIns="36576" rIns="36576" tIns="18288" bIns="18288">
            <a:spAutoFit/>
          </a:bodyPr>
          <a:lstStyle/>
          <a:p>
            <a:pPr algn="l"/>
            <a:r>
              <a:rPr sz="2000" b="0">
                <a:solidFill>
                  <a:srgbClr val="000000"/>
                </a:solidFill>
                <a:latin typeface="Source Sans 3"/>
              </a:rPr>
              <a:t>Same rhythm every measure: easy to remember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WATCH ME: RECORD, QUANTIZE, COPY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9</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Open the chords-and-bass file; save it as Part 2</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Shift the keyboard up an octave (OCT +)</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New track, a lead or synth sound</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Loop 2 measures, press R, play; then Q</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Copy and paste it across the progression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TO WRITE A MELODY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10</a:t>
            </a:r>
          </a:p>
        </p:txBody>
      </p:sp>
      <p:sp>
        <p:nvSpPr>
          <p:cNvPr id="10" name="Oval 9"/>
          <p:cNvSpPr/>
          <p:nvPr/>
        </p:nvSpPr>
        <p:spPr>
          <a:xfrm>
            <a:off x="548640" y="2153412"/>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29920"/>
          </a:xfrm>
          <a:prstGeom prst="rect">
            <a:avLst/>
          </a:prstGeom>
          <a:noFill/>
        </p:spPr>
        <p:txBody>
          <a:bodyPr wrap="square" anchor="t" lIns="36576" rIns="36576" tIns="18288" bIns="18288">
            <a:spAutoFit/>
          </a:bodyPr>
          <a:lstStyle/>
          <a:p>
            <a:pPr algn="l"/>
            <a:r>
              <a:rPr sz="3100" b="0">
                <a:solidFill>
                  <a:srgbClr val="000000"/>
                </a:solidFill>
                <a:latin typeface="Source Sans 3"/>
              </a:rPr>
              <a:t>Keep it short: 2 or 4 measures</a:t>
            </a:r>
          </a:p>
        </p:txBody>
      </p:sp>
      <p:sp>
        <p:nvSpPr>
          <p:cNvPr id="12" name="Oval 11"/>
          <p:cNvSpPr/>
          <p:nvPr/>
        </p:nvSpPr>
        <p:spPr>
          <a:xfrm>
            <a:off x="548640" y="2921127"/>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779395"/>
            <a:ext cx="10698480" cy="629920"/>
          </a:xfrm>
          <a:prstGeom prst="rect">
            <a:avLst/>
          </a:prstGeom>
          <a:noFill/>
        </p:spPr>
        <p:txBody>
          <a:bodyPr wrap="square" anchor="t" lIns="36576" rIns="36576" tIns="18288" bIns="18288">
            <a:spAutoFit/>
          </a:bodyPr>
          <a:lstStyle/>
          <a:p>
            <a:pPr algn="l"/>
            <a:r>
              <a:rPr sz="3100" b="0">
                <a:solidFill>
                  <a:srgbClr val="000000"/>
                </a:solidFill>
                <a:latin typeface="Source Sans 3"/>
              </a:rPr>
              <a:t>White keys only: no wrong notes</a:t>
            </a:r>
          </a:p>
        </p:txBody>
      </p:sp>
      <p:sp>
        <p:nvSpPr>
          <p:cNvPr id="14" name="Oval 13"/>
          <p:cNvSpPr/>
          <p:nvPr/>
        </p:nvSpPr>
        <p:spPr>
          <a:xfrm>
            <a:off x="548640" y="3688842"/>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547110"/>
            <a:ext cx="10698480" cy="629920"/>
          </a:xfrm>
          <a:prstGeom prst="rect">
            <a:avLst/>
          </a:prstGeom>
          <a:noFill/>
        </p:spPr>
        <p:txBody>
          <a:bodyPr wrap="square" anchor="t" lIns="36576" rIns="36576" tIns="18288" bIns="18288">
            <a:spAutoFit/>
          </a:bodyPr>
          <a:lstStyle/>
          <a:p>
            <a:pPr algn="l"/>
            <a:r>
              <a:rPr sz="3100" b="0">
                <a:solidFill>
                  <a:srgbClr val="000000"/>
                </a:solidFill>
                <a:latin typeface="Source Sans 3"/>
              </a:rPr>
              <a:t>Give it shape: up, then down</a:t>
            </a:r>
          </a:p>
        </p:txBody>
      </p:sp>
      <p:sp>
        <p:nvSpPr>
          <p:cNvPr id="16" name="Oval 15"/>
          <p:cNvSpPr/>
          <p:nvPr/>
        </p:nvSpPr>
        <p:spPr>
          <a:xfrm>
            <a:off x="548640" y="4456557"/>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314825"/>
            <a:ext cx="10698480" cy="629920"/>
          </a:xfrm>
          <a:prstGeom prst="rect">
            <a:avLst/>
          </a:prstGeom>
          <a:noFill/>
        </p:spPr>
        <p:txBody>
          <a:bodyPr wrap="square" anchor="t" lIns="36576" rIns="36576" tIns="18288" bIns="18288">
            <a:spAutoFit/>
          </a:bodyPr>
          <a:lstStyle/>
          <a:p>
            <a:pPr algn="l"/>
            <a:r>
              <a:rPr sz="3100" b="0">
                <a:solidFill>
                  <a:srgbClr val="000000"/>
                </a:solidFill>
                <a:latin typeface="Source Sans 3"/>
              </a:rPr>
              <a:t>Start or end on the root</a:t>
            </a:r>
          </a:p>
        </p:txBody>
      </p:sp>
      <p:sp>
        <p:nvSpPr>
          <p:cNvPr id="18" name="Oval 17"/>
          <p:cNvSpPr/>
          <p:nvPr/>
        </p:nvSpPr>
        <p:spPr>
          <a:xfrm>
            <a:off x="548640" y="5224272"/>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082540"/>
            <a:ext cx="10698480" cy="629920"/>
          </a:xfrm>
          <a:prstGeom prst="rect">
            <a:avLst/>
          </a:prstGeom>
          <a:noFill/>
        </p:spPr>
        <p:txBody>
          <a:bodyPr wrap="square" anchor="t" lIns="36576" rIns="36576" tIns="18288" bIns="18288">
            <a:spAutoFit/>
          </a:bodyPr>
          <a:lstStyle/>
          <a:p>
            <a:pPr algn="l"/>
            <a:r>
              <a:rPr sz="3100" b="0">
                <a:solidFill>
                  <a:srgbClr val="000000"/>
                </a:solidFill>
                <a:latin typeface="Source Sans 3"/>
              </a:rPr>
              <a:t>Simple and repetitive wins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MELODY: WHAT YOU TURN 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11</a:t>
            </a:r>
          </a:p>
        </p:txBody>
      </p:sp>
      <p:sp>
        <p:nvSpPr>
          <p:cNvPr id="10" name="Rounded Rectangle 9"/>
          <p:cNvSpPr/>
          <p:nvPr/>
        </p:nvSpPr>
        <p:spPr>
          <a:xfrm>
            <a:off x="548640" y="20391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659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Scale pages of the packet done</a:t>
            </a:r>
          </a:p>
        </p:txBody>
      </p:sp>
      <p:sp>
        <p:nvSpPr>
          <p:cNvPr id="12" name="Rounded Rectangle 11"/>
          <p:cNvSpPr/>
          <p:nvPr/>
        </p:nvSpPr>
        <p:spPr>
          <a:xfrm>
            <a:off x="6172200" y="20391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659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2 or 4 measures, in your scale</a:t>
            </a:r>
          </a:p>
        </p:txBody>
      </p:sp>
      <p:sp>
        <p:nvSpPr>
          <p:cNvPr id="14" name="Rounded Rectangle 13"/>
          <p:cNvSpPr/>
          <p:nvPr/>
        </p:nvSpPr>
        <p:spPr>
          <a:xfrm>
            <a:off x="548640" y="34107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3375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Starts or ends on the root</a:t>
            </a:r>
          </a:p>
        </p:txBody>
      </p:sp>
      <p:sp>
        <p:nvSpPr>
          <p:cNvPr id="16" name="Rounded Rectangle 15"/>
          <p:cNvSpPr/>
          <p:nvPr/>
        </p:nvSpPr>
        <p:spPr>
          <a:xfrm>
            <a:off x="6172200" y="34107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3375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Played in and quantized, or clicked in</a:t>
            </a:r>
          </a:p>
        </p:txBody>
      </p:sp>
      <p:sp>
        <p:nvSpPr>
          <p:cNvPr id="18" name="Rounded Rectangle 17"/>
          <p:cNvSpPr/>
          <p:nvPr/>
        </p:nvSpPr>
        <p:spPr>
          <a:xfrm>
            <a:off x="548640" y="47823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7091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Own track, a different sound from the bass</a:t>
            </a:r>
          </a:p>
        </p:txBody>
      </p:sp>
      <p:sp>
        <p:nvSpPr>
          <p:cNvPr id="20" name="Rounded Rectangle 19"/>
          <p:cNvSpPr/>
          <p:nvPr/>
        </p:nvSpPr>
        <p:spPr>
          <a:xfrm>
            <a:off x="6172200" y="47823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47091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MP3 + .zip, named Your Name — Building Blocks Part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MELODY: HOW IT’S SCORED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12</a:t>
            </a:r>
          </a:p>
        </p:txBody>
      </p:sp>
      <p:sp>
        <p:nvSpPr>
          <p:cNvPr id="10" name="Rounded Rectangle 9"/>
          <p:cNvSpPr/>
          <p:nvPr/>
        </p:nvSpPr>
        <p:spPr>
          <a:xfrm>
            <a:off x="548640" y="1920240"/>
            <a:ext cx="4023360" cy="1024128"/>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920240"/>
            <a:ext cx="3657600" cy="1024128"/>
          </a:xfrm>
          <a:prstGeom prst="rect">
            <a:avLst/>
          </a:prstGeom>
          <a:noFill/>
        </p:spPr>
        <p:txBody>
          <a:bodyPr wrap="square" anchor="ctr" lIns="36576" rIns="36576" tIns="18288" bIns="18288">
            <a:spAutoFit/>
          </a:bodyPr>
          <a:lstStyle/>
          <a:p>
            <a:pPr algn="l"/>
            <a:r>
              <a:rPr sz="2200" b="1">
                <a:solidFill>
                  <a:srgbClr val="FFFFFF"/>
                </a:solidFill>
                <a:latin typeface="Oswald"/>
              </a:rPr>
              <a:t>MELODY WRITING</a:t>
            </a:r>
          </a:p>
        </p:txBody>
      </p:sp>
      <p:sp>
        <p:nvSpPr>
          <p:cNvPr id="12" name="TextBox 11"/>
          <p:cNvSpPr txBox="1"/>
          <p:nvPr/>
        </p:nvSpPr>
        <p:spPr>
          <a:xfrm>
            <a:off x="4800600" y="1920240"/>
            <a:ext cx="5852160" cy="1024128"/>
          </a:xfrm>
          <a:prstGeom prst="rect">
            <a:avLst/>
          </a:prstGeom>
          <a:noFill/>
        </p:spPr>
        <p:txBody>
          <a:bodyPr wrap="square" anchor="ctr" lIns="36576" rIns="36576" tIns="18288" bIns="18288">
            <a:spAutoFit/>
          </a:bodyPr>
          <a:lstStyle/>
          <a:p>
            <a:pPr algn="l"/>
            <a:r>
              <a:rPr sz="2200" b="0">
                <a:solidFill>
                  <a:srgbClr val="000000"/>
                </a:solidFill>
                <a:latin typeface="Source Sans 3"/>
              </a:rPr>
              <a:t>5 = In key, short, starts or ends on the root, clear contour.</a:t>
            </a:r>
          </a:p>
        </p:txBody>
      </p:sp>
      <p:sp>
        <p:nvSpPr>
          <p:cNvPr id="13" name="TextBox 12"/>
          <p:cNvSpPr txBox="1"/>
          <p:nvPr/>
        </p:nvSpPr>
        <p:spPr>
          <a:xfrm>
            <a:off x="10698480" y="1920240"/>
            <a:ext cx="941832" cy="1024128"/>
          </a:xfrm>
          <a:prstGeom prst="rect">
            <a:avLst/>
          </a:prstGeom>
          <a:noFill/>
        </p:spPr>
        <p:txBody>
          <a:bodyPr wrap="square" anchor="ctr" lIns="36576" rIns="36576" tIns="18288" bIns="18288">
            <a:spAutoFit/>
          </a:bodyPr>
          <a:lstStyle/>
          <a:p>
            <a:pPr algn="r"/>
            <a:r>
              <a:rPr sz="2600" b="1">
                <a:solidFill>
                  <a:srgbClr val="2159C9"/>
                </a:solidFill>
                <a:latin typeface="Oswald"/>
              </a:rPr>
              <a:t>/ 5</a:t>
            </a:r>
          </a:p>
        </p:txBody>
      </p:sp>
      <p:sp>
        <p:nvSpPr>
          <p:cNvPr id="14" name="Rounded Rectangle 13"/>
          <p:cNvSpPr/>
          <p:nvPr/>
        </p:nvSpPr>
        <p:spPr>
          <a:xfrm>
            <a:off x="548640" y="3154680"/>
            <a:ext cx="4023360" cy="1024128"/>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154680"/>
            <a:ext cx="3657600" cy="1024128"/>
          </a:xfrm>
          <a:prstGeom prst="rect">
            <a:avLst/>
          </a:prstGeom>
          <a:noFill/>
        </p:spPr>
        <p:txBody>
          <a:bodyPr wrap="square" anchor="ctr" lIns="36576" rIns="36576" tIns="18288" bIns="18288">
            <a:spAutoFit/>
          </a:bodyPr>
          <a:lstStyle/>
          <a:p>
            <a:pPr algn="l"/>
            <a:r>
              <a:rPr sz="2200" b="1">
                <a:solidFill>
                  <a:srgbClr val="FFFFFF"/>
                </a:solidFill>
                <a:latin typeface="Oswald"/>
              </a:rPr>
              <a:t>TECHNICAL SKILL</a:t>
            </a:r>
          </a:p>
        </p:txBody>
      </p:sp>
      <p:sp>
        <p:nvSpPr>
          <p:cNvPr id="16" name="TextBox 15"/>
          <p:cNvSpPr txBox="1"/>
          <p:nvPr/>
        </p:nvSpPr>
        <p:spPr>
          <a:xfrm>
            <a:off x="4800600" y="3154680"/>
            <a:ext cx="5852160" cy="1024128"/>
          </a:xfrm>
          <a:prstGeom prst="rect">
            <a:avLst/>
          </a:prstGeom>
          <a:noFill/>
        </p:spPr>
        <p:txBody>
          <a:bodyPr wrap="square" anchor="ctr" lIns="36576" rIns="36576" tIns="18288" bIns="18288">
            <a:spAutoFit/>
          </a:bodyPr>
          <a:lstStyle/>
          <a:p>
            <a:pPr algn="l"/>
            <a:r>
              <a:rPr sz="2200" b="0">
                <a:solidFill>
                  <a:srgbClr val="000000"/>
                </a:solidFill>
                <a:latin typeface="Source Sans 3"/>
              </a:rPr>
              <a:t>5 = Confident piano roll; well placed, well timed; both entry methods.</a:t>
            </a:r>
          </a:p>
        </p:txBody>
      </p:sp>
      <p:sp>
        <p:nvSpPr>
          <p:cNvPr id="17" name="TextBox 16"/>
          <p:cNvSpPr txBox="1"/>
          <p:nvPr/>
        </p:nvSpPr>
        <p:spPr>
          <a:xfrm>
            <a:off x="10698480" y="3154680"/>
            <a:ext cx="941832" cy="1024128"/>
          </a:xfrm>
          <a:prstGeom prst="rect">
            <a:avLst/>
          </a:prstGeom>
          <a:noFill/>
        </p:spPr>
        <p:txBody>
          <a:bodyPr wrap="square" anchor="ctr" lIns="36576" rIns="36576" tIns="18288" bIns="18288">
            <a:spAutoFit/>
          </a:bodyPr>
          <a:lstStyle/>
          <a:p>
            <a:pPr algn="r"/>
            <a:r>
              <a:rPr sz="2600" b="1">
                <a:solidFill>
                  <a:srgbClr val="2159C9"/>
                </a:solidFill>
                <a:latin typeface="Oswald"/>
              </a:rPr>
              <a:t>/ 5</a:t>
            </a:r>
          </a:p>
        </p:txBody>
      </p:sp>
      <p:sp>
        <p:nvSpPr>
          <p:cNvPr id="18" name="Rounded Rectangle 17"/>
          <p:cNvSpPr/>
          <p:nvPr/>
        </p:nvSpPr>
        <p:spPr>
          <a:xfrm>
            <a:off x="548640" y="4389120"/>
            <a:ext cx="4023360" cy="1024128"/>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389120"/>
            <a:ext cx="3657600" cy="1024128"/>
          </a:xfrm>
          <a:prstGeom prst="rect">
            <a:avLst/>
          </a:prstGeom>
          <a:noFill/>
        </p:spPr>
        <p:txBody>
          <a:bodyPr wrap="square" anchor="ctr" lIns="36576" rIns="36576" tIns="18288" bIns="18288">
            <a:spAutoFit/>
          </a:bodyPr>
          <a:lstStyle/>
          <a:p>
            <a:pPr algn="l"/>
            <a:r>
              <a:rPr sz="2200" b="1">
                <a:solidFill>
                  <a:srgbClr val="FFFFFF"/>
                </a:solidFill>
                <a:latin typeface="Oswald"/>
              </a:rPr>
              <a:t>DOCUMENTATION &amp; PRESENTATION</a:t>
            </a:r>
          </a:p>
        </p:txBody>
      </p:sp>
      <p:sp>
        <p:nvSpPr>
          <p:cNvPr id="20" name="TextBox 19"/>
          <p:cNvSpPr txBox="1"/>
          <p:nvPr/>
        </p:nvSpPr>
        <p:spPr>
          <a:xfrm>
            <a:off x="4800600" y="4389120"/>
            <a:ext cx="5852160" cy="1024128"/>
          </a:xfrm>
          <a:prstGeom prst="rect">
            <a:avLst/>
          </a:prstGeom>
          <a:noFill/>
        </p:spPr>
        <p:txBody>
          <a:bodyPr wrap="square" anchor="ctr" lIns="36576" rIns="36576" tIns="18288" bIns="18288">
            <a:spAutoFit/>
          </a:bodyPr>
          <a:lstStyle/>
          <a:p>
            <a:pPr algn="l"/>
            <a:r>
              <a:rPr sz="2200" b="0">
                <a:solidFill>
                  <a:srgbClr val="000000"/>
                </a:solidFill>
                <a:latin typeface="Source Sans 3"/>
              </a:rPr>
              <a:t>5 = Named correctly, on time; explains the melody choices clearly.</a:t>
            </a:r>
          </a:p>
        </p:txBody>
      </p:sp>
      <p:sp>
        <p:nvSpPr>
          <p:cNvPr id="21" name="TextBox 20"/>
          <p:cNvSpPr txBox="1"/>
          <p:nvPr/>
        </p:nvSpPr>
        <p:spPr>
          <a:xfrm>
            <a:off x="10698480" y="4389120"/>
            <a:ext cx="941832" cy="1024128"/>
          </a:xfrm>
          <a:prstGeom prst="rect">
            <a:avLst/>
          </a:prstGeom>
          <a:noFill/>
        </p:spPr>
        <p:txBody>
          <a:bodyPr wrap="square" anchor="ctr" lIns="36576" rIns="36576" tIns="18288" bIns="18288">
            <a:spAutoFit/>
          </a:bodyPr>
          <a:lstStyle/>
          <a:p>
            <a:pPr algn="r"/>
            <a:r>
              <a:rPr sz="2600" b="1">
                <a:solidFill>
                  <a:srgbClr val="2159C9"/>
                </a:solidFill>
                <a:latin typeface="Oswald"/>
              </a:rPr>
              <a:t>/ 5</a:t>
            </a:r>
          </a:p>
        </p:txBody>
      </p:sp>
      <p:sp>
        <p:nvSpPr>
          <p:cNvPr id="22" name="TextBox 21"/>
          <p:cNvSpPr txBox="1"/>
          <p:nvPr/>
        </p:nvSpPr>
        <p:spPr>
          <a:xfrm>
            <a:off x="6400800" y="5760720"/>
            <a:ext cx="5239512" cy="457200"/>
          </a:xfrm>
          <a:prstGeom prst="rect">
            <a:avLst/>
          </a:prstGeom>
          <a:noFill/>
        </p:spPr>
        <p:txBody>
          <a:bodyPr wrap="square" anchor="t" lIns="36576" rIns="36576" tIns="18288" bIns="18288">
            <a:spAutoFit/>
          </a:bodyPr>
          <a:lstStyle/>
          <a:p>
            <a:pPr algn="r"/>
            <a:r>
              <a:rPr sz="2400" b="1">
                <a:solidFill>
                  <a:srgbClr val="000000"/>
                </a:solidFill>
                <a:latin typeface="Oswald"/>
              </a:rPr>
              <a:t>SCORED 2 TO 5 · TOTAL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MIXING MOMENT: FREQUENCY SEPARATION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13</a:t>
            </a:r>
          </a:p>
        </p:txBody>
      </p:sp>
      <p:sp>
        <p:nvSpPr>
          <p:cNvPr id="10" name="Rectangle 9"/>
          <p:cNvSpPr/>
          <p:nvPr/>
        </p:nvSpPr>
        <p:spPr>
          <a:xfrm>
            <a:off x="548640" y="1828800"/>
            <a:ext cx="11091672"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40"/>
            <a:ext cx="1828800" cy="365760"/>
          </a:xfrm>
          <a:prstGeom prst="rect">
            <a:avLst/>
          </a:prstGeom>
          <a:noFill/>
        </p:spPr>
        <p:txBody>
          <a:bodyPr wrap="square" anchor="t" lIns="36576" rIns="36576" tIns="18288" bIns="18288">
            <a:spAutoFit/>
          </a:bodyPr>
          <a:lstStyle/>
          <a:p>
            <a:pPr algn="l"/>
            <a:r>
              <a:rPr sz="1800" b="1">
                <a:solidFill>
                  <a:srgbClr val="000000"/>
                </a:solidFill>
                <a:latin typeface="Oswald"/>
              </a:rPr>
              <a:t>LOW</a:t>
            </a:r>
          </a:p>
        </p:txBody>
      </p:sp>
      <p:sp>
        <p:nvSpPr>
          <p:cNvPr id="12" name="TextBox 11"/>
          <p:cNvSpPr txBox="1"/>
          <p:nvPr/>
        </p:nvSpPr>
        <p:spPr>
          <a:xfrm>
            <a:off x="9811512" y="1920240"/>
            <a:ext cx="1828800" cy="365760"/>
          </a:xfrm>
          <a:prstGeom prst="rect">
            <a:avLst/>
          </a:prstGeom>
          <a:noFill/>
        </p:spPr>
        <p:txBody>
          <a:bodyPr wrap="square" anchor="t" lIns="36576" rIns="36576" tIns="18288" bIns="18288">
            <a:spAutoFit/>
          </a:bodyPr>
          <a:lstStyle/>
          <a:p>
            <a:pPr algn="r"/>
            <a:r>
              <a:rPr sz="1800" b="1">
                <a:solidFill>
                  <a:srgbClr val="000000"/>
                </a:solidFill>
                <a:latin typeface="Oswald"/>
              </a:rPr>
              <a:t>HIGH</a:t>
            </a:r>
          </a:p>
        </p:txBody>
      </p:sp>
      <p:sp>
        <p:nvSpPr>
          <p:cNvPr id="13" name="TextBox 12"/>
          <p:cNvSpPr txBox="1"/>
          <p:nvPr/>
        </p:nvSpPr>
        <p:spPr>
          <a:xfrm>
            <a:off x="2743200" y="1920240"/>
            <a:ext cx="6702552" cy="365760"/>
          </a:xfrm>
          <a:prstGeom prst="rect">
            <a:avLst/>
          </a:prstGeom>
          <a:noFill/>
        </p:spPr>
        <p:txBody>
          <a:bodyPr wrap="square" anchor="t" lIns="36576" rIns="36576" tIns="18288" bIns="18288">
            <a:spAutoFit/>
          </a:bodyPr>
          <a:lstStyle/>
          <a:p>
            <a:pPr algn="ctr"/>
            <a:r>
              <a:rPr sz="1800" b="0">
                <a:solidFill>
                  <a:srgbClr val="000000"/>
                </a:solidFill>
                <a:latin typeface="Oswald"/>
              </a:rPr>
              <a:t>FREQUENCY  ›</a:t>
            </a:r>
          </a:p>
        </p:txBody>
      </p:sp>
      <p:sp>
        <p:nvSpPr>
          <p:cNvPr id="14" name="Rounded Rectangle 13"/>
          <p:cNvSpPr/>
          <p:nvPr/>
        </p:nvSpPr>
        <p:spPr>
          <a:xfrm>
            <a:off x="548640" y="2468880"/>
            <a:ext cx="4572000" cy="82296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468880"/>
            <a:ext cx="4572000" cy="822960"/>
          </a:xfrm>
          <a:prstGeom prst="rect">
            <a:avLst/>
          </a:prstGeom>
          <a:noFill/>
        </p:spPr>
        <p:txBody>
          <a:bodyPr wrap="square" anchor="ctr" lIns="36576" rIns="36576" tIns="18288" bIns="18288">
            <a:spAutoFit/>
          </a:bodyPr>
          <a:lstStyle/>
          <a:p>
            <a:pPr algn="ctr"/>
            <a:r>
              <a:rPr sz="2400" b="1">
                <a:solidFill>
                  <a:srgbClr val="FFFFFF"/>
                </a:solidFill>
                <a:latin typeface="Oswald"/>
              </a:rPr>
              <a:t>BASS LIVES DOWN HERE</a:t>
            </a:r>
          </a:p>
        </p:txBody>
      </p:sp>
      <p:sp>
        <p:nvSpPr>
          <p:cNvPr id="16" name="Rounded Rectangle 15"/>
          <p:cNvSpPr/>
          <p:nvPr/>
        </p:nvSpPr>
        <p:spPr>
          <a:xfrm>
            <a:off x="3749039" y="3474720"/>
            <a:ext cx="7891272" cy="822960"/>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39" y="3474720"/>
            <a:ext cx="7891272" cy="822960"/>
          </a:xfrm>
          <a:prstGeom prst="rect">
            <a:avLst/>
          </a:prstGeom>
          <a:noFill/>
        </p:spPr>
        <p:txBody>
          <a:bodyPr wrap="square" anchor="ctr" lIns="36576" rIns="36576" tIns="18288" bIns="18288">
            <a:spAutoFit/>
          </a:bodyPr>
          <a:lstStyle/>
          <a:p>
            <a:pPr algn="ctr"/>
            <a:r>
              <a:rPr sz="2400" b="1">
                <a:solidFill>
                  <a:srgbClr val="FFFFFF"/>
                </a:solidFill>
                <a:latin typeface="Oswald"/>
              </a:rPr>
              <a:t>MELODY LIVES UP HERE</a:t>
            </a:r>
          </a:p>
        </p:txBody>
      </p:sp>
      <p:sp>
        <p:nvSpPr>
          <p:cNvPr id="18" name="Rectangle 17"/>
          <p:cNvSpPr/>
          <p:nvPr/>
        </p:nvSpPr>
        <p:spPr>
          <a:xfrm>
            <a:off x="3657600" y="2377440"/>
            <a:ext cx="1554480" cy="2011680"/>
          </a:xfrm>
          <a:prstGeom prst="rect">
            <a:avLst/>
          </a:prstGeom>
          <a:noFill/>
          <a:ln w="28575">
            <a:solidFill>
              <a:srgbClr val="000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37360" y="3566160"/>
            <a:ext cx="1828800" cy="548640"/>
          </a:xfrm>
          <a:prstGeom prst="rect">
            <a:avLst/>
          </a:prstGeom>
          <a:noFill/>
        </p:spPr>
        <p:txBody>
          <a:bodyPr wrap="square" anchor="ctr" lIns="36576" rIns="36576" tIns="18288" bIns="18288">
            <a:spAutoFit/>
          </a:bodyPr>
          <a:lstStyle/>
          <a:p>
            <a:pPr algn="r"/>
            <a:r>
              <a:rPr sz="1800" b="1">
                <a:solidFill>
                  <a:srgbClr val="000000"/>
                </a:solidFill>
                <a:latin typeface="Oswald"/>
              </a:rPr>
              <a:t>OVERLAP = MUD</a:t>
            </a:r>
          </a:p>
        </p:txBody>
      </p:sp>
      <p:sp>
        <p:nvSpPr>
          <p:cNvPr id="20" name="Oval 19"/>
          <p:cNvSpPr/>
          <p:nvPr/>
        </p:nvSpPr>
        <p:spPr>
          <a:xfrm>
            <a:off x="548640" y="4681728"/>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572000"/>
            <a:ext cx="10698480" cy="487680"/>
          </a:xfrm>
          <a:prstGeom prst="rect">
            <a:avLst/>
          </a:prstGeom>
          <a:noFill/>
        </p:spPr>
        <p:txBody>
          <a:bodyPr wrap="square" anchor="t" lIns="36576" rIns="36576" tIns="18288" bIns="18288">
            <a:spAutoFit/>
          </a:bodyPr>
          <a:lstStyle/>
          <a:p>
            <a:pPr algn="l"/>
            <a:r>
              <a:rPr sz="2400" b="0">
                <a:solidFill>
                  <a:srgbClr val="000000"/>
                </a:solidFill>
                <a:latin typeface="Source Sans 3"/>
              </a:rPr>
              <a:t>Melody: Channel EQ, turn on the low cut (high-pass)</a:t>
            </a:r>
          </a:p>
        </p:txBody>
      </p:sp>
      <p:sp>
        <p:nvSpPr>
          <p:cNvPr id="22" name="Oval 21"/>
          <p:cNvSpPr/>
          <p:nvPr/>
        </p:nvSpPr>
        <p:spPr>
          <a:xfrm>
            <a:off x="548640" y="5123688"/>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5013960"/>
            <a:ext cx="10698480" cy="487680"/>
          </a:xfrm>
          <a:prstGeom prst="rect">
            <a:avLst/>
          </a:prstGeom>
          <a:noFill/>
        </p:spPr>
        <p:txBody>
          <a:bodyPr wrap="square" anchor="t" lIns="36576" rIns="36576" tIns="18288" bIns="18288">
            <a:spAutoFit/>
          </a:bodyPr>
          <a:lstStyle/>
          <a:p>
            <a:pPr algn="l"/>
            <a:r>
              <a:rPr sz="2400" b="0">
                <a:solidFill>
                  <a:srgbClr val="000000"/>
                </a:solidFill>
                <a:latin typeface="Source Sans 3"/>
              </a:rPr>
              <a:t>Bass: roll off the extreme highs (high cut)</a:t>
            </a:r>
          </a:p>
        </p:txBody>
      </p:sp>
      <p:sp>
        <p:nvSpPr>
          <p:cNvPr id="24" name="Oval 23"/>
          <p:cNvSpPr/>
          <p:nvPr/>
        </p:nvSpPr>
        <p:spPr>
          <a:xfrm>
            <a:off x="548640" y="5565648"/>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5455920"/>
            <a:ext cx="10698480" cy="487680"/>
          </a:xfrm>
          <a:prstGeom prst="rect">
            <a:avLst/>
          </a:prstGeom>
          <a:noFill/>
        </p:spPr>
        <p:txBody>
          <a:bodyPr wrap="square" anchor="t" lIns="36576" rIns="36576" tIns="18288" bIns="18288">
            <a:spAutoFit/>
          </a:bodyPr>
          <a:lstStyle/>
          <a:p>
            <a:pPr algn="l"/>
            <a:r>
              <a:rPr sz="2400" b="0">
                <a:solidFill>
                  <a:srgbClr val="000000"/>
                </a:solidFill>
                <a:latin typeface="Source Sans 3"/>
              </a:rPr>
              <a:t>Every instrument gets a frequency home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FOLLOW THE BASS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14</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STAND BY ME</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C9D8F5"/>
                </a:solidFill>
                <a:latin typeface="Oswald"/>
              </a:rPr>
              <a:t>Ben E. King</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play the first minute from YouTube or Spotify.</a:t>
            </a:r>
          </a:p>
        </p:txBody>
      </p:sp>
      <p:sp>
        <p:nvSpPr>
          <p:cNvPr id="14" name="Oval 13"/>
          <p:cNvSpPr/>
          <p:nvPr/>
        </p:nvSpPr>
        <p:spPr>
          <a:xfrm>
            <a:off x="548640" y="4069080"/>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Hum the bass, not the singer.</a:t>
            </a:r>
          </a:p>
        </p:txBody>
      </p:sp>
      <p:sp>
        <p:nvSpPr>
          <p:cNvPr id="16" name="Oval 15"/>
          <p:cNvSpPr/>
          <p:nvPr/>
        </p:nvSpPr>
        <p:spPr>
          <a:xfrm>
            <a:off x="548640" y="4678680"/>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Where does the bass pattern start again?</a:t>
            </a:r>
          </a:p>
        </p:txBody>
      </p:sp>
      <p:sp>
        <p:nvSpPr>
          <p:cNvPr id="18" name="Oval 17"/>
          <p:cNvSpPr/>
          <p:nvPr/>
        </p:nvSpPr>
        <p:spPr>
          <a:xfrm>
            <a:off x="548640" y="5288280"/>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happens to it when the chords change?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THE ONE RULE FOR BASSLINES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15</a:t>
            </a:r>
          </a:p>
        </p:txBody>
      </p:sp>
      <p:sp>
        <p:nvSpPr>
          <p:cNvPr id="10" name="Rounded Rectangle 9"/>
          <p:cNvSpPr/>
          <p:nvPr/>
        </p:nvSpPr>
        <p:spPr>
          <a:xfrm>
            <a:off x="548640" y="1828800"/>
            <a:ext cx="11091672" cy="19202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874519"/>
            <a:ext cx="10451592" cy="1828800"/>
          </a:xfrm>
          <a:prstGeom prst="rect">
            <a:avLst/>
          </a:prstGeom>
          <a:noFill/>
        </p:spPr>
        <p:txBody>
          <a:bodyPr wrap="square" anchor="ctr" lIns="36576" rIns="36576" tIns="18288" bIns="18288">
            <a:spAutoFit/>
          </a:bodyPr>
          <a:lstStyle/>
          <a:p>
            <a:pPr algn="l"/>
            <a:r>
              <a:rPr sz="3600" b="1">
                <a:solidFill>
                  <a:srgbClr val="FFFFFF"/>
                </a:solidFill>
                <a:latin typeface="Oswald"/>
              </a:rPr>
              <a:t>When the chord changes, the bass note changes to the root of the new chord.</a:t>
            </a:r>
          </a:p>
        </p:txBody>
      </p:sp>
      <p:sp>
        <p:nvSpPr>
          <p:cNvPr id="12" name="TextBox 11"/>
          <p:cNvSpPr txBox="1"/>
          <p:nvPr/>
        </p:nvSpPr>
        <p:spPr>
          <a:xfrm>
            <a:off x="548640" y="3886200"/>
            <a:ext cx="11064240" cy="457200"/>
          </a:xfrm>
          <a:prstGeom prst="rect">
            <a:avLst/>
          </a:prstGeom>
          <a:noFill/>
        </p:spPr>
        <p:txBody>
          <a:bodyPr wrap="square" anchor="t" lIns="36576" rIns="36576" tIns="18288" bIns="18288">
            <a:spAutoFit/>
          </a:bodyPr>
          <a:lstStyle/>
          <a:p>
            <a:pPr algn="l"/>
            <a:r>
              <a:rPr sz="2200" b="0">
                <a:solidFill>
                  <a:srgbClr val="000000"/>
                </a:solidFill>
                <a:latin typeface="Source Sans 3"/>
              </a:rPr>
              <a:t>Everything else is rhythm and decoration on top of this rule.</a:t>
            </a:r>
          </a:p>
        </p:txBody>
      </p:sp>
      <p:sp>
        <p:nvSpPr>
          <p:cNvPr id="13" name="Rounded Rectangle 12"/>
          <p:cNvSpPr/>
          <p:nvPr/>
        </p:nvSpPr>
        <p:spPr>
          <a:xfrm>
            <a:off x="548640" y="4526280"/>
            <a:ext cx="2606040" cy="1691640"/>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599432"/>
            <a:ext cx="2606040" cy="710488"/>
          </a:xfrm>
          <a:prstGeom prst="rect">
            <a:avLst/>
          </a:prstGeom>
          <a:noFill/>
        </p:spPr>
        <p:txBody>
          <a:bodyPr wrap="square" anchor="ctr" lIns="36576" rIns="36576" tIns="18288" bIns="18288">
            <a:spAutoFit/>
          </a:bodyPr>
          <a:lstStyle/>
          <a:p>
            <a:pPr algn="ctr"/>
            <a:r>
              <a:rPr sz="3000" b="1">
                <a:solidFill>
                  <a:srgbClr val="FFFFFF"/>
                </a:solidFill>
                <a:latin typeface="Oswald"/>
              </a:rPr>
              <a:t>I · C</a:t>
            </a:r>
          </a:p>
        </p:txBody>
      </p:sp>
      <p:sp>
        <p:nvSpPr>
          <p:cNvPr id="15" name="TextBox 14"/>
          <p:cNvSpPr txBox="1"/>
          <p:nvPr/>
        </p:nvSpPr>
        <p:spPr>
          <a:xfrm>
            <a:off x="685800" y="5287518"/>
            <a:ext cx="2331720" cy="879652"/>
          </a:xfrm>
          <a:prstGeom prst="rect">
            <a:avLst/>
          </a:prstGeom>
          <a:noFill/>
        </p:spPr>
        <p:txBody>
          <a:bodyPr wrap="square" anchor="t" lIns="36576" rIns="36576" tIns="18288" bIns="18288">
            <a:spAutoFit/>
          </a:bodyPr>
          <a:lstStyle/>
          <a:p>
            <a:pPr algn="ctr"/>
            <a:r>
              <a:rPr sz="2200" b="0">
                <a:solidFill>
                  <a:srgbClr val="FFFFFF"/>
                </a:solidFill>
                <a:latin typeface="Source Sans 3"/>
              </a:rPr>
              <a:t>bass plays C</a:t>
            </a:r>
          </a:p>
        </p:txBody>
      </p:sp>
      <p:sp>
        <p:nvSpPr>
          <p:cNvPr id="16" name="Rounded Rectangle 15"/>
          <p:cNvSpPr/>
          <p:nvPr/>
        </p:nvSpPr>
        <p:spPr>
          <a:xfrm>
            <a:off x="3383280" y="4526280"/>
            <a:ext cx="2606040" cy="16916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4599432"/>
            <a:ext cx="2606040" cy="710488"/>
          </a:xfrm>
          <a:prstGeom prst="rect">
            <a:avLst/>
          </a:prstGeom>
          <a:noFill/>
        </p:spPr>
        <p:txBody>
          <a:bodyPr wrap="square" anchor="ctr" lIns="36576" rIns="36576" tIns="18288" bIns="18288">
            <a:spAutoFit/>
          </a:bodyPr>
          <a:lstStyle/>
          <a:p>
            <a:pPr algn="ctr"/>
            <a:r>
              <a:rPr sz="3000" b="1">
                <a:solidFill>
                  <a:srgbClr val="FFFFFF"/>
                </a:solidFill>
                <a:latin typeface="Oswald"/>
              </a:rPr>
              <a:t>vi · Am</a:t>
            </a:r>
          </a:p>
        </p:txBody>
      </p:sp>
      <p:sp>
        <p:nvSpPr>
          <p:cNvPr id="18" name="TextBox 17"/>
          <p:cNvSpPr txBox="1"/>
          <p:nvPr/>
        </p:nvSpPr>
        <p:spPr>
          <a:xfrm>
            <a:off x="3520440" y="5287518"/>
            <a:ext cx="2331720" cy="879652"/>
          </a:xfrm>
          <a:prstGeom prst="rect">
            <a:avLst/>
          </a:prstGeom>
          <a:noFill/>
        </p:spPr>
        <p:txBody>
          <a:bodyPr wrap="square" anchor="t" lIns="36576" rIns="36576" tIns="18288" bIns="18288">
            <a:spAutoFit/>
          </a:bodyPr>
          <a:lstStyle/>
          <a:p>
            <a:pPr algn="ctr"/>
            <a:r>
              <a:rPr sz="2200" b="0">
                <a:solidFill>
                  <a:srgbClr val="FFFFFF"/>
                </a:solidFill>
                <a:latin typeface="Source Sans 3"/>
              </a:rPr>
              <a:t>bass plays A</a:t>
            </a:r>
          </a:p>
        </p:txBody>
      </p:sp>
      <p:sp>
        <p:nvSpPr>
          <p:cNvPr id="19" name="Rounded Rectangle 18"/>
          <p:cNvSpPr/>
          <p:nvPr/>
        </p:nvSpPr>
        <p:spPr>
          <a:xfrm>
            <a:off x="6217920" y="4526280"/>
            <a:ext cx="2606040" cy="16916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4599432"/>
            <a:ext cx="2606040" cy="710488"/>
          </a:xfrm>
          <a:prstGeom prst="rect">
            <a:avLst/>
          </a:prstGeom>
          <a:noFill/>
        </p:spPr>
        <p:txBody>
          <a:bodyPr wrap="square" anchor="ctr" lIns="36576" rIns="36576" tIns="18288" bIns="18288">
            <a:spAutoFit/>
          </a:bodyPr>
          <a:lstStyle/>
          <a:p>
            <a:pPr algn="ctr"/>
            <a:r>
              <a:rPr sz="3000" b="1">
                <a:solidFill>
                  <a:srgbClr val="FFFFFF"/>
                </a:solidFill>
                <a:latin typeface="Oswald"/>
              </a:rPr>
              <a:t>IV · F</a:t>
            </a:r>
          </a:p>
        </p:txBody>
      </p:sp>
      <p:sp>
        <p:nvSpPr>
          <p:cNvPr id="21" name="TextBox 20"/>
          <p:cNvSpPr txBox="1"/>
          <p:nvPr/>
        </p:nvSpPr>
        <p:spPr>
          <a:xfrm>
            <a:off x="6355080" y="5287518"/>
            <a:ext cx="2331720" cy="879652"/>
          </a:xfrm>
          <a:prstGeom prst="rect">
            <a:avLst/>
          </a:prstGeom>
          <a:noFill/>
        </p:spPr>
        <p:txBody>
          <a:bodyPr wrap="square" anchor="t" lIns="36576" rIns="36576" tIns="18288" bIns="18288">
            <a:spAutoFit/>
          </a:bodyPr>
          <a:lstStyle/>
          <a:p>
            <a:pPr algn="ctr"/>
            <a:r>
              <a:rPr sz="2200" b="0">
                <a:solidFill>
                  <a:srgbClr val="FFFFFF"/>
                </a:solidFill>
                <a:latin typeface="Source Sans 3"/>
              </a:rPr>
              <a:t>bass plays F</a:t>
            </a:r>
          </a:p>
        </p:txBody>
      </p:sp>
      <p:sp>
        <p:nvSpPr>
          <p:cNvPr id="22" name="Rounded Rectangle 21"/>
          <p:cNvSpPr/>
          <p:nvPr/>
        </p:nvSpPr>
        <p:spPr>
          <a:xfrm>
            <a:off x="9052560" y="4526280"/>
            <a:ext cx="2606040" cy="16916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60" y="4599432"/>
            <a:ext cx="2606040" cy="710488"/>
          </a:xfrm>
          <a:prstGeom prst="rect">
            <a:avLst/>
          </a:prstGeom>
          <a:noFill/>
        </p:spPr>
        <p:txBody>
          <a:bodyPr wrap="square" anchor="ctr" lIns="36576" rIns="36576" tIns="18288" bIns="18288">
            <a:spAutoFit/>
          </a:bodyPr>
          <a:lstStyle/>
          <a:p>
            <a:pPr algn="ctr"/>
            <a:r>
              <a:rPr sz="3000" b="1">
                <a:solidFill>
                  <a:srgbClr val="FFFFFF"/>
                </a:solidFill>
                <a:latin typeface="Oswald"/>
              </a:rPr>
              <a:t>V · G</a:t>
            </a:r>
          </a:p>
        </p:txBody>
      </p:sp>
      <p:sp>
        <p:nvSpPr>
          <p:cNvPr id="24" name="TextBox 23"/>
          <p:cNvSpPr txBox="1"/>
          <p:nvPr/>
        </p:nvSpPr>
        <p:spPr>
          <a:xfrm>
            <a:off x="9189720" y="5287518"/>
            <a:ext cx="2331720" cy="879652"/>
          </a:xfrm>
          <a:prstGeom prst="rect">
            <a:avLst/>
          </a:prstGeom>
          <a:noFill/>
        </p:spPr>
        <p:txBody>
          <a:bodyPr wrap="square" anchor="t" lIns="36576" rIns="36576" tIns="18288" bIns="18288">
            <a:spAutoFit/>
          </a:bodyPr>
          <a:lstStyle/>
          <a:p>
            <a:pPr algn="ctr"/>
            <a:r>
              <a:rPr sz="2200" b="0">
                <a:solidFill>
                  <a:srgbClr val="FFFFFF"/>
                </a:solidFill>
                <a:latin typeface="Source Sans 3"/>
              </a:rPr>
              <a:t>bass plays 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PLAN YOUR PROGRESSION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16</a:t>
            </a:r>
          </a:p>
        </p:txBody>
      </p:sp>
      <p:sp>
        <p:nvSpPr>
          <p:cNvPr id="10" name="Rectangle 9"/>
          <p:cNvSpPr/>
          <p:nvPr/>
        </p:nvSpPr>
        <p:spPr>
          <a:xfrm>
            <a:off x="548640" y="1810512"/>
            <a:ext cx="2606040"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10512"/>
            <a:ext cx="2606040" cy="502920"/>
          </a:xfrm>
          <a:prstGeom prst="rect">
            <a:avLst/>
          </a:prstGeom>
          <a:noFill/>
        </p:spPr>
        <p:txBody>
          <a:bodyPr wrap="square" anchor="ctr" lIns="36576" rIns="36576" tIns="18288" bIns="18288">
            <a:spAutoFit/>
          </a:bodyPr>
          <a:lstStyle/>
          <a:p>
            <a:pPr algn="ctr"/>
            <a:r>
              <a:rPr sz="2200" b="1">
                <a:solidFill>
                  <a:srgbClr val="FFFFFF"/>
                </a:solidFill>
                <a:latin typeface="Oswald"/>
              </a:rPr>
              <a:t>CHORD 1</a:t>
            </a:r>
          </a:p>
        </p:txBody>
      </p:sp>
      <p:sp>
        <p:nvSpPr>
          <p:cNvPr id="12" name="Rectangle 11"/>
          <p:cNvSpPr/>
          <p:nvPr/>
        </p:nvSpPr>
        <p:spPr>
          <a:xfrm>
            <a:off x="548640" y="2313432"/>
            <a:ext cx="2606040" cy="1874519"/>
          </a:xfrm>
          <a:prstGeom prst="rect">
            <a:avLst/>
          </a:prstGeom>
          <a:solidFill>
            <a:srgbClr val="FFFFFF"/>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377440"/>
            <a:ext cx="2606040" cy="365760"/>
          </a:xfrm>
          <a:prstGeom prst="rect">
            <a:avLst/>
          </a:prstGeom>
          <a:noFill/>
        </p:spPr>
        <p:txBody>
          <a:bodyPr wrap="square" anchor="t" lIns="36576" rIns="36576" tIns="18288" bIns="18288">
            <a:spAutoFit/>
          </a:bodyPr>
          <a:lstStyle/>
          <a:p>
            <a:pPr algn="ctr"/>
            <a:r>
              <a:rPr sz="1600" b="0">
                <a:solidFill>
                  <a:srgbClr val="000000"/>
                </a:solidFill>
                <a:latin typeface="Source Sans 3"/>
              </a:rPr>
              <a:t>Roman numeral</a:t>
            </a:r>
          </a:p>
        </p:txBody>
      </p:sp>
      <p:sp>
        <p:nvSpPr>
          <p:cNvPr id="14" name="TextBox 13"/>
          <p:cNvSpPr txBox="1"/>
          <p:nvPr/>
        </p:nvSpPr>
        <p:spPr>
          <a:xfrm>
            <a:off x="548640" y="2697480"/>
            <a:ext cx="2606040" cy="685800"/>
          </a:xfrm>
          <a:prstGeom prst="rect">
            <a:avLst/>
          </a:prstGeom>
          <a:noFill/>
        </p:spPr>
        <p:txBody>
          <a:bodyPr wrap="square" anchor="ctr" lIns="36576" rIns="36576" tIns="18288" bIns="18288">
            <a:spAutoFit/>
          </a:bodyPr>
          <a:lstStyle/>
          <a:p>
            <a:pPr algn="ctr"/>
            <a:r>
              <a:rPr sz="4000" b="1">
                <a:solidFill>
                  <a:srgbClr val="000000"/>
                </a:solidFill>
                <a:latin typeface="Oswald"/>
              </a:rPr>
              <a:t>I</a:t>
            </a:r>
          </a:p>
        </p:txBody>
      </p:sp>
      <p:sp>
        <p:nvSpPr>
          <p:cNvPr id="15" name="TextBox 14"/>
          <p:cNvSpPr txBox="1"/>
          <p:nvPr/>
        </p:nvSpPr>
        <p:spPr>
          <a:xfrm>
            <a:off x="548640" y="3364992"/>
            <a:ext cx="2606040" cy="320040"/>
          </a:xfrm>
          <a:prstGeom prst="rect">
            <a:avLst/>
          </a:prstGeom>
          <a:noFill/>
        </p:spPr>
        <p:txBody>
          <a:bodyPr wrap="square" anchor="t" lIns="36576" rIns="36576" tIns="18288" bIns="18288">
            <a:spAutoFit/>
          </a:bodyPr>
          <a:lstStyle/>
          <a:p>
            <a:pPr algn="ctr"/>
            <a:r>
              <a:rPr sz="1600" b="0">
                <a:solidFill>
                  <a:srgbClr val="000000"/>
                </a:solidFill>
                <a:latin typeface="Source Sans 3"/>
              </a:rPr>
              <a:t>Root note</a:t>
            </a:r>
          </a:p>
        </p:txBody>
      </p:sp>
      <p:sp>
        <p:nvSpPr>
          <p:cNvPr id="16" name="TextBox 15"/>
          <p:cNvSpPr txBox="1"/>
          <p:nvPr/>
        </p:nvSpPr>
        <p:spPr>
          <a:xfrm>
            <a:off x="548640" y="3639312"/>
            <a:ext cx="2606040" cy="502920"/>
          </a:xfrm>
          <a:prstGeom prst="rect">
            <a:avLst/>
          </a:prstGeom>
          <a:noFill/>
        </p:spPr>
        <p:txBody>
          <a:bodyPr wrap="square" anchor="ctr" lIns="36576" rIns="36576" tIns="18288" bIns="18288">
            <a:spAutoFit/>
          </a:bodyPr>
          <a:lstStyle/>
          <a:p>
            <a:pPr algn="ctr"/>
            <a:r>
              <a:rPr sz="3000" b="1">
                <a:solidFill>
                  <a:srgbClr val="2159C9"/>
                </a:solidFill>
                <a:latin typeface="Oswald"/>
              </a:rPr>
              <a:t>C</a:t>
            </a:r>
          </a:p>
        </p:txBody>
      </p:sp>
      <p:sp>
        <p:nvSpPr>
          <p:cNvPr id="17" name="Rectangle 16"/>
          <p:cNvSpPr/>
          <p:nvPr/>
        </p:nvSpPr>
        <p:spPr>
          <a:xfrm>
            <a:off x="3383280" y="1810512"/>
            <a:ext cx="2606040"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83280" y="1810512"/>
            <a:ext cx="2606040" cy="502920"/>
          </a:xfrm>
          <a:prstGeom prst="rect">
            <a:avLst/>
          </a:prstGeom>
          <a:noFill/>
        </p:spPr>
        <p:txBody>
          <a:bodyPr wrap="square" anchor="ctr" lIns="36576" rIns="36576" tIns="18288" bIns="18288">
            <a:spAutoFit/>
          </a:bodyPr>
          <a:lstStyle/>
          <a:p>
            <a:pPr algn="ctr"/>
            <a:r>
              <a:rPr sz="2200" b="1">
                <a:solidFill>
                  <a:srgbClr val="FFFFFF"/>
                </a:solidFill>
                <a:latin typeface="Oswald"/>
              </a:rPr>
              <a:t>CHORD 2</a:t>
            </a:r>
          </a:p>
        </p:txBody>
      </p:sp>
      <p:sp>
        <p:nvSpPr>
          <p:cNvPr id="19" name="Rectangle 18"/>
          <p:cNvSpPr/>
          <p:nvPr/>
        </p:nvSpPr>
        <p:spPr>
          <a:xfrm>
            <a:off x="3383280" y="2313432"/>
            <a:ext cx="2606040" cy="1874519"/>
          </a:xfrm>
          <a:prstGeom prst="rect">
            <a:avLst/>
          </a:prstGeom>
          <a:solidFill>
            <a:srgbClr val="FFFFFF"/>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83280" y="2377440"/>
            <a:ext cx="2606040" cy="365760"/>
          </a:xfrm>
          <a:prstGeom prst="rect">
            <a:avLst/>
          </a:prstGeom>
          <a:noFill/>
        </p:spPr>
        <p:txBody>
          <a:bodyPr wrap="square" anchor="t" lIns="36576" rIns="36576" tIns="18288" bIns="18288">
            <a:spAutoFit/>
          </a:bodyPr>
          <a:lstStyle/>
          <a:p>
            <a:pPr algn="ctr"/>
            <a:r>
              <a:rPr sz="1600" b="0">
                <a:solidFill>
                  <a:srgbClr val="000000"/>
                </a:solidFill>
                <a:latin typeface="Source Sans 3"/>
              </a:rPr>
              <a:t>Roman numeral</a:t>
            </a:r>
          </a:p>
        </p:txBody>
      </p:sp>
      <p:sp>
        <p:nvSpPr>
          <p:cNvPr id="21" name="TextBox 20"/>
          <p:cNvSpPr txBox="1"/>
          <p:nvPr/>
        </p:nvSpPr>
        <p:spPr>
          <a:xfrm>
            <a:off x="3383280" y="2697480"/>
            <a:ext cx="2606040" cy="685800"/>
          </a:xfrm>
          <a:prstGeom prst="rect">
            <a:avLst/>
          </a:prstGeom>
          <a:noFill/>
        </p:spPr>
        <p:txBody>
          <a:bodyPr wrap="square" anchor="ctr" lIns="36576" rIns="36576" tIns="18288" bIns="18288">
            <a:spAutoFit/>
          </a:bodyPr>
          <a:lstStyle/>
          <a:p>
            <a:pPr algn="ctr"/>
            <a:r>
              <a:rPr sz="4000" b="1">
                <a:solidFill>
                  <a:srgbClr val="000000"/>
                </a:solidFill>
                <a:latin typeface="Oswald"/>
              </a:rPr>
              <a:t>V</a:t>
            </a:r>
          </a:p>
        </p:txBody>
      </p:sp>
      <p:sp>
        <p:nvSpPr>
          <p:cNvPr id="22" name="TextBox 21"/>
          <p:cNvSpPr txBox="1"/>
          <p:nvPr/>
        </p:nvSpPr>
        <p:spPr>
          <a:xfrm>
            <a:off x="3383280" y="3364992"/>
            <a:ext cx="2606040" cy="320040"/>
          </a:xfrm>
          <a:prstGeom prst="rect">
            <a:avLst/>
          </a:prstGeom>
          <a:noFill/>
        </p:spPr>
        <p:txBody>
          <a:bodyPr wrap="square" anchor="t" lIns="36576" rIns="36576" tIns="18288" bIns="18288">
            <a:spAutoFit/>
          </a:bodyPr>
          <a:lstStyle/>
          <a:p>
            <a:pPr algn="ctr"/>
            <a:r>
              <a:rPr sz="1600" b="0">
                <a:solidFill>
                  <a:srgbClr val="000000"/>
                </a:solidFill>
                <a:latin typeface="Source Sans 3"/>
              </a:rPr>
              <a:t>Root note</a:t>
            </a:r>
          </a:p>
        </p:txBody>
      </p:sp>
      <p:sp>
        <p:nvSpPr>
          <p:cNvPr id="23" name="TextBox 22"/>
          <p:cNvSpPr txBox="1"/>
          <p:nvPr/>
        </p:nvSpPr>
        <p:spPr>
          <a:xfrm>
            <a:off x="3383280" y="3639312"/>
            <a:ext cx="2606040" cy="502920"/>
          </a:xfrm>
          <a:prstGeom prst="rect">
            <a:avLst/>
          </a:prstGeom>
          <a:noFill/>
        </p:spPr>
        <p:txBody>
          <a:bodyPr wrap="square" anchor="ctr" lIns="36576" rIns="36576" tIns="18288" bIns="18288">
            <a:spAutoFit/>
          </a:bodyPr>
          <a:lstStyle/>
          <a:p>
            <a:pPr algn="ctr"/>
            <a:r>
              <a:rPr sz="3000" b="1">
                <a:solidFill>
                  <a:srgbClr val="2159C9"/>
                </a:solidFill>
                <a:latin typeface="Oswald"/>
              </a:rPr>
              <a:t>G</a:t>
            </a:r>
          </a:p>
        </p:txBody>
      </p:sp>
      <p:sp>
        <p:nvSpPr>
          <p:cNvPr id="24" name="Rectangle 23"/>
          <p:cNvSpPr/>
          <p:nvPr/>
        </p:nvSpPr>
        <p:spPr>
          <a:xfrm>
            <a:off x="6217920" y="1810512"/>
            <a:ext cx="2606040"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0" y="1810512"/>
            <a:ext cx="2606040" cy="502920"/>
          </a:xfrm>
          <a:prstGeom prst="rect">
            <a:avLst/>
          </a:prstGeom>
          <a:noFill/>
        </p:spPr>
        <p:txBody>
          <a:bodyPr wrap="square" anchor="ctr" lIns="36576" rIns="36576" tIns="18288" bIns="18288">
            <a:spAutoFit/>
          </a:bodyPr>
          <a:lstStyle/>
          <a:p>
            <a:pPr algn="ctr"/>
            <a:r>
              <a:rPr sz="2200" b="1">
                <a:solidFill>
                  <a:srgbClr val="FFFFFF"/>
                </a:solidFill>
                <a:latin typeface="Oswald"/>
              </a:rPr>
              <a:t>CHORD 3</a:t>
            </a:r>
          </a:p>
        </p:txBody>
      </p:sp>
      <p:sp>
        <p:nvSpPr>
          <p:cNvPr id="26" name="Rectangle 25"/>
          <p:cNvSpPr/>
          <p:nvPr/>
        </p:nvSpPr>
        <p:spPr>
          <a:xfrm>
            <a:off x="6217920" y="2313432"/>
            <a:ext cx="2606040" cy="1874519"/>
          </a:xfrm>
          <a:prstGeom prst="rect">
            <a:avLst/>
          </a:prstGeom>
          <a:solidFill>
            <a:srgbClr val="FFFFFF"/>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0" y="2377440"/>
            <a:ext cx="2606040" cy="365760"/>
          </a:xfrm>
          <a:prstGeom prst="rect">
            <a:avLst/>
          </a:prstGeom>
          <a:noFill/>
        </p:spPr>
        <p:txBody>
          <a:bodyPr wrap="square" anchor="t" lIns="36576" rIns="36576" tIns="18288" bIns="18288">
            <a:spAutoFit/>
          </a:bodyPr>
          <a:lstStyle/>
          <a:p>
            <a:pPr algn="ctr"/>
            <a:r>
              <a:rPr sz="1600" b="0">
                <a:solidFill>
                  <a:srgbClr val="000000"/>
                </a:solidFill>
                <a:latin typeface="Source Sans 3"/>
              </a:rPr>
              <a:t>Roman numeral</a:t>
            </a:r>
          </a:p>
        </p:txBody>
      </p:sp>
      <p:sp>
        <p:nvSpPr>
          <p:cNvPr id="28" name="TextBox 27"/>
          <p:cNvSpPr txBox="1"/>
          <p:nvPr/>
        </p:nvSpPr>
        <p:spPr>
          <a:xfrm>
            <a:off x="6217920" y="2697480"/>
            <a:ext cx="2606040" cy="685800"/>
          </a:xfrm>
          <a:prstGeom prst="rect">
            <a:avLst/>
          </a:prstGeom>
          <a:noFill/>
        </p:spPr>
        <p:txBody>
          <a:bodyPr wrap="square" anchor="ctr" lIns="36576" rIns="36576" tIns="18288" bIns="18288">
            <a:spAutoFit/>
          </a:bodyPr>
          <a:lstStyle/>
          <a:p>
            <a:pPr algn="ctr"/>
            <a:r>
              <a:rPr sz="4000" b="1">
                <a:solidFill>
                  <a:srgbClr val="000000"/>
                </a:solidFill>
                <a:latin typeface="Oswald"/>
              </a:rPr>
              <a:t>vi</a:t>
            </a:r>
          </a:p>
        </p:txBody>
      </p:sp>
      <p:sp>
        <p:nvSpPr>
          <p:cNvPr id="29" name="TextBox 28"/>
          <p:cNvSpPr txBox="1"/>
          <p:nvPr/>
        </p:nvSpPr>
        <p:spPr>
          <a:xfrm>
            <a:off x="6217920" y="3364992"/>
            <a:ext cx="2606040" cy="320040"/>
          </a:xfrm>
          <a:prstGeom prst="rect">
            <a:avLst/>
          </a:prstGeom>
          <a:noFill/>
        </p:spPr>
        <p:txBody>
          <a:bodyPr wrap="square" anchor="t" lIns="36576" rIns="36576" tIns="18288" bIns="18288">
            <a:spAutoFit/>
          </a:bodyPr>
          <a:lstStyle/>
          <a:p>
            <a:pPr algn="ctr"/>
            <a:r>
              <a:rPr sz="1600" b="0">
                <a:solidFill>
                  <a:srgbClr val="000000"/>
                </a:solidFill>
                <a:latin typeface="Source Sans 3"/>
              </a:rPr>
              <a:t>Root note</a:t>
            </a:r>
          </a:p>
        </p:txBody>
      </p:sp>
      <p:sp>
        <p:nvSpPr>
          <p:cNvPr id="30" name="TextBox 29"/>
          <p:cNvSpPr txBox="1"/>
          <p:nvPr/>
        </p:nvSpPr>
        <p:spPr>
          <a:xfrm>
            <a:off x="6217920" y="3639312"/>
            <a:ext cx="2606040" cy="502920"/>
          </a:xfrm>
          <a:prstGeom prst="rect">
            <a:avLst/>
          </a:prstGeom>
          <a:noFill/>
        </p:spPr>
        <p:txBody>
          <a:bodyPr wrap="square" anchor="ctr" lIns="36576" rIns="36576" tIns="18288" bIns="18288">
            <a:spAutoFit/>
          </a:bodyPr>
          <a:lstStyle/>
          <a:p>
            <a:pPr algn="ctr"/>
            <a:r>
              <a:rPr sz="3000" b="1">
                <a:solidFill>
                  <a:srgbClr val="2159C9"/>
                </a:solidFill>
                <a:latin typeface="Oswald"/>
              </a:rPr>
              <a:t>A</a:t>
            </a:r>
          </a:p>
        </p:txBody>
      </p:sp>
      <p:sp>
        <p:nvSpPr>
          <p:cNvPr id="31" name="Rectangle 30"/>
          <p:cNvSpPr/>
          <p:nvPr/>
        </p:nvSpPr>
        <p:spPr>
          <a:xfrm>
            <a:off x="9052560" y="1810512"/>
            <a:ext cx="2606040"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0" y="1810512"/>
            <a:ext cx="2606040" cy="502920"/>
          </a:xfrm>
          <a:prstGeom prst="rect">
            <a:avLst/>
          </a:prstGeom>
          <a:noFill/>
        </p:spPr>
        <p:txBody>
          <a:bodyPr wrap="square" anchor="ctr" lIns="36576" rIns="36576" tIns="18288" bIns="18288">
            <a:spAutoFit/>
          </a:bodyPr>
          <a:lstStyle/>
          <a:p>
            <a:pPr algn="ctr"/>
            <a:r>
              <a:rPr sz="2200" b="1">
                <a:solidFill>
                  <a:srgbClr val="FFFFFF"/>
                </a:solidFill>
                <a:latin typeface="Oswald"/>
              </a:rPr>
              <a:t>CHORD 4</a:t>
            </a:r>
          </a:p>
        </p:txBody>
      </p:sp>
      <p:sp>
        <p:nvSpPr>
          <p:cNvPr id="33" name="Rectangle 32"/>
          <p:cNvSpPr/>
          <p:nvPr/>
        </p:nvSpPr>
        <p:spPr>
          <a:xfrm>
            <a:off x="9052560" y="2313432"/>
            <a:ext cx="2606040" cy="1874519"/>
          </a:xfrm>
          <a:prstGeom prst="rect">
            <a:avLst/>
          </a:prstGeom>
          <a:solidFill>
            <a:srgbClr val="FFFFFF"/>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052560" y="2377440"/>
            <a:ext cx="2606040" cy="365760"/>
          </a:xfrm>
          <a:prstGeom prst="rect">
            <a:avLst/>
          </a:prstGeom>
          <a:noFill/>
        </p:spPr>
        <p:txBody>
          <a:bodyPr wrap="square" anchor="t" lIns="36576" rIns="36576" tIns="18288" bIns="18288">
            <a:spAutoFit/>
          </a:bodyPr>
          <a:lstStyle/>
          <a:p>
            <a:pPr algn="ctr"/>
            <a:r>
              <a:rPr sz="1600" b="0">
                <a:solidFill>
                  <a:srgbClr val="000000"/>
                </a:solidFill>
                <a:latin typeface="Source Sans 3"/>
              </a:rPr>
              <a:t>Roman numeral</a:t>
            </a:r>
          </a:p>
        </p:txBody>
      </p:sp>
      <p:sp>
        <p:nvSpPr>
          <p:cNvPr id="35" name="TextBox 34"/>
          <p:cNvSpPr txBox="1"/>
          <p:nvPr/>
        </p:nvSpPr>
        <p:spPr>
          <a:xfrm>
            <a:off x="9052560" y="2697480"/>
            <a:ext cx="2606040" cy="685800"/>
          </a:xfrm>
          <a:prstGeom prst="rect">
            <a:avLst/>
          </a:prstGeom>
          <a:noFill/>
        </p:spPr>
        <p:txBody>
          <a:bodyPr wrap="square" anchor="ctr" lIns="36576" rIns="36576" tIns="18288" bIns="18288">
            <a:spAutoFit/>
          </a:bodyPr>
          <a:lstStyle/>
          <a:p>
            <a:pPr algn="ctr"/>
            <a:r>
              <a:rPr sz="4000" b="1">
                <a:solidFill>
                  <a:srgbClr val="000000"/>
                </a:solidFill>
                <a:latin typeface="Oswald"/>
              </a:rPr>
              <a:t>IV</a:t>
            </a:r>
          </a:p>
        </p:txBody>
      </p:sp>
      <p:sp>
        <p:nvSpPr>
          <p:cNvPr id="36" name="TextBox 35"/>
          <p:cNvSpPr txBox="1"/>
          <p:nvPr/>
        </p:nvSpPr>
        <p:spPr>
          <a:xfrm>
            <a:off x="9052560" y="3364992"/>
            <a:ext cx="2606040" cy="320040"/>
          </a:xfrm>
          <a:prstGeom prst="rect">
            <a:avLst/>
          </a:prstGeom>
          <a:noFill/>
        </p:spPr>
        <p:txBody>
          <a:bodyPr wrap="square" anchor="t" lIns="36576" rIns="36576" tIns="18288" bIns="18288">
            <a:spAutoFit/>
          </a:bodyPr>
          <a:lstStyle/>
          <a:p>
            <a:pPr algn="ctr"/>
            <a:r>
              <a:rPr sz="1600" b="0">
                <a:solidFill>
                  <a:srgbClr val="000000"/>
                </a:solidFill>
                <a:latin typeface="Source Sans 3"/>
              </a:rPr>
              <a:t>Root note</a:t>
            </a:r>
          </a:p>
        </p:txBody>
      </p:sp>
      <p:sp>
        <p:nvSpPr>
          <p:cNvPr id="37" name="TextBox 36"/>
          <p:cNvSpPr txBox="1"/>
          <p:nvPr/>
        </p:nvSpPr>
        <p:spPr>
          <a:xfrm>
            <a:off x="9052560" y="3639312"/>
            <a:ext cx="2606040" cy="502920"/>
          </a:xfrm>
          <a:prstGeom prst="rect">
            <a:avLst/>
          </a:prstGeom>
          <a:noFill/>
        </p:spPr>
        <p:txBody>
          <a:bodyPr wrap="square" anchor="ctr" lIns="36576" rIns="36576" tIns="18288" bIns="18288">
            <a:spAutoFit/>
          </a:bodyPr>
          <a:lstStyle/>
          <a:p>
            <a:pPr algn="ctr"/>
            <a:r>
              <a:rPr sz="3000" b="1">
                <a:solidFill>
                  <a:srgbClr val="2159C9"/>
                </a:solidFill>
                <a:latin typeface="Oswald"/>
              </a:rPr>
              <a:t>F</a:t>
            </a:r>
          </a:p>
        </p:txBody>
      </p:sp>
      <p:sp>
        <p:nvSpPr>
          <p:cNvPr id="38" name="Rounded Rectangle 37"/>
          <p:cNvSpPr/>
          <p:nvPr/>
        </p:nvSpPr>
        <p:spPr>
          <a:xfrm>
            <a:off x="548640" y="4434840"/>
            <a:ext cx="11091672" cy="1783080"/>
          </a:xfrm>
          <a:prstGeom prst="roundRect">
            <a:avLst/>
          </a:prstGeom>
          <a:solidFill>
            <a:srgbClr val="FFFFFF"/>
          </a:solidFill>
          <a:ln w="31750">
            <a:solidFill>
              <a:srgbClr val="215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4526280"/>
            <a:ext cx="10515600" cy="502920"/>
          </a:xfrm>
          <a:prstGeom prst="rect">
            <a:avLst/>
          </a:prstGeom>
          <a:noFill/>
        </p:spPr>
        <p:txBody>
          <a:bodyPr wrap="square" anchor="t" lIns="36576" rIns="36576" tIns="18288" bIns="18288">
            <a:spAutoFit/>
          </a:bodyPr>
          <a:lstStyle/>
          <a:p>
            <a:pPr algn="l"/>
            <a:r>
              <a:rPr sz="2400" b="1">
                <a:solidFill>
                  <a:srgbClr val="2159C9"/>
                </a:solidFill>
                <a:latin typeface="Oswald"/>
              </a:rPr>
              <a:t>Why did you choose this progression? What did you want it to feel like?</a:t>
            </a:r>
          </a:p>
        </p:txBody>
      </p:sp>
      <p:sp>
        <p:nvSpPr>
          <p:cNvPr id="40" name="TextBox 39"/>
          <p:cNvSpPr txBox="1"/>
          <p:nvPr/>
        </p:nvSpPr>
        <p:spPr>
          <a:xfrm>
            <a:off x="822960" y="5074920"/>
            <a:ext cx="10515600" cy="1097280"/>
          </a:xfrm>
          <a:prstGeom prst="rect">
            <a:avLst/>
          </a:prstGeom>
          <a:noFill/>
        </p:spPr>
        <p:txBody>
          <a:bodyPr wrap="square" anchor="t" lIns="36576" rIns="36576" tIns="18288" bIns="18288">
            <a:spAutoFit/>
          </a:bodyPr>
          <a:lstStyle/>
          <a:p>
            <a:pPr algn="l"/>
            <a:r>
              <a:rPr sz="2000" b="0">
                <a:solidFill>
                  <a:srgbClr val="000000"/>
                </a:solidFill>
                <a:latin typeface="Source Sans 3"/>
              </a:rPr>
              <a:t>Example: “I start at home, the V pulls away, the vi turns tender, and the IV lifts it so the loop wants to start again.”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A BASSLINE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17</a:t>
            </a:r>
          </a:p>
        </p:txBody>
      </p:sp>
      <p:pic>
        <p:nvPicPr>
          <p:cNvPr id="10" name="Picture 9" descr="deck-bassroll.png"/>
          <p:cNvPicPr>
            <a:picLocks noChangeAspect="1"/>
          </p:cNvPicPr>
          <p:nvPr/>
        </p:nvPicPr>
        <p:blipFill>
          <a:blip r:embed="rId2"/>
          <a:stretch>
            <a:fillRect/>
          </a:stretch>
        </p:blipFill>
        <p:spPr>
          <a:xfrm>
            <a:off x="548640" y="1810512"/>
            <a:ext cx="7498079" cy="3307047"/>
          </a:xfrm>
          <a:prstGeom prst="rect">
            <a:avLst/>
          </a:prstGeom>
        </p:spPr>
      </p:pic>
      <p:sp>
        <p:nvSpPr>
          <p:cNvPr id="11" name="Oval 10"/>
          <p:cNvSpPr/>
          <p:nvPr/>
        </p:nvSpPr>
        <p:spPr>
          <a:xfrm>
            <a:off x="8321040" y="2029968"/>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13648" y="1920240"/>
            <a:ext cx="3026664" cy="960120"/>
          </a:xfrm>
          <a:prstGeom prst="rect">
            <a:avLst/>
          </a:prstGeom>
          <a:noFill/>
        </p:spPr>
        <p:txBody>
          <a:bodyPr wrap="square" anchor="t" lIns="36576" rIns="36576" tIns="18288" bIns="18288">
            <a:spAutoFit/>
          </a:bodyPr>
          <a:lstStyle/>
          <a:p>
            <a:pPr algn="l"/>
            <a:r>
              <a:rPr sz="2000" b="0">
                <a:solidFill>
                  <a:srgbClr val="000000"/>
                </a:solidFill>
                <a:latin typeface="Source Sans 3"/>
              </a:rPr>
              <a:t>Root on beat 1 of every chord</a:t>
            </a:r>
          </a:p>
        </p:txBody>
      </p:sp>
      <p:sp>
        <p:nvSpPr>
          <p:cNvPr id="13" name="Oval 12"/>
          <p:cNvSpPr/>
          <p:nvPr/>
        </p:nvSpPr>
        <p:spPr>
          <a:xfrm>
            <a:off x="8321040" y="3054096"/>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13648" y="2944368"/>
            <a:ext cx="3026664" cy="960120"/>
          </a:xfrm>
          <a:prstGeom prst="rect">
            <a:avLst/>
          </a:prstGeom>
          <a:noFill/>
        </p:spPr>
        <p:txBody>
          <a:bodyPr wrap="square" anchor="t" lIns="36576" rIns="36576" tIns="18288" bIns="18288">
            <a:spAutoFit/>
          </a:bodyPr>
          <a:lstStyle/>
          <a:p>
            <a:pPr algn="l"/>
            <a:r>
              <a:rPr sz="2000" b="0">
                <a:solidFill>
                  <a:srgbClr val="000000"/>
                </a:solidFill>
                <a:latin typeface="Source Sans 3"/>
              </a:rPr>
              <a:t>Two rhythm ideas: A and B</a:t>
            </a:r>
          </a:p>
        </p:txBody>
      </p:sp>
      <p:sp>
        <p:nvSpPr>
          <p:cNvPr id="15" name="Oval 14"/>
          <p:cNvSpPr/>
          <p:nvPr/>
        </p:nvSpPr>
        <p:spPr>
          <a:xfrm>
            <a:off x="8321040" y="4078224"/>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13648" y="3968496"/>
            <a:ext cx="3026664" cy="960120"/>
          </a:xfrm>
          <a:prstGeom prst="rect">
            <a:avLst/>
          </a:prstGeom>
          <a:noFill/>
        </p:spPr>
        <p:txBody>
          <a:bodyPr wrap="square" anchor="t" lIns="36576" rIns="36576" tIns="18288" bIns="18288">
            <a:spAutoFit/>
          </a:bodyPr>
          <a:lstStyle/>
          <a:p>
            <a:pPr algn="l"/>
            <a:r>
              <a:rPr sz="2000" b="0">
                <a:solidFill>
                  <a:srgbClr val="000000"/>
                </a:solidFill>
                <a:latin typeface="Source Sans 3"/>
              </a:rPr>
              <a:t>One note at a time: no overlaps</a:t>
            </a:r>
          </a:p>
        </p:txBody>
      </p:sp>
      <p:sp>
        <p:nvSpPr>
          <p:cNvPr id="17" name="Oval 16"/>
          <p:cNvSpPr/>
          <p:nvPr/>
        </p:nvSpPr>
        <p:spPr>
          <a:xfrm>
            <a:off x="8321040" y="5102352"/>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13648" y="4992624"/>
            <a:ext cx="3026664" cy="960120"/>
          </a:xfrm>
          <a:prstGeom prst="rect">
            <a:avLst/>
          </a:prstGeom>
          <a:noFill/>
        </p:spPr>
        <p:txBody>
          <a:bodyPr wrap="square" anchor="t" lIns="36576" rIns="36576" tIns="18288" bIns="18288">
            <a:spAutoFit/>
          </a:bodyPr>
          <a:lstStyle/>
          <a:p>
            <a:pPr algn="l"/>
            <a:r>
              <a:rPr sz="2000" b="0">
                <a:solidFill>
                  <a:srgbClr val="000000"/>
                </a:solidFill>
                <a:latin typeface="Source Sans 3"/>
              </a:rPr>
              <a:t>The last note leans into the next chord</a:t>
            </a:r>
          </a:p>
        </p:txBody>
      </p:sp>
      <p:sp>
        <p:nvSpPr>
          <p:cNvPr id="19" name="TextBox 18"/>
          <p:cNvSpPr txBox="1"/>
          <p:nvPr/>
        </p:nvSpPr>
        <p:spPr>
          <a:xfrm>
            <a:off x="548640" y="5346159"/>
            <a:ext cx="7498079" cy="548640"/>
          </a:xfrm>
          <a:prstGeom prst="rect">
            <a:avLst/>
          </a:prstGeom>
          <a:noFill/>
        </p:spPr>
        <p:txBody>
          <a:bodyPr wrap="square" anchor="t" lIns="36576" rIns="36576" tIns="18288" bIns="18288">
            <a:spAutoFit/>
          </a:bodyPr>
          <a:lstStyle/>
          <a:p>
            <a:pPr algn="l"/>
            <a:r>
              <a:rPr sz="2200" b="1">
                <a:solidFill>
                  <a:srgbClr val="2159C9"/>
                </a:solidFill>
                <a:latin typeface="Oswald"/>
              </a:rPr>
              <a:t>The plan: I – V – vi – IV in C major = C, G, Am, 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WATCH ME: ROOTS FIRST, THEN RHYTHM</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18</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New file: build your four chords from the card</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Bass track: one whole-note root per chord</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Play the bass alone, then with the chords</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Add rhythm: at least two ideas</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Zoom in: no overlapping notes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BASSLINE: WHAT YOU TURN 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19</a:t>
            </a:r>
          </a:p>
        </p:txBody>
      </p:sp>
      <p:sp>
        <p:nvSpPr>
          <p:cNvPr id="10" name="Rounded Rectangle 9"/>
          <p:cNvSpPr/>
          <p:nvPr/>
        </p:nvSpPr>
        <p:spPr>
          <a:xfrm>
            <a:off x="548640" y="20391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659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Part 4 analysis in the packet done</a:t>
            </a:r>
          </a:p>
        </p:txBody>
      </p:sp>
      <p:sp>
        <p:nvSpPr>
          <p:cNvPr id="12" name="Rounded Rectangle 11"/>
          <p:cNvSpPr/>
          <p:nvPr/>
        </p:nvSpPr>
        <p:spPr>
          <a:xfrm>
            <a:off x="6172200" y="20391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659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Planning table: Roman numerals + roots</a:t>
            </a:r>
          </a:p>
        </p:txBody>
      </p:sp>
      <p:sp>
        <p:nvSpPr>
          <p:cNvPr id="14" name="Rounded Rectangle 13"/>
          <p:cNvSpPr/>
          <p:nvPr/>
        </p:nvSpPr>
        <p:spPr>
          <a:xfrm>
            <a:off x="548640" y="34107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3375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Monophonic: no overlapping notes</a:t>
            </a:r>
          </a:p>
        </p:txBody>
      </p:sp>
      <p:sp>
        <p:nvSpPr>
          <p:cNvPr id="16" name="Rounded Rectangle 15"/>
          <p:cNvSpPr/>
          <p:nvPr/>
        </p:nvSpPr>
        <p:spPr>
          <a:xfrm>
            <a:off x="6172200" y="34107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3375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Root at every chord change</a:t>
            </a:r>
          </a:p>
        </p:txBody>
      </p:sp>
      <p:sp>
        <p:nvSpPr>
          <p:cNvPr id="18" name="Rounded Rectangle 17"/>
          <p:cNvSpPr/>
          <p:nvPr/>
        </p:nvSpPr>
        <p:spPr>
          <a:xfrm>
            <a:off x="548640" y="47823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7091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At least 2 rhythmic ideas + your why</a:t>
            </a:r>
          </a:p>
        </p:txBody>
      </p:sp>
      <p:sp>
        <p:nvSpPr>
          <p:cNvPr id="20" name="Rounded Rectangle 19"/>
          <p:cNvSpPr/>
          <p:nvPr/>
        </p:nvSpPr>
        <p:spPr>
          <a:xfrm>
            <a:off x="6172200" y="47823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47091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MP3 + .zip, named Your Name — Building Blocks Part 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BASSLINE: HOW IT’S SCORED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20</a:t>
            </a:r>
          </a:p>
        </p:txBody>
      </p:sp>
      <p:sp>
        <p:nvSpPr>
          <p:cNvPr id="10" name="Rounded Rectangle 9"/>
          <p:cNvSpPr/>
          <p:nvPr/>
        </p:nvSpPr>
        <p:spPr>
          <a:xfrm>
            <a:off x="548640" y="1920240"/>
            <a:ext cx="4023360" cy="1024128"/>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920240"/>
            <a:ext cx="3657600" cy="1024128"/>
          </a:xfrm>
          <a:prstGeom prst="rect">
            <a:avLst/>
          </a:prstGeom>
          <a:noFill/>
        </p:spPr>
        <p:txBody>
          <a:bodyPr wrap="square" anchor="ctr" lIns="36576" rIns="36576" tIns="18288" bIns="18288">
            <a:spAutoFit/>
          </a:bodyPr>
          <a:lstStyle/>
          <a:p>
            <a:pPr algn="l"/>
            <a:r>
              <a:rPr sz="2200" b="1">
                <a:solidFill>
                  <a:srgbClr val="FFFFFF"/>
                </a:solidFill>
                <a:latin typeface="Oswald"/>
              </a:rPr>
              <a:t>BASSLINE CONSTRUCTION</a:t>
            </a:r>
          </a:p>
        </p:txBody>
      </p:sp>
      <p:sp>
        <p:nvSpPr>
          <p:cNvPr id="12" name="TextBox 11"/>
          <p:cNvSpPr txBox="1"/>
          <p:nvPr/>
        </p:nvSpPr>
        <p:spPr>
          <a:xfrm>
            <a:off x="4800600" y="1920240"/>
            <a:ext cx="5852160" cy="1024128"/>
          </a:xfrm>
          <a:prstGeom prst="rect">
            <a:avLst/>
          </a:prstGeom>
          <a:noFill/>
        </p:spPr>
        <p:txBody>
          <a:bodyPr wrap="square" anchor="ctr" lIns="36576" rIns="36576" tIns="18288" bIns="18288">
            <a:spAutoFit/>
          </a:bodyPr>
          <a:lstStyle/>
          <a:p>
            <a:pPr algn="l"/>
            <a:r>
              <a:rPr sz="2200" b="0">
                <a:solidFill>
                  <a:srgbClr val="000000"/>
                </a:solidFill>
                <a:latin typeface="Source Sans 3"/>
              </a:rPr>
              <a:t>5 = Monophonic, follows every chord change, clear rhythmic identity.</a:t>
            </a:r>
          </a:p>
        </p:txBody>
      </p:sp>
      <p:sp>
        <p:nvSpPr>
          <p:cNvPr id="13" name="TextBox 12"/>
          <p:cNvSpPr txBox="1"/>
          <p:nvPr/>
        </p:nvSpPr>
        <p:spPr>
          <a:xfrm>
            <a:off x="10698480" y="1920240"/>
            <a:ext cx="941832" cy="1024128"/>
          </a:xfrm>
          <a:prstGeom prst="rect">
            <a:avLst/>
          </a:prstGeom>
          <a:noFill/>
        </p:spPr>
        <p:txBody>
          <a:bodyPr wrap="square" anchor="ctr" lIns="36576" rIns="36576" tIns="18288" bIns="18288">
            <a:spAutoFit/>
          </a:bodyPr>
          <a:lstStyle/>
          <a:p>
            <a:pPr algn="r"/>
            <a:r>
              <a:rPr sz="2600" b="1">
                <a:solidFill>
                  <a:srgbClr val="2159C9"/>
                </a:solidFill>
                <a:latin typeface="Oswald"/>
              </a:rPr>
              <a:t>/ 5</a:t>
            </a:r>
          </a:p>
        </p:txBody>
      </p:sp>
      <p:sp>
        <p:nvSpPr>
          <p:cNvPr id="14" name="Rounded Rectangle 13"/>
          <p:cNvSpPr/>
          <p:nvPr/>
        </p:nvSpPr>
        <p:spPr>
          <a:xfrm>
            <a:off x="548640" y="3154680"/>
            <a:ext cx="4023360" cy="1024128"/>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154680"/>
            <a:ext cx="3657600" cy="1024128"/>
          </a:xfrm>
          <a:prstGeom prst="rect">
            <a:avLst/>
          </a:prstGeom>
          <a:noFill/>
        </p:spPr>
        <p:txBody>
          <a:bodyPr wrap="square" anchor="ctr" lIns="36576" rIns="36576" tIns="18288" bIns="18288">
            <a:spAutoFit/>
          </a:bodyPr>
          <a:lstStyle/>
          <a:p>
            <a:pPr algn="l"/>
            <a:r>
              <a:rPr sz="2200" b="1">
                <a:solidFill>
                  <a:srgbClr val="FFFFFF"/>
                </a:solidFill>
                <a:latin typeface="Oswald"/>
              </a:rPr>
              <a:t>HARMONIC INTENTION</a:t>
            </a:r>
          </a:p>
        </p:txBody>
      </p:sp>
      <p:sp>
        <p:nvSpPr>
          <p:cNvPr id="16" name="TextBox 15"/>
          <p:cNvSpPr txBox="1"/>
          <p:nvPr/>
        </p:nvSpPr>
        <p:spPr>
          <a:xfrm>
            <a:off x="4800600" y="3154680"/>
            <a:ext cx="5852160" cy="1024128"/>
          </a:xfrm>
          <a:prstGeom prst="rect">
            <a:avLst/>
          </a:prstGeom>
          <a:noFill/>
        </p:spPr>
        <p:txBody>
          <a:bodyPr wrap="square" anchor="ctr" lIns="36576" rIns="36576" tIns="18288" bIns="18288">
            <a:spAutoFit/>
          </a:bodyPr>
          <a:lstStyle/>
          <a:p>
            <a:pPr algn="l"/>
            <a:r>
              <a:rPr sz="2200" b="0">
                <a:solidFill>
                  <a:srgbClr val="000000"/>
                </a:solidFill>
                <a:latin typeface="Source Sans 3"/>
              </a:rPr>
              <a:t>5 = Clear emotional character, explained in Roman numeral language.</a:t>
            </a:r>
          </a:p>
        </p:txBody>
      </p:sp>
      <p:sp>
        <p:nvSpPr>
          <p:cNvPr id="17" name="TextBox 16"/>
          <p:cNvSpPr txBox="1"/>
          <p:nvPr/>
        </p:nvSpPr>
        <p:spPr>
          <a:xfrm>
            <a:off x="10698480" y="3154680"/>
            <a:ext cx="941832" cy="1024128"/>
          </a:xfrm>
          <a:prstGeom prst="rect">
            <a:avLst/>
          </a:prstGeom>
          <a:noFill/>
        </p:spPr>
        <p:txBody>
          <a:bodyPr wrap="square" anchor="ctr" lIns="36576" rIns="36576" tIns="18288" bIns="18288">
            <a:spAutoFit/>
          </a:bodyPr>
          <a:lstStyle/>
          <a:p>
            <a:pPr algn="r"/>
            <a:r>
              <a:rPr sz="2600" b="1">
                <a:solidFill>
                  <a:srgbClr val="2159C9"/>
                </a:solidFill>
                <a:latin typeface="Oswald"/>
              </a:rPr>
              <a:t>/ 5</a:t>
            </a:r>
          </a:p>
        </p:txBody>
      </p:sp>
      <p:sp>
        <p:nvSpPr>
          <p:cNvPr id="18" name="Rounded Rectangle 17"/>
          <p:cNvSpPr/>
          <p:nvPr/>
        </p:nvSpPr>
        <p:spPr>
          <a:xfrm>
            <a:off x="548640" y="4389120"/>
            <a:ext cx="4023360" cy="1024128"/>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389120"/>
            <a:ext cx="3657600" cy="1024128"/>
          </a:xfrm>
          <a:prstGeom prst="rect">
            <a:avLst/>
          </a:prstGeom>
          <a:noFill/>
        </p:spPr>
        <p:txBody>
          <a:bodyPr wrap="square" anchor="ctr" lIns="36576" rIns="36576" tIns="18288" bIns="18288">
            <a:spAutoFit/>
          </a:bodyPr>
          <a:lstStyle/>
          <a:p>
            <a:pPr algn="l"/>
            <a:r>
              <a:rPr sz="2200" b="1">
                <a:solidFill>
                  <a:srgbClr val="FFFFFF"/>
                </a:solidFill>
                <a:latin typeface="Oswald"/>
              </a:rPr>
              <a:t>DOCUMENTATION &amp; PRESENTATION</a:t>
            </a:r>
          </a:p>
        </p:txBody>
      </p:sp>
      <p:sp>
        <p:nvSpPr>
          <p:cNvPr id="20" name="TextBox 19"/>
          <p:cNvSpPr txBox="1"/>
          <p:nvPr/>
        </p:nvSpPr>
        <p:spPr>
          <a:xfrm>
            <a:off x="4800600" y="4389120"/>
            <a:ext cx="5852160" cy="1024128"/>
          </a:xfrm>
          <a:prstGeom prst="rect">
            <a:avLst/>
          </a:prstGeom>
          <a:noFill/>
        </p:spPr>
        <p:txBody>
          <a:bodyPr wrap="square" anchor="ctr" lIns="36576" rIns="36576" tIns="18288" bIns="18288">
            <a:spAutoFit/>
          </a:bodyPr>
          <a:lstStyle/>
          <a:p>
            <a:pPr algn="l"/>
            <a:r>
              <a:rPr sz="2200" b="0">
                <a:solidFill>
                  <a:srgbClr val="000000"/>
                </a:solidFill>
                <a:latin typeface="Source Sans 3"/>
              </a:rPr>
              <a:t>5 = Named correctly, on time; presents chord choices with Roman numerals.</a:t>
            </a:r>
          </a:p>
        </p:txBody>
      </p:sp>
      <p:sp>
        <p:nvSpPr>
          <p:cNvPr id="21" name="TextBox 20"/>
          <p:cNvSpPr txBox="1"/>
          <p:nvPr/>
        </p:nvSpPr>
        <p:spPr>
          <a:xfrm>
            <a:off x="10698480" y="4389120"/>
            <a:ext cx="941832" cy="1024128"/>
          </a:xfrm>
          <a:prstGeom prst="rect">
            <a:avLst/>
          </a:prstGeom>
          <a:noFill/>
        </p:spPr>
        <p:txBody>
          <a:bodyPr wrap="square" anchor="ctr" lIns="36576" rIns="36576" tIns="18288" bIns="18288">
            <a:spAutoFit/>
          </a:bodyPr>
          <a:lstStyle/>
          <a:p>
            <a:pPr algn="r"/>
            <a:r>
              <a:rPr sz="2600" b="1">
                <a:solidFill>
                  <a:srgbClr val="2159C9"/>
                </a:solidFill>
                <a:latin typeface="Oswald"/>
              </a:rPr>
              <a:t>/ 5</a:t>
            </a:r>
          </a:p>
        </p:txBody>
      </p:sp>
      <p:sp>
        <p:nvSpPr>
          <p:cNvPr id="22" name="TextBox 21"/>
          <p:cNvSpPr txBox="1"/>
          <p:nvPr/>
        </p:nvSpPr>
        <p:spPr>
          <a:xfrm>
            <a:off x="6400800" y="5760720"/>
            <a:ext cx="5239512" cy="457200"/>
          </a:xfrm>
          <a:prstGeom prst="rect">
            <a:avLst/>
          </a:prstGeom>
          <a:noFill/>
        </p:spPr>
        <p:txBody>
          <a:bodyPr wrap="square" anchor="t" lIns="36576" rIns="36576" tIns="18288" bIns="18288">
            <a:spAutoFit/>
          </a:bodyPr>
          <a:lstStyle/>
          <a:p>
            <a:pPr algn="r"/>
            <a:r>
              <a:rPr sz="2400" b="1">
                <a:solidFill>
                  <a:srgbClr val="000000"/>
                </a:solidFill>
                <a:latin typeface="Oswald"/>
              </a:rPr>
              <a:t>SCORED 2 TO 5 · TOTAL / 15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PRESENTATION DAY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21</a:t>
            </a:r>
          </a:p>
        </p:txBody>
      </p:sp>
      <p:sp>
        <p:nvSpPr>
          <p:cNvPr id="10" name="Oval 9"/>
          <p:cNvSpPr/>
          <p:nvPr/>
        </p:nvSpPr>
        <p:spPr>
          <a:xfrm>
            <a:off x="548640" y="2167128"/>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Play your melody, then your bassline</a:t>
            </a:r>
          </a:p>
        </p:txBody>
      </p:sp>
      <p:sp>
        <p:nvSpPr>
          <p:cNvPr id="12" name="Oval 11"/>
          <p:cNvSpPr/>
          <p:nvPr/>
        </p:nvSpPr>
        <p:spPr>
          <a:xfrm>
            <a:off x="548640" y="3117088"/>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What key? What Roman numerals?</a:t>
            </a:r>
          </a:p>
        </p:txBody>
      </p:sp>
      <p:sp>
        <p:nvSpPr>
          <p:cNvPr id="14" name="Oval 13"/>
          <p:cNvSpPr/>
          <p:nvPr/>
        </p:nvSpPr>
        <p:spPr>
          <a:xfrm>
            <a:off x="548640" y="4067048"/>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What did you want it to feel like?</a:t>
            </a:r>
          </a:p>
        </p:txBody>
      </p:sp>
      <p:sp>
        <p:nvSpPr>
          <p:cNvPr id="16" name="Oval 15"/>
          <p:cNvSpPr/>
          <p:nvPr/>
        </p:nvSpPr>
        <p:spPr>
          <a:xfrm>
            <a:off x="548640" y="5017008"/>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Respond to at least 2 classmates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LAST THING…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Bass &amp; Melody Writing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22</a:t>
            </a:r>
          </a:p>
        </p:txBody>
      </p:sp>
      <p:sp>
        <p:nvSpPr>
          <p:cNvPr id="10" name="Oval 9"/>
          <p:cNvSpPr/>
          <p:nvPr/>
        </p:nvSpPr>
        <p:spPr>
          <a:xfrm>
            <a:off x="548640" y="2066544"/>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943600" cy="650240"/>
          </a:xfrm>
          <a:prstGeom prst="rect">
            <a:avLst/>
          </a:prstGeom>
          <a:noFill/>
        </p:spPr>
        <p:txBody>
          <a:bodyPr wrap="square" anchor="t" lIns="36576" rIns="36576" tIns="18288" bIns="18288">
            <a:spAutoFit/>
          </a:bodyPr>
          <a:lstStyle/>
          <a:p>
            <a:pPr algn="l"/>
            <a:r>
              <a:rPr sz="3200" b="0">
                <a:solidFill>
                  <a:srgbClr val="000000"/>
                </a:solidFill>
                <a:latin typeface="Source Sans 3"/>
              </a:rPr>
              <a:t>You wrote a melody.</a:t>
            </a:r>
          </a:p>
        </p:txBody>
      </p:sp>
      <p:sp>
        <p:nvSpPr>
          <p:cNvPr id="12" name="Oval 11"/>
          <p:cNvSpPr/>
          <p:nvPr/>
        </p:nvSpPr>
        <p:spPr>
          <a:xfrm>
            <a:off x="548640" y="2777744"/>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31440"/>
            <a:ext cx="5943600" cy="650240"/>
          </a:xfrm>
          <a:prstGeom prst="rect">
            <a:avLst/>
          </a:prstGeom>
          <a:noFill/>
        </p:spPr>
        <p:txBody>
          <a:bodyPr wrap="square" anchor="t" lIns="36576" rIns="36576" tIns="18288" bIns="18288">
            <a:spAutoFit/>
          </a:bodyPr>
          <a:lstStyle/>
          <a:p>
            <a:pPr algn="l"/>
            <a:r>
              <a:rPr sz="3200" b="0">
                <a:solidFill>
                  <a:srgbClr val="000000"/>
                </a:solidFill>
                <a:latin typeface="Source Sans 3"/>
              </a:rPr>
              <a:t>You built chords.</a:t>
            </a:r>
          </a:p>
        </p:txBody>
      </p:sp>
      <p:sp>
        <p:nvSpPr>
          <p:cNvPr id="14" name="Oval 13"/>
          <p:cNvSpPr/>
          <p:nvPr/>
        </p:nvSpPr>
        <p:spPr>
          <a:xfrm>
            <a:off x="548640" y="3488944"/>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342640"/>
            <a:ext cx="5943600" cy="650240"/>
          </a:xfrm>
          <a:prstGeom prst="rect">
            <a:avLst/>
          </a:prstGeom>
          <a:noFill/>
        </p:spPr>
        <p:txBody>
          <a:bodyPr wrap="square" anchor="t" lIns="36576" rIns="36576" tIns="18288" bIns="18288">
            <a:spAutoFit/>
          </a:bodyPr>
          <a:lstStyle/>
          <a:p>
            <a:pPr algn="l"/>
            <a:r>
              <a:rPr sz="3200" b="0">
                <a:solidFill>
                  <a:srgbClr val="000000"/>
                </a:solidFill>
                <a:latin typeface="Source Sans 3"/>
              </a:rPr>
              <a:t>You wrote a bassline.</a:t>
            </a:r>
          </a:p>
        </p:txBody>
      </p:sp>
      <p:sp>
        <p:nvSpPr>
          <p:cNvPr id="16" name="Oval 15"/>
          <p:cNvSpPr/>
          <p:nvPr/>
        </p:nvSpPr>
        <p:spPr>
          <a:xfrm>
            <a:off x="548640" y="4200144"/>
            <a:ext cx="146304" cy="146304"/>
          </a:xfrm>
          <a:prstGeom prst="ellipse">
            <a:avLst/>
          </a:prstGeom>
          <a:solidFill>
            <a:srgbClr val="215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053840"/>
            <a:ext cx="5943600" cy="650240"/>
          </a:xfrm>
          <a:prstGeom prst="rect">
            <a:avLst/>
          </a:prstGeom>
          <a:noFill/>
        </p:spPr>
        <p:txBody>
          <a:bodyPr wrap="square" anchor="t" lIns="36576" rIns="36576" tIns="18288" bIns="18288">
            <a:spAutoFit/>
          </a:bodyPr>
          <a:lstStyle/>
          <a:p>
            <a:pPr algn="l"/>
            <a:r>
              <a:rPr sz="3200" b="0">
                <a:solidFill>
                  <a:srgbClr val="000000"/>
                </a:solidFill>
                <a:latin typeface="Source Sans 3"/>
              </a:rPr>
              <a:t>The foundation of every song.</a:t>
            </a:r>
          </a:p>
        </p:txBody>
      </p:sp>
      <p:pic>
        <p:nvPicPr>
          <p:cNvPr id="18" name="Picture 17" descr="deck-hero.png"/>
          <p:cNvPicPr>
            <a:picLocks noChangeAspect="1"/>
          </p:cNvPicPr>
          <p:nvPr/>
        </p:nvPicPr>
        <p:blipFill>
          <a:blip r:embed="rId2"/>
          <a:stretch>
            <a:fillRect/>
          </a:stretch>
        </p:blipFill>
        <p:spPr>
          <a:xfrm>
            <a:off x="7223760" y="1874519"/>
            <a:ext cx="4416552" cy="301307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Bass &amp; Melody Writing · Intro deck</dc:title>
  <dc:subject/>
  <dc:creator>Brian Lotze · Hudson Beat</dc:creator>
  <cp:keywords/>
  <dc:description>Designed with the help of digital and AI tools, and checked by hand.</dc:description>
  <cp:lastModifiedBy>Steve Canny</cp:lastModifiedBy>
  <cp:revision>1</cp:revision>
  <dcterms:created xsi:type="dcterms:W3CDTF">2013-01-27T09:14:16Z</dcterms:created>
  <dcterms:modified xsi:type="dcterms:W3CDTF">2013-01-27T09:15:58Z</dcterms:modified>
  <cp:category/>
</cp:coreProperties>
</file>