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Have this week’s Billboard Hot 100 open on billboard.com, and the No. 1 song cued up on YouTube or Spotify from your own account; no audio, video or chart data are included in this deck. Open with my overview: your job is to pick one hit and recreate it in Logic Pro.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first minute or so of the current No. 1 (preview it first: choose a clean version). The Hot 100 is published every week and has been since 1958; it ranks songs by streaming, sales and radio airplay. Take answers aloud. The point is my teacher note: listen analytically rather than passively.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 from the project sheet vocabulary: emulation is recreating the style and sound of an existing track as closely as possible. From my overview: you are not just copying, you are reverse-engineering what makes a hit song work. The drum patterns must be self-created; percussion loops are okay as accents.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explore the Top 10 and start the song form. Class 2: finish the map, then drums. Classes 3 to 5 are working days. Class 6: final mix and bounce, presentations prepared. Class 7: presentations with Padlet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listen to all 10 songs with headphones and fill in the Top 10 analysis page. Steer them, as my notes say, away from heavily layered songs with 50 or more tracks and toward songs with clear, identifiable sections. Check song choices for school-appropriate content before they commit.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Song form is the structure of a song: how sections like intro, verse, chorus and bridge are organized. Model counting bars aloud on the No. 1 from slide 2: count 1, 2, 3, 4 and say the bar number on each 1. Students begin their Song Form map today and finish it in Class 2, before they open Logic.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This is an original practice map, not a real song, so the numbers are easy to check: 72 bars at 100 BPM. One bar of 4/4 at 100 BPM lasts 2.4 seconds, so the second verse starts at bar 29, 67.2 seconds in (1:07), and the whole map runs 2:53. Students' maps come from their own song; check each one before they open Logic.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three-minute demo. Count beats for 15 seconds: 25 beats times 4 is 100 BPM. Set the project tempo, turn on the metronome and play the song next to it; if the click drifts, nudge the tempo by one. Then Global Tracks, Arrangement track: add one marker per section, sized to its bars, named as on the Song Form map. The requirement is to match the tempo exactly.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the beat into kick, snare and hi-hat, one sound at a time: listen for the hi-hat first, then the snare, then the kick. In this practice example the verse is laid back and the chorus pushes, with a kick on every beat. The velocity lane shows my tip against robotic drums: accents on the beat, softer hits between.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demo. An Electronic Drum Kit loads Drum Machine Designer. Control-click at the first verse marker, Create Pattern Region, double-click for the Step Sequencer. Program what you hear, then vary velocity and nudge a few notes for human feel. Drum patterns must be self-created; percussion loops only as accents.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Step 4 of the project sheet: lay down bass, chords and core instrumentation to match the original’s energy. Circulate with the song form maps in hand. My tip to repeat: your drums are the backbone; if the beat doesn’t feel right, the whole track will feel 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4, a working day. Step 5: fill in melodies, pads, FX and transitions to match the fullness of the original. From my tips: don’t try to perfectly match every single sound; focus on capturing the vibe, structure and energy. Class 5 is a full working day with no new slide: refine the arrangement.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final mix and bounce. Step 6 of the sheet, word by word on the slide. My notes warn that students copy the arrangement but ignore the mix, and the EQ and panning step often gets skipped, so make it visible: ask every student to show you one EQ and one pan change before they bounce.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condensed. Export: File, Bounce, Project or Section, MP3 or WAV. Compress: in Finder, Control-click the .logicx project and choose Compress. Show where students upload (your class page) and where the Padlet board 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Each student plays their track and says which song they recreated. During classmates’ presentations, every student answers at least 2 of their 3 questions on their Padlet post. Keep the original song available in case the class wants to compare a section.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my teacher notes say this project does: it teaches students to listen analytically rather than passively. They matched a real hit’s tempo, form and instrumentation with precision, and still made creative production choices of their own. That is how producers learn.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628006" y="896112"/>
            <a:ext cx="4935681"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BILLBOARD TOP 10</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Feat. this week’s Hot 100</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SONG FORM AND DRUMS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THIS WEEK’S NO. 1</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THIS WEEK’S BILLBOARD HOT 100</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F6C3E4"/>
                </a:solidFill>
                <a:latin typeface="Oswald"/>
              </a:rPr>
              <a:t>the No. 1 song</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open the chart; play the No. 1 from YouTube or Spotify.</a:t>
            </a:r>
          </a:p>
        </p:txBody>
      </p:sp>
      <p:sp>
        <p:nvSpPr>
          <p:cNvPr id="14" name="Oval 13"/>
          <p:cNvSpPr/>
          <p:nvPr/>
        </p:nvSpPr>
        <p:spPr>
          <a:xfrm>
            <a:off x="548640" y="4069080"/>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How long until the first chorus?</a:t>
            </a:r>
          </a:p>
        </p:txBody>
      </p:sp>
      <p:sp>
        <p:nvSpPr>
          <p:cNvPr id="16" name="Oval 15"/>
          <p:cNvSpPr/>
          <p:nvPr/>
        </p:nvSpPr>
        <p:spPr>
          <a:xfrm>
            <a:off x="548640" y="4678680"/>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instruments can you hear?</a:t>
            </a:r>
          </a:p>
        </p:txBody>
      </p:sp>
      <p:sp>
        <p:nvSpPr>
          <p:cNvPr id="18" name="Oval 17"/>
          <p:cNvSpPr/>
          <p:nvPr/>
        </p:nvSpPr>
        <p:spPr>
          <a:xfrm>
            <a:off x="548640" y="5288280"/>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Clap the beat: fast, medium or slow?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THE HECK IS EMULATION?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Recreating a track’s style and sound as closely as you can</a:t>
            </a:r>
          </a:p>
        </p:txBody>
      </p:sp>
      <p:sp>
        <p:nvSpPr>
          <p:cNvPr id="12" name="Oval 11"/>
          <p:cNvSpPr/>
          <p:nvPr/>
        </p:nvSpPr>
        <p:spPr>
          <a:xfrm>
            <a:off x="548640" y="311708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Not just copying: reverse-engineering a hit</a:t>
            </a:r>
          </a:p>
        </p:txBody>
      </p:sp>
      <p:sp>
        <p:nvSpPr>
          <p:cNvPr id="14" name="Oval 13"/>
          <p:cNvSpPr/>
          <p:nvPr/>
        </p:nvSpPr>
        <p:spPr>
          <a:xfrm>
            <a:off x="548640" y="4067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Same tempo, same form, your own drums</a:t>
            </a:r>
          </a:p>
        </p:txBody>
      </p:sp>
      <p:sp>
        <p:nvSpPr>
          <p:cNvPr id="16" name="Oval 15"/>
          <p:cNvSpPr/>
          <p:nvPr/>
        </p:nvSpPr>
        <p:spPr>
          <a:xfrm>
            <a:off x="548640" y="501700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Then build your own version from scratch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Explore the Top 10 · Top 10 analysis · begin song form</a:t>
            </a:r>
          </a:p>
        </p:txBody>
      </p:sp>
      <p:sp>
        <p:nvSpPr>
          <p:cNvPr id="13" name="Rounded Rectangle 12"/>
          <p:cNvSpPr/>
          <p:nvPr/>
        </p:nvSpPr>
        <p:spPr>
          <a:xfrm>
            <a:off x="548640" y="2444060"/>
            <a:ext cx="1554480" cy="523820"/>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Finish the Song Form map · tempo and markers · drums</a:t>
            </a:r>
          </a:p>
        </p:txBody>
      </p:sp>
      <p:sp>
        <p:nvSpPr>
          <p:cNvPr id="16" name="Rounded Rectangle 15"/>
          <p:cNvSpPr/>
          <p:nvPr/>
        </p:nvSpPr>
        <p:spPr>
          <a:xfrm>
            <a:off x="548640" y="3077609"/>
            <a:ext cx="1554480" cy="523820"/>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build your foundation</a:t>
            </a:r>
          </a:p>
        </p:txBody>
      </p:sp>
      <p:sp>
        <p:nvSpPr>
          <p:cNvPr id="19" name="Rounded Rectangle 18"/>
          <p:cNvSpPr/>
          <p:nvPr/>
        </p:nvSpPr>
        <p:spPr>
          <a:xfrm>
            <a:off x="548640" y="3711157"/>
            <a:ext cx="1554480" cy="523820"/>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add layers</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refine the arrangement</a:t>
            </a:r>
          </a:p>
        </p:txBody>
      </p:sp>
      <p:sp>
        <p:nvSpPr>
          <p:cNvPr id="25" name="Rounded Rectangle 24"/>
          <p:cNvSpPr/>
          <p:nvPr/>
        </p:nvSpPr>
        <p:spPr>
          <a:xfrm>
            <a:off x="548640" y="4978254"/>
            <a:ext cx="1554480" cy="523820"/>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Mix and bounce · checklist · rubric · 3 questions</a:t>
            </a:r>
          </a:p>
        </p:txBody>
      </p:sp>
      <p:sp>
        <p:nvSpPr>
          <p:cNvPr id="28" name="Rounded Rectangle 27"/>
          <p:cNvSpPr/>
          <p:nvPr/>
        </p:nvSpPr>
        <p:spPr>
          <a:xfrm>
            <a:off x="548640" y="5611803"/>
            <a:ext cx="1554480" cy="523820"/>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1: EXPLORE THE TOP 10</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Listen to all 10 songs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Top 10 analysis</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Pick one song with clear, easy-to-hear sections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Start counting bars: where does each section begin?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SONG FORM: WHAT TO LISTEN FOR</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6712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Intro, verse, chorus, bridge, outro</a:t>
            </a:r>
          </a:p>
        </p:txBody>
      </p:sp>
      <p:sp>
        <p:nvSpPr>
          <p:cNvPr id="12" name="Oval 11"/>
          <p:cNvSpPr/>
          <p:nvPr/>
        </p:nvSpPr>
        <p:spPr>
          <a:xfrm>
            <a:off x="548640" y="311708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Count the bars in every section</a:t>
            </a:r>
          </a:p>
        </p:txBody>
      </p:sp>
      <p:sp>
        <p:nvSpPr>
          <p:cNvPr id="14" name="Oval 13"/>
          <p:cNvSpPr/>
          <p:nvPr/>
        </p:nvSpPr>
        <p:spPr>
          <a:xfrm>
            <a:off x="548640" y="4067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Write down when each section starts</a:t>
            </a:r>
          </a:p>
        </p:txBody>
      </p:sp>
      <p:sp>
        <p:nvSpPr>
          <p:cNvPr id="16" name="Oval 15"/>
          <p:cNvSpPr/>
          <p:nvPr/>
        </p:nvSpPr>
        <p:spPr>
          <a:xfrm>
            <a:off x="548640" y="501700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Finish the Song Form map before Logic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A MAPPED SONG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pic>
        <p:nvPicPr>
          <p:cNvPr id="10" name="Picture 9" descr="deck-form.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72 bars at 100 BPM: 2:53</a:t>
            </a:r>
          </a:p>
        </p:txBody>
      </p:sp>
      <p:sp>
        <p:nvSpPr>
          <p:cNvPr id="13" name="Oval 12"/>
          <p:cNvSpPr/>
          <p:nvPr/>
        </p:nvSpPr>
        <p:spPr>
          <a:xfrm>
            <a:off x="6190488" y="4956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Count bars, not seconds</a:t>
            </a:r>
          </a:p>
        </p:txBody>
      </p:sp>
      <p:sp>
        <p:nvSpPr>
          <p:cNvPr id="15" name="Oval 14"/>
          <p:cNvSpPr/>
          <p:nvPr/>
        </p:nvSpPr>
        <p:spPr>
          <a:xfrm>
            <a:off x="548640" y="56418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One Arrangement Marker per section</a:t>
            </a:r>
          </a:p>
        </p:txBody>
      </p:sp>
      <p:sp>
        <p:nvSpPr>
          <p:cNvPr id="17" name="Oval 16"/>
          <p:cNvSpPr/>
          <p:nvPr/>
        </p:nvSpPr>
        <p:spPr>
          <a:xfrm>
            <a:off x="6190488" y="56418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Verses 16 bars, choruses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TEMPO AND MARKERS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Count the beats for 15 seconds, then × 4 = BPM</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Set the project tempo to match</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Metronome on (K): play the song alongside it</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Global Tracks (G): one Arrangement Marker per section</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Save as: Your Name – Billboard Top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BREAK DOWN THE DRUMS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pic>
        <p:nvPicPr>
          <p:cNvPr id="10" name="Picture 9" descr="deck-drums.png"/>
          <p:cNvPicPr>
            <a:picLocks noChangeAspect="1"/>
          </p:cNvPicPr>
          <p:nvPr/>
        </p:nvPicPr>
        <p:blipFill>
          <a:blip r:embed="rId2"/>
          <a:stretch>
            <a:fillRect/>
          </a:stretch>
        </p:blipFill>
        <p:spPr>
          <a:xfrm>
            <a:off x="548640" y="1810512"/>
            <a:ext cx="11091672" cy="2689730"/>
          </a:xfrm>
          <a:prstGeom prst="rect">
            <a:avLst/>
          </a:prstGeom>
        </p:spPr>
      </p:pic>
      <p:sp>
        <p:nvSpPr>
          <p:cNvPr id="11" name="Oval 10"/>
          <p:cNvSpPr/>
          <p:nvPr/>
        </p:nvSpPr>
        <p:spPr>
          <a:xfrm>
            <a:off x="548640" y="4956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Verse: hi-hat eighths, snare on 2 and 4</a:t>
            </a:r>
          </a:p>
        </p:txBody>
      </p:sp>
      <p:sp>
        <p:nvSpPr>
          <p:cNvPr id="13" name="Oval 12"/>
          <p:cNvSpPr/>
          <p:nvPr/>
        </p:nvSpPr>
        <p:spPr>
          <a:xfrm>
            <a:off x="6190488" y="4956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Chorus: kick on every beat, open hi-hats</a:t>
            </a:r>
          </a:p>
        </p:txBody>
      </p:sp>
      <p:sp>
        <p:nvSpPr>
          <p:cNvPr id="15" name="Oval 14"/>
          <p:cNvSpPr/>
          <p:nvPr/>
        </p:nvSpPr>
        <p:spPr>
          <a:xfrm>
            <a:off x="548640" y="56418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 clap doubles the snare in the chorus</a:t>
            </a:r>
          </a:p>
        </p:txBody>
      </p:sp>
      <p:sp>
        <p:nvSpPr>
          <p:cNvPr id="17" name="Oval 16"/>
          <p:cNvSpPr/>
          <p:nvPr/>
        </p:nvSpPr>
        <p:spPr>
          <a:xfrm>
            <a:off x="6190488" y="56418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Velocity: louder on the beat, softer between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PROGRAM THE DRUMS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New track: an Electronic Drum Kit (Drum Machine Designer)</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Pattern region at the first verse marker</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Kick, snare, hi-hat first: copy what you hear</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Vary the velocity so it doesn’t sound robotic</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Copy it into every section that uses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BUILD YOUR FOUNDATION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216712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Bass, chords and core instruments</a:t>
            </a:r>
          </a:p>
        </p:txBody>
      </p:sp>
      <p:sp>
        <p:nvSpPr>
          <p:cNvPr id="12" name="Oval 11"/>
          <p:cNvSpPr/>
          <p:nvPr/>
        </p:nvSpPr>
        <p:spPr>
          <a:xfrm>
            <a:off x="548640" y="311708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Match the original’s energy, section by section</a:t>
            </a:r>
          </a:p>
        </p:txBody>
      </p:sp>
      <p:sp>
        <p:nvSpPr>
          <p:cNvPr id="14" name="Oval 13"/>
          <p:cNvSpPr/>
          <p:nvPr/>
        </p:nvSpPr>
        <p:spPr>
          <a:xfrm>
            <a:off x="548640" y="4067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Pick sounds that fit the genre</a:t>
            </a:r>
          </a:p>
        </p:txBody>
      </p:sp>
      <p:sp>
        <p:nvSpPr>
          <p:cNvPr id="16" name="Oval 15"/>
          <p:cNvSpPr/>
          <p:nvPr/>
        </p:nvSpPr>
        <p:spPr>
          <a:xfrm>
            <a:off x="548640" y="501700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drums are the backbone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ADD LAYERS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Oval 9"/>
          <p:cNvSpPr/>
          <p:nvPr/>
        </p:nvSpPr>
        <p:spPr>
          <a:xfrm>
            <a:off x="548640" y="216712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Melodies, pads, FX and transitions</a:t>
            </a:r>
          </a:p>
        </p:txBody>
      </p:sp>
      <p:sp>
        <p:nvSpPr>
          <p:cNvPr id="12" name="Oval 11"/>
          <p:cNvSpPr/>
          <p:nvPr/>
        </p:nvSpPr>
        <p:spPr>
          <a:xfrm>
            <a:off x="548640" y="311708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Match the fullness of the original</a:t>
            </a:r>
          </a:p>
        </p:txBody>
      </p:sp>
      <p:sp>
        <p:nvSpPr>
          <p:cNvPr id="14" name="Oval 13"/>
          <p:cNvSpPr/>
          <p:nvPr/>
        </p:nvSpPr>
        <p:spPr>
          <a:xfrm>
            <a:off x="548640" y="4067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Capture the vibe, structure and energy</a:t>
            </a:r>
          </a:p>
        </p:txBody>
      </p:sp>
      <p:sp>
        <p:nvSpPr>
          <p:cNvPr id="16" name="Oval 15"/>
          <p:cNvSpPr/>
          <p:nvPr/>
        </p:nvSpPr>
        <p:spPr>
          <a:xfrm>
            <a:off x="548640" y="501700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 don’t need every single sound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 AND REFINE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16712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EQ every track</a:t>
            </a:r>
          </a:p>
        </p:txBody>
      </p:sp>
      <p:sp>
        <p:nvSpPr>
          <p:cNvPr id="12" name="Oval 11"/>
          <p:cNvSpPr/>
          <p:nvPr/>
        </p:nvSpPr>
        <p:spPr>
          <a:xfrm>
            <a:off x="548640" y="311708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Pan for width</a:t>
            </a:r>
          </a:p>
        </p:txBody>
      </p:sp>
      <p:sp>
        <p:nvSpPr>
          <p:cNvPr id="14" name="Oval 13"/>
          <p:cNvSpPr/>
          <p:nvPr/>
        </p:nvSpPr>
        <p:spPr>
          <a:xfrm>
            <a:off x="548640" y="4067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Adjust levels</a:t>
            </a:r>
          </a:p>
        </p:txBody>
      </p:sp>
      <p:sp>
        <p:nvSpPr>
          <p:cNvPr id="16" name="Oval 15"/>
          <p:cNvSpPr/>
          <p:nvPr/>
        </p:nvSpPr>
        <p:spPr>
          <a:xfrm>
            <a:off x="548640" y="501700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Add plug-ins for authenticity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Top 10 analysis completed</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Song form as Arrangement Markers in Logic</a:t>
            </a:r>
          </a:p>
        </p:txBody>
      </p:sp>
      <p:sp>
        <p:nvSpPr>
          <p:cNvPr id="14" name="Rounded Rectangle 13"/>
          <p:cNvSpPr/>
          <p:nvPr/>
        </p:nvSpPr>
        <p:spPr>
          <a:xfrm>
            <a:off x="548640" y="304952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99466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 uploaded</a:t>
            </a:r>
          </a:p>
        </p:txBody>
      </p:sp>
      <p:sp>
        <p:nvSpPr>
          <p:cNvPr id="16" name="Rounded Rectangle 15"/>
          <p:cNvSpPr/>
          <p:nvPr/>
        </p:nvSpPr>
        <p:spPr>
          <a:xfrm>
            <a:off x="6172200" y="304952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299466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 uploaded</a:t>
            </a:r>
          </a:p>
        </p:txBody>
      </p:sp>
      <p:sp>
        <p:nvSpPr>
          <p:cNvPr id="18" name="Rounded Rectangle 17"/>
          <p:cNvSpPr/>
          <p:nvPr/>
        </p:nvSpPr>
        <p:spPr>
          <a:xfrm>
            <a:off x="548640" y="412394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06908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Billboard Top 10</a:t>
            </a:r>
          </a:p>
        </p:txBody>
      </p:sp>
      <p:sp>
        <p:nvSpPr>
          <p:cNvPr id="20" name="Rounded Rectangle 19"/>
          <p:cNvSpPr/>
          <p:nvPr/>
        </p:nvSpPr>
        <p:spPr>
          <a:xfrm>
            <a:off x="6172200" y="412394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06908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22" name="Rounded Rectangle 21"/>
          <p:cNvSpPr/>
          <p:nvPr/>
        </p:nvSpPr>
        <p:spPr>
          <a:xfrm>
            <a:off x="548640" y="519836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14350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B0127A"/>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B0127A"/>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B0127A"/>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B0127A"/>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B0127A"/>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Oval 9"/>
          <p:cNvSpPr/>
          <p:nvPr/>
        </p:nvSpPr>
        <p:spPr>
          <a:xfrm>
            <a:off x="548640" y="216712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track for the class</a:t>
            </a:r>
          </a:p>
        </p:txBody>
      </p:sp>
      <p:sp>
        <p:nvSpPr>
          <p:cNvPr id="12" name="Oval 11"/>
          <p:cNvSpPr/>
          <p:nvPr/>
        </p:nvSpPr>
        <p:spPr>
          <a:xfrm>
            <a:off x="548640" y="311708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4" name="Oval 13"/>
          <p:cNvSpPr/>
          <p:nvPr/>
        </p:nvSpPr>
        <p:spPr>
          <a:xfrm>
            <a:off x="548640" y="406704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
        <p:nvSpPr>
          <p:cNvPr id="16" name="Oval 15"/>
          <p:cNvSpPr/>
          <p:nvPr/>
        </p:nvSpPr>
        <p:spPr>
          <a:xfrm>
            <a:off x="548640" y="5017008"/>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Listen like a producer: what made it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Billboard Top 10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Oval 9"/>
          <p:cNvSpPr/>
          <p:nvPr/>
        </p:nvSpPr>
        <p:spPr>
          <a:xfrm>
            <a:off x="548640" y="2057400"/>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studied a hit.</a:t>
            </a:r>
          </a:p>
        </p:txBody>
      </p:sp>
      <p:sp>
        <p:nvSpPr>
          <p:cNvPr id="12" name="Oval 11"/>
          <p:cNvSpPr/>
          <p:nvPr/>
        </p:nvSpPr>
        <p:spPr>
          <a:xfrm>
            <a:off x="548640" y="2781300"/>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matched its tempo and form.</a:t>
            </a:r>
          </a:p>
        </p:txBody>
      </p:sp>
      <p:sp>
        <p:nvSpPr>
          <p:cNvPr id="14" name="Oval 13"/>
          <p:cNvSpPr/>
          <p:nvPr/>
        </p:nvSpPr>
        <p:spPr>
          <a:xfrm>
            <a:off x="548640" y="3505200"/>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built the drums yourself.</a:t>
            </a:r>
          </a:p>
        </p:txBody>
      </p:sp>
      <p:sp>
        <p:nvSpPr>
          <p:cNvPr id="16" name="Oval 15"/>
          <p:cNvSpPr/>
          <p:nvPr/>
        </p:nvSpPr>
        <p:spPr>
          <a:xfrm>
            <a:off x="548640" y="4229100"/>
            <a:ext cx="146304" cy="146304"/>
          </a:xfrm>
          <a:prstGeom prst="ellipse">
            <a:avLst/>
          </a:prstGeom>
          <a:solidFill>
            <a:srgbClr val="B01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listened like a producer.</a:t>
            </a:r>
          </a:p>
        </p:txBody>
      </p:sp>
      <p:pic>
        <p:nvPicPr>
          <p:cNvPr id="18" name="Picture 17" descr="deck-hero.png"/>
          <p:cNvPicPr>
            <a:picLocks noChangeAspect="1"/>
          </p:cNvPicPr>
          <p:nvPr/>
        </p:nvPicPr>
        <p:blipFill>
          <a:blip r:embed="rId2"/>
          <a:stretch>
            <a:fillRect/>
          </a:stretch>
        </p:blipFill>
        <p:spPr>
          <a:xfrm>
            <a:off x="6519672" y="2103120"/>
            <a:ext cx="5120640" cy="30831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Billboard Top 10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