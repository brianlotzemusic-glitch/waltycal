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minute. No audio is included in this deck. Open with my overview: create a soundscape that never sits still. Design an evolving ambient piece that continuously transforms through automation, modulation and layering. Say that there is no traditional rhythm or song structure: this project is about motion, texture and space.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three questions aloud and take a few answers. Nothing is played from a speaker unless you choose to, and no one else's music is included in this kit. If you do play a short ambient piece of your own choosing, ask students to close their eyes and say what changed. This sets up my first struggle: students default to adding beats, so say early that this project is about texture and motion, not rhythm.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overview and goals, shortened to fit the slide. Create a soundscape that never sits still: an evolving ambient piece that continuously transforms through automation, modulation and layering. No traditional rhythm or song structure; this is about motion, texture and space. Goal four is a 60 to 90 second soundscape that sustains listener interest. Students write the five vocabulary terms in their own words on the vocabulary page; slide 6 introduces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project, from my pacing guide. Class 1: introduction, listen to ambient examples and begin building a drone or pad foundation. Class 2: layer additional textures and atmospheric elements. Classes 3 to 5 are working days: automate, refine and evolve the soundscape. Class 6: final mix and bounce, and prepare presentations. Class 7: presentations with Padlet Q and A peer feedback.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1. The first five steps of my project sheet, in order: listen, build your foundation, layer, automate, refine. Then students finalize with a mix and a bounce, and present with Padlet feedback. Point to each box and say roughly when it happens: listening and the foundation today, layers in Class 2, automation and refining on the working days. The step names are mine; the picture and its short labels are the kit's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five vocabulary terms, shortened to fit the slide. Soundscape: an ambient composition focused on texture and atmosphere rather than melody or rhythm. Drone: a sustained tone or chord that creates a foundation for ambient music. Automation: changing a parameter over time to create movement and evolution. Modulation: using one signal to control another, adding variation and life to a sound. Ambient: music focused on tone, atmosphere and texture rather than traditional song structure. The full definitions are on the vocabulary page.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of the project sheet, shortened to fit the slide. Step 1, listen: study examples of ambient and soundscape music for inspiration. Step 2, build your foundation: create a drone or pad layer as your base texture. The second and fourth lines are the kit's own suggestions, not my steps: students write what they hear on the Listening log, and the drone should be steady enough for layers to sit on. You choose the listening examples; none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2. A kit picture, not from my sheets, built from my third struggle: students struggle without traditional structure to guide them, so suggest thinking in phases: opening, evolution, climax, fade. The curve shows how full the sound is over time. Ask students to place their own piece on it: where does it start, where does it peak, how does it end? The Phase plan has room for the layers in each phase.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fifth requirement and first struggle, shortened to fit the slide. Avoid traditional rhythm or song structure and focus on motion and space. Students default to adding beats; remind them this is about texture and motion, not rhythm. The last line is the kit's own question for the working days: if nothing changes, there is nothing to hear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of the project sheet and requirement 2, shortened to fit the slide. Step 3, layer: add additional textures, sounds and atmospheric elements. Requirement 2: layer ambient textures and drones using synths, samples and FX. The last line is the kit's own suggestion, not my step: add one layer at a time and listen before adding the next. Hand out the Phase plan so students can say which layers belong in which phase.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the first working day. A kit picture of what automation looks like: a line drawn on a lane, one lane for each parameter. From my third tip: automate everything, because if a parameter stays the same the whole time the soundscape will feel flat. The four lanes are the ones my step 4 names: filters, reverb, volume and panning. In Logic, press A to show automation and choose the parameter to draw.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and requirements 3 and 4, shortened to fit the slide. Step 4, automate: draw automation on filters, reverb, volume and panning to create evolution. Use automation to change parameters over time, and incorporate gradual transitions and evolving movement. My second struggle is that soundscapes feel static because students do not automate enough parameters; require a minimum number of automation lanes. The last line is the kit's own: students list their lanes on the Automation plan.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3. An invented piece, Slow Tide, described on paper; nothing here is audio. It is 75 seconds long, in four phases: opening, evolution, climax and fade. Five layers join and leave: a drone, a pad, a texture, a few chimes and a sweep. Below them are five automation lanes, and none of them is flat: the drone's filter, the pad's reverb, the texture's volume and panning, and the chimes' delay. The numbers are on the worked example page.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tips 1 to 3, shortened to fit the slide. This project is about patience: let sounds evolve slowly and do not rush changes. Reverb and delay are your best friends here; use them to create a sense of space. Automate everything: if a parameter stays the same the whole time, your soundscape will feel flat. Ask students to stretch the slowest change in their piece, then listen again.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tip 4 and my Harder variation, shortened to fit the slide. Refine: listen for flow and pacing, and remove anything that feels static or repetitive. Close your eyes while listening to your piece: does it take you somewhere? That is the goal. My Harder variation extends the piece to two minutes or more, requires at least five automation lanes and use of Alchemy for custom ambient patches; offer it to students who are ready. Hand out the Listen-back sheet.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6. Steps 6 and 7 of the project sheet, shortened to fit the slide. Finalize: mix for depth and space and bounce your soundscape. Present and get feedback: create your own Padlet post with three questions you want classmates to answer. The third line is the kit's own reminder about the submission: zip the .logicx in Finder (Control-click, Compress). Check that every soundscape is between 60 and 90 seconds before students bounce.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submission checklist from the project sheet, shortened to fit the slide. Show where students upload (your class page) and where the Padlet board is. Remind students that a bounced file with the wrong length is the quickest thing to fix: check it is 60 to 90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rubric: five categories, each scored 1 to 5, for a total out of 25. Students score themselves first; the final grade is the average of their score and mine. The slide reads the 5 column of each category aloud. Hand out the rubric page so students can self-score before they present.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7, presentations with Padlet Q and A. Step 7 of the project sheet, shortened to fit the slide: create your own Padlet post with 3 questions you want classmates to answer, present to the class, and during classmates' presentations answer at least 2 of their 3 questions. The second line is the kit's own suggestion. Ask the class to close their eyes during each piece.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my teacher notes: this project stretches students' definition of what music can be. Ask a few students what they noticed in a classmate's piece with their eyes closed. My notes suggest pairing the project with a brief discussion of ambient and experimental music history; the kit leaves that to you. Tell them the next project starts from the menu. Reflection: point students to the Reflection page. A reflection is a written or oral conversation about how they did on the project and what they would do differently next time; they choose to write it or to talk it through with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182318" y="896112"/>
            <a:ext cx="5827058"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INFINITE HORIZON</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Make a sound that never sits still.</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2 · CLASS 1 · MAKE A SOUNDSCAPE THAT NEVER SITS STILL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MUSIC WITH NO BEAT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CLOSE YOUR EYES</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F4DCCB"/>
                </a:solidFill>
                <a:latin typeface="Oswald"/>
              </a:rPr>
              <a:t>Think, then share</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no audio is needed. You may play a short ambient piece you choose; none is included.</a:t>
            </a:r>
          </a:p>
        </p:txBody>
      </p:sp>
      <p:sp>
        <p:nvSpPr>
          <p:cNvPr id="14" name="Oval 13"/>
          <p:cNvSpPr/>
          <p:nvPr/>
        </p:nvSpPr>
        <p:spPr>
          <a:xfrm>
            <a:off x="548640" y="406908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Can music have no beat and still go somewhere?</a:t>
            </a:r>
          </a:p>
        </p:txBody>
      </p:sp>
      <p:sp>
        <p:nvSpPr>
          <p:cNvPr id="16" name="Oval 15"/>
          <p:cNvSpPr/>
          <p:nvPr/>
        </p:nvSpPr>
        <p:spPr>
          <a:xfrm>
            <a:off x="548640" y="467868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is a sound that slowly changes, like wind or a hum?</a:t>
            </a:r>
          </a:p>
        </p:txBody>
      </p:sp>
      <p:sp>
        <p:nvSpPr>
          <p:cNvPr id="18" name="Oval 17"/>
          <p:cNvSpPr/>
          <p:nvPr/>
        </p:nvSpPr>
        <p:spPr>
          <a:xfrm>
            <a:off x="548640" y="528828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How would you make a sound feel like it is moving?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IS INFINITE HORIZON?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 soundscape that never sits still</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 evolving ambient piece</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Automation, modulation and layering</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No traditional rhythm or song 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SEVEN CLASSES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1</a:t>
            </a:r>
          </a:p>
        </p:txBody>
      </p:sp>
      <p:sp>
        <p:nvSpPr>
          <p:cNvPr id="12" name="TextBox 11"/>
          <p:cNvSpPr txBox="1"/>
          <p:nvPr/>
        </p:nvSpPr>
        <p:spPr>
          <a:xfrm>
            <a:off x="2286000" y="1810512"/>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A sound with no beat · the steps · five words · listen, then build a drone</a:t>
            </a:r>
          </a:p>
        </p:txBody>
      </p:sp>
      <p:sp>
        <p:nvSpPr>
          <p:cNvPr id="13" name="Rounded Rectangle 12"/>
          <p:cNvSpPr/>
          <p:nvPr/>
        </p:nvSpPr>
        <p:spPr>
          <a:xfrm>
            <a:off x="548640" y="2444060"/>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444060"/>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2</a:t>
            </a:r>
          </a:p>
        </p:txBody>
      </p:sp>
      <p:sp>
        <p:nvSpPr>
          <p:cNvPr id="15" name="TextBox 14"/>
          <p:cNvSpPr txBox="1"/>
          <p:nvPr/>
        </p:nvSpPr>
        <p:spPr>
          <a:xfrm>
            <a:off x="2286000" y="2444060"/>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Opening, evolution, climax, fade · texture, not rhythm · layer</a:t>
            </a:r>
          </a:p>
        </p:txBody>
      </p:sp>
      <p:sp>
        <p:nvSpPr>
          <p:cNvPr id="16" name="Rounded Rectangle 15"/>
          <p:cNvSpPr/>
          <p:nvPr/>
        </p:nvSpPr>
        <p:spPr>
          <a:xfrm>
            <a:off x="548640" y="3077609"/>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077609"/>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3</a:t>
            </a:r>
          </a:p>
        </p:txBody>
      </p:sp>
      <p:sp>
        <p:nvSpPr>
          <p:cNvPr id="18" name="TextBox 17"/>
          <p:cNvSpPr txBox="1"/>
          <p:nvPr/>
        </p:nvSpPr>
        <p:spPr>
          <a:xfrm>
            <a:off x="2286000" y="3077609"/>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automate, worked example</a:t>
            </a:r>
          </a:p>
        </p:txBody>
      </p:sp>
      <p:sp>
        <p:nvSpPr>
          <p:cNvPr id="19" name="Rounded Rectangle 18"/>
          <p:cNvSpPr/>
          <p:nvPr/>
        </p:nvSpPr>
        <p:spPr>
          <a:xfrm>
            <a:off x="548640" y="3711157"/>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711157"/>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4</a:t>
            </a:r>
          </a:p>
        </p:txBody>
      </p:sp>
      <p:sp>
        <p:nvSpPr>
          <p:cNvPr id="21" name="TextBox 20"/>
          <p:cNvSpPr txBox="1"/>
          <p:nvPr/>
        </p:nvSpPr>
        <p:spPr>
          <a:xfrm>
            <a:off x="2286000" y="3711157"/>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patience, refine, eyes closed</a:t>
            </a:r>
          </a:p>
        </p:txBody>
      </p:sp>
      <p:sp>
        <p:nvSpPr>
          <p:cNvPr id="22" name="Rounded Rectangle 21"/>
          <p:cNvSpPr/>
          <p:nvPr/>
        </p:nvSpPr>
        <p:spPr>
          <a:xfrm>
            <a:off x="548640" y="4344706"/>
            <a:ext cx="1554480" cy="5238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344706"/>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5</a:t>
            </a:r>
          </a:p>
        </p:txBody>
      </p:sp>
      <p:sp>
        <p:nvSpPr>
          <p:cNvPr id="24" name="TextBox 23"/>
          <p:cNvSpPr txBox="1"/>
          <p:nvPr/>
        </p:nvSpPr>
        <p:spPr>
          <a:xfrm>
            <a:off x="2286000" y="4344706"/>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Working day: automate, refine, evolve</a:t>
            </a:r>
          </a:p>
        </p:txBody>
      </p:sp>
      <p:sp>
        <p:nvSpPr>
          <p:cNvPr id="25" name="Rounded Rectangle 24"/>
          <p:cNvSpPr/>
          <p:nvPr/>
        </p:nvSpPr>
        <p:spPr>
          <a:xfrm>
            <a:off x="548640" y="4978254"/>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978254"/>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6</a:t>
            </a:r>
          </a:p>
        </p:txBody>
      </p:sp>
      <p:sp>
        <p:nvSpPr>
          <p:cNvPr id="27" name="TextBox 26"/>
          <p:cNvSpPr txBox="1"/>
          <p:nvPr/>
        </p:nvSpPr>
        <p:spPr>
          <a:xfrm>
            <a:off x="2286000" y="4978254"/>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Mix for depth · bounce · checklist · rubric</a:t>
            </a:r>
          </a:p>
        </p:txBody>
      </p:sp>
      <p:sp>
        <p:nvSpPr>
          <p:cNvPr id="28" name="Rounded Rectangle 27"/>
          <p:cNvSpPr/>
          <p:nvPr/>
        </p:nvSpPr>
        <p:spPr>
          <a:xfrm>
            <a:off x="548640" y="5611803"/>
            <a:ext cx="1554480" cy="5238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611803"/>
            <a:ext cx="1554480" cy="523820"/>
          </a:xfrm>
          <a:prstGeom prst="rect">
            <a:avLst/>
          </a:prstGeom>
          <a:noFill/>
        </p:spPr>
        <p:txBody>
          <a:bodyPr wrap="square" anchor="ctr" lIns="36576" rIns="36576" tIns="18288" bIns="18288">
            <a:spAutoFit/>
          </a:bodyPr>
          <a:lstStyle/>
          <a:p>
            <a:pPr algn="ctr"/>
            <a:r>
              <a:rPr sz="2200" b="1">
                <a:solidFill>
                  <a:srgbClr val="FFFFFF"/>
                </a:solidFill>
                <a:latin typeface="Oswald"/>
              </a:rPr>
              <a:t>CLASS 7</a:t>
            </a:r>
          </a:p>
        </p:txBody>
      </p:sp>
      <p:sp>
        <p:nvSpPr>
          <p:cNvPr id="30" name="TextBox 29"/>
          <p:cNvSpPr txBox="1"/>
          <p:nvPr/>
        </p:nvSpPr>
        <p:spPr>
          <a:xfrm>
            <a:off x="2286000" y="5611803"/>
            <a:ext cx="9326880" cy="523820"/>
          </a:xfrm>
          <a:prstGeom prst="rect">
            <a:avLst/>
          </a:prstGeom>
          <a:noFill/>
        </p:spPr>
        <p:txBody>
          <a:bodyPr wrap="square" anchor="ctr" lIns="36576" rIns="36576" tIns="18288" bIns="18288">
            <a:spAutoFit/>
          </a:bodyPr>
          <a:lstStyle/>
          <a:p>
            <a:pPr algn="l"/>
            <a:r>
              <a:rPr sz="2200" b="0">
                <a:solidFill>
                  <a:srgbClr val="000000"/>
                </a:solidFill>
                <a:latin typeface="Source Sans 3"/>
              </a:rPr>
              <a:t>Presentations with Padlet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STEPS, THEN FINISH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pic>
        <p:nvPicPr>
          <p:cNvPr id="10" name="Picture 9" descr="deck-cycle.png"/>
          <p:cNvPicPr>
            <a:picLocks noChangeAspect="1"/>
          </p:cNvPicPr>
          <p:nvPr/>
        </p:nvPicPr>
        <p:blipFill>
          <a:blip r:embed="rId2"/>
          <a:stretch>
            <a:fillRect/>
          </a:stretch>
        </p:blipFill>
        <p:spPr>
          <a:xfrm>
            <a:off x="548640" y="1810512"/>
            <a:ext cx="11091672" cy="1830126"/>
          </a:xfrm>
          <a:prstGeom prst="rect">
            <a:avLst/>
          </a:prstGeom>
        </p:spPr>
      </p:pic>
      <p:sp>
        <p:nvSpPr>
          <p:cNvPr id="11" name="Oval 10"/>
          <p:cNvSpPr/>
          <p:nvPr/>
        </p:nvSpPr>
        <p:spPr>
          <a:xfrm>
            <a:off x="548640" y="4956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Listen to ambient examples</a:t>
            </a:r>
          </a:p>
        </p:txBody>
      </p:sp>
      <p:sp>
        <p:nvSpPr>
          <p:cNvPr id="13" name="Oval 12"/>
          <p:cNvSpPr/>
          <p:nvPr/>
        </p:nvSpPr>
        <p:spPr>
          <a:xfrm>
            <a:off x="6190488" y="4956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Build a drone or pad base</a:t>
            </a:r>
          </a:p>
        </p:txBody>
      </p:sp>
      <p:sp>
        <p:nvSpPr>
          <p:cNvPr id="15" name="Oval 14"/>
          <p:cNvSpPr/>
          <p:nvPr/>
        </p:nvSpPr>
        <p:spPr>
          <a:xfrm>
            <a:off x="548640" y="56418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Layer, then automate</a:t>
            </a:r>
          </a:p>
        </p:txBody>
      </p:sp>
      <p:sp>
        <p:nvSpPr>
          <p:cNvPr id="17" name="Oval 16"/>
          <p:cNvSpPr/>
          <p:nvPr/>
        </p:nvSpPr>
        <p:spPr>
          <a:xfrm>
            <a:off x="6190488" y="56418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Refine: cut what is static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FIVE WORDS TO KNOW</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Oval 9"/>
          <p:cNvSpPr/>
          <p:nvPr/>
        </p:nvSpPr>
        <p:spPr>
          <a:xfrm>
            <a:off x="548640" y="214884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Soundscape: texture and atmosphere, not melody or rhythm</a:t>
            </a:r>
          </a:p>
        </p:txBody>
      </p:sp>
      <p:sp>
        <p:nvSpPr>
          <p:cNvPr id="12" name="Oval 11"/>
          <p:cNvSpPr/>
          <p:nvPr/>
        </p:nvSpPr>
        <p:spPr>
          <a:xfrm>
            <a:off x="548640" y="287274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7355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Drone: a sustained tone or chord</a:t>
            </a:r>
          </a:p>
        </p:txBody>
      </p:sp>
      <p:sp>
        <p:nvSpPr>
          <p:cNvPr id="14" name="Oval 13"/>
          <p:cNvSpPr/>
          <p:nvPr/>
        </p:nvSpPr>
        <p:spPr>
          <a:xfrm>
            <a:off x="548640" y="359664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594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Automation: changing a parameter over time</a:t>
            </a:r>
          </a:p>
        </p:txBody>
      </p:sp>
      <p:sp>
        <p:nvSpPr>
          <p:cNvPr id="16" name="Oval 15"/>
          <p:cNvSpPr/>
          <p:nvPr/>
        </p:nvSpPr>
        <p:spPr>
          <a:xfrm>
            <a:off x="548640" y="432054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833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Modulation: one signal controlling another</a:t>
            </a:r>
          </a:p>
        </p:txBody>
      </p:sp>
      <p:sp>
        <p:nvSpPr>
          <p:cNvPr id="18" name="Oval 17"/>
          <p:cNvSpPr/>
          <p:nvPr/>
        </p:nvSpPr>
        <p:spPr>
          <a:xfrm>
            <a:off x="548640" y="504444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490728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Ambient: tone, atmosphere and texture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1 AND 2: LISTEN, BUILD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Study examples of ambient and soundscape music</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Write what you hear on the Listening log</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Create a drone or pad as your base texture</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Make it long and steady, so layers can sit on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THINK IN FOUR PHASES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phases.png"/>
          <p:cNvPicPr>
            <a:picLocks noChangeAspect="1"/>
          </p:cNvPicPr>
          <p:nvPr/>
        </p:nvPicPr>
        <p:blipFill>
          <a:blip r:embed="rId2"/>
          <a:stretch>
            <a:fillRect/>
          </a:stretch>
        </p:blipFill>
        <p:spPr>
          <a:xfrm>
            <a:off x="1098581" y="1810512"/>
            <a:ext cx="9991788" cy="3017520"/>
          </a:xfrm>
          <a:prstGeom prst="rect">
            <a:avLst/>
          </a:prstGeom>
        </p:spPr>
      </p:pic>
      <p:sp>
        <p:nvSpPr>
          <p:cNvPr id="11" name="Oval 10"/>
          <p:cNvSpPr/>
          <p:nvPr/>
        </p:nvSpPr>
        <p:spPr>
          <a:xfrm>
            <a:off x="548640" y="52120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Opening: start quiet</a:t>
            </a:r>
          </a:p>
        </p:txBody>
      </p:sp>
      <p:sp>
        <p:nvSpPr>
          <p:cNvPr id="13" name="Oval 12"/>
          <p:cNvSpPr/>
          <p:nvPr/>
        </p:nvSpPr>
        <p:spPr>
          <a:xfrm>
            <a:off x="6190488" y="52120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Evolution: layers join and shift</a:t>
            </a:r>
          </a:p>
        </p:txBody>
      </p:sp>
      <p:sp>
        <p:nvSpPr>
          <p:cNvPr id="15" name="Oval 14"/>
          <p:cNvSpPr/>
          <p:nvPr/>
        </p:nvSpPr>
        <p:spPr>
          <a:xfrm>
            <a:off x="548640" y="58978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Climax: the fullest moment</a:t>
            </a:r>
          </a:p>
        </p:txBody>
      </p:sp>
      <p:sp>
        <p:nvSpPr>
          <p:cNvPr id="17" name="Oval 16"/>
          <p:cNvSpPr/>
          <p:nvPr/>
        </p:nvSpPr>
        <p:spPr>
          <a:xfrm>
            <a:off x="6190488" y="58978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Fade: let it go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TEXTURE, NOT RHYTHM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Avoid traditional rhythm and song structure</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Focus on motion and space</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Students often add a beat: take it out</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Ask: what changes while it plays?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3: LAYER</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textures, sounds and atmospheric elements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Use synths, samples and FX</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Keep the drone underneath</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Add one layer at a time, and listen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AUTOMATE EVERYTHING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pic>
        <p:nvPicPr>
          <p:cNvPr id="10" name="Picture 9" descr="deck-lanes.png"/>
          <p:cNvPicPr>
            <a:picLocks noChangeAspect="1"/>
          </p:cNvPicPr>
          <p:nvPr/>
        </p:nvPicPr>
        <p:blipFill>
          <a:blip r:embed="rId2"/>
          <a:stretch>
            <a:fillRect/>
          </a:stretch>
        </p:blipFill>
        <p:spPr>
          <a:xfrm>
            <a:off x="548640" y="1810512"/>
            <a:ext cx="11091672" cy="3504968"/>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4: AUTOMATE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Draw automation on filters, reverb, volume and panning</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Change parameters over time</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Make every transition gradual</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Count your lanes on the Automation plan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75 SECONDS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arrange.png"/>
          <p:cNvPicPr>
            <a:picLocks noChangeAspect="1"/>
          </p:cNvPicPr>
          <p:nvPr/>
        </p:nvPicPr>
        <p:blipFill>
          <a:blip r:embed="rId2"/>
          <a:stretch>
            <a:fillRect/>
          </a:stretch>
        </p:blipFill>
        <p:spPr>
          <a:xfrm>
            <a:off x="2038669" y="1810512"/>
            <a:ext cx="8111612" cy="3017520"/>
          </a:xfrm>
          <a:prstGeom prst="rect">
            <a:avLst/>
          </a:prstGeom>
        </p:spPr>
      </p:pic>
      <p:sp>
        <p:nvSpPr>
          <p:cNvPr id="11" name="Oval 10"/>
          <p:cNvSpPr/>
          <p:nvPr/>
        </p:nvSpPr>
        <p:spPr>
          <a:xfrm>
            <a:off x="548640" y="52120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An invented 75-second piece, on paper</a:t>
            </a:r>
          </a:p>
        </p:txBody>
      </p:sp>
      <p:sp>
        <p:nvSpPr>
          <p:cNvPr id="13" name="Oval 12"/>
          <p:cNvSpPr/>
          <p:nvPr/>
        </p:nvSpPr>
        <p:spPr>
          <a:xfrm>
            <a:off x="6190488" y="52120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51023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phases you can name</a:t>
            </a:r>
          </a:p>
        </p:txBody>
      </p:sp>
      <p:sp>
        <p:nvSpPr>
          <p:cNvPr id="15" name="Oval 14"/>
          <p:cNvSpPr/>
          <p:nvPr/>
        </p:nvSpPr>
        <p:spPr>
          <a:xfrm>
            <a:off x="548640" y="58978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Five layers that join and leave</a:t>
            </a:r>
          </a:p>
        </p:txBody>
      </p:sp>
      <p:sp>
        <p:nvSpPr>
          <p:cNvPr id="17" name="Oval 16"/>
          <p:cNvSpPr/>
          <p:nvPr/>
        </p:nvSpPr>
        <p:spPr>
          <a:xfrm>
            <a:off x="6190488" y="5897879"/>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788151"/>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Five automation lanes, none flat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BE PATIENT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Let sounds evolve slowly</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 not rush changes</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Reverb and delay create a sense of space</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If a parameter never moves, it sounds flat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 5: REFINE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for flow and pacing</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Remove anything that feels static or repetitive</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Close your eyes: does it take you somewhere?</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Harder option: 5+ automation lanes and Alchemy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STEPS 6 AND 7: MIX, BOUNCE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Mix for depth and space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Bounce your soundscape</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Zip the .logicx project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Create your Padlet post with 3 questions</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749808"/>
          </a:xfrm>
          <a:prstGeom prst="rect">
            <a:avLst/>
          </a:prstGeom>
          <a:noFill/>
        </p:spPr>
        <p:txBody>
          <a:bodyPr wrap="square" anchor="ctr" lIns="36576" rIns="36576" tIns="18288" bIns="18288">
            <a:spAutoFit/>
          </a:bodyPr>
          <a:lstStyle/>
          <a:p>
            <a:pPr algn="l"/>
            <a:r>
              <a:rPr sz="2800" b="0">
                <a:solidFill>
                  <a:srgbClr val="000000"/>
                </a:solidFill>
                <a:latin typeface="Source Sans 3"/>
              </a:rPr>
              <a:t>Prepare to present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Rounded Rectangle 9"/>
          <p:cNvSpPr/>
          <p:nvPr/>
        </p:nvSpPr>
        <p:spPr>
          <a:xfrm>
            <a:off x="54864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Bounced .mp3 or .wav</a:t>
            </a:r>
          </a:p>
        </p:txBody>
      </p:sp>
      <p:sp>
        <p:nvSpPr>
          <p:cNvPr id="12" name="Rounded Rectangle 11"/>
          <p:cNvSpPr/>
          <p:nvPr/>
        </p:nvSpPr>
        <p:spPr>
          <a:xfrm>
            <a:off x="6172200" y="19751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202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Zipped .logicx project</a:t>
            </a:r>
          </a:p>
        </p:txBody>
      </p:sp>
      <p:sp>
        <p:nvSpPr>
          <p:cNvPr id="14" name="Rounded Rectangle 13"/>
          <p:cNvSpPr/>
          <p:nvPr/>
        </p:nvSpPr>
        <p:spPr>
          <a:xfrm>
            <a:off x="54864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Infinite Horizon</a:t>
            </a:r>
          </a:p>
        </p:txBody>
      </p:sp>
      <p:sp>
        <p:nvSpPr>
          <p:cNvPr id="16" name="Rounded Rectangle 15"/>
          <p:cNvSpPr/>
          <p:nvPr/>
        </p:nvSpPr>
        <p:spPr>
          <a:xfrm>
            <a:off x="6172200" y="3346704"/>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2918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Padlet post with your 3 questions</a:t>
            </a:r>
          </a:p>
        </p:txBody>
      </p:sp>
      <p:sp>
        <p:nvSpPr>
          <p:cNvPr id="18" name="Rounded Rectangle 17"/>
          <p:cNvSpPr/>
          <p:nvPr/>
        </p:nvSpPr>
        <p:spPr>
          <a:xfrm>
            <a:off x="548640" y="4718303"/>
            <a:ext cx="365760" cy="3657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4892040" cy="1298448"/>
          </a:xfrm>
          <a:prstGeom prst="rect">
            <a:avLst/>
          </a:prstGeom>
          <a:noFill/>
        </p:spPr>
        <p:txBody>
          <a:bodyPr wrap="square" anchor="t" lIns="36576" rIns="36576" tIns="18288" bIns="18288">
            <a:spAutoFit/>
          </a:bodyPr>
          <a:lstStyle/>
          <a:p>
            <a:pPr algn="l"/>
            <a:r>
              <a:rPr sz="2200" b="0">
                <a:solidFill>
                  <a:srgbClr val="000000"/>
                </a:solidFill>
                <a:latin typeface="Source Sans 3"/>
              </a:rPr>
              <a:t>Answer 2 questions on classmates’ posts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CREATIVITY &amp; ORIGINALITY</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creativity; innovative, bold, and expressive</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C2571A"/>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Expert-level command of multiple Logic systems</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C2571A"/>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COMPOSITION &amp; STRUCTURE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Professional pacing, flow, and musical arc</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C2571A"/>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SOUND DESIGN &amp; MIX QUALITY</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sound design; professional-quality mix</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C2571A"/>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Exceptional; thorough insight and polished delivery</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C2571A"/>
                </a:solidFill>
                <a:latin typeface="Oswald"/>
              </a:rPr>
              <a:t>/ 5</a:t>
            </a:r>
          </a:p>
        </p:txBody>
      </p:sp>
      <p:sp>
        <p:nvSpPr>
          <p:cNvPr id="30" name="TextBox 29"/>
          <p:cNvSpPr txBox="1"/>
          <p:nvPr/>
        </p:nvSpPr>
        <p:spPr>
          <a:xfrm>
            <a:off x="548640" y="5943600"/>
            <a:ext cx="11091672" cy="411480"/>
          </a:xfrm>
          <a:prstGeom prst="rect">
            <a:avLst/>
          </a:prstGeom>
          <a:noFill/>
        </p:spPr>
        <p:txBody>
          <a:bodyPr wrap="square" anchor="t" lIns="36576" rIns="36576" tIns="18288" bIns="18288">
            <a:spAutoFit/>
          </a:bodyPr>
          <a:lstStyle/>
          <a:p>
            <a:pPr algn="r"/>
            <a:r>
              <a:rPr sz="2000" b="1">
                <a:solidFill>
                  <a:srgbClr val="000000"/>
                </a:solidFill>
                <a:latin typeface="Oswald"/>
              </a:rPr>
              <a:t>SCORED 1–5 · FINAL GRADE = AVERAGE OF YOUR SCORE AND MINE ·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Oval 9"/>
          <p:cNvSpPr/>
          <p:nvPr/>
        </p:nvSpPr>
        <p:spPr>
          <a:xfrm>
            <a:off x="548640" y="216712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soundscape</a:t>
            </a:r>
          </a:p>
        </p:txBody>
      </p:sp>
      <p:sp>
        <p:nvSpPr>
          <p:cNvPr id="12" name="Oval 11"/>
          <p:cNvSpPr/>
          <p:nvPr/>
        </p:nvSpPr>
        <p:spPr>
          <a:xfrm>
            <a:off x="548640" y="311708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Say what you wanted it to feel like</a:t>
            </a:r>
          </a:p>
        </p:txBody>
      </p:sp>
      <p:sp>
        <p:nvSpPr>
          <p:cNvPr id="14" name="Oval 13"/>
          <p:cNvSpPr/>
          <p:nvPr/>
        </p:nvSpPr>
        <p:spPr>
          <a:xfrm>
            <a:off x="548640" y="406704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Padlet post: 3 questions about your project</a:t>
            </a:r>
          </a:p>
        </p:txBody>
      </p:sp>
      <p:sp>
        <p:nvSpPr>
          <p:cNvPr id="16" name="Oval 15"/>
          <p:cNvSpPr/>
          <p:nvPr/>
        </p:nvSpPr>
        <p:spPr>
          <a:xfrm>
            <a:off x="548640" y="5017008"/>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Answer at least 2 of each classmate’s 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222992" y="274320"/>
            <a:ext cx="1417320" cy="384048"/>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22992" y="274320"/>
            <a:ext cx="1417320" cy="384048"/>
          </a:xfrm>
          <a:prstGeom prst="rect">
            <a:avLst/>
          </a:prstGeom>
          <a:noFill/>
        </p:spPr>
        <p:txBody>
          <a:bodyPr wrap="square" anchor="ctr" lIns="36576" rIns="36576" tIns="18288" bIns="18288">
            <a:spAutoFit/>
          </a:bodyPr>
          <a:lstStyle/>
          <a:p>
            <a:pPr algn="ctr"/>
            <a:r>
              <a:rPr sz="1500" b="1">
                <a:solidFill>
                  <a:srgbClr val="FFFFFF"/>
                </a:solidFill>
                <a:latin typeface="Oswald"/>
              </a:rPr>
              <a:t>CLASS 7</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Infinite Horizon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20</a:t>
            </a:r>
          </a:p>
        </p:txBody>
      </p:sp>
      <p:sp>
        <p:nvSpPr>
          <p:cNvPr id="10" name="Oval 9"/>
          <p:cNvSpPr/>
          <p:nvPr/>
        </p:nvSpPr>
        <p:spPr>
          <a:xfrm>
            <a:off x="548640" y="205740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made it move.</a:t>
            </a:r>
          </a:p>
        </p:txBody>
      </p:sp>
      <p:sp>
        <p:nvSpPr>
          <p:cNvPr id="12" name="Oval 11"/>
          <p:cNvSpPr/>
          <p:nvPr/>
        </p:nvSpPr>
        <p:spPr>
          <a:xfrm>
            <a:off x="548640" y="278130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gave it space.</a:t>
            </a:r>
          </a:p>
        </p:txBody>
      </p:sp>
      <p:sp>
        <p:nvSpPr>
          <p:cNvPr id="14" name="Oval 13"/>
          <p:cNvSpPr/>
          <p:nvPr/>
        </p:nvSpPr>
        <p:spPr>
          <a:xfrm>
            <a:off x="548640" y="350520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let it evolve.</a:t>
            </a:r>
          </a:p>
        </p:txBody>
      </p:sp>
      <p:sp>
        <p:nvSpPr>
          <p:cNvPr id="16" name="Oval 15"/>
          <p:cNvSpPr/>
          <p:nvPr/>
        </p:nvSpPr>
        <p:spPr>
          <a:xfrm>
            <a:off x="548640" y="4229100"/>
            <a:ext cx="146304" cy="146304"/>
          </a:xfrm>
          <a:prstGeom prst="ellipse">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Now listen.</a:t>
            </a:r>
          </a:p>
        </p:txBody>
      </p:sp>
      <p:pic>
        <p:nvPicPr>
          <p:cNvPr id="18" name="Picture 17" descr="deck-hero.png"/>
          <p:cNvPicPr>
            <a:picLocks noChangeAspect="1"/>
          </p:cNvPicPr>
          <p:nvPr/>
        </p:nvPicPr>
        <p:blipFill>
          <a:blip r:embed="rId2"/>
          <a:stretch>
            <a:fillRect/>
          </a:stretch>
        </p:blipFill>
        <p:spPr>
          <a:xfrm>
            <a:off x="6519672" y="2103120"/>
            <a:ext cx="5120640" cy="2611526"/>
          </a:xfrm>
          <a:prstGeom prst="rect">
            <a:avLst/>
          </a:prstGeom>
        </p:spPr>
      </p:pic>
      <p:sp>
        <p:nvSpPr>
          <p:cNvPr id="19" name="Rounded Rectangle 18"/>
          <p:cNvSpPr/>
          <p:nvPr/>
        </p:nvSpPr>
        <p:spPr>
          <a:xfrm>
            <a:off x="548640" y="5349240"/>
            <a:ext cx="5852160" cy="960120"/>
          </a:xfrm>
          <a:prstGeom prst="round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5486400" cy="365760"/>
          </a:xfrm>
          <a:prstGeom prst="rect">
            <a:avLst/>
          </a:prstGeom>
          <a:noFill/>
        </p:spPr>
        <p:txBody>
          <a:bodyPr wrap="square" anchor="t" lIns="36576" rIns="36576" tIns="18288" bIns="18288">
            <a:spAutoFit/>
          </a:bodyPr>
          <a:lstStyle/>
          <a:p>
            <a:pPr algn="l"/>
            <a:r>
              <a:rPr sz="2000" b="1">
                <a:solidFill>
                  <a:srgbClr val="FFFFFF"/>
                </a:solidFill>
                <a:latin typeface="Oswald"/>
              </a:rPr>
              <a:t>REFLECTION · PAGE 22</a:t>
            </a:r>
          </a:p>
        </p:txBody>
      </p:sp>
      <p:sp>
        <p:nvSpPr>
          <p:cNvPr id="21" name="TextBox 20"/>
          <p:cNvSpPr txBox="1"/>
          <p:nvPr/>
        </p:nvSpPr>
        <p:spPr>
          <a:xfrm>
            <a:off x="731520" y="5760720"/>
            <a:ext cx="5486400" cy="502920"/>
          </a:xfrm>
          <a:prstGeom prst="rect">
            <a:avLst/>
          </a:prstGeom>
          <a:noFill/>
        </p:spPr>
        <p:txBody>
          <a:bodyPr wrap="square" anchor="t" lIns="36576" rIns="36576" tIns="18288" bIns="18288">
            <a:spAutoFit/>
          </a:bodyPr>
          <a:lstStyle/>
          <a:p>
            <a:pPr algn="l"/>
            <a:r>
              <a:rPr sz="1500" b="0">
                <a:solidFill>
                  <a:srgbClr val="FFFFFF"/>
                </a:solidFill>
                <a:latin typeface="Source Sans 3"/>
              </a:rPr>
              <a:t>Write it or talk it through: what went well, what was hard, what you would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Infinite Horizon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